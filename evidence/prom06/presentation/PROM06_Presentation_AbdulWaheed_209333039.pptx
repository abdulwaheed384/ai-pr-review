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e5b1050-4448-b29d-407c-ff45c0f3f6d0}">
          <p14:sldIdLst>
            <p14:sldId id="256"/>
            <p14:sldId id="257"/>
          </p14:sldIdLst>
        </p14:section>
        <p14:section name="Research context" id="{ea6090c1-4fc9-c68e-1b60-2d9a7ca0cf03}">
          <p14:sldIdLst>
            <p14:sldId id="258"/>
          </p14:sldIdLst>
        </p14:section>
        <p14:section name="Practical work" id="{aee02798-e0f2-d20b-dc7b-ace857e4e88a}">
          <p14:sldIdLst>
            <p14:sldId id="259"/>
            <p14:sldId id="260"/>
          </p14:sldIdLst>
        </p14:section>
        <p14:section name="Results" id="{c559ad09-6281-00d0-6024-a950f6becf2b}">
          <p14:sldIdLst>
            <p14:sldId id="261"/>
            <p14:sldId id="262"/>
            <p14:sldId id="263"/>
          </p14:sldIdLst>
        </p14:section>
        <p14:section name="Evaluation and conclusion" id="{96a86b4c-9f8e-7edc-c3ad-f90686f19990}">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Average score out of 2 (37 runs)</a:t>
            </a:r>
          </a:p>
        </c:rich>
      </c:tx>
      <c:layout/>
      <c:overlay val="0"/>
    </c:title>
    <c:autoTitleDeleted val="0"/>
    <c:plotArea>
      <c:layout/>
      <c:barChart>
        <c:barDir val="bar"/>
        <c:grouping val="clustered"/>
        <c:varyColors val="0"/>
        <c:ser>
          <c:idx val="0"/>
          <c:order val="0"/>
          <c:tx>
            <c:strRef>
              <c:f>Sheet1!$B$1</c:f>
              <c:strCache>
                <c:ptCount val="1"/>
                <c:pt idx="0">
                  <c:v>Score out of 2</c:v>
                </c:pt>
              </c:strCache>
            </c:strRef>
          </c:tx>
          <c:spPr>
            <a:solidFill>
              <a:srgbClr val="C73D1A"/>
            </a:solidFill>
            <a:effectLst/>
          </c:spPr>
          <c:invertIfNegative val="0"/>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73D1A"/>
              </a:solidFill>
              <a:effectLst/>
            </c:spPr>
          </c:dPt>
          <c:dPt>
            <c:idx val="1"/>
            <c:invertIfNegative val="0"/>
            <c:bubble3D val="0"/>
            <c:spPr>
              <a:solidFill>
                <a:srgbClr val="156082"/>
              </a:solidFill>
              <a:effectLst/>
            </c:spPr>
          </c:dPt>
          <c:dPt>
            <c:idx val="2"/>
            <c:invertIfNegative val="0"/>
            <c:bubble3D val="0"/>
            <c:spPr>
              <a:solidFill>
                <a:srgbClr val="156082"/>
              </a:solidFill>
              <a:effectLst/>
            </c:spPr>
          </c:dPt>
          <c:cat>
            <c:multiLvlStrRef>
              <c:f>Sheet1!$A$2:$A$4</c:f>
              <c:multiLvlStrCache>
                <c:ptCount val="3"/>
                <c:lvl>
                  <c:pt idx="0">
                    <c:v>Explanation accuracy</c:v>
                  </c:pt>
                  <c:pt idx="1">
                    <c:v>Developer usefulness</c:v>
                  </c:pt>
                  <c:pt idx="2">
                    <c:v>Impact explanation</c:v>
                  </c:pt>
                </c:lvl>
              </c:multiLvlStrCache>
            </c:multiLvlStrRef>
          </c:cat>
          <c:val>
            <c:numRef>
              <c:f>Sheet1!$B$2:$B$4</c:f>
              <c:numCache>
                <c:formatCode>General</c:formatCode>
                <c:ptCount val="3"/>
                <c:pt idx="0">
                  <c:v>1.65</c:v>
                </c:pt>
                <c:pt idx="1">
                  <c:v>1.76</c:v>
                </c:pt>
                <c:pt idx="2">
                  <c:v>1.89</c:v>
                </c:pt>
              </c:numCache>
            </c:numRef>
          </c:val>
        </c:ser>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GB"/>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GB"/>
              <a:t>7/23/19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GB"/>
              <a:t>‹#›</a:t>
            </a:fld>
            <a:endParaRPr lang="en-GB"/>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 · about 0:45 · 0:45 in total]
Hello, my name is Abdul Waheed. This is my PROM06 research project for the MSc in Computer Science with Cybersecurity at the University of Sunderland. My supervisor is Liz Gandy.
My project asks a simple question: can an AI tool help to find security problems in cloud code? I built a system where three tools check the same code: two well-known scanners, called Checkov and tfsec, and an AI reviewer. Then I compared their results.
I will explain why this matters, what I built, how I tested it, and what I found.</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2 · about 1:30 · 2:15 in total]
Today, cloud systems are often built with code, using a tool called Terraform. But if one line is insecure, for example a firewall rule that lets anyone on the internet connect, that mistake is copied everywhere the code is used. And keeping these settings safe is the customer’s job, not the cloud provider’s.
To catch these mistakes, teams use scanners. A scanner checks code against a list of rules. Scanners are fast, but they only find problems that are on their list. And developers often ignore warnings that are hard to understand.
AI reviewers can read all the code and explain problems in plain English. But they can be wrong while sounding sure, and they can give different answers to the same question.
So my aim was to find out how well an AI reviewer works, compared with these scanners. I asked four questions. Does it find the problems? Do its fixes work? Do its comments help developers understand? And what goes wrong in real use? My objectives were to review the research, build the system, compare it with the scanners, and find its benefits and limits.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2</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3 · about 1:15 · 3:30 in total]
The research I read shaped my design.
Johnson and colleagues found that developers stop using tools that give too many unclear warnings. So I also counted false alarms, and I scored how clear the explanations were.
Rahman and colleagues listed common security mistakes in this kind of code, like open network rules and passwords left in the code. Several of my tests use exactly these mistakes.
Some tools, like the one by Li and colleagues, give the scanner’s results to the AI. Then you cannot tell what the AI found by itself. So I kept my AI separate from the scanners.
Two more ideas came later, when my first results showed they mattered. AI can give different answers to the same question, so I ran every test three times. And AI fixes can be wrong, so I tried every fix and tested it again.
The gap is simple: there are very few fair comparisons of an AI reviewer with these scanners.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3</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4 · about 1:20 · 4:50 in total]
This is the system I built, on GitHub.
When a developer wants to change the code, they open a pull request, which is a request to add their change. This starts an automatic job. First, it checks that the code is valid. It never builds anything in the real cloud.
Then three tools check the same code. Checkov and tfsec use fixed rules. My AI reviewer sends all the code, a short security policy and the project’s read-me file to Claude, the AI model, and asks for a clear answer with no more than three findings. Each tool posts its own comment, and no tool sees the others’ results. Then I compare each comment with the correct answer.
On the right are real results from one test. Here, SSH, which is remote login, is open to the whole internet. Checkov found nothing, so it missed the problem. tfsec marked it as critical. The AI marked it as high, and explained the risk and the fix.
[Optional demo, about 30 seconds: open pull request 71 on GitHub and scroll through the three comments.]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4</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5 · about 1:15 · 6:05 in total]
This is how I tested it.
I wrote fifteen small Terraform tests. For each one, I wrote down the correct answer before running any tool. Twelve tests have a security problem, in network rules, encryption, logging, secrets or identity. Three are safe on purpose, to see if a tool raises false alarms.
I ran each test three times. With one extra run after a failure, that made forty-six runs. I compared every result with the correct answer, and I scored each AI review on six quality points. Then I tried the AI’s own fixes and checked them.
One discovery changed my study. I found that in my early runs, the AI had seen the scanners’ results, so it was not a fair test. I fixed the system, then ran every test with the AI working alone, and checked all forty-six runs to prove it.
Everything was safe: fake passwords, nothing built in the real cloud, and no personal data.</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6 · about 1:35 · 7:40 in total]
Now the results. My first question was: does the AI find the problems?
In this grid, each square is one test with a problem. A filled square means found. Checkov found five, and tfsec found four. Together, the scanners found eight. The AI found eleven, and partly found one more: it saw that problem every time, but showed it to the developer only once.
Three things stand out. First, the AI found three problems that both scanners missed: two secrets left in the code, and a role with too much power. It spotted that role by comparing it with a separate file of requirements.
Second, the scanners hardly overlapped. Only one test was caught by both. And Checkov missed open internet access written as 0.0.0.0/0, but caught the same rule written as a star.
Third, the AI made a different kind of mistake. On the safe tests, three runs out of nine got a wrong warning, and one even said do not merge. Of the forty-five problems it posted, 82 out of 100 were correct, or 89 if three findings about weaknesses in my own tests count as fair.
These numbers are only for my fifteen tests.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6</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7 · about 1:40 · 9:20 in total]
My second question was: do the AI’s fixes work? I did not just read them. I tried them.
All twelve fixes solved the problem and passed Terraform’s checks. For eight, a scanner also agreed the problem was gone. And when the AI checked its own fixed code, it no longer saw the problem in nine of the twelve. An old comment got in the way of two others.
But one piece of advice was wrong. The AI said a certain role needs tags, which are labels. When I followed that advice, Terraform gave the error you can see here, and the code broke.
My third question was: do the AI’s comments help developers understand? At the top, you can see the difference. The scanner gives a rule number and one short line. The AI explains what is wrong, why it matters and how to fix it, in plain English, about the exact code. So its comments are likely to help developers learn.
I scored every AI comment, and the bars show three of the scores, out of two. The lowest was explanation accuracy. Sometimes the AI said something false while sounding sure, and a developer could learn the wrong thing. I scored the comments once, with AI help.</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7</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8 · about 1:35 · 10:55 in total]
My fourth question was about problems in real use, and this was my most surprising finding.
On the left is the same fix, checked twice. The only difference is one comment. A comment is just a note for people. It does not change what the code does.
In version A, an old comment said “Deliberately unrestricted SSH access”. The AI gave its own fix a high-risk warning, and it quoted that comment. In version B, I only changed the comment, and the AI approved the fix with just a small note. Another test showed the same thing.
So one comment can change the AI’s decision, even when the code is the same. Greshake and colleagues call this indirect prompt injection, where text that the AI reads changes what it does. In a real team, anyone who can write a comment could influence it.
On the right are three more findings. The AI gave different answers to the same test: high, high, then medium. Some real problems were hidden from the developer, and changes that only deleted files were not checked by the AI at all. The good news is that it was fast: feedback came in under two minutes.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8</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9 · about 1:30 · 12:25 in total]
So, how much can we trust these results?
Some findings are strong. Scanners only find what is on their list. The two scanners helped each other. The AI found problems that need the wider picture. And its answers changed from run to run.
There are real limits too. I used only fifteen tests that I wrote myself, with one cloud and one AI model. I chose some tests where scanners were weak, which makes the AI look better. Ding and colleagues warn that test sets like this can flatter AI. Comments in my tests, and a policy file that only the AI could read, may have helped it. And I scored the results only once.
My biggest lesson came from my own mistake. When I traced each result back to its run, I found that results I thought were fair were not. Fixing that took time, but it saved the study. Now I only trust a result when I can link it to its run, its commit and its raw output.
Overall, I met all four objectives, within the limits of this small test set.</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9</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10 · about 1:15 · 13:40 in total]
So, can AI help to check cloud code for security problems? On my fifteen tests, the answer is yes, but with conditions. The AI found everything the scanners found, plus three problems they missed. But its mistakes were harder to predict. So it should work next to the scanners, not replace them, and it should not decide on its own which changes are accepted.
The diagram shows the roles: the scanners enforce the rules, the AI gives advice, and people decide. My advice is below it: use more than one scanner, treat code comments as untrusted, show the AI’s unsure findings, test every AI fix automatically, check changes that only delete files, and record which AI model was used.
Next, I would test real-world code, use more AI models, study comment tricks on purpose, and test the comments with real developers.
The references are on this slide, and my code is on GitHub. Thank you for listening.</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10</a:t>
            </a:fld>
            <a:endParaRPr lang="en-GB"/>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NAVY">
    <p:bg>
      <p:bgPr>
        <a:solidFill>
          <a:srgbClr val="0823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w="12700">
            <a:solidFill>
              <a:schemeClr val="tx2"/>
            </a:solidFill>
            <a:prstDash val="solid"/>
          </a:ln>
        </p:spPr>
      </p:sp>
      <p:sp>
        <p:nvSpPr>
          <p:cNvPr id="3" name="Shape 1"/>
          <p:cNvSpPr/>
          <p:nvPr/>
        </p:nvSpPr>
        <p:spPr>
          <a:xfrm>
            <a:off x="548640" y="502920"/>
            <a:ext cx="2514600" cy="1097280"/>
          </a:xfrm>
          <a:prstGeom prst="rect">
            <a:avLst/>
          </a:prstGeom>
          <a:solidFill>
            <a:schemeClr val="bg1"/>
          </a:solidFill>
          <a:ln w="12700">
            <a:solidFill>
              <a:schemeClr val="bg1"/>
            </a:solidFill>
            <a:prstDash val="solid"/>
          </a:ln>
        </p:spPr>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704088" y="548640"/>
            <a:ext cx="2194560" cy="1024128"/>
          </a:xfrm>
          <a:prstGeom prst="rect">
            <a:avLst/>
          </a:prstGeom>
        </p:spPr>
      </p:pic>
      <p:sp>
        <p:nvSpPr>
          <p:cNvPr id="5" name="Text 2"/>
          <p:cNvSpPr/>
          <p:nvPr>
            <p:ph type="title" hasCustomPrompt="1"/>
          </p:nvPr>
        </p:nvSpPr>
        <p:spPr>
          <a:xfrm>
            <a:off x="548640" y="1874520"/>
            <a:ext cx="11094415" cy="1325880"/>
          </a:xfrm>
          <a:prstGeom prst="rect">
            <a:avLst/>
          </a:prstGeom>
          <a:noFill/>
          <a:ln/>
        </p:spPr>
        <p:txBody>
          <a:bodyPr wrap="square" rtlCol="0"/>
          <a:lstStyle>
            <a:lvl1pPr algn="l" indent="0" marL="0">
              <a:buNone/>
              <a:defRPr lang="en-GB" altLang="en-US" sz="4000" b="1" dirty="0">
                <a:solidFill>
                  <a:schemeClr val="bg1"/>
                </a:solidFill>
              </a:defRPr>
            </a:lvl1pPr>
          </a:lstStyle>
          <a:p>
            <a:pPr algn="l" indent="0" marL="0">
              <a:buNone/>
            </a:pPr>
            <a:endParaRPr lang="en-GB" sz="4000" dirty="0"/>
          </a:p>
        </p:txBody>
      </p:sp>
      <p:sp>
        <p:nvSpPr>
          <p:cNvPr id="6" name="Text 2"/>
          <p:cNvSpPr/>
          <p:nvPr>
            <p:ph idx="104" type="body" hasCustomPrompt="1"/>
          </p:nvPr>
        </p:nvSpPr>
        <p:spPr>
          <a:xfrm>
            <a:off x="548640" y="3310128"/>
            <a:ext cx="11094415" cy="457200"/>
          </a:xfrm>
          <a:prstGeom prst="rect">
            <a:avLst/>
          </a:prstGeom>
          <a:noFill/>
          <a:ln/>
        </p:spPr>
        <p:txBody>
          <a:bodyPr wrap="square" rtlCol="0"/>
          <a:lstStyle>
            <a:lvl1pPr algn="l" indent="0" marL="0">
              <a:buNone/>
              <a:defRPr lang="en-GB" altLang="en-US" sz="2000" dirty="0">
                <a:solidFill>
                  <a:schemeClr val="bg2"/>
                </a:solidFill>
              </a:defRPr>
            </a:lvl1pPr>
          </a:lstStyle>
          <a:p>
            <a:pPr algn="l" indent="0" marL="0">
              <a:buNone/>
            </a:pPr>
            <a:endParaRPr lang="en-GB"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rtlCol="0"/>
          <a:lstStyle>
            <a:lvl1pPr algn="l" indent="0" marL="0">
              <a:buNone/>
              <a:defRPr lang="en-GB" altLang="en-US" sz="3600" b="1" dirty="0">
                <a:solidFill>
                  <a:schemeClr val="tx2"/>
                </a:solidFill>
              </a:defRPr>
            </a:lvl1pPr>
          </a:lstStyle>
          <a:p>
            <a:pPr algn="l" indent="0" marL="0">
              <a:buNone/>
            </a:pPr>
            <a:endParaRPr lang="en-GB" sz="3600" dirty="0"/>
          </a:p>
        </p:txBody>
      </p:sp>
      <p:sp>
        <p:nvSpPr>
          <p:cNvPr id="3" name="Text 0"/>
          <p:cNvSpPr/>
          <p:nvPr/>
        </p:nvSpPr>
        <p:spPr>
          <a:xfrm>
            <a:off x="548640" y="6382512"/>
            <a:ext cx="6858000" cy="274320"/>
          </a:xfrm>
          <a:prstGeom prst="rect">
            <a:avLst/>
          </a:prstGeom>
          <a:noFill/>
          <a:ln/>
        </p:spPr>
        <p:txBody>
          <a:bodyPr wrap="square" lIns="0" tIns="0" rIns="0" bIns="0" rtlCol="0" anchor="ctr"/>
          <a:lstStyle/>
          <a:p>
            <a:pPr indent="0" marL="0">
              <a:buNone/>
            </a:pPr>
            <a:r>
              <a:rPr lang="en-GB" altLang="en-US" sz="1000" dirty="0">
                <a:solidFill>
                  <a:schemeClr val="accent6"/>
                </a:solidFill>
              </a:rPr>
              <a:t>Abdul Waheed · PROM06 Research Project · University of Sunderland</a:t>
            </a:r>
            <a:endParaRPr lang="en-GB" sz="1000" dirty="0"/>
          </a:p>
        </p:txBody>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10920679" y="6327648"/>
            <a:ext cx="722376" cy="338328"/>
          </a:xfrm>
          <a:prstGeom prst="rect">
            <a:avLst/>
          </a:prstGeom>
        </p:spPr>
      </p:pic>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1003</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null</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3.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slideLayout" Target="../slideLayouts/slideLayout3.xml"/><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7"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3.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3.xml"/><Relationship Id="rId1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hasCustomPrompt="1"/>
          </p:nvPr>
        </p:nvSpPr>
        <p:spPr>
          <a:xfrm>
            <a:off x="548640" y="1874520"/>
            <a:ext cx="11094415" cy="1325880"/>
          </a:xfrm>
          <a:prstGeom prst="rect">
            <a:avLst/>
          </a:prstGeom>
          <a:noFill/>
          <a:ln/>
        </p:spPr>
        <p:txBody>
          <a:bodyPr wrap="square" lIns="0" tIns="0" rIns="0" bIns="0" rtlCol="0" anchor="t"/>
          <a:lstStyle/>
          <a:p>
            <a:pPr algn="l" indent="0" marL="0">
              <a:buNone/>
            </a:pPr>
            <a:r>
              <a:rPr lang="en-GB" altLang="en-US" sz="4000" b="1" dirty="0">
                <a:solidFill>
                  <a:schemeClr val="bg1"/>
                </a:solidFill>
              </a:rPr>
              <a:t>Evaluating AI-Driven Security Review</a:t>
            </a:r>
            <a:endParaRPr lang="en-GB" sz="4000" dirty="0"/>
          </a:p>
          <a:p>
            <a:pPr algn="l" indent="0" marL="0">
              <a:buNone/>
            </a:pPr>
            <a:r>
              <a:rPr lang="en-GB" altLang="en-US" sz="4000" b="1" dirty="0">
                <a:solidFill>
                  <a:schemeClr val="bg1"/>
                </a:solidFill>
              </a:rPr>
              <a:t>in Modern DevSecOps Pipelines</a:t>
            </a:r>
            <a:endParaRPr lang="en-GB" sz="4000" dirty="0"/>
          </a:p>
        </p:txBody>
      </p:sp>
      <p:sp>
        <p:nvSpPr>
          <p:cNvPr id="3" name="Text 2"/>
          <p:cNvSpPr/>
          <p:nvPr>
            <p:ph idx="104" type="body" hasCustomPrompt="1"/>
          </p:nvPr>
        </p:nvSpPr>
        <p:spPr>
          <a:xfrm>
            <a:off x="548640" y="3310128"/>
            <a:ext cx="11094415" cy="457200"/>
          </a:xfrm>
          <a:prstGeom prst="rect">
            <a:avLst/>
          </a:prstGeom>
          <a:noFill/>
          <a:ln/>
        </p:spPr>
        <p:txBody>
          <a:bodyPr wrap="square" lIns="0" tIns="0" rIns="0" bIns="0" rtlCol="0" anchor="t"/>
          <a:lstStyle/>
          <a:p>
            <a:pPr algn="l" indent="0" marL="0">
              <a:buNone/>
            </a:pPr>
            <a:r>
              <a:rPr lang="en-GB" altLang="en-US" sz="2000" dirty="0">
                <a:solidFill>
                  <a:schemeClr val="bg2"/>
                </a:solidFill>
              </a:rPr>
              <a:t>An empirical comparison of an AI reviewer with Checkov and tfsec for Terraform pull requests</a:t>
            </a:r>
            <a:endParaRPr lang="en-GB" sz="2000" dirty="0"/>
          </a:p>
        </p:txBody>
      </p:sp>
      <p:sp>
        <p:nvSpPr>
          <p:cNvPr id="4" name="Presenter details"/>
          <p:cNvSpPr txBox="1"/>
          <p:nvPr/>
        </p:nvSpPr>
        <p:spPr>
          <a:xfrm>
            <a:off x="548640" y="4160520"/>
            <a:ext cx="6949440" cy="1737360"/>
          </a:xfrm>
          <a:prstGeom prst="rect">
            <a:avLst/>
          </a:prstGeom>
          <a:noFill/>
          <a:ln/>
        </p:spPr>
        <p:txBody>
          <a:bodyPr wrap="square" lIns="0" tIns="0" rIns="0" bIns="0" rtlCol="0" anchor="t"/>
          <a:lstStyle/>
          <a:p>
            <a:pPr indent="0" marL="0">
              <a:spcAft>
                <a:spcPts val="400"/>
              </a:spcAft>
              <a:buNone/>
            </a:pPr>
            <a:r>
              <a:rPr lang="en-GB" altLang="en-US" sz="1800" b="1" dirty="0">
                <a:solidFill>
                  <a:schemeClr val="bg1"/>
                </a:solidFill>
              </a:rPr>
              <a:t>Abdul Waheed</a:t>
            </a:r>
            <a:endParaRPr lang="en-GB" sz="1400" dirty="0"/>
          </a:p>
          <a:p>
            <a:pPr indent="0" marL="0">
              <a:spcAft>
                <a:spcPts val="400"/>
              </a:spcAft>
              <a:buNone/>
            </a:pPr>
            <a:r>
              <a:rPr lang="en-GB" altLang="en-US" sz="1400" dirty="0">
                <a:solidFill>
                  <a:schemeClr val="bg2"/>
                </a:solidFill>
              </a:rPr>
              <a:t>Student number 209333039</a:t>
            </a:r>
            <a:endParaRPr lang="en-GB" sz="1400" dirty="0"/>
          </a:p>
          <a:p>
            <a:pPr indent="0" marL="0">
              <a:spcAft>
                <a:spcPts val="400"/>
              </a:spcAft>
              <a:buNone/>
            </a:pPr>
            <a:r>
              <a:rPr lang="en-GB" altLang="en-US" sz="1400" dirty="0">
                <a:solidFill>
                  <a:schemeClr val="bg2"/>
                </a:solidFill>
              </a:rPr>
              <a:t>MSc Computer Science with Cybersecurity · PROM06 Research Project</a:t>
            </a:r>
            <a:endParaRPr lang="en-GB" sz="1400" dirty="0"/>
          </a:p>
          <a:p>
            <a:pPr indent="0" marL="0">
              <a:spcAft>
                <a:spcPts val="400"/>
              </a:spcAft>
              <a:buNone/>
            </a:pPr>
            <a:r>
              <a:rPr lang="en-GB" altLang="en-US" sz="1400" dirty="0">
                <a:solidFill>
                  <a:schemeClr val="bg2"/>
                </a:solidFill>
              </a:rPr>
              <a:t>Supervisor: Liz Gandy</a:t>
            </a:r>
            <a:endParaRPr lang="en-GB" sz="1400" dirty="0"/>
          </a:p>
          <a:p>
            <a:pPr indent="0" marL="0">
              <a:spcAft>
                <a:spcPts val="400"/>
              </a:spcAft>
              <a:buNone/>
            </a:pPr>
            <a:r>
              <a:rPr lang="en-GB" altLang="en-US" sz="1400" dirty="0">
                <a:solidFill>
                  <a:schemeClr val="bg2"/>
                </a:solidFill>
              </a:rPr>
              <a:t>Faculty of Technology · School of Computer Science · October 2026</a:t>
            </a:r>
            <a:endParaRPr lang="en-GB" sz="1400" dirty="0"/>
          </a:p>
        </p:txBody>
      </p:sp>
      <p:sp>
        <p:nvSpPr>
          <p:cNvPr id="5" name="Pull request circle"/>
          <p:cNvSpPr/>
          <p:nvPr/>
        </p:nvSpPr>
        <p:spPr>
          <a:xfrm>
            <a:off x="9692640" y="4069080"/>
            <a:ext cx="731520" cy="731520"/>
          </a:xfrm>
          <a:prstGeom prst="ellipse">
            <a:avLst/>
          </a:prstGeom>
          <a:solidFill>
            <a:schemeClr val="bg1"/>
          </a:solidFill>
          <a:ln w="12700">
            <a:solidFill>
              <a:schemeClr val="bg1"/>
            </a:solidFill>
            <a:prstDash val="solid"/>
          </a:ln>
        </p:spPr>
      </p:sp>
      <p:pic>
        <p:nvPicPr>
          <p:cNvPr id="6" name="Pull request icon" descr="preencoded.png">    </p:cNvPr>
          <p:cNvPicPr>
            <a:picLocks noChangeAspect="1"/>
          </p:cNvPicPr>
          <p:nvPr/>
        </p:nvPicPr>
        <p:blipFill>
          <a:blip r:embed="rId1"/>
          <a:stretch>
            <a:fillRect/>
          </a:stretch>
        </p:blipFill>
        <p:spPr>
          <a:xfrm>
            <a:off x="9868205" y="4244645"/>
            <a:ext cx="380390" cy="380390"/>
          </a:xfrm>
          <a:prstGeom prst="rect">
            <a:avLst/>
          </a:prstGeom>
        </p:spPr>
      </p:pic>
      <p:sp>
        <p:nvSpPr>
          <p:cNvPr id="7" name="Connector left"/>
          <p:cNvSpPr/>
          <p:nvPr/>
        </p:nvSpPr>
        <p:spPr>
          <a:xfrm flipH="1">
            <a:off x="8915400" y="4800600"/>
            <a:ext cx="1143000" cy="320040"/>
          </a:xfrm>
          <a:prstGeom prst="line">
            <a:avLst/>
          </a:prstGeom>
          <a:noFill/>
          <a:ln w="15875">
            <a:solidFill>
              <a:schemeClr val="accent3"/>
            </a:solidFill>
            <a:prstDash val="solid"/>
          </a:ln>
        </p:spPr>
      </p:sp>
      <p:sp>
        <p:nvSpPr>
          <p:cNvPr id="8" name="Connector middle"/>
          <p:cNvSpPr/>
          <p:nvPr/>
        </p:nvSpPr>
        <p:spPr>
          <a:xfrm>
            <a:off x="10058400" y="4800600"/>
            <a:ext cx="0" cy="320040"/>
          </a:xfrm>
          <a:prstGeom prst="line">
            <a:avLst/>
          </a:prstGeom>
          <a:noFill/>
          <a:ln w="15875">
            <a:solidFill>
              <a:schemeClr val="accent3"/>
            </a:solidFill>
            <a:prstDash val="solid"/>
          </a:ln>
        </p:spPr>
      </p:sp>
      <p:sp>
        <p:nvSpPr>
          <p:cNvPr id="9" name="Connector right"/>
          <p:cNvSpPr/>
          <p:nvPr/>
        </p:nvSpPr>
        <p:spPr>
          <a:xfrm>
            <a:off x="10058400" y="4800600"/>
            <a:ext cx="1143000" cy="320040"/>
          </a:xfrm>
          <a:prstGeom prst="line">
            <a:avLst/>
          </a:prstGeom>
          <a:noFill/>
          <a:ln w="15875">
            <a:solidFill>
              <a:schemeClr val="accent3"/>
            </a:solidFill>
            <a:prstDash val="solid"/>
          </a:ln>
        </p:spPr>
      </p:sp>
      <p:sp>
        <p:nvSpPr>
          <p:cNvPr id="10" name="Checkov circle"/>
          <p:cNvSpPr/>
          <p:nvPr/>
        </p:nvSpPr>
        <p:spPr>
          <a:xfrm>
            <a:off x="8549640" y="5120640"/>
            <a:ext cx="731520" cy="731520"/>
          </a:xfrm>
          <a:prstGeom prst="ellipse">
            <a:avLst/>
          </a:prstGeom>
          <a:solidFill>
            <a:schemeClr val="accent3"/>
          </a:solidFill>
          <a:ln w="19050">
            <a:solidFill>
              <a:schemeClr val="bg1"/>
            </a:solidFill>
            <a:prstDash val="solid"/>
          </a:ln>
        </p:spPr>
      </p:sp>
      <p:pic>
        <p:nvPicPr>
          <p:cNvPr id="11" name="Checkov icon" descr="preencoded.png">    </p:cNvPr>
          <p:cNvPicPr>
            <a:picLocks noChangeAspect="1"/>
          </p:cNvPicPr>
          <p:nvPr/>
        </p:nvPicPr>
        <p:blipFill>
          <a:blip r:embed="rId2"/>
          <a:stretch>
            <a:fillRect/>
          </a:stretch>
        </p:blipFill>
        <p:spPr>
          <a:xfrm>
            <a:off x="8732520" y="5303520"/>
            <a:ext cx="365760" cy="365760"/>
          </a:xfrm>
          <a:prstGeom prst="rect">
            <a:avLst/>
          </a:prstGeom>
        </p:spPr>
      </p:pic>
      <p:sp>
        <p:nvSpPr>
          <p:cNvPr id="12" name="Checkov label"/>
          <p:cNvSpPr txBox="1"/>
          <p:nvPr/>
        </p:nvSpPr>
        <p:spPr>
          <a:xfrm>
            <a:off x="8348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Checkov</a:t>
            </a:r>
            <a:endParaRPr lang="en-GB" sz="1300" dirty="0"/>
          </a:p>
        </p:txBody>
      </p:sp>
      <p:sp>
        <p:nvSpPr>
          <p:cNvPr id="13" name="tfsec circle"/>
          <p:cNvSpPr/>
          <p:nvPr/>
        </p:nvSpPr>
        <p:spPr>
          <a:xfrm>
            <a:off x="9692640" y="5120640"/>
            <a:ext cx="731520" cy="731520"/>
          </a:xfrm>
          <a:prstGeom prst="ellipse">
            <a:avLst/>
          </a:prstGeom>
          <a:solidFill>
            <a:schemeClr val="accent3"/>
          </a:solidFill>
          <a:ln w="19050">
            <a:solidFill>
              <a:schemeClr val="bg1"/>
            </a:solidFill>
            <a:prstDash val="solid"/>
          </a:ln>
        </p:spPr>
      </p:sp>
      <p:pic>
        <p:nvPicPr>
          <p:cNvPr id="14" name="tfsec icon" descr="preencoded.png">    </p:cNvPr>
          <p:cNvPicPr>
            <a:picLocks noChangeAspect="1"/>
          </p:cNvPicPr>
          <p:nvPr/>
        </p:nvPicPr>
        <p:blipFill>
          <a:blip r:embed="rId3"/>
          <a:stretch>
            <a:fillRect/>
          </a:stretch>
        </p:blipFill>
        <p:spPr>
          <a:xfrm>
            <a:off x="9875520" y="5303520"/>
            <a:ext cx="365760" cy="365760"/>
          </a:xfrm>
          <a:prstGeom prst="rect">
            <a:avLst/>
          </a:prstGeom>
        </p:spPr>
      </p:pic>
      <p:sp>
        <p:nvSpPr>
          <p:cNvPr id="15" name="tfsec label"/>
          <p:cNvSpPr txBox="1"/>
          <p:nvPr/>
        </p:nvSpPr>
        <p:spPr>
          <a:xfrm>
            <a:off x="9491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tfsec</a:t>
            </a:r>
            <a:endParaRPr lang="en-GB" sz="1300" dirty="0"/>
          </a:p>
        </p:txBody>
      </p:sp>
      <p:sp>
        <p:nvSpPr>
          <p:cNvPr id="16" name="AI reviewer circle"/>
          <p:cNvSpPr/>
          <p:nvPr/>
        </p:nvSpPr>
        <p:spPr>
          <a:xfrm>
            <a:off x="10835640" y="5120640"/>
            <a:ext cx="731520" cy="731520"/>
          </a:xfrm>
          <a:prstGeom prst="ellipse">
            <a:avLst/>
          </a:prstGeom>
          <a:solidFill>
            <a:schemeClr val="accent1"/>
          </a:solidFill>
          <a:ln w="19050">
            <a:solidFill>
              <a:schemeClr val="bg1"/>
            </a:solidFill>
            <a:prstDash val="solid"/>
          </a:ln>
        </p:spPr>
      </p:sp>
      <p:pic>
        <p:nvPicPr>
          <p:cNvPr id="17" name="AI reviewer icon" descr="preencoded.png">    </p:cNvPr>
          <p:cNvPicPr>
            <a:picLocks noChangeAspect="1"/>
          </p:cNvPicPr>
          <p:nvPr/>
        </p:nvPicPr>
        <p:blipFill>
          <a:blip r:embed="rId4"/>
          <a:stretch>
            <a:fillRect/>
          </a:stretch>
        </p:blipFill>
        <p:spPr>
          <a:xfrm>
            <a:off x="11018520" y="5303520"/>
            <a:ext cx="365760" cy="365760"/>
          </a:xfrm>
          <a:prstGeom prst="rect">
            <a:avLst/>
          </a:prstGeom>
        </p:spPr>
      </p:pic>
      <p:sp>
        <p:nvSpPr>
          <p:cNvPr id="18" name="AI reviewer label"/>
          <p:cNvSpPr txBox="1"/>
          <p:nvPr/>
        </p:nvSpPr>
        <p:spPr>
          <a:xfrm>
            <a:off x="10634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AI reviewer</a:t>
            </a:r>
            <a:endParaRPr lang="en-GB"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Can an AI reviewer catch what scanners miss?</a:t>
            </a:r>
            <a:endParaRPr lang="en-GB" sz="3600" dirty="0"/>
          </a:p>
        </p:txBody>
      </p:sp>
      <p:sp>
        <p:nvSpPr>
          <p:cNvPr id="3" name="Label The problem"/>
          <p:cNvSpPr txBox="1"/>
          <p:nvPr/>
        </p:nvSpPr>
        <p:spPr>
          <a:xfrm>
            <a:off x="548640" y="1325880"/>
            <a:ext cx="54864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THE PROBLEM</a:t>
            </a:r>
            <a:endParaRPr lang="en-GB" sz="1200" dirty="0"/>
          </a:p>
        </p:txBody>
      </p:sp>
      <p:sp>
        <p:nvSpPr>
          <p:cNvPr id="4" name="Problem 1 circle"/>
          <p:cNvSpPr/>
          <p:nvPr/>
        </p:nvSpPr>
        <p:spPr>
          <a:xfrm>
            <a:off x="1088136" y="1664208"/>
            <a:ext cx="658368" cy="658368"/>
          </a:xfrm>
          <a:prstGeom prst="ellipse">
            <a:avLst/>
          </a:prstGeom>
          <a:solidFill>
            <a:schemeClr val="accent2"/>
          </a:solidFill>
          <a:ln w="12700">
            <a:solidFill>
              <a:schemeClr val="accent2"/>
            </a:solidFill>
            <a:prstDash val="solid"/>
          </a:ln>
        </p:spPr>
      </p:sp>
      <p:pic>
        <p:nvPicPr>
          <p:cNvPr id="5" name="Problem 1 icon" descr="preencoded.png">    </p:cNvPr>
          <p:cNvPicPr>
            <a:picLocks noChangeAspect="1"/>
          </p:cNvPicPr>
          <p:nvPr/>
        </p:nvPicPr>
        <p:blipFill>
          <a:blip r:embed="rId1"/>
          <a:stretch>
            <a:fillRect/>
          </a:stretch>
        </p:blipFill>
        <p:spPr>
          <a:xfrm>
            <a:off x="1252728" y="1828800"/>
            <a:ext cx="329184" cy="329184"/>
          </a:xfrm>
          <a:prstGeom prst="rect">
            <a:avLst/>
          </a:prstGeom>
        </p:spPr>
      </p:pic>
      <p:sp>
        <p:nvSpPr>
          <p:cNvPr id="6" name="Problem caption 1"/>
          <p:cNvSpPr txBox="1"/>
          <p:nvPr/>
        </p:nvSpPr>
        <p:spPr>
          <a:xfrm>
            <a:off x="548640" y="2395728"/>
            <a:ext cx="1737360" cy="777240"/>
          </a:xfrm>
          <a:prstGeom prst="rect">
            <a:avLst/>
          </a:prstGeom>
          <a:noFill/>
          <a:ln/>
        </p:spPr>
        <p:txBody>
          <a:bodyPr wrap="square" lIns="0" tIns="0" rIns="0" bIns="0" rtlCol="0" anchor="t"/>
          <a:lstStyle/>
          <a:p>
            <a:pPr algn="ctr" indent="0" marL="0">
              <a:buNone/>
            </a:pPr>
            <a:r>
              <a:rPr lang="en-GB" altLang="en-US" sz="1400" b="1" dirty="0">
                <a:solidFill>
                  <a:schemeClr val="tx2"/>
                </a:solidFill>
              </a:rPr>
              <a:t>Infrastructure is written as code</a:t>
            </a:r>
            <a:endParaRPr lang="en-GB" sz="1400" dirty="0"/>
          </a:p>
          <a:p>
            <a:pPr algn="ctr" indent="0" marL="0">
              <a:buNone/>
            </a:pPr>
            <a:r>
              <a:rPr lang="en-GB" altLang="en-US" sz="1100" dirty="0">
                <a:solidFill>
                  <a:schemeClr val="accent6"/>
                </a:solidFill>
              </a:rPr>
              <a:t>(Morris, 2020)</a:t>
            </a:r>
            <a:endParaRPr lang="en-GB" sz="1400" dirty="0"/>
          </a:p>
        </p:txBody>
      </p:sp>
      <p:pic>
        <p:nvPicPr>
          <p:cNvPr id="7" name="Problem arrow 1" descr="preencoded.png">    </p:cNvPr>
          <p:cNvPicPr>
            <a:picLocks noChangeAspect="1"/>
          </p:cNvPicPr>
          <p:nvPr/>
        </p:nvPicPr>
        <p:blipFill>
          <a:blip r:embed="rId2"/>
          <a:stretch>
            <a:fillRect/>
          </a:stretch>
        </p:blipFill>
        <p:spPr>
          <a:xfrm>
            <a:off x="2331720" y="1828800"/>
            <a:ext cx="256032" cy="256032"/>
          </a:xfrm>
          <a:prstGeom prst="rect">
            <a:avLst/>
          </a:prstGeom>
        </p:spPr>
      </p:pic>
      <p:sp>
        <p:nvSpPr>
          <p:cNvPr id="8" name="Problem 2 circle"/>
          <p:cNvSpPr/>
          <p:nvPr/>
        </p:nvSpPr>
        <p:spPr>
          <a:xfrm>
            <a:off x="3099816" y="1664208"/>
            <a:ext cx="658368" cy="658368"/>
          </a:xfrm>
          <a:prstGeom prst="ellipse">
            <a:avLst/>
          </a:prstGeom>
          <a:solidFill>
            <a:schemeClr val="accent2"/>
          </a:solidFill>
          <a:ln w="12700">
            <a:solidFill>
              <a:schemeClr val="accent2"/>
            </a:solidFill>
            <a:prstDash val="solid"/>
          </a:ln>
        </p:spPr>
      </p:sp>
      <p:pic>
        <p:nvPicPr>
          <p:cNvPr id="9" name="Problem 2 icon" descr="preencoded.png">    </p:cNvPr>
          <p:cNvPicPr>
            <a:picLocks noChangeAspect="1"/>
          </p:cNvPicPr>
          <p:nvPr/>
        </p:nvPicPr>
        <p:blipFill>
          <a:blip r:embed="rId3"/>
          <a:stretch>
            <a:fillRect/>
          </a:stretch>
        </p:blipFill>
        <p:spPr>
          <a:xfrm>
            <a:off x="3264408" y="1828800"/>
            <a:ext cx="329184" cy="329184"/>
          </a:xfrm>
          <a:prstGeom prst="rect">
            <a:avLst/>
          </a:prstGeom>
        </p:spPr>
      </p:pic>
      <p:sp>
        <p:nvSpPr>
          <p:cNvPr id="10" name="Problem caption 2"/>
          <p:cNvSpPr txBox="1"/>
          <p:nvPr/>
        </p:nvSpPr>
        <p:spPr>
          <a:xfrm>
            <a:off x="2560320" y="2395728"/>
            <a:ext cx="1737360" cy="777240"/>
          </a:xfrm>
          <a:prstGeom prst="rect">
            <a:avLst/>
          </a:prstGeom>
          <a:noFill/>
          <a:ln/>
        </p:spPr>
        <p:txBody>
          <a:bodyPr wrap="square" lIns="0" tIns="0" rIns="0" bIns="0" rtlCol="0" anchor="t"/>
          <a:lstStyle/>
          <a:p>
            <a:pPr algn="ctr" indent="0" marL="0">
              <a:buNone/>
            </a:pPr>
            <a:r>
              <a:rPr lang="en-GB" altLang="en-US" sz="1400" b="1" dirty="0">
                <a:solidFill>
                  <a:schemeClr val="tx2"/>
                </a:solidFill>
              </a:rPr>
              <a:t>One unsafe line is copied everywhere</a:t>
            </a:r>
            <a:endParaRPr lang="en-GB" sz="1400" dirty="0"/>
          </a:p>
        </p:txBody>
      </p:sp>
      <p:pic>
        <p:nvPicPr>
          <p:cNvPr id="11" name="Problem arrow 2" descr="preencoded.png">    </p:cNvPr>
          <p:cNvPicPr>
            <a:picLocks noChangeAspect="1"/>
          </p:cNvPicPr>
          <p:nvPr/>
        </p:nvPicPr>
        <p:blipFill>
          <a:blip r:embed="rId4"/>
          <a:stretch>
            <a:fillRect/>
          </a:stretch>
        </p:blipFill>
        <p:spPr>
          <a:xfrm>
            <a:off x="4343400" y="1828800"/>
            <a:ext cx="256032" cy="256032"/>
          </a:xfrm>
          <a:prstGeom prst="rect">
            <a:avLst/>
          </a:prstGeom>
        </p:spPr>
      </p:pic>
      <p:sp>
        <p:nvSpPr>
          <p:cNvPr id="12" name="Problem 3 circle"/>
          <p:cNvSpPr/>
          <p:nvPr/>
        </p:nvSpPr>
        <p:spPr>
          <a:xfrm>
            <a:off x="5111496" y="1664208"/>
            <a:ext cx="658368" cy="658368"/>
          </a:xfrm>
          <a:prstGeom prst="ellipse">
            <a:avLst/>
          </a:prstGeom>
          <a:solidFill>
            <a:schemeClr val="accent2"/>
          </a:solidFill>
          <a:ln w="12700">
            <a:solidFill>
              <a:schemeClr val="accent2"/>
            </a:solidFill>
            <a:prstDash val="solid"/>
          </a:ln>
        </p:spPr>
      </p:sp>
      <p:pic>
        <p:nvPicPr>
          <p:cNvPr id="13" name="Problem 3 icon" descr="preencoded.png">    </p:cNvPr>
          <p:cNvPicPr>
            <a:picLocks noChangeAspect="1"/>
          </p:cNvPicPr>
          <p:nvPr/>
        </p:nvPicPr>
        <p:blipFill>
          <a:blip r:embed="rId5"/>
          <a:stretch>
            <a:fillRect/>
          </a:stretch>
        </p:blipFill>
        <p:spPr>
          <a:xfrm>
            <a:off x="5276088" y="1828800"/>
            <a:ext cx="329184" cy="329184"/>
          </a:xfrm>
          <a:prstGeom prst="rect">
            <a:avLst/>
          </a:prstGeom>
        </p:spPr>
      </p:pic>
      <p:sp>
        <p:nvSpPr>
          <p:cNvPr id="14" name="Problem caption 3"/>
          <p:cNvSpPr txBox="1"/>
          <p:nvPr/>
        </p:nvSpPr>
        <p:spPr>
          <a:xfrm>
            <a:off x="4572000" y="2395728"/>
            <a:ext cx="1737360" cy="777240"/>
          </a:xfrm>
          <a:prstGeom prst="rect">
            <a:avLst/>
          </a:prstGeom>
          <a:noFill/>
          <a:ln/>
        </p:spPr>
        <p:txBody>
          <a:bodyPr wrap="square" lIns="0" tIns="0" rIns="0" bIns="0" rtlCol="0" anchor="t"/>
          <a:lstStyle/>
          <a:p>
            <a:pPr algn="ctr" indent="0" marL="0">
              <a:buNone/>
            </a:pPr>
            <a:r>
              <a:rPr lang="en-GB" altLang="en-US" sz="1400" b="1" dirty="0">
                <a:solidFill>
                  <a:schemeClr val="tx2"/>
                </a:solidFill>
              </a:rPr>
              <a:t>Keeping it safe is the customer’s job</a:t>
            </a:r>
            <a:endParaRPr lang="en-GB" sz="1400" dirty="0"/>
          </a:p>
          <a:p>
            <a:pPr algn="ctr" indent="0" marL="0">
              <a:buNone/>
            </a:pPr>
            <a:r>
              <a:rPr lang="en-GB" altLang="en-US" sz="1100" dirty="0">
                <a:solidFill>
                  <a:schemeClr val="accent6"/>
                </a:solidFill>
              </a:rPr>
              <a:t>(Microsoft, 2024)</a:t>
            </a:r>
            <a:endParaRPr lang="en-GB" sz="1400" dirty="0"/>
          </a:p>
        </p:txBody>
      </p:sp>
      <p:sp>
        <p:nvSpPr>
          <p:cNvPr id="15" name="Label Two ways to check it"/>
          <p:cNvSpPr txBox="1"/>
          <p:nvPr/>
        </p:nvSpPr>
        <p:spPr>
          <a:xfrm>
            <a:off x="548640" y="3310128"/>
            <a:ext cx="54864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TWO WAYS TO CHECK IT</a:t>
            </a:r>
            <a:endParaRPr lang="en-GB" sz="1200" dirty="0"/>
          </a:p>
        </p:txBody>
      </p:sp>
      <p:sp>
        <p:nvSpPr>
          <p:cNvPr id="16" name="Scanners card"/>
          <p:cNvSpPr/>
          <p:nvPr/>
        </p:nvSpPr>
        <p:spPr>
          <a:xfrm>
            <a:off x="548640" y="3611880"/>
            <a:ext cx="2743200" cy="2423160"/>
          </a:xfrm>
          <a:prstGeom prst="roundRect">
            <a:avLst>
              <a:gd name="adj" fmla="val 3019"/>
            </a:avLst>
          </a:prstGeom>
          <a:solidFill>
            <a:schemeClr val="bg2"/>
          </a:solidFill>
          <a:ln w="12700">
            <a:solidFill>
              <a:schemeClr val="bg2"/>
            </a:solidFill>
            <a:prstDash val="solid"/>
          </a:ln>
        </p:spPr>
      </p:sp>
      <p:sp>
        <p:nvSpPr>
          <p:cNvPr id="17" name="Scanners circle"/>
          <p:cNvSpPr/>
          <p:nvPr/>
        </p:nvSpPr>
        <p:spPr>
          <a:xfrm>
            <a:off x="731520" y="3794760"/>
            <a:ext cx="475488" cy="475488"/>
          </a:xfrm>
          <a:prstGeom prst="ellipse">
            <a:avLst/>
          </a:prstGeom>
          <a:solidFill>
            <a:schemeClr val="accent2"/>
          </a:solidFill>
          <a:ln w="12700">
            <a:solidFill>
              <a:schemeClr val="accent2"/>
            </a:solidFill>
            <a:prstDash val="solid"/>
          </a:ln>
        </p:spPr>
      </p:sp>
      <p:pic>
        <p:nvPicPr>
          <p:cNvPr id="18" name="Scanners icon" descr="preencoded.png">    </p:cNvPr>
          <p:cNvPicPr>
            <a:picLocks noChangeAspect="1"/>
          </p:cNvPicPr>
          <p:nvPr/>
        </p:nvPicPr>
        <p:blipFill>
          <a:blip r:embed="rId6"/>
          <a:stretch>
            <a:fillRect/>
          </a:stretch>
        </p:blipFill>
        <p:spPr>
          <a:xfrm>
            <a:off x="850392" y="3913632"/>
            <a:ext cx="237744" cy="237744"/>
          </a:xfrm>
          <a:prstGeom prst="rect">
            <a:avLst/>
          </a:prstGeom>
        </p:spPr>
      </p:pic>
      <p:sp>
        <p:nvSpPr>
          <p:cNvPr id="19" name="Scanners heading"/>
          <p:cNvSpPr txBox="1"/>
          <p:nvPr/>
        </p:nvSpPr>
        <p:spPr>
          <a:xfrm>
            <a:off x="1325880" y="3776472"/>
            <a:ext cx="1828800" cy="548640"/>
          </a:xfrm>
          <a:prstGeom prst="rect">
            <a:avLst/>
          </a:prstGeom>
          <a:noFill/>
          <a:ln/>
        </p:spPr>
        <p:txBody>
          <a:bodyPr wrap="square" lIns="0" tIns="0" rIns="0" bIns="0" rtlCol="0" anchor="t"/>
          <a:lstStyle/>
          <a:p>
            <a:pPr indent="0" marL="0">
              <a:buNone/>
            </a:pPr>
            <a:r>
              <a:rPr lang="en-GB" altLang="en-US" sz="1600" b="1" dirty="0">
                <a:solidFill>
                  <a:schemeClr val="tx2"/>
                </a:solidFill>
              </a:rPr>
              <a:t>Scanners</a:t>
            </a:r>
            <a:endParaRPr lang="en-GB" sz="1400" dirty="0"/>
          </a:p>
          <a:p>
            <a:pPr indent="0" marL="0">
              <a:buNone/>
            </a:pPr>
            <a:r>
              <a:rPr lang="en-GB" altLang="en-US" sz="1200" dirty="0">
                <a:solidFill>
                  <a:schemeClr val="accent6"/>
                </a:solidFill>
              </a:rPr>
              <a:t>Checkov, tfsec</a:t>
            </a:r>
            <a:endParaRPr lang="en-GB" sz="1400" dirty="0"/>
          </a:p>
        </p:txBody>
      </p:sp>
      <p:pic>
        <p:nvPicPr>
          <p:cNvPr id="20" name="Scanners mark 1" descr="preencoded.png">    </p:cNvPr>
          <p:cNvPicPr>
            <a:picLocks noChangeAspect="1"/>
          </p:cNvPicPr>
          <p:nvPr/>
        </p:nvPicPr>
        <p:blipFill>
          <a:blip r:embed="rId7"/>
          <a:stretch>
            <a:fillRect/>
          </a:stretch>
        </p:blipFill>
        <p:spPr>
          <a:xfrm>
            <a:off x="749808" y="4471416"/>
            <a:ext cx="182880" cy="182880"/>
          </a:xfrm>
          <a:prstGeom prst="rect">
            <a:avLst/>
          </a:prstGeom>
        </p:spPr>
      </p:pic>
      <p:sp>
        <p:nvSpPr>
          <p:cNvPr id="21" name="Scanners point 1"/>
          <p:cNvSpPr txBox="1"/>
          <p:nvPr/>
        </p:nvSpPr>
        <p:spPr>
          <a:xfrm>
            <a:off x="1051560" y="4434840"/>
            <a:ext cx="2103120" cy="365760"/>
          </a:xfrm>
          <a:prstGeom prst="rect">
            <a:avLst/>
          </a:prstGeom>
          <a:noFill/>
          <a:ln/>
        </p:spPr>
        <p:txBody>
          <a:bodyPr wrap="square" lIns="0" tIns="0" rIns="0" bIns="0" rtlCol="0" anchor="t"/>
          <a:lstStyle/>
          <a:p>
            <a:pPr indent="0" marL="0">
              <a:buNone/>
            </a:pPr>
            <a:r>
              <a:rPr lang="en-GB" altLang="en-US" sz="1300" dirty="0">
                <a:solidFill>
                  <a:schemeClr val="tx1"/>
                </a:solidFill>
              </a:rPr>
              <a:t>Fast and consistent</a:t>
            </a:r>
            <a:endParaRPr lang="en-GB" sz="1300" dirty="0"/>
          </a:p>
        </p:txBody>
      </p:sp>
      <p:pic>
        <p:nvPicPr>
          <p:cNvPr id="22" name="Scanners mark 2" descr="preencoded.png">    </p:cNvPr>
          <p:cNvPicPr>
            <a:picLocks noChangeAspect="1"/>
          </p:cNvPicPr>
          <p:nvPr/>
        </p:nvPicPr>
        <p:blipFill>
          <a:blip r:embed="rId8"/>
          <a:stretch>
            <a:fillRect/>
          </a:stretch>
        </p:blipFill>
        <p:spPr>
          <a:xfrm>
            <a:off x="749808" y="4837176"/>
            <a:ext cx="182880" cy="182880"/>
          </a:xfrm>
          <a:prstGeom prst="rect">
            <a:avLst/>
          </a:prstGeom>
        </p:spPr>
      </p:pic>
      <p:sp>
        <p:nvSpPr>
          <p:cNvPr id="23" name="Scanners point 2"/>
          <p:cNvSpPr txBox="1"/>
          <p:nvPr/>
        </p:nvSpPr>
        <p:spPr>
          <a:xfrm>
            <a:off x="1051560" y="4800600"/>
            <a:ext cx="2103120" cy="365760"/>
          </a:xfrm>
          <a:prstGeom prst="rect">
            <a:avLst/>
          </a:prstGeom>
          <a:noFill/>
          <a:ln/>
        </p:spPr>
        <p:txBody>
          <a:bodyPr wrap="square" lIns="0" tIns="0" rIns="0" bIns="0" rtlCol="0" anchor="t"/>
          <a:lstStyle/>
          <a:p>
            <a:pPr indent="0" marL="0">
              <a:buNone/>
            </a:pPr>
            <a:r>
              <a:rPr lang="en-GB" altLang="en-US" sz="1300" dirty="0">
                <a:solidFill>
                  <a:schemeClr val="tx1"/>
                </a:solidFill>
              </a:rPr>
              <a:t>Only know their own rules</a:t>
            </a:r>
            <a:endParaRPr lang="en-GB" sz="1300" dirty="0"/>
          </a:p>
        </p:txBody>
      </p:sp>
      <p:pic>
        <p:nvPicPr>
          <p:cNvPr id="24" name="Scanners mark 3" descr="preencoded.png">    </p:cNvPr>
          <p:cNvPicPr>
            <a:picLocks noChangeAspect="1"/>
          </p:cNvPicPr>
          <p:nvPr/>
        </p:nvPicPr>
        <p:blipFill>
          <a:blip r:embed="rId9"/>
          <a:stretch>
            <a:fillRect/>
          </a:stretch>
        </p:blipFill>
        <p:spPr>
          <a:xfrm>
            <a:off x="749808" y="5202936"/>
            <a:ext cx="182880" cy="182880"/>
          </a:xfrm>
          <a:prstGeom prst="rect">
            <a:avLst/>
          </a:prstGeom>
        </p:spPr>
      </p:pic>
      <p:sp>
        <p:nvSpPr>
          <p:cNvPr id="25" name="Scanners point 3"/>
          <p:cNvSpPr txBox="1"/>
          <p:nvPr/>
        </p:nvSpPr>
        <p:spPr>
          <a:xfrm>
            <a:off x="1051560" y="5166360"/>
            <a:ext cx="2103120" cy="365760"/>
          </a:xfrm>
          <a:prstGeom prst="rect">
            <a:avLst/>
          </a:prstGeom>
          <a:noFill/>
          <a:ln/>
        </p:spPr>
        <p:txBody>
          <a:bodyPr wrap="square" lIns="0" tIns="0" rIns="0" bIns="0" rtlCol="0" anchor="t"/>
          <a:lstStyle/>
          <a:p>
            <a:pPr indent="0" marL="0">
              <a:buNone/>
            </a:pPr>
            <a:r>
              <a:rPr lang="en-GB" altLang="en-US" sz="1300" dirty="0">
                <a:solidFill>
                  <a:schemeClr val="tx1"/>
                </a:solidFill>
              </a:rPr>
              <a:t>Noisy warnings get ignored</a:t>
            </a:r>
            <a:endParaRPr lang="en-GB" sz="1300" dirty="0"/>
          </a:p>
        </p:txBody>
      </p:sp>
      <p:sp>
        <p:nvSpPr>
          <p:cNvPr id="26" name="Scanners citation"/>
          <p:cNvSpPr txBox="1"/>
          <p:nvPr/>
        </p:nvSpPr>
        <p:spPr>
          <a:xfrm>
            <a:off x="749808" y="5724144"/>
            <a:ext cx="2377440" cy="237744"/>
          </a:xfrm>
          <a:prstGeom prst="rect">
            <a:avLst/>
          </a:prstGeom>
          <a:noFill/>
          <a:ln/>
        </p:spPr>
        <p:txBody>
          <a:bodyPr wrap="square" lIns="0" tIns="0" rIns="0" bIns="0" rtlCol="0" anchor="t"/>
          <a:lstStyle/>
          <a:p>
            <a:pPr indent="0" marL="0">
              <a:buNone/>
            </a:pPr>
            <a:r>
              <a:rPr lang="en-GB" altLang="en-US" sz="1000" dirty="0">
                <a:solidFill>
                  <a:schemeClr val="accent6"/>
                </a:solidFill>
              </a:rPr>
              <a:t>(Johnson et al., 2013)</a:t>
            </a:r>
            <a:endParaRPr lang="en-GB" sz="1000" dirty="0"/>
          </a:p>
        </p:txBody>
      </p:sp>
      <p:sp>
        <p:nvSpPr>
          <p:cNvPr id="27" name="AI reviewer card"/>
          <p:cNvSpPr/>
          <p:nvPr/>
        </p:nvSpPr>
        <p:spPr>
          <a:xfrm>
            <a:off x="3474720" y="3611880"/>
            <a:ext cx="2743200" cy="2423160"/>
          </a:xfrm>
          <a:prstGeom prst="roundRect">
            <a:avLst>
              <a:gd name="adj" fmla="val 3019"/>
            </a:avLst>
          </a:prstGeom>
          <a:solidFill>
            <a:schemeClr val="bg2"/>
          </a:solidFill>
          <a:ln w="12700">
            <a:solidFill>
              <a:schemeClr val="bg2"/>
            </a:solidFill>
            <a:prstDash val="solid"/>
          </a:ln>
        </p:spPr>
      </p:sp>
      <p:sp>
        <p:nvSpPr>
          <p:cNvPr id="28" name="AI reviewer circle"/>
          <p:cNvSpPr/>
          <p:nvPr/>
        </p:nvSpPr>
        <p:spPr>
          <a:xfrm>
            <a:off x="3657600" y="3794760"/>
            <a:ext cx="475488" cy="475488"/>
          </a:xfrm>
          <a:prstGeom prst="ellipse">
            <a:avLst/>
          </a:prstGeom>
          <a:solidFill>
            <a:schemeClr val="accent1"/>
          </a:solidFill>
          <a:ln w="12700">
            <a:solidFill>
              <a:schemeClr val="accent1"/>
            </a:solidFill>
            <a:prstDash val="solid"/>
          </a:ln>
        </p:spPr>
      </p:sp>
      <p:pic>
        <p:nvPicPr>
          <p:cNvPr id="29" name="AI reviewer icon" descr="preencoded.png">    </p:cNvPr>
          <p:cNvPicPr>
            <a:picLocks noChangeAspect="1"/>
          </p:cNvPicPr>
          <p:nvPr/>
        </p:nvPicPr>
        <p:blipFill>
          <a:blip r:embed="rId10"/>
          <a:stretch>
            <a:fillRect/>
          </a:stretch>
        </p:blipFill>
        <p:spPr>
          <a:xfrm>
            <a:off x="3776472" y="3913632"/>
            <a:ext cx="237744" cy="237744"/>
          </a:xfrm>
          <a:prstGeom prst="rect">
            <a:avLst/>
          </a:prstGeom>
        </p:spPr>
      </p:pic>
      <p:sp>
        <p:nvSpPr>
          <p:cNvPr id="30" name="AI reviewer heading"/>
          <p:cNvSpPr txBox="1"/>
          <p:nvPr/>
        </p:nvSpPr>
        <p:spPr>
          <a:xfrm>
            <a:off x="4251960" y="3776472"/>
            <a:ext cx="1828800" cy="548640"/>
          </a:xfrm>
          <a:prstGeom prst="rect">
            <a:avLst/>
          </a:prstGeom>
          <a:noFill/>
          <a:ln/>
        </p:spPr>
        <p:txBody>
          <a:bodyPr wrap="square" lIns="0" tIns="0" rIns="0" bIns="0" rtlCol="0" anchor="t"/>
          <a:lstStyle/>
          <a:p>
            <a:pPr indent="0" marL="0">
              <a:buNone/>
            </a:pPr>
            <a:r>
              <a:rPr lang="en-GB" altLang="en-US" sz="1600" b="1" dirty="0">
                <a:solidFill>
                  <a:schemeClr val="tx2"/>
                </a:solidFill>
              </a:rPr>
              <a:t>AI reviewer</a:t>
            </a:r>
            <a:endParaRPr lang="en-GB" sz="1400" dirty="0"/>
          </a:p>
          <a:p>
            <a:pPr indent="0" marL="0">
              <a:buNone/>
            </a:pPr>
            <a:r>
              <a:rPr lang="en-GB" altLang="en-US" sz="1200" dirty="0">
                <a:solidFill>
                  <a:schemeClr val="accent6"/>
                </a:solidFill>
              </a:rPr>
              <a:t>Claude</a:t>
            </a:r>
            <a:endParaRPr lang="en-GB" sz="1400" dirty="0"/>
          </a:p>
        </p:txBody>
      </p:sp>
      <p:pic>
        <p:nvPicPr>
          <p:cNvPr id="31" name="AI reviewer mark 1" descr="preencoded.png">    </p:cNvPr>
          <p:cNvPicPr>
            <a:picLocks noChangeAspect="1"/>
          </p:cNvPicPr>
          <p:nvPr/>
        </p:nvPicPr>
        <p:blipFill>
          <a:blip r:embed="rId11"/>
          <a:stretch>
            <a:fillRect/>
          </a:stretch>
        </p:blipFill>
        <p:spPr>
          <a:xfrm>
            <a:off x="3675888" y="4471416"/>
            <a:ext cx="182880" cy="182880"/>
          </a:xfrm>
          <a:prstGeom prst="rect">
            <a:avLst/>
          </a:prstGeom>
        </p:spPr>
      </p:pic>
      <p:sp>
        <p:nvSpPr>
          <p:cNvPr id="32" name="AI reviewer point 1"/>
          <p:cNvSpPr txBox="1"/>
          <p:nvPr/>
        </p:nvSpPr>
        <p:spPr>
          <a:xfrm>
            <a:off x="3977640" y="4434840"/>
            <a:ext cx="2103120" cy="365760"/>
          </a:xfrm>
          <a:prstGeom prst="rect">
            <a:avLst/>
          </a:prstGeom>
          <a:noFill/>
          <a:ln/>
        </p:spPr>
        <p:txBody>
          <a:bodyPr wrap="square" lIns="0" tIns="0" rIns="0" bIns="0" rtlCol="0" anchor="t"/>
          <a:lstStyle/>
          <a:p>
            <a:pPr indent="0" marL="0">
              <a:buNone/>
            </a:pPr>
            <a:r>
              <a:rPr lang="en-GB" altLang="en-US" sz="1300" dirty="0">
                <a:solidFill>
                  <a:schemeClr val="tx1"/>
                </a:solidFill>
              </a:rPr>
              <a:t>Reads all the code</a:t>
            </a:r>
            <a:endParaRPr lang="en-GB" sz="1300" dirty="0"/>
          </a:p>
        </p:txBody>
      </p:sp>
      <p:pic>
        <p:nvPicPr>
          <p:cNvPr id="33" name="AI reviewer mark 2" descr="preencoded.png">    </p:cNvPr>
          <p:cNvPicPr>
            <a:picLocks noChangeAspect="1"/>
          </p:cNvPicPr>
          <p:nvPr/>
        </p:nvPicPr>
        <p:blipFill>
          <a:blip r:embed="rId12"/>
          <a:stretch>
            <a:fillRect/>
          </a:stretch>
        </p:blipFill>
        <p:spPr>
          <a:xfrm>
            <a:off x="3675888" y="4837176"/>
            <a:ext cx="182880" cy="182880"/>
          </a:xfrm>
          <a:prstGeom prst="rect">
            <a:avLst/>
          </a:prstGeom>
        </p:spPr>
      </p:pic>
      <p:sp>
        <p:nvSpPr>
          <p:cNvPr id="34" name="AI reviewer point 2"/>
          <p:cNvSpPr txBox="1"/>
          <p:nvPr/>
        </p:nvSpPr>
        <p:spPr>
          <a:xfrm>
            <a:off x="3977640" y="4800600"/>
            <a:ext cx="2103120" cy="365760"/>
          </a:xfrm>
          <a:prstGeom prst="rect">
            <a:avLst/>
          </a:prstGeom>
          <a:noFill/>
          <a:ln/>
        </p:spPr>
        <p:txBody>
          <a:bodyPr wrap="square" lIns="0" tIns="0" rIns="0" bIns="0" rtlCol="0" anchor="t"/>
          <a:lstStyle/>
          <a:p>
            <a:pPr indent="0" marL="0">
              <a:buNone/>
            </a:pPr>
            <a:r>
              <a:rPr lang="en-GB" altLang="en-US" sz="1300" dirty="0">
                <a:solidFill>
                  <a:schemeClr val="tx1"/>
                </a:solidFill>
              </a:rPr>
              <a:t>Explains in plain English</a:t>
            </a:r>
            <a:endParaRPr lang="en-GB" sz="1300" dirty="0"/>
          </a:p>
        </p:txBody>
      </p:sp>
      <p:pic>
        <p:nvPicPr>
          <p:cNvPr id="35" name="AI reviewer mark 3" descr="preencoded.png">    </p:cNvPr>
          <p:cNvPicPr>
            <a:picLocks noChangeAspect="1"/>
          </p:cNvPicPr>
          <p:nvPr/>
        </p:nvPicPr>
        <p:blipFill>
          <a:blip r:embed="rId13"/>
          <a:stretch>
            <a:fillRect/>
          </a:stretch>
        </p:blipFill>
        <p:spPr>
          <a:xfrm>
            <a:off x="3675888" y="5202936"/>
            <a:ext cx="182880" cy="182880"/>
          </a:xfrm>
          <a:prstGeom prst="rect">
            <a:avLst/>
          </a:prstGeom>
        </p:spPr>
      </p:pic>
      <p:sp>
        <p:nvSpPr>
          <p:cNvPr id="36" name="AI reviewer point 3"/>
          <p:cNvSpPr txBox="1"/>
          <p:nvPr/>
        </p:nvSpPr>
        <p:spPr>
          <a:xfrm>
            <a:off x="3977640" y="5166360"/>
            <a:ext cx="2103120" cy="365760"/>
          </a:xfrm>
          <a:prstGeom prst="rect">
            <a:avLst/>
          </a:prstGeom>
          <a:noFill/>
          <a:ln/>
        </p:spPr>
        <p:txBody>
          <a:bodyPr wrap="square" lIns="0" tIns="0" rIns="0" bIns="0" rtlCol="0" anchor="t"/>
          <a:lstStyle/>
          <a:p>
            <a:pPr indent="0" marL="0">
              <a:buNone/>
            </a:pPr>
            <a:r>
              <a:rPr lang="en-GB" altLang="en-US" sz="1300" dirty="0">
                <a:solidFill>
                  <a:schemeClr val="tx1"/>
                </a:solidFill>
              </a:rPr>
              <a:t>Can be wrong, or change its answer</a:t>
            </a:r>
            <a:endParaRPr lang="en-GB" sz="1300" dirty="0"/>
          </a:p>
        </p:txBody>
      </p:sp>
      <p:sp>
        <p:nvSpPr>
          <p:cNvPr id="37" name="AI reviewer citation"/>
          <p:cNvSpPr txBox="1"/>
          <p:nvPr/>
        </p:nvSpPr>
        <p:spPr>
          <a:xfrm>
            <a:off x="3675888" y="5724144"/>
            <a:ext cx="2377440" cy="237744"/>
          </a:xfrm>
          <a:prstGeom prst="rect">
            <a:avLst/>
          </a:prstGeom>
          <a:noFill/>
          <a:ln/>
        </p:spPr>
        <p:txBody>
          <a:bodyPr wrap="square" lIns="0" tIns="0" rIns="0" bIns="0" rtlCol="0" anchor="t"/>
          <a:lstStyle/>
          <a:p>
            <a:pPr indent="0" marL="0">
              <a:buNone/>
            </a:pPr>
            <a:r>
              <a:rPr lang="en-GB" altLang="en-US" sz="1000" dirty="0">
                <a:solidFill>
                  <a:schemeClr val="accent6"/>
                </a:solidFill>
              </a:rPr>
              <a:t>(Ji et al., 2023; Ouyang et al., 2025)</a:t>
            </a:r>
            <a:endParaRPr lang="en-GB" sz="1000" dirty="0"/>
          </a:p>
        </p:txBody>
      </p:sp>
      <p:sp>
        <p:nvSpPr>
          <p:cNvPr id="38" name="Aim card"/>
          <p:cNvSpPr/>
          <p:nvPr/>
        </p:nvSpPr>
        <p:spPr>
          <a:xfrm>
            <a:off x="6583680" y="1325880"/>
            <a:ext cx="5059375" cy="4709160"/>
          </a:xfrm>
          <a:prstGeom prst="roundRect">
            <a:avLst>
              <a:gd name="adj" fmla="val 1553"/>
            </a:avLst>
          </a:prstGeom>
          <a:solidFill>
            <a:schemeClr val="bg2"/>
          </a:solidFill>
          <a:ln w="12700">
            <a:solidFill>
              <a:schemeClr val="bg2"/>
            </a:solidFill>
            <a:prstDash val="solid"/>
          </a:ln>
        </p:spPr>
      </p:sp>
      <p:sp>
        <p:nvSpPr>
          <p:cNvPr id="39" name="Label My aim"/>
          <p:cNvSpPr txBox="1"/>
          <p:nvPr/>
        </p:nvSpPr>
        <p:spPr>
          <a:xfrm>
            <a:off x="6858000" y="1481328"/>
            <a:ext cx="27432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MY AIM</a:t>
            </a:r>
            <a:endParaRPr lang="en-GB" sz="1200" dirty="0"/>
          </a:p>
        </p:txBody>
      </p:sp>
      <p:sp>
        <p:nvSpPr>
          <p:cNvPr id="40" name="Aim"/>
          <p:cNvSpPr txBox="1"/>
          <p:nvPr/>
        </p:nvSpPr>
        <p:spPr>
          <a:xfrm>
            <a:off x="6858000" y="1755648"/>
            <a:ext cx="4510735" cy="548640"/>
          </a:xfrm>
          <a:prstGeom prst="rect">
            <a:avLst/>
          </a:prstGeom>
          <a:noFill/>
          <a:ln/>
        </p:spPr>
        <p:txBody>
          <a:bodyPr wrap="square" lIns="0" tIns="0" rIns="0" bIns="0" rtlCol="0" anchor="t"/>
          <a:lstStyle/>
          <a:p>
            <a:pPr indent="0" marL="0">
              <a:buNone/>
            </a:pPr>
            <a:r>
              <a:rPr lang="en-GB" altLang="en-US" sz="1400" dirty="0">
                <a:solidFill>
                  <a:schemeClr val="tx1"/>
                </a:solidFill>
              </a:rPr>
              <a:t>Find out how well an AI security reviewer works in a DevSecOps pipeline, compared with Checkov and tfsec.</a:t>
            </a:r>
            <a:endParaRPr lang="en-GB" sz="1400" dirty="0"/>
          </a:p>
        </p:txBody>
      </p:sp>
      <p:sp>
        <p:nvSpPr>
          <p:cNvPr id="41" name="Label Four questions"/>
          <p:cNvSpPr txBox="1"/>
          <p:nvPr/>
        </p:nvSpPr>
        <p:spPr>
          <a:xfrm>
            <a:off x="6858000" y="251460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FOUR QUESTIONS</a:t>
            </a:r>
            <a:endParaRPr lang="en-GB" sz="1200" dirty="0"/>
          </a:p>
        </p:txBody>
      </p:sp>
      <p:sp>
        <p:nvSpPr>
          <p:cNvPr id="42" name="RQ1 circle"/>
          <p:cNvSpPr/>
          <p:nvPr/>
        </p:nvSpPr>
        <p:spPr>
          <a:xfrm>
            <a:off x="6858000" y="2807208"/>
            <a:ext cx="365760" cy="365760"/>
          </a:xfrm>
          <a:prstGeom prst="ellipse">
            <a:avLst/>
          </a:prstGeom>
          <a:solidFill>
            <a:schemeClr val="accent1"/>
          </a:solidFill>
          <a:ln w="12700">
            <a:solidFill>
              <a:schemeClr val="accent1"/>
            </a:solidFill>
            <a:prstDash val="solid"/>
          </a:ln>
        </p:spPr>
      </p:sp>
      <p:pic>
        <p:nvPicPr>
          <p:cNvPr id="43" name="RQ1 icon" descr="preencoded.png">    </p:cNvPr>
          <p:cNvPicPr>
            <a:picLocks noChangeAspect="1"/>
          </p:cNvPicPr>
          <p:nvPr/>
        </p:nvPicPr>
        <p:blipFill>
          <a:blip r:embed="rId14"/>
          <a:stretch>
            <a:fillRect/>
          </a:stretch>
        </p:blipFill>
        <p:spPr>
          <a:xfrm>
            <a:off x="6949440" y="2898648"/>
            <a:ext cx="182880" cy="182880"/>
          </a:xfrm>
          <a:prstGeom prst="rect">
            <a:avLst/>
          </a:prstGeom>
        </p:spPr>
      </p:pic>
      <p:sp>
        <p:nvSpPr>
          <p:cNvPr id="44" name="RQ1 question"/>
          <p:cNvSpPr txBox="1"/>
          <p:nvPr/>
        </p:nvSpPr>
        <p:spPr>
          <a:xfrm>
            <a:off x="7360920" y="2807208"/>
            <a:ext cx="4053535" cy="365760"/>
          </a:xfrm>
          <a:prstGeom prst="rect">
            <a:avLst/>
          </a:prstGeom>
          <a:noFill/>
          <a:ln/>
        </p:spPr>
        <p:txBody>
          <a:bodyPr wrap="square" lIns="0" tIns="0" rIns="0" bIns="0" rtlCol="0" anchor="ctr"/>
          <a:lstStyle/>
          <a:p>
            <a:pPr indent="0" marL="0">
              <a:buNone/>
            </a:pPr>
            <a:r>
              <a:rPr lang="en-GB" altLang="en-US" sz="1500" b="1" dirty="0">
                <a:solidFill>
                  <a:schemeClr val="accent1"/>
                </a:solidFill>
              </a:rPr>
              <a:t>RQ1  </a:t>
            </a:r>
            <a:pPr indent="0" marL="0">
              <a:buNone/>
            </a:pPr>
            <a:r>
              <a:rPr lang="en-GB" altLang="en-US" sz="1500" dirty="0">
                <a:solidFill>
                  <a:schemeClr val="tx1"/>
                </a:solidFill>
              </a:rPr>
              <a:t>Does it find the problems?</a:t>
            </a:r>
            <a:endParaRPr lang="en-GB" sz="1500" dirty="0"/>
          </a:p>
        </p:txBody>
      </p:sp>
      <p:sp>
        <p:nvSpPr>
          <p:cNvPr id="45" name="RQ2 circle"/>
          <p:cNvSpPr/>
          <p:nvPr/>
        </p:nvSpPr>
        <p:spPr>
          <a:xfrm>
            <a:off x="6858000" y="3264408"/>
            <a:ext cx="365760" cy="365760"/>
          </a:xfrm>
          <a:prstGeom prst="ellipse">
            <a:avLst/>
          </a:prstGeom>
          <a:solidFill>
            <a:schemeClr val="accent1"/>
          </a:solidFill>
          <a:ln w="12700">
            <a:solidFill>
              <a:schemeClr val="accent1"/>
            </a:solidFill>
            <a:prstDash val="solid"/>
          </a:ln>
        </p:spPr>
      </p:sp>
      <p:pic>
        <p:nvPicPr>
          <p:cNvPr id="46" name="RQ2 icon" descr="preencoded.png">    </p:cNvPr>
          <p:cNvPicPr>
            <a:picLocks noChangeAspect="1"/>
          </p:cNvPicPr>
          <p:nvPr/>
        </p:nvPicPr>
        <p:blipFill>
          <a:blip r:embed="rId15"/>
          <a:stretch>
            <a:fillRect/>
          </a:stretch>
        </p:blipFill>
        <p:spPr>
          <a:xfrm>
            <a:off x="6949440" y="3355848"/>
            <a:ext cx="182880" cy="182880"/>
          </a:xfrm>
          <a:prstGeom prst="rect">
            <a:avLst/>
          </a:prstGeom>
        </p:spPr>
      </p:pic>
      <p:sp>
        <p:nvSpPr>
          <p:cNvPr id="47" name="RQ2 question"/>
          <p:cNvSpPr txBox="1"/>
          <p:nvPr/>
        </p:nvSpPr>
        <p:spPr>
          <a:xfrm>
            <a:off x="7360920" y="3264408"/>
            <a:ext cx="4053535" cy="365760"/>
          </a:xfrm>
          <a:prstGeom prst="rect">
            <a:avLst/>
          </a:prstGeom>
          <a:noFill/>
          <a:ln/>
        </p:spPr>
        <p:txBody>
          <a:bodyPr wrap="square" lIns="0" tIns="0" rIns="0" bIns="0" rtlCol="0" anchor="ctr"/>
          <a:lstStyle/>
          <a:p>
            <a:pPr indent="0" marL="0">
              <a:buNone/>
            </a:pPr>
            <a:r>
              <a:rPr lang="en-GB" altLang="en-US" sz="1500" b="1" dirty="0">
                <a:solidFill>
                  <a:schemeClr val="accent1"/>
                </a:solidFill>
              </a:rPr>
              <a:t>RQ2  </a:t>
            </a:r>
            <a:pPr indent="0" marL="0">
              <a:buNone/>
            </a:pPr>
            <a:r>
              <a:rPr lang="en-GB" altLang="en-US" sz="1500" dirty="0">
                <a:solidFill>
                  <a:schemeClr val="tx1"/>
                </a:solidFill>
              </a:rPr>
              <a:t>Do its fixes work?</a:t>
            </a:r>
            <a:endParaRPr lang="en-GB" sz="1500" dirty="0"/>
          </a:p>
        </p:txBody>
      </p:sp>
      <p:sp>
        <p:nvSpPr>
          <p:cNvPr id="48" name="RQ3 circle"/>
          <p:cNvSpPr/>
          <p:nvPr/>
        </p:nvSpPr>
        <p:spPr>
          <a:xfrm>
            <a:off x="6858000" y="3721608"/>
            <a:ext cx="365760" cy="365760"/>
          </a:xfrm>
          <a:prstGeom prst="ellipse">
            <a:avLst/>
          </a:prstGeom>
          <a:solidFill>
            <a:schemeClr val="accent1"/>
          </a:solidFill>
          <a:ln w="12700">
            <a:solidFill>
              <a:schemeClr val="accent1"/>
            </a:solidFill>
            <a:prstDash val="solid"/>
          </a:ln>
        </p:spPr>
      </p:sp>
      <p:pic>
        <p:nvPicPr>
          <p:cNvPr id="49" name="RQ3 icon" descr="preencoded.png">    </p:cNvPr>
          <p:cNvPicPr>
            <a:picLocks noChangeAspect="1"/>
          </p:cNvPicPr>
          <p:nvPr/>
        </p:nvPicPr>
        <p:blipFill>
          <a:blip r:embed="rId16"/>
          <a:stretch>
            <a:fillRect/>
          </a:stretch>
        </p:blipFill>
        <p:spPr>
          <a:xfrm>
            <a:off x="6949440" y="3813048"/>
            <a:ext cx="182880" cy="182880"/>
          </a:xfrm>
          <a:prstGeom prst="rect">
            <a:avLst/>
          </a:prstGeom>
        </p:spPr>
      </p:pic>
      <p:sp>
        <p:nvSpPr>
          <p:cNvPr id="50" name="RQ3 question"/>
          <p:cNvSpPr txBox="1"/>
          <p:nvPr/>
        </p:nvSpPr>
        <p:spPr>
          <a:xfrm>
            <a:off x="7360920" y="3721608"/>
            <a:ext cx="4053535" cy="365760"/>
          </a:xfrm>
          <a:prstGeom prst="rect">
            <a:avLst/>
          </a:prstGeom>
          <a:noFill/>
          <a:ln/>
        </p:spPr>
        <p:txBody>
          <a:bodyPr wrap="square" lIns="0" tIns="0" rIns="0" bIns="0" rtlCol="0" anchor="ctr"/>
          <a:lstStyle/>
          <a:p>
            <a:pPr indent="0" marL="0">
              <a:buNone/>
            </a:pPr>
            <a:r>
              <a:rPr lang="en-GB" altLang="en-US" sz="1500" b="1" dirty="0">
                <a:solidFill>
                  <a:schemeClr val="accent1"/>
                </a:solidFill>
              </a:rPr>
              <a:t>RQ3  </a:t>
            </a:r>
            <a:pPr indent="0" marL="0">
              <a:buNone/>
            </a:pPr>
            <a:r>
              <a:rPr lang="en-GB" altLang="en-US" sz="1500" dirty="0">
                <a:solidFill>
                  <a:schemeClr val="tx1"/>
                </a:solidFill>
              </a:rPr>
              <a:t>Do its comments help understanding?</a:t>
            </a:r>
            <a:endParaRPr lang="en-GB" sz="1500" dirty="0"/>
          </a:p>
        </p:txBody>
      </p:sp>
      <p:sp>
        <p:nvSpPr>
          <p:cNvPr id="51" name="RQ4 circle"/>
          <p:cNvSpPr/>
          <p:nvPr/>
        </p:nvSpPr>
        <p:spPr>
          <a:xfrm>
            <a:off x="6858000" y="4178808"/>
            <a:ext cx="365760" cy="365760"/>
          </a:xfrm>
          <a:prstGeom prst="ellipse">
            <a:avLst/>
          </a:prstGeom>
          <a:solidFill>
            <a:schemeClr val="accent1"/>
          </a:solidFill>
          <a:ln w="12700">
            <a:solidFill>
              <a:schemeClr val="accent1"/>
            </a:solidFill>
            <a:prstDash val="solid"/>
          </a:ln>
        </p:spPr>
      </p:sp>
      <p:pic>
        <p:nvPicPr>
          <p:cNvPr id="52" name="RQ4 icon" descr="preencoded.png">    </p:cNvPr>
          <p:cNvPicPr>
            <a:picLocks noChangeAspect="1"/>
          </p:cNvPicPr>
          <p:nvPr/>
        </p:nvPicPr>
        <p:blipFill>
          <a:blip r:embed="rId17"/>
          <a:stretch>
            <a:fillRect/>
          </a:stretch>
        </p:blipFill>
        <p:spPr>
          <a:xfrm>
            <a:off x="6949440" y="4270248"/>
            <a:ext cx="182880" cy="182880"/>
          </a:xfrm>
          <a:prstGeom prst="rect">
            <a:avLst/>
          </a:prstGeom>
        </p:spPr>
      </p:pic>
      <p:sp>
        <p:nvSpPr>
          <p:cNvPr id="53" name="RQ4 question"/>
          <p:cNvSpPr txBox="1"/>
          <p:nvPr/>
        </p:nvSpPr>
        <p:spPr>
          <a:xfrm>
            <a:off x="7360920" y="4178808"/>
            <a:ext cx="4053535" cy="365760"/>
          </a:xfrm>
          <a:prstGeom prst="rect">
            <a:avLst/>
          </a:prstGeom>
          <a:noFill/>
          <a:ln/>
        </p:spPr>
        <p:txBody>
          <a:bodyPr wrap="square" lIns="0" tIns="0" rIns="0" bIns="0" rtlCol="0" anchor="ctr"/>
          <a:lstStyle/>
          <a:p>
            <a:pPr indent="0" marL="0">
              <a:buNone/>
            </a:pPr>
            <a:r>
              <a:rPr lang="en-GB" altLang="en-US" sz="1500" b="1" dirty="0">
                <a:solidFill>
                  <a:schemeClr val="accent1"/>
                </a:solidFill>
              </a:rPr>
              <a:t>RQ4  </a:t>
            </a:r>
            <a:pPr indent="0" marL="0">
              <a:buNone/>
            </a:pPr>
            <a:r>
              <a:rPr lang="en-GB" altLang="en-US" sz="1500" dirty="0">
                <a:solidFill>
                  <a:schemeClr val="tx1"/>
                </a:solidFill>
              </a:rPr>
              <a:t>What goes wrong in real use?</a:t>
            </a:r>
            <a:endParaRPr lang="en-GB" sz="1500" dirty="0"/>
          </a:p>
        </p:txBody>
      </p:sp>
      <p:sp>
        <p:nvSpPr>
          <p:cNvPr id="54" name="Label Objectives"/>
          <p:cNvSpPr txBox="1"/>
          <p:nvPr/>
        </p:nvSpPr>
        <p:spPr>
          <a:xfrm>
            <a:off x="6858000" y="470916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OBJECTIVES</a:t>
            </a:r>
            <a:endParaRPr lang="en-GB" sz="1200" dirty="0"/>
          </a:p>
        </p:txBody>
      </p:sp>
      <p:sp>
        <p:nvSpPr>
          <p:cNvPr id="55" name="Objective 1"/>
          <p:cNvSpPr/>
          <p:nvPr/>
        </p:nvSpPr>
        <p:spPr>
          <a:xfrm>
            <a:off x="6858000" y="4983480"/>
            <a:ext cx="2186788" cy="365760"/>
          </a:xfrm>
          <a:prstGeom prst="roundRect">
            <a:avLst>
              <a:gd name="adj" fmla="val 50000"/>
            </a:avLst>
          </a:prstGeom>
          <a:solidFill>
            <a:schemeClr val="bg1"/>
          </a:solidFill>
          <a:ln w="9525">
            <a:solidFill>
              <a:srgbClr val="D3DAE2"/>
            </a:solidFill>
            <a:prstDash val="solid"/>
          </a:ln>
        </p:spPr>
      </p:sp>
      <p:sp>
        <p:nvSpPr>
          <p:cNvPr id="56" name="Objective text 1"/>
          <p:cNvSpPr txBox="1"/>
          <p:nvPr/>
        </p:nvSpPr>
        <p:spPr>
          <a:xfrm>
            <a:off x="6986016" y="4983480"/>
            <a:ext cx="2003908" cy="365760"/>
          </a:xfrm>
          <a:prstGeom prst="rect">
            <a:avLst/>
          </a:prstGeom>
          <a:noFill/>
          <a:ln/>
        </p:spPr>
        <p:txBody>
          <a:bodyPr wrap="square" lIns="0" tIns="0" rIns="0" bIns="0" rtlCol="0" anchor="ctr"/>
          <a:lstStyle/>
          <a:p>
            <a:pPr indent="0" marL="0">
              <a:buNone/>
            </a:pPr>
            <a:r>
              <a:rPr lang="en-GB" altLang="en-US" sz="1250" b="1" dirty="0">
                <a:solidFill>
                  <a:schemeClr val="accent2"/>
                </a:solidFill>
              </a:rPr>
              <a:t>O1  </a:t>
            </a:r>
            <a:pPr indent="0" marL="0">
              <a:buNone/>
            </a:pPr>
            <a:r>
              <a:rPr lang="en-GB" altLang="en-US" sz="1250" dirty="0">
                <a:solidFill>
                  <a:schemeClr val="tx1"/>
                </a:solidFill>
              </a:rPr>
              <a:t>Review the research</a:t>
            </a:r>
            <a:endParaRPr lang="en-GB" sz="1250" dirty="0"/>
          </a:p>
        </p:txBody>
      </p:sp>
      <p:sp>
        <p:nvSpPr>
          <p:cNvPr id="57" name="Objective 2"/>
          <p:cNvSpPr/>
          <p:nvPr/>
        </p:nvSpPr>
        <p:spPr>
          <a:xfrm>
            <a:off x="9181948" y="4983480"/>
            <a:ext cx="2186788" cy="365760"/>
          </a:xfrm>
          <a:prstGeom prst="roundRect">
            <a:avLst>
              <a:gd name="adj" fmla="val 50000"/>
            </a:avLst>
          </a:prstGeom>
          <a:solidFill>
            <a:schemeClr val="bg1"/>
          </a:solidFill>
          <a:ln w="9525">
            <a:solidFill>
              <a:srgbClr val="D3DAE2"/>
            </a:solidFill>
            <a:prstDash val="solid"/>
          </a:ln>
        </p:spPr>
      </p:sp>
      <p:sp>
        <p:nvSpPr>
          <p:cNvPr id="58" name="Objective text 2"/>
          <p:cNvSpPr txBox="1"/>
          <p:nvPr/>
        </p:nvSpPr>
        <p:spPr>
          <a:xfrm>
            <a:off x="9309964" y="4983480"/>
            <a:ext cx="2003908" cy="365760"/>
          </a:xfrm>
          <a:prstGeom prst="rect">
            <a:avLst/>
          </a:prstGeom>
          <a:noFill/>
          <a:ln/>
        </p:spPr>
        <p:txBody>
          <a:bodyPr wrap="square" lIns="0" tIns="0" rIns="0" bIns="0" rtlCol="0" anchor="ctr"/>
          <a:lstStyle/>
          <a:p>
            <a:pPr indent="0" marL="0">
              <a:buNone/>
            </a:pPr>
            <a:r>
              <a:rPr lang="en-GB" altLang="en-US" sz="1250" b="1" dirty="0">
                <a:solidFill>
                  <a:schemeClr val="accent2"/>
                </a:solidFill>
              </a:rPr>
              <a:t>O2  </a:t>
            </a:r>
            <a:pPr indent="0" marL="0">
              <a:buNone/>
            </a:pPr>
            <a:r>
              <a:rPr lang="en-GB" altLang="en-US" sz="1250" dirty="0">
                <a:solidFill>
                  <a:schemeClr val="tx1"/>
                </a:solidFill>
              </a:rPr>
              <a:t>Build the pipeline</a:t>
            </a:r>
            <a:endParaRPr lang="en-GB" sz="1250" dirty="0"/>
          </a:p>
        </p:txBody>
      </p:sp>
      <p:sp>
        <p:nvSpPr>
          <p:cNvPr id="59" name="Objective 3"/>
          <p:cNvSpPr/>
          <p:nvPr/>
        </p:nvSpPr>
        <p:spPr>
          <a:xfrm>
            <a:off x="6858000" y="5440680"/>
            <a:ext cx="2186788" cy="365760"/>
          </a:xfrm>
          <a:prstGeom prst="roundRect">
            <a:avLst>
              <a:gd name="adj" fmla="val 50000"/>
            </a:avLst>
          </a:prstGeom>
          <a:solidFill>
            <a:schemeClr val="bg1"/>
          </a:solidFill>
          <a:ln w="9525">
            <a:solidFill>
              <a:srgbClr val="D3DAE2"/>
            </a:solidFill>
            <a:prstDash val="solid"/>
          </a:ln>
        </p:spPr>
      </p:sp>
      <p:sp>
        <p:nvSpPr>
          <p:cNvPr id="60" name="Objective text 3"/>
          <p:cNvSpPr txBox="1"/>
          <p:nvPr/>
        </p:nvSpPr>
        <p:spPr>
          <a:xfrm>
            <a:off x="6986016" y="5440680"/>
            <a:ext cx="2003908" cy="365760"/>
          </a:xfrm>
          <a:prstGeom prst="rect">
            <a:avLst/>
          </a:prstGeom>
          <a:noFill/>
          <a:ln/>
        </p:spPr>
        <p:txBody>
          <a:bodyPr wrap="square" lIns="0" tIns="0" rIns="0" bIns="0" rtlCol="0" anchor="ctr"/>
          <a:lstStyle/>
          <a:p>
            <a:pPr indent="0" marL="0">
              <a:buNone/>
            </a:pPr>
            <a:r>
              <a:rPr lang="en-GB" altLang="en-US" sz="1250" b="1" dirty="0">
                <a:solidFill>
                  <a:schemeClr val="accent2"/>
                </a:solidFill>
              </a:rPr>
              <a:t>O3  </a:t>
            </a:r>
            <a:pPr indent="0" marL="0">
              <a:buNone/>
            </a:pPr>
            <a:r>
              <a:rPr lang="en-GB" altLang="en-US" sz="1250" dirty="0">
                <a:solidFill>
                  <a:schemeClr val="tx1"/>
                </a:solidFill>
              </a:rPr>
              <a:t>Compare with scanners</a:t>
            </a:r>
            <a:endParaRPr lang="en-GB" sz="1250" dirty="0"/>
          </a:p>
        </p:txBody>
      </p:sp>
      <p:sp>
        <p:nvSpPr>
          <p:cNvPr id="61" name="Objective 4"/>
          <p:cNvSpPr/>
          <p:nvPr/>
        </p:nvSpPr>
        <p:spPr>
          <a:xfrm>
            <a:off x="9181948" y="5440680"/>
            <a:ext cx="2186788" cy="365760"/>
          </a:xfrm>
          <a:prstGeom prst="roundRect">
            <a:avLst>
              <a:gd name="adj" fmla="val 50000"/>
            </a:avLst>
          </a:prstGeom>
          <a:solidFill>
            <a:schemeClr val="bg1"/>
          </a:solidFill>
          <a:ln w="9525">
            <a:solidFill>
              <a:srgbClr val="D3DAE2"/>
            </a:solidFill>
            <a:prstDash val="solid"/>
          </a:ln>
        </p:spPr>
      </p:sp>
      <p:sp>
        <p:nvSpPr>
          <p:cNvPr id="62" name="Objective text 4"/>
          <p:cNvSpPr txBox="1"/>
          <p:nvPr/>
        </p:nvSpPr>
        <p:spPr>
          <a:xfrm>
            <a:off x="9309964" y="5440680"/>
            <a:ext cx="2003908" cy="365760"/>
          </a:xfrm>
          <a:prstGeom prst="rect">
            <a:avLst/>
          </a:prstGeom>
          <a:noFill/>
          <a:ln/>
        </p:spPr>
        <p:txBody>
          <a:bodyPr wrap="square" lIns="0" tIns="0" rIns="0" bIns="0" rtlCol="0" anchor="ctr"/>
          <a:lstStyle/>
          <a:p>
            <a:pPr indent="0" marL="0">
              <a:buNone/>
            </a:pPr>
            <a:r>
              <a:rPr lang="en-GB" altLang="en-US" sz="1250" b="1" dirty="0">
                <a:solidFill>
                  <a:schemeClr val="accent2"/>
                </a:solidFill>
              </a:rPr>
              <a:t>O4  </a:t>
            </a:r>
            <a:pPr indent="0" marL="0">
              <a:buNone/>
            </a:pPr>
            <a:r>
              <a:rPr lang="en-GB" altLang="en-US" sz="1250" dirty="0">
                <a:solidFill>
                  <a:schemeClr val="tx1"/>
                </a:solidFill>
              </a:rPr>
              <a:t>Find benefits and limits</a:t>
            </a:r>
            <a:endParaRPr lang="en-GB" sz="125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2</a:t>
            </a:fld>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the literature shaped the study</a:t>
            </a:r>
            <a:endParaRPr lang="en-GB" sz="3600" dirty="0"/>
          </a:p>
        </p:txBody>
      </p:sp>
      <p:sp>
        <p:nvSpPr>
          <p:cNvPr id="3" name="Label What the research says"/>
          <p:cNvSpPr txBox="1"/>
          <p:nvPr/>
        </p:nvSpPr>
        <p:spPr>
          <a:xfrm>
            <a:off x="548640" y="1325880"/>
            <a:ext cx="512064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WHAT THE RESEARCH SAYS</a:t>
            </a:r>
            <a:endParaRPr lang="en-GB" sz="1200" dirty="0"/>
          </a:p>
        </p:txBody>
      </p:sp>
      <p:sp>
        <p:nvSpPr>
          <p:cNvPr id="4" name="Label What I did"/>
          <p:cNvSpPr txBox="1"/>
          <p:nvPr/>
        </p:nvSpPr>
        <p:spPr>
          <a:xfrm>
            <a:off x="6400800" y="1325880"/>
            <a:ext cx="5120640" cy="256032"/>
          </a:xfrm>
          <a:prstGeom prst="rect">
            <a:avLst/>
          </a:prstGeom>
          <a:noFill/>
          <a:ln/>
        </p:spPr>
        <p:txBody>
          <a:bodyPr wrap="square" lIns="0" tIns="0" rIns="0" bIns="0" rtlCol="0" anchor="t"/>
          <a:lstStyle/>
          <a:p>
            <a:pPr indent="0" marL="0">
              <a:buNone/>
            </a:pPr>
            <a:r>
              <a:rPr lang="en-GB" altLang="en-US" sz="1200" b="1" spc="150" kern="0" dirty="0">
                <a:solidFill>
                  <a:schemeClr val="accent2"/>
                </a:solidFill>
              </a:rPr>
              <a:t>WHAT I DID</a:t>
            </a:r>
            <a:endParaRPr lang="en-GB" sz="1200" dirty="0"/>
          </a:p>
        </p:txBody>
      </p:sp>
      <p:sp>
        <p:nvSpPr>
          <p:cNvPr id="5" name="Finding 1"/>
          <p:cNvSpPr/>
          <p:nvPr/>
        </p:nvSpPr>
        <p:spPr>
          <a:xfrm>
            <a:off x="548640" y="1664208"/>
            <a:ext cx="5120640" cy="530352"/>
          </a:xfrm>
          <a:prstGeom prst="roundRect">
            <a:avLst>
              <a:gd name="adj" fmla="val 20690"/>
            </a:avLst>
          </a:prstGeom>
          <a:solidFill>
            <a:schemeClr val="bg2"/>
          </a:solidFill>
          <a:ln w="12700">
            <a:solidFill>
              <a:schemeClr val="bg2"/>
            </a:solidFill>
            <a:prstDash val="solid"/>
          </a:ln>
        </p:spPr>
      </p:sp>
      <p:sp>
        <p:nvSpPr>
          <p:cNvPr id="6" name="Finding text 1"/>
          <p:cNvSpPr txBox="1"/>
          <p:nvPr/>
        </p:nvSpPr>
        <p:spPr>
          <a:xfrm>
            <a:off x="731520" y="1664208"/>
            <a:ext cx="4800600" cy="530352"/>
          </a:xfrm>
          <a:prstGeom prst="rect">
            <a:avLst/>
          </a:prstGeom>
          <a:noFill/>
          <a:ln/>
        </p:spPr>
        <p:txBody>
          <a:bodyPr wrap="square" lIns="0" tIns="0" rIns="0" bIns="0" rtlCol="0" anchor="ctr"/>
          <a:lstStyle/>
          <a:p>
            <a:pPr indent="0" marL="0">
              <a:buNone/>
            </a:pPr>
            <a:r>
              <a:rPr lang="en-GB" altLang="en-US" sz="1400" b="1" dirty="0">
                <a:solidFill>
                  <a:schemeClr val="tx2"/>
                </a:solidFill>
              </a:rPr>
              <a:t>Noisy, unclear warnings get ignored</a:t>
            </a:r>
            <a:endParaRPr lang="en-GB" sz="1400" dirty="0"/>
          </a:p>
          <a:p>
            <a:pPr indent="0" marL="0">
              <a:buNone/>
            </a:pPr>
            <a:r>
              <a:rPr lang="en-GB" altLang="en-US" sz="1100" dirty="0">
                <a:solidFill>
                  <a:schemeClr val="accent6"/>
                </a:solidFill>
              </a:rPr>
              <a:t>(Johnson et al., 2013)</a:t>
            </a:r>
            <a:endParaRPr lang="en-GB" sz="1400" dirty="0"/>
          </a:p>
        </p:txBody>
      </p:sp>
      <p:sp>
        <p:nvSpPr>
          <p:cNvPr id="7" name="Link 1 circle"/>
          <p:cNvSpPr/>
          <p:nvPr/>
        </p:nvSpPr>
        <p:spPr>
          <a:xfrm>
            <a:off x="5843016" y="1746504"/>
            <a:ext cx="365760" cy="365760"/>
          </a:xfrm>
          <a:prstGeom prst="ellipse">
            <a:avLst/>
          </a:prstGeom>
          <a:solidFill>
            <a:schemeClr val="accent1"/>
          </a:solidFill>
          <a:ln w="12700">
            <a:solidFill>
              <a:schemeClr val="accent1"/>
            </a:solidFill>
            <a:prstDash val="solid"/>
          </a:ln>
        </p:spPr>
      </p:sp>
      <p:pic>
        <p:nvPicPr>
          <p:cNvPr id="8" name="Link 1 icon" descr="preencoded.png">    </p:cNvPr>
          <p:cNvPicPr>
            <a:picLocks noChangeAspect="1"/>
          </p:cNvPicPr>
          <p:nvPr/>
        </p:nvPicPr>
        <p:blipFill>
          <a:blip r:embed="rId1"/>
          <a:stretch>
            <a:fillRect/>
          </a:stretch>
        </p:blipFill>
        <p:spPr>
          <a:xfrm>
            <a:off x="5941771" y="1845259"/>
            <a:ext cx="168250" cy="168250"/>
          </a:xfrm>
          <a:prstGeom prst="rect">
            <a:avLst/>
          </a:prstGeom>
        </p:spPr>
      </p:pic>
      <p:sp>
        <p:nvSpPr>
          <p:cNvPr id="9" name="Action 1"/>
          <p:cNvSpPr/>
          <p:nvPr/>
        </p:nvSpPr>
        <p:spPr>
          <a:xfrm>
            <a:off x="6400800" y="1664208"/>
            <a:ext cx="5242255" cy="530352"/>
          </a:xfrm>
          <a:prstGeom prst="roundRect">
            <a:avLst>
              <a:gd name="adj" fmla="val 20690"/>
            </a:avLst>
          </a:prstGeom>
          <a:solidFill>
            <a:schemeClr val="accent2"/>
          </a:solidFill>
          <a:ln w="12700">
            <a:solidFill>
              <a:schemeClr val="accent2"/>
            </a:solidFill>
            <a:prstDash val="solid"/>
          </a:ln>
        </p:spPr>
      </p:sp>
      <p:sp>
        <p:nvSpPr>
          <p:cNvPr id="10" name="Action text 1"/>
          <p:cNvSpPr txBox="1"/>
          <p:nvPr/>
        </p:nvSpPr>
        <p:spPr>
          <a:xfrm>
            <a:off x="6583680" y="1664208"/>
            <a:ext cx="4876495" cy="530352"/>
          </a:xfrm>
          <a:prstGeom prst="rect">
            <a:avLst/>
          </a:prstGeom>
          <a:noFill/>
          <a:ln/>
        </p:spPr>
        <p:txBody>
          <a:bodyPr wrap="square" lIns="0" tIns="0" rIns="0" bIns="0" rtlCol="0" anchor="ctr"/>
          <a:lstStyle/>
          <a:p>
            <a:pPr indent="0" marL="0">
              <a:buNone/>
            </a:pPr>
            <a:r>
              <a:rPr lang="en-GB" altLang="en-US" sz="1500" b="1" dirty="0">
                <a:solidFill>
                  <a:schemeClr val="bg1"/>
                </a:solidFill>
              </a:rPr>
              <a:t>Counted false alarms and scored explanations</a:t>
            </a:r>
            <a:endParaRPr lang="en-GB" sz="1500" dirty="0"/>
          </a:p>
        </p:txBody>
      </p:sp>
      <p:sp>
        <p:nvSpPr>
          <p:cNvPr id="11" name="Finding 2"/>
          <p:cNvSpPr/>
          <p:nvPr/>
        </p:nvSpPr>
        <p:spPr>
          <a:xfrm>
            <a:off x="548640" y="2304288"/>
            <a:ext cx="5120640" cy="530352"/>
          </a:xfrm>
          <a:prstGeom prst="roundRect">
            <a:avLst>
              <a:gd name="adj" fmla="val 20690"/>
            </a:avLst>
          </a:prstGeom>
          <a:solidFill>
            <a:schemeClr val="bg2"/>
          </a:solidFill>
          <a:ln w="12700">
            <a:solidFill>
              <a:schemeClr val="bg2"/>
            </a:solidFill>
            <a:prstDash val="solid"/>
          </a:ln>
        </p:spPr>
      </p:sp>
      <p:sp>
        <p:nvSpPr>
          <p:cNvPr id="12" name="Finding text 2"/>
          <p:cNvSpPr txBox="1"/>
          <p:nvPr/>
        </p:nvSpPr>
        <p:spPr>
          <a:xfrm>
            <a:off x="731520" y="2304288"/>
            <a:ext cx="4800600" cy="530352"/>
          </a:xfrm>
          <a:prstGeom prst="rect">
            <a:avLst/>
          </a:prstGeom>
          <a:noFill/>
          <a:ln/>
        </p:spPr>
        <p:txBody>
          <a:bodyPr wrap="square" lIns="0" tIns="0" rIns="0" bIns="0" rtlCol="0" anchor="ctr"/>
          <a:lstStyle/>
          <a:p>
            <a:pPr indent="0" marL="0">
              <a:buNone/>
            </a:pPr>
            <a:r>
              <a:rPr lang="en-GB" altLang="en-US" sz="1400" b="1" dirty="0">
                <a:solidFill>
                  <a:schemeClr val="tx2"/>
                </a:solidFill>
              </a:rPr>
              <a:t>The same security mistakes keep appearing</a:t>
            </a:r>
            <a:endParaRPr lang="en-GB" sz="1400" dirty="0"/>
          </a:p>
          <a:p>
            <a:pPr indent="0" marL="0">
              <a:buNone/>
            </a:pPr>
            <a:r>
              <a:rPr lang="en-GB" altLang="en-US" sz="1100" dirty="0">
                <a:solidFill>
                  <a:schemeClr val="accent6"/>
                </a:solidFill>
              </a:rPr>
              <a:t>(Rahman et al., 2019)</a:t>
            </a:r>
            <a:endParaRPr lang="en-GB" sz="1400" dirty="0"/>
          </a:p>
        </p:txBody>
      </p:sp>
      <p:sp>
        <p:nvSpPr>
          <p:cNvPr id="13" name="Link 2 circle"/>
          <p:cNvSpPr/>
          <p:nvPr/>
        </p:nvSpPr>
        <p:spPr>
          <a:xfrm>
            <a:off x="5843016" y="2386584"/>
            <a:ext cx="365760" cy="365760"/>
          </a:xfrm>
          <a:prstGeom prst="ellipse">
            <a:avLst/>
          </a:prstGeom>
          <a:solidFill>
            <a:schemeClr val="accent1"/>
          </a:solidFill>
          <a:ln w="12700">
            <a:solidFill>
              <a:schemeClr val="accent1"/>
            </a:solidFill>
            <a:prstDash val="solid"/>
          </a:ln>
        </p:spPr>
      </p:sp>
      <p:pic>
        <p:nvPicPr>
          <p:cNvPr id="14" name="Link 2 icon" descr="preencoded.png">    </p:cNvPr>
          <p:cNvPicPr>
            <a:picLocks noChangeAspect="1"/>
          </p:cNvPicPr>
          <p:nvPr/>
        </p:nvPicPr>
        <p:blipFill>
          <a:blip r:embed="rId2"/>
          <a:stretch>
            <a:fillRect/>
          </a:stretch>
        </p:blipFill>
        <p:spPr>
          <a:xfrm>
            <a:off x="5941771" y="2485339"/>
            <a:ext cx="168250" cy="168250"/>
          </a:xfrm>
          <a:prstGeom prst="rect">
            <a:avLst/>
          </a:prstGeom>
        </p:spPr>
      </p:pic>
      <p:sp>
        <p:nvSpPr>
          <p:cNvPr id="15" name="Action 2"/>
          <p:cNvSpPr/>
          <p:nvPr/>
        </p:nvSpPr>
        <p:spPr>
          <a:xfrm>
            <a:off x="6400800" y="2304288"/>
            <a:ext cx="5242255" cy="530352"/>
          </a:xfrm>
          <a:prstGeom prst="roundRect">
            <a:avLst>
              <a:gd name="adj" fmla="val 20690"/>
            </a:avLst>
          </a:prstGeom>
          <a:solidFill>
            <a:schemeClr val="accent2"/>
          </a:solidFill>
          <a:ln w="12700">
            <a:solidFill>
              <a:schemeClr val="accent2"/>
            </a:solidFill>
            <a:prstDash val="solid"/>
          </a:ln>
        </p:spPr>
      </p:sp>
      <p:sp>
        <p:nvSpPr>
          <p:cNvPr id="16" name="Action text 2"/>
          <p:cNvSpPr txBox="1"/>
          <p:nvPr/>
        </p:nvSpPr>
        <p:spPr>
          <a:xfrm>
            <a:off x="6583680" y="2304288"/>
            <a:ext cx="4876495" cy="530352"/>
          </a:xfrm>
          <a:prstGeom prst="rect">
            <a:avLst/>
          </a:prstGeom>
          <a:noFill/>
          <a:ln/>
        </p:spPr>
        <p:txBody>
          <a:bodyPr wrap="square" lIns="0" tIns="0" rIns="0" bIns="0" rtlCol="0" anchor="ctr"/>
          <a:lstStyle/>
          <a:p>
            <a:pPr indent="0" marL="0">
              <a:buNone/>
            </a:pPr>
            <a:r>
              <a:rPr lang="en-GB" altLang="en-US" sz="1500" b="1" dirty="0">
                <a:solidFill>
                  <a:schemeClr val="bg1"/>
                </a:solidFill>
              </a:rPr>
              <a:t>Used these mistakes in my tests</a:t>
            </a:r>
            <a:endParaRPr lang="en-GB" sz="1500" dirty="0"/>
          </a:p>
        </p:txBody>
      </p:sp>
      <p:sp>
        <p:nvSpPr>
          <p:cNvPr id="17" name="Finding 3"/>
          <p:cNvSpPr/>
          <p:nvPr/>
        </p:nvSpPr>
        <p:spPr>
          <a:xfrm>
            <a:off x="548640" y="2944368"/>
            <a:ext cx="5120640" cy="530352"/>
          </a:xfrm>
          <a:prstGeom prst="roundRect">
            <a:avLst>
              <a:gd name="adj" fmla="val 20690"/>
            </a:avLst>
          </a:prstGeom>
          <a:solidFill>
            <a:schemeClr val="bg2"/>
          </a:solidFill>
          <a:ln w="12700">
            <a:solidFill>
              <a:schemeClr val="bg2"/>
            </a:solidFill>
            <a:prstDash val="solid"/>
          </a:ln>
        </p:spPr>
      </p:sp>
      <p:sp>
        <p:nvSpPr>
          <p:cNvPr id="18" name="Finding text 3"/>
          <p:cNvSpPr txBox="1"/>
          <p:nvPr/>
        </p:nvSpPr>
        <p:spPr>
          <a:xfrm>
            <a:off x="731520" y="2944368"/>
            <a:ext cx="4800600" cy="530352"/>
          </a:xfrm>
          <a:prstGeom prst="rect">
            <a:avLst/>
          </a:prstGeom>
          <a:noFill/>
          <a:ln/>
        </p:spPr>
        <p:txBody>
          <a:bodyPr wrap="square" lIns="0" tIns="0" rIns="0" bIns="0" rtlCol="0" anchor="ctr"/>
          <a:lstStyle/>
          <a:p>
            <a:pPr indent="0" marL="0">
              <a:buNone/>
            </a:pPr>
            <a:r>
              <a:rPr lang="en-GB" altLang="en-US" sz="1400" b="1" dirty="0">
                <a:solidFill>
                  <a:schemeClr val="tx2"/>
                </a:solidFill>
              </a:rPr>
              <a:t>Some tools feed scanner results to the AI</a:t>
            </a:r>
            <a:endParaRPr lang="en-GB" sz="1400" dirty="0"/>
          </a:p>
          <a:p>
            <a:pPr indent="0" marL="0">
              <a:buNone/>
            </a:pPr>
            <a:r>
              <a:rPr lang="en-GB" altLang="en-US" sz="1100" dirty="0">
                <a:solidFill>
                  <a:schemeClr val="accent6"/>
                </a:solidFill>
              </a:rPr>
              <a:t>(Li et al., 2024)</a:t>
            </a:r>
            <a:endParaRPr lang="en-GB" sz="1400" dirty="0"/>
          </a:p>
        </p:txBody>
      </p:sp>
      <p:sp>
        <p:nvSpPr>
          <p:cNvPr id="19" name="Link 3 circle"/>
          <p:cNvSpPr/>
          <p:nvPr/>
        </p:nvSpPr>
        <p:spPr>
          <a:xfrm>
            <a:off x="5843016" y="3026664"/>
            <a:ext cx="365760" cy="365760"/>
          </a:xfrm>
          <a:prstGeom prst="ellipse">
            <a:avLst/>
          </a:prstGeom>
          <a:solidFill>
            <a:schemeClr val="accent1"/>
          </a:solidFill>
          <a:ln w="12700">
            <a:solidFill>
              <a:schemeClr val="accent1"/>
            </a:solidFill>
            <a:prstDash val="solid"/>
          </a:ln>
        </p:spPr>
      </p:sp>
      <p:pic>
        <p:nvPicPr>
          <p:cNvPr id="20" name="Link 3 icon" descr="preencoded.png">    </p:cNvPr>
          <p:cNvPicPr>
            <a:picLocks noChangeAspect="1"/>
          </p:cNvPicPr>
          <p:nvPr/>
        </p:nvPicPr>
        <p:blipFill>
          <a:blip r:embed="rId3"/>
          <a:stretch>
            <a:fillRect/>
          </a:stretch>
        </p:blipFill>
        <p:spPr>
          <a:xfrm>
            <a:off x="5941771" y="3125419"/>
            <a:ext cx="168250" cy="168250"/>
          </a:xfrm>
          <a:prstGeom prst="rect">
            <a:avLst/>
          </a:prstGeom>
        </p:spPr>
      </p:pic>
      <p:sp>
        <p:nvSpPr>
          <p:cNvPr id="21" name="Action 3"/>
          <p:cNvSpPr/>
          <p:nvPr/>
        </p:nvSpPr>
        <p:spPr>
          <a:xfrm>
            <a:off x="6400800" y="2944368"/>
            <a:ext cx="5242255" cy="530352"/>
          </a:xfrm>
          <a:prstGeom prst="roundRect">
            <a:avLst>
              <a:gd name="adj" fmla="val 20690"/>
            </a:avLst>
          </a:prstGeom>
          <a:solidFill>
            <a:schemeClr val="accent2"/>
          </a:solidFill>
          <a:ln w="12700">
            <a:solidFill>
              <a:schemeClr val="accent2"/>
            </a:solidFill>
            <a:prstDash val="solid"/>
          </a:ln>
        </p:spPr>
      </p:sp>
      <p:sp>
        <p:nvSpPr>
          <p:cNvPr id="22" name="Action text 3"/>
          <p:cNvSpPr txBox="1"/>
          <p:nvPr/>
        </p:nvSpPr>
        <p:spPr>
          <a:xfrm>
            <a:off x="6583680" y="2944368"/>
            <a:ext cx="4876495" cy="530352"/>
          </a:xfrm>
          <a:prstGeom prst="rect">
            <a:avLst/>
          </a:prstGeom>
          <a:noFill/>
          <a:ln/>
        </p:spPr>
        <p:txBody>
          <a:bodyPr wrap="square" lIns="0" tIns="0" rIns="0" bIns="0" rtlCol="0" anchor="ctr"/>
          <a:lstStyle/>
          <a:p>
            <a:pPr indent="0" marL="0">
              <a:buNone/>
            </a:pPr>
            <a:r>
              <a:rPr lang="en-GB" altLang="en-US" sz="1500" b="1" dirty="0">
                <a:solidFill>
                  <a:schemeClr val="bg1"/>
                </a:solidFill>
              </a:rPr>
              <a:t>Kept the AI separate from the scanners</a:t>
            </a:r>
            <a:endParaRPr lang="en-GB" sz="1500" dirty="0"/>
          </a:p>
        </p:txBody>
      </p:sp>
      <p:sp>
        <p:nvSpPr>
          <p:cNvPr id="23" name="Finding 4"/>
          <p:cNvSpPr/>
          <p:nvPr/>
        </p:nvSpPr>
        <p:spPr>
          <a:xfrm>
            <a:off x="548640" y="3584448"/>
            <a:ext cx="5120640" cy="530352"/>
          </a:xfrm>
          <a:prstGeom prst="roundRect">
            <a:avLst>
              <a:gd name="adj" fmla="val 20690"/>
            </a:avLst>
          </a:prstGeom>
          <a:solidFill>
            <a:schemeClr val="bg2"/>
          </a:solidFill>
          <a:ln w="12700">
            <a:solidFill>
              <a:schemeClr val="bg2"/>
            </a:solidFill>
            <a:prstDash val="solid"/>
          </a:ln>
        </p:spPr>
      </p:sp>
      <p:sp>
        <p:nvSpPr>
          <p:cNvPr id="24" name="Finding text 4"/>
          <p:cNvSpPr txBox="1"/>
          <p:nvPr/>
        </p:nvSpPr>
        <p:spPr>
          <a:xfrm>
            <a:off x="731520" y="3584448"/>
            <a:ext cx="4800600" cy="530352"/>
          </a:xfrm>
          <a:prstGeom prst="rect">
            <a:avLst/>
          </a:prstGeom>
          <a:noFill/>
          <a:ln/>
        </p:spPr>
        <p:txBody>
          <a:bodyPr wrap="square" lIns="0" tIns="0" rIns="0" bIns="0" rtlCol="0" anchor="ctr"/>
          <a:lstStyle/>
          <a:p>
            <a:pPr indent="0" marL="0">
              <a:buNone/>
            </a:pPr>
            <a:r>
              <a:rPr lang="en-GB" altLang="en-US" sz="1400" b="1" dirty="0">
                <a:solidFill>
                  <a:schemeClr val="tx2"/>
                </a:solidFill>
              </a:rPr>
              <a:t>AI can give a different answer each time</a:t>
            </a:r>
            <a:endParaRPr lang="en-GB" sz="1400" dirty="0"/>
          </a:p>
          <a:p>
            <a:pPr indent="0" marL="0">
              <a:buNone/>
            </a:pPr>
            <a:r>
              <a:rPr lang="en-GB" altLang="en-US" sz="1100" dirty="0">
                <a:solidFill>
                  <a:schemeClr val="accent6"/>
                </a:solidFill>
              </a:rPr>
              <a:t>(Ouyang et al., 2025)</a:t>
            </a:r>
            <a:endParaRPr lang="en-GB" sz="1400" dirty="0"/>
          </a:p>
        </p:txBody>
      </p:sp>
      <p:sp>
        <p:nvSpPr>
          <p:cNvPr id="25" name="Link 4 circle"/>
          <p:cNvSpPr/>
          <p:nvPr/>
        </p:nvSpPr>
        <p:spPr>
          <a:xfrm>
            <a:off x="5843016" y="3666744"/>
            <a:ext cx="365760" cy="365760"/>
          </a:xfrm>
          <a:prstGeom prst="ellipse">
            <a:avLst/>
          </a:prstGeom>
          <a:solidFill>
            <a:schemeClr val="accent1"/>
          </a:solidFill>
          <a:ln w="12700">
            <a:solidFill>
              <a:schemeClr val="accent1"/>
            </a:solidFill>
            <a:prstDash val="solid"/>
          </a:ln>
        </p:spPr>
      </p:sp>
      <p:pic>
        <p:nvPicPr>
          <p:cNvPr id="26" name="Link 4 icon" descr="preencoded.png">    </p:cNvPr>
          <p:cNvPicPr>
            <a:picLocks noChangeAspect="1"/>
          </p:cNvPicPr>
          <p:nvPr/>
        </p:nvPicPr>
        <p:blipFill>
          <a:blip r:embed="rId4"/>
          <a:stretch>
            <a:fillRect/>
          </a:stretch>
        </p:blipFill>
        <p:spPr>
          <a:xfrm>
            <a:off x="5941771" y="3765499"/>
            <a:ext cx="168250" cy="168250"/>
          </a:xfrm>
          <a:prstGeom prst="rect">
            <a:avLst/>
          </a:prstGeom>
        </p:spPr>
      </p:pic>
      <p:sp>
        <p:nvSpPr>
          <p:cNvPr id="27" name="Action 4"/>
          <p:cNvSpPr/>
          <p:nvPr/>
        </p:nvSpPr>
        <p:spPr>
          <a:xfrm>
            <a:off x="6400800" y="3584448"/>
            <a:ext cx="5242255" cy="530352"/>
          </a:xfrm>
          <a:prstGeom prst="roundRect">
            <a:avLst>
              <a:gd name="adj" fmla="val 20690"/>
            </a:avLst>
          </a:prstGeom>
          <a:solidFill>
            <a:schemeClr val="accent2"/>
          </a:solidFill>
          <a:ln w="12700">
            <a:solidFill>
              <a:schemeClr val="accent2"/>
            </a:solidFill>
            <a:prstDash val="solid"/>
          </a:ln>
        </p:spPr>
      </p:sp>
      <p:sp>
        <p:nvSpPr>
          <p:cNvPr id="28" name="Action text 4"/>
          <p:cNvSpPr txBox="1"/>
          <p:nvPr/>
        </p:nvSpPr>
        <p:spPr>
          <a:xfrm>
            <a:off x="6583680" y="3584448"/>
            <a:ext cx="4876495" cy="530352"/>
          </a:xfrm>
          <a:prstGeom prst="rect">
            <a:avLst/>
          </a:prstGeom>
          <a:noFill/>
          <a:ln/>
        </p:spPr>
        <p:txBody>
          <a:bodyPr wrap="square" lIns="0" tIns="0" rIns="0" bIns="0" rtlCol="0" anchor="ctr"/>
          <a:lstStyle/>
          <a:p>
            <a:pPr indent="0" marL="0">
              <a:buNone/>
            </a:pPr>
            <a:r>
              <a:rPr lang="en-GB" altLang="en-US" sz="1500" b="1" dirty="0">
                <a:solidFill>
                  <a:schemeClr val="bg1"/>
                </a:solidFill>
              </a:rPr>
              <a:t>Ran every test three times</a:t>
            </a:r>
            <a:endParaRPr lang="en-GB" sz="1500" dirty="0"/>
          </a:p>
        </p:txBody>
      </p:sp>
      <p:sp>
        <p:nvSpPr>
          <p:cNvPr id="29" name="Finding 5"/>
          <p:cNvSpPr/>
          <p:nvPr/>
        </p:nvSpPr>
        <p:spPr>
          <a:xfrm>
            <a:off x="548640" y="4224528"/>
            <a:ext cx="5120640" cy="530352"/>
          </a:xfrm>
          <a:prstGeom prst="roundRect">
            <a:avLst>
              <a:gd name="adj" fmla="val 20690"/>
            </a:avLst>
          </a:prstGeom>
          <a:solidFill>
            <a:schemeClr val="bg2"/>
          </a:solidFill>
          <a:ln w="12700">
            <a:solidFill>
              <a:schemeClr val="bg2"/>
            </a:solidFill>
            <a:prstDash val="solid"/>
          </a:ln>
        </p:spPr>
      </p:sp>
      <p:sp>
        <p:nvSpPr>
          <p:cNvPr id="30" name="Finding text 5"/>
          <p:cNvSpPr txBox="1"/>
          <p:nvPr/>
        </p:nvSpPr>
        <p:spPr>
          <a:xfrm>
            <a:off x="731520" y="4224528"/>
            <a:ext cx="4800600" cy="530352"/>
          </a:xfrm>
          <a:prstGeom prst="rect">
            <a:avLst/>
          </a:prstGeom>
          <a:noFill/>
          <a:ln/>
        </p:spPr>
        <p:txBody>
          <a:bodyPr wrap="square" lIns="0" tIns="0" rIns="0" bIns="0" rtlCol="0" anchor="ctr"/>
          <a:lstStyle/>
          <a:p>
            <a:pPr indent="0" marL="0">
              <a:buNone/>
            </a:pPr>
            <a:r>
              <a:rPr lang="en-GB" altLang="en-US" sz="1400" b="1" dirty="0">
                <a:solidFill>
                  <a:schemeClr val="tx2"/>
                </a:solidFill>
              </a:rPr>
              <a:t>AI claims and fixes can be wrong</a:t>
            </a:r>
            <a:endParaRPr lang="en-GB" sz="1400" dirty="0"/>
          </a:p>
          <a:p>
            <a:pPr indent="0" marL="0">
              <a:buNone/>
            </a:pPr>
            <a:r>
              <a:rPr lang="en-GB" altLang="en-US" sz="1100" dirty="0">
                <a:solidFill>
                  <a:schemeClr val="accent6"/>
                </a:solidFill>
              </a:rPr>
              <a:t>(Ji et al., 2023; Pearce et al., 2023)</a:t>
            </a:r>
            <a:endParaRPr lang="en-GB" sz="1400" dirty="0"/>
          </a:p>
        </p:txBody>
      </p:sp>
      <p:sp>
        <p:nvSpPr>
          <p:cNvPr id="31" name="Link 5 circle"/>
          <p:cNvSpPr/>
          <p:nvPr/>
        </p:nvSpPr>
        <p:spPr>
          <a:xfrm>
            <a:off x="5843016" y="4306824"/>
            <a:ext cx="365760" cy="365760"/>
          </a:xfrm>
          <a:prstGeom prst="ellipse">
            <a:avLst/>
          </a:prstGeom>
          <a:solidFill>
            <a:schemeClr val="accent1"/>
          </a:solidFill>
          <a:ln w="12700">
            <a:solidFill>
              <a:schemeClr val="accent1"/>
            </a:solidFill>
            <a:prstDash val="solid"/>
          </a:ln>
        </p:spPr>
      </p:sp>
      <p:pic>
        <p:nvPicPr>
          <p:cNvPr id="32" name="Link 5 icon" descr="preencoded.png">    </p:cNvPr>
          <p:cNvPicPr>
            <a:picLocks noChangeAspect="1"/>
          </p:cNvPicPr>
          <p:nvPr/>
        </p:nvPicPr>
        <p:blipFill>
          <a:blip r:embed="rId5"/>
          <a:stretch>
            <a:fillRect/>
          </a:stretch>
        </p:blipFill>
        <p:spPr>
          <a:xfrm>
            <a:off x="5941771" y="4405579"/>
            <a:ext cx="168250" cy="168250"/>
          </a:xfrm>
          <a:prstGeom prst="rect">
            <a:avLst/>
          </a:prstGeom>
        </p:spPr>
      </p:pic>
      <p:sp>
        <p:nvSpPr>
          <p:cNvPr id="33" name="Action 5"/>
          <p:cNvSpPr/>
          <p:nvPr/>
        </p:nvSpPr>
        <p:spPr>
          <a:xfrm>
            <a:off x="6400800" y="4224528"/>
            <a:ext cx="5242255" cy="530352"/>
          </a:xfrm>
          <a:prstGeom prst="roundRect">
            <a:avLst>
              <a:gd name="adj" fmla="val 20690"/>
            </a:avLst>
          </a:prstGeom>
          <a:solidFill>
            <a:schemeClr val="accent2"/>
          </a:solidFill>
          <a:ln w="12700">
            <a:solidFill>
              <a:schemeClr val="accent2"/>
            </a:solidFill>
            <a:prstDash val="solid"/>
          </a:ln>
        </p:spPr>
      </p:sp>
      <p:sp>
        <p:nvSpPr>
          <p:cNvPr id="34" name="Action text 5"/>
          <p:cNvSpPr txBox="1"/>
          <p:nvPr/>
        </p:nvSpPr>
        <p:spPr>
          <a:xfrm>
            <a:off x="6583680" y="4224528"/>
            <a:ext cx="4876495" cy="530352"/>
          </a:xfrm>
          <a:prstGeom prst="rect">
            <a:avLst/>
          </a:prstGeom>
          <a:noFill/>
          <a:ln/>
        </p:spPr>
        <p:txBody>
          <a:bodyPr wrap="square" lIns="0" tIns="0" rIns="0" bIns="0" rtlCol="0" anchor="ctr"/>
          <a:lstStyle/>
          <a:p>
            <a:pPr indent="0" marL="0">
              <a:buNone/>
            </a:pPr>
            <a:r>
              <a:rPr lang="en-GB" altLang="en-US" sz="1500" b="1" dirty="0">
                <a:solidFill>
                  <a:schemeClr val="bg1"/>
                </a:solidFill>
              </a:rPr>
              <a:t>Tried every AI fix, then re-tested it</a:t>
            </a:r>
            <a:endParaRPr lang="en-GB" sz="1500" dirty="0"/>
          </a:p>
        </p:txBody>
      </p:sp>
      <p:sp>
        <p:nvSpPr>
          <p:cNvPr id="35" name="Explain card"/>
          <p:cNvSpPr/>
          <p:nvPr/>
        </p:nvSpPr>
        <p:spPr>
          <a:xfrm>
            <a:off x="548640" y="4983480"/>
            <a:ext cx="5410048" cy="1051560"/>
          </a:xfrm>
          <a:prstGeom prst="roundRect">
            <a:avLst>
              <a:gd name="adj" fmla="val 6957"/>
            </a:avLst>
          </a:prstGeom>
          <a:solidFill>
            <a:schemeClr val="bg2"/>
          </a:solidFill>
          <a:ln w="12700">
            <a:solidFill>
              <a:schemeClr val="bg2"/>
            </a:solidFill>
            <a:prstDash val="solid"/>
          </a:ln>
        </p:spPr>
      </p:sp>
      <p:sp>
        <p:nvSpPr>
          <p:cNvPr id="36" name="Explain circle"/>
          <p:cNvSpPr/>
          <p:nvPr/>
        </p:nvSpPr>
        <p:spPr>
          <a:xfrm>
            <a:off x="749808" y="5239512"/>
            <a:ext cx="502920" cy="502920"/>
          </a:xfrm>
          <a:prstGeom prst="ellipse">
            <a:avLst/>
          </a:prstGeom>
          <a:solidFill>
            <a:schemeClr val="accent2"/>
          </a:solidFill>
          <a:ln w="12700">
            <a:solidFill>
              <a:schemeClr val="accent2"/>
            </a:solidFill>
            <a:prstDash val="solid"/>
          </a:ln>
        </p:spPr>
      </p:sp>
      <p:pic>
        <p:nvPicPr>
          <p:cNvPr id="37" name="Explain icon" descr="preencoded.png">    </p:cNvPr>
          <p:cNvPicPr>
            <a:picLocks noChangeAspect="1"/>
          </p:cNvPicPr>
          <p:nvPr/>
        </p:nvPicPr>
        <p:blipFill>
          <a:blip r:embed="rId6"/>
          <a:stretch>
            <a:fillRect/>
          </a:stretch>
        </p:blipFill>
        <p:spPr>
          <a:xfrm>
            <a:off x="875538" y="5365242"/>
            <a:ext cx="251460" cy="251460"/>
          </a:xfrm>
          <a:prstGeom prst="rect">
            <a:avLst/>
          </a:prstGeom>
        </p:spPr>
      </p:pic>
      <p:sp>
        <p:nvSpPr>
          <p:cNvPr id="38" name="Explain text"/>
          <p:cNvSpPr txBox="1"/>
          <p:nvPr/>
        </p:nvSpPr>
        <p:spPr>
          <a:xfrm>
            <a:off x="1417320" y="5129784"/>
            <a:ext cx="4404208" cy="822960"/>
          </a:xfrm>
          <a:prstGeom prst="rect">
            <a:avLst/>
          </a:prstGeom>
          <a:noFill/>
          <a:ln/>
        </p:spPr>
        <p:txBody>
          <a:bodyPr wrap="square" lIns="0" tIns="0" rIns="0" bIns="0" rtlCol="0" anchor="ctr"/>
          <a:lstStyle/>
          <a:p>
            <a:pPr indent="0" marL="0">
              <a:spcAft>
                <a:spcPts val="300"/>
              </a:spcAft>
              <a:buNone/>
            </a:pPr>
            <a:r>
              <a:rPr lang="en-GB" altLang="en-US" sz="1500" b="1" dirty="0">
                <a:solidFill>
                  <a:schemeClr val="tx2"/>
                </a:solidFill>
              </a:rPr>
              <a:t>Also used to explain my results</a:t>
            </a:r>
            <a:endParaRPr lang="en-GB" sz="1500" dirty="0"/>
          </a:p>
          <a:p>
            <a:pPr indent="0" marL="0">
              <a:spcAft>
                <a:spcPts val="300"/>
              </a:spcAft>
              <a:buNone/>
            </a:pPr>
            <a:r>
              <a:rPr lang="en-GB" altLang="en-US" sz="1300" dirty="0">
                <a:solidFill>
                  <a:schemeClr val="tx1"/>
                </a:solidFill>
              </a:rPr>
              <a:t>Text can steer an AI (Greshake et al., 2023); test sets can flatter AI (Ding et al., 2025)</a:t>
            </a:r>
            <a:endParaRPr lang="en-GB" sz="1500" dirty="0"/>
          </a:p>
        </p:txBody>
      </p:sp>
      <p:sp>
        <p:nvSpPr>
          <p:cNvPr id="39" name="Gap card"/>
          <p:cNvSpPr/>
          <p:nvPr/>
        </p:nvSpPr>
        <p:spPr>
          <a:xfrm>
            <a:off x="6233008" y="4983480"/>
            <a:ext cx="5410048" cy="1051560"/>
          </a:xfrm>
          <a:prstGeom prst="roundRect">
            <a:avLst>
              <a:gd name="adj" fmla="val 6957"/>
            </a:avLst>
          </a:prstGeom>
          <a:solidFill>
            <a:schemeClr val="tx2"/>
          </a:solidFill>
          <a:ln w="12700">
            <a:solidFill>
              <a:schemeClr val="tx2"/>
            </a:solidFill>
            <a:prstDash val="solid"/>
          </a:ln>
        </p:spPr>
      </p:sp>
      <p:sp>
        <p:nvSpPr>
          <p:cNvPr id="40" name="Gap circle"/>
          <p:cNvSpPr/>
          <p:nvPr/>
        </p:nvSpPr>
        <p:spPr>
          <a:xfrm>
            <a:off x="6434176" y="5239512"/>
            <a:ext cx="502920" cy="502920"/>
          </a:xfrm>
          <a:prstGeom prst="ellipse">
            <a:avLst/>
          </a:prstGeom>
          <a:solidFill>
            <a:schemeClr val="accent1"/>
          </a:solidFill>
          <a:ln w="12700">
            <a:solidFill>
              <a:schemeClr val="accent1"/>
            </a:solidFill>
            <a:prstDash val="solid"/>
          </a:ln>
        </p:spPr>
      </p:sp>
      <p:pic>
        <p:nvPicPr>
          <p:cNvPr id="41" name="Gap icon" descr="preencoded.png">    </p:cNvPr>
          <p:cNvPicPr>
            <a:picLocks noChangeAspect="1"/>
          </p:cNvPicPr>
          <p:nvPr/>
        </p:nvPicPr>
        <p:blipFill>
          <a:blip r:embed="rId7"/>
          <a:stretch>
            <a:fillRect/>
          </a:stretch>
        </p:blipFill>
        <p:spPr>
          <a:xfrm>
            <a:off x="6559906" y="5365242"/>
            <a:ext cx="251460" cy="251460"/>
          </a:xfrm>
          <a:prstGeom prst="rect">
            <a:avLst/>
          </a:prstGeom>
        </p:spPr>
      </p:pic>
      <p:sp>
        <p:nvSpPr>
          <p:cNvPr id="42" name="Gap text"/>
          <p:cNvSpPr txBox="1"/>
          <p:nvPr/>
        </p:nvSpPr>
        <p:spPr>
          <a:xfrm>
            <a:off x="7101688" y="5129784"/>
            <a:ext cx="4404208" cy="822960"/>
          </a:xfrm>
          <a:prstGeom prst="rect">
            <a:avLst/>
          </a:prstGeom>
          <a:noFill/>
          <a:ln/>
        </p:spPr>
        <p:txBody>
          <a:bodyPr wrap="square" lIns="0" tIns="0" rIns="0" bIns="0" rtlCol="0" anchor="ctr"/>
          <a:lstStyle/>
          <a:p>
            <a:pPr indent="0" marL="0">
              <a:spcAft>
                <a:spcPts val="300"/>
              </a:spcAft>
              <a:buNone/>
            </a:pPr>
            <a:r>
              <a:rPr lang="en-GB" altLang="en-US" sz="1500" b="1" dirty="0">
                <a:solidFill>
                  <a:schemeClr val="bg1"/>
                </a:solidFill>
              </a:rPr>
              <a:t>The gap</a:t>
            </a:r>
            <a:endParaRPr lang="en-GB" sz="1500" dirty="0"/>
          </a:p>
          <a:p>
            <a:pPr indent="0" marL="0">
              <a:spcAft>
                <a:spcPts val="300"/>
              </a:spcAft>
              <a:buNone/>
            </a:pPr>
            <a:r>
              <a:rPr lang="en-GB" altLang="en-US" sz="1300" dirty="0">
                <a:solidFill>
                  <a:schemeClr val="bg1"/>
                </a:solidFill>
              </a:rPr>
              <a:t>Very few fair, side-by-side tests of an AI reviewer against IaC scanners</a:t>
            </a:r>
            <a:endParaRPr lang="en-GB" sz="15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3</a:t>
            </a:fld>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What I built: three independent reviewers</a:t>
            </a:r>
            <a:endParaRPr lang="en-GB" sz="3600" dirty="0"/>
          </a:p>
        </p:txBody>
      </p:sp>
      <p:sp>
        <p:nvSpPr>
          <p:cNvPr id="3" name="Step PR"/>
          <p:cNvSpPr/>
          <p:nvPr/>
        </p:nvSpPr>
        <p:spPr>
          <a:xfrm>
            <a:off x="548640" y="1325880"/>
            <a:ext cx="5760720" cy="457200"/>
          </a:xfrm>
          <a:prstGeom prst="roundRect">
            <a:avLst>
              <a:gd name="adj" fmla="val 16000"/>
            </a:avLst>
          </a:prstGeom>
          <a:solidFill>
            <a:schemeClr val="bg2"/>
          </a:solidFill>
          <a:ln w="12700">
            <a:solidFill>
              <a:schemeClr val="bg2"/>
            </a:solidFill>
            <a:prstDash val="solid"/>
          </a:ln>
        </p:spPr>
      </p:sp>
      <p:sp>
        <p:nvSpPr>
          <p:cNvPr id="4" name="Step PR icon circle"/>
          <p:cNvSpPr/>
          <p:nvPr/>
        </p:nvSpPr>
        <p:spPr>
          <a:xfrm>
            <a:off x="676656" y="1362456"/>
            <a:ext cx="384048" cy="384048"/>
          </a:xfrm>
          <a:prstGeom prst="ellipse">
            <a:avLst/>
          </a:prstGeom>
          <a:solidFill>
            <a:schemeClr val="tx2"/>
          </a:solidFill>
          <a:ln w="12700">
            <a:solidFill>
              <a:schemeClr val="tx2"/>
            </a:solidFill>
            <a:prstDash val="solid"/>
          </a:ln>
        </p:spPr>
      </p:sp>
      <p:pic>
        <p:nvPicPr>
          <p:cNvPr id="5" name="Step PR icon icon" descr="preencoded.png">    </p:cNvPr>
          <p:cNvPicPr>
            <a:picLocks noChangeAspect="1"/>
          </p:cNvPicPr>
          <p:nvPr/>
        </p:nvPicPr>
        <p:blipFill>
          <a:blip r:embed="rId1"/>
          <a:stretch>
            <a:fillRect/>
          </a:stretch>
        </p:blipFill>
        <p:spPr>
          <a:xfrm>
            <a:off x="772668" y="1458468"/>
            <a:ext cx="192024" cy="192024"/>
          </a:xfrm>
          <a:prstGeom prst="rect">
            <a:avLst/>
          </a:prstGeom>
        </p:spPr>
      </p:pic>
      <p:sp>
        <p:nvSpPr>
          <p:cNvPr id="6" name="Step PR text"/>
          <p:cNvSpPr txBox="1"/>
          <p:nvPr/>
        </p:nvSpPr>
        <p:spPr>
          <a:xfrm>
            <a:off x="1188720" y="1325880"/>
            <a:ext cx="4983480" cy="457200"/>
          </a:xfrm>
          <a:prstGeom prst="rect">
            <a:avLst/>
          </a:prstGeom>
          <a:noFill/>
          <a:ln/>
        </p:spPr>
        <p:txBody>
          <a:bodyPr wrap="square" lIns="0" tIns="0" rIns="0" bIns="0" rtlCol="0" anchor="ctr"/>
          <a:lstStyle/>
          <a:p>
            <a:pPr indent="0" marL="0">
              <a:buNone/>
            </a:pPr>
            <a:r>
              <a:rPr lang="en-GB" altLang="en-US" sz="1500" b="1" dirty="0">
                <a:solidFill>
                  <a:schemeClr val="tx1"/>
                </a:solidFill>
              </a:rPr>
              <a:t>A pull request is opened</a:t>
            </a:r>
            <a:endParaRPr lang="en-GB" sz="1500" dirty="0"/>
          </a:p>
        </p:txBody>
      </p:sp>
      <p:sp>
        <p:nvSpPr>
          <p:cNvPr id="7" name="Arrow to check"/>
          <p:cNvSpPr/>
          <p:nvPr/>
        </p:nvSpPr>
        <p:spPr>
          <a:xfrm>
            <a:off x="3429000" y="1783080"/>
            <a:ext cx="0" cy="182880"/>
          </a:xfrm>
          <a:prstGeom prst="line">
            <a:avLst/>
          </a:prstGeom>
          <a:noFill/>
          <a:ln w="19050">
            <a:solidFill>
              <a:srgbClr val="7A8794"/>
            </a:solidFill>
            <a:prstDash val="solid"/>
            <a:tailEnd type="triangle"/>
          </a:ln>
        </p:spPr>
      </p:sp>
      <p:sp>
        <p:nvSpPr>
          <p:cNvPr id="8" name="Step check"/>
          <p:cNvSpPr/>
          <p:nvPr/>
        </p:nvSpPr>
        <p:spPr>
          <a:xfrm>
            <a:off x="548640" y="1965960"/>
            <a:ext cx="5760720" cy="457200"/>
          </a:xfrm>
          <a:prstGeom prst="roundRect">
            <a:avLst>
              <a:gd name="adj" fmla="val 16000"/>
            </a:avLst>
          </a:prstGeom>
          <a:solidFill>
            <a:schemeClr val="bg2"/>
          </a:solidFill>
          <a:ln w="12700">
            <a:solidFill>
              <a:schemeClr val="bg2"/>
            </a:solidFill>
            <a:prstDash val="solid"/>
          </a:ln>
        </p:spPr>
      </p:sp>
      <p:sp>
        <p:nvSpPr>
          <p:cNvPr id="9" name="Step check icon circle"/>
          <p:cNvSpPr/>
          <p:nvPr/>
        </p:nvSpPr>
        <p:spPr>
          <a:xfrm>
            <a:off x="676656" y="2002536"/>
            <a:ext cx="384048" cy="384048"/>
          </a:xfrm>
          <a:prstGeom prst="ellipse">
            <a:avLst/>
          </a:prstGeom>
          <a:solidFill>
            <a:schemeClr val="tx2"/>
          </a:solidFill>
          <a:ln w="12700">
            <a:solidFill>
              <a:schemeClr val="tx2"/>
            </a:solidFill>
            <a:prstDash val="solid"/>
          </a:ln>
        </p:spPr>
      </p:sp>
      <p:pic>
        <p:nvPicPr>
          <p:cNvPr id="10" name="Step check icon icon" descr="preencoded.png">    </p:cNvPr>
          <p:cNvPicPr>
            <a:picLocks noChangeAspect="1"/>
          </p:cNvPicPr>
          <p:nvPr/>
        </p:nvPicPr>
        <p:blipFill>
          <a:blip r:embed="rId2"/>
          <a:stretch>
            <a:fillRect/>
          </a:stretch>
        </p:blipFill>
        <p:spPr>
          <a:xfrm>
            <a:off x="772668" y="2098548"/>
            <a:ext cx="192024" cy="192024"/>
          </a:xfrm>
          <a:prstGeom prst="rect">
            <a:avLst/>
          </a:prstGeom>
        </p:spPr>
      </p:pic>
      <p:sp>
        <p:nvSpPr>
          <p:cNvPr id="11" name="Step check text"/>
          <p:cNvSpPr txBox="1"/>
          <p:nvPr/>
        </p:nvSpPr>
        <p:spPr>
          <a:xfrm>
            <a:off x="1188720" y="1965960"/>
            <a:ext cx="4983480" cy="457200"/>
          </a:xfrm>
          <a:prstGeom prst="rect">
            <a:avLst/>
          </a:prstGeom>
          <a:noFill/>
          <a:ln/>
        </p:spPr>
        <p:txBody>
          <a:bodyPr wrap="square" lIns="0" tIns="0" rIns="0" bIns="0" rtlCol="0" anchor="ctr"/>
          <a:lstStyle/>
          <a:p>
            <a:pPr indent="0" marL="0">
              <a:buNone/>
            </a:pPr>
            <a:r>
              <a:rPr lang="en-GB" altLang="en-US" sz="1500" b="1" dirty="0">
                <a:solidFill>
                  <a:schemeClr val="tx1"/>
                </a:solidFill>
              </a:rPr>
              <a:t>Code checked </a:t>
            </a:r>
            <a:pPr indent="0" marL="0">
              <a:buNone/>
            </a:pPr>
            <a:r>
              <a:rPr lang="en-GB" altLang="en-US" sz="1500" dirty="0">
                <a:solidFill>
                  <a:schemeClr val="tx1"/>
                </a:solidFill>
              </a:rPr>
              <a:t>(nothing is deployed)</a:t>
            </a:r>
            <a:endParaRPr lang="en-GB" sz="1500" dirty="0"/>
          </a:p>
        </p:txBody>
      </p:sp>
      <p:sp>
        <p:nvSpPr>
          <p:cNvPr id="12" name="Fan-out stem"/>
          <p:cNvSpPr/>
          <p:nvPr/>
        </p:nvSpPr>
        <p:spPr>
          <a:xfrm>
            <a:off x="3429000" y="2423160"/>
            <a:ext cx="0" cy="137160"/>
          </a:xfrm>
          <a:prstGeom prst="line">
            <a:avLst/>
          </a:prstGeom>
          <a:noFill/>
          <a:ln w="19050">
            <a:solidFill>
              <a:srgbClr val="7A8794"/>
            </a:solidFill>
            <a:prstDash val="solid"/>
          </a:ln>
        </p:spPr>
      </p:sp>
      <p:sp>
        <p:nvSpPr>
          <p:cNvPr id="13" name="Fan-out bar"/>
          <p:cNvSpPr/>
          <p:nvPr/>
        </p:nvSpPr>
        <p:spPr>
          <a:xfrm>
            <a:off x="1447800" y="2560320"/>
            <a:ext cx="3962400" cy="0"/>
          </a:xfrm>
          <a:prstGeom prst="line">
            <a:avLst/>
          </a:prstGeom>
          <a:noFill/>
          <a:ln w="19050">
            <a:solidFill>
              <a:srgbClr val="7A8794"/>
            </a:solidFill>
            <a:prstDash val="solid"/>
          </a:ln>
        </p:spPr>
      </p:sp>
      <p:sp>
        <p:nvSpPr>
          <p:cNvPr id="14" name="Fan-out arrow 1"/>
          <p:cNvSpPr/>
          <p:nvPr/>
        </p:nvSpPr>
        <p:spPr>
          <a:xfrm>
            <a:off x="1447800" y="2560320"/>
            <a:ext cx="0" cy="137160"/>
          </a:xfrm>
          <a:prstGeom prst="line">
            <a:avLst/>
          </a:prstGeom>
          <a:noFill/>
          <a:ln w="19050">
            <a:solidFill>
              <a:srgbClr val="7A8794"/>
            </a:solidFill>
            <a:prstDash val="solid"/>
            <a:tailEnd type="triangle"/>
          </a:ln>
        </p:spPr>
      </p:sp>
      <p:sp>
        <p:nvSpPr>
          <p:cNvPr id="15" name="Fan-out arrow 2"/>
          <p:cNvSpPr/>
          <p:nvPr/>
        </p:nvSpPr>
        <p:spPr>
          <a:xfrm>
            <a:off x="3429000" y="2560320"/>
            <a:ext cx="0" cy="137160"/>
          </a:xfrm>
          <a:prstGeom prst="line">
            <a:avLst/>
          </a:prstGeom>
          <a:noFill/>
          <a:ln w="19050">
            <a:solidFill>
              <a:srgbClr val="7A8794"/>
            </a:solidFill>
            <a:prstDash val="solid"/>
            <a:tailEnd type="triangle"/>
          </a:ln>
        </p:spPr>
      </p:sp>
      <p:sp>
        <p:nvSpPr>
          <p:cNvPr id="16" name="Fan-out arrow 3"/>
          <p:cNvSpPr/>
          <p:nvPr/>
        </p:nvSpPr>
        <p:spPr>
          <a:xfrm>
            <a:off x="5410200" y="2560320"/>
            <a:ext cx="0" cy="137160"/>
          </a:xfrm>
          <a:prstGeom prst="line">
            <a:avLst/>
          </a:prstGeom>
          <a:noFill/>
          <a:ln w="19050">
            <a:solidFill>
              <a:srgbClr val="7A8794"/>
            </a:solidFill>
            <a:prstDash val="solid"/>
            <a:tailEnd type="triangle"/>
          </a:ln>
        </p:spPr>
      </p:sp>
      <p:sp>
        <p:nvSpPr>
          <p:cNvPr id="17" name="Checkov box"/>
          <p:cNvSpPr/>
          <p:nvPr/>
        </p:nvSpPr>
        <p:spPr>
          <a:xfrm>
            <a:off x="548640" y="2697480"/>
            <a:ext cx="1798320" cy="1600200"/>
          </a:xfrm>
          <a:prstGeom prst="roundRect">
            <a:avLst>
              <a:gd name="adj" fmla="val 4571"/>
            </a:avLst>
          </a:prstGeom>
          <a:solidFill>
            <a:schemeClr val="bg1"/>
          </a:solidFill>
          <a:ln w="19050">
            <a:solidFill>
              <a:schemeClr val="accent2"/>
            </a:solidFill>
            <a:prstDash val="solid"/>
          </a:ln>
        </p:spPr>
      </p:sp>
      <p:sp>
        <p:nvSpPr>
          <p:cNvPr id="18" name="Checkov circle"/>
          <p:cNvSpPr/>
          <p:nvPr/>
        </p:nvSpPr>
        <p:spPr>
          <a:xfrm>
            <a:off x="1164336" y="2825496"/>
            <a:ext cx="566928" cy="566928"/>
          </a:xfrm>
          <a:prstGeom prst="ellipse">
            <a:avLst/>
          </a:prstGeom>
          <a:solidFill>
            <a:schemeClr val="accent2"/>
          </a:solidFill>
          <a:ln w="12700">
            <a:solidFill>
              <a:schemeClr val="accent2"/>
            </a:solidFill>
            <a:prstDash val="solid"/>
          </a:ln>
        </p:spPr>
      </p:sp>
      <p:pic>
        <p:nvPicPr>
          <p:cNvPr id="19" name="Checkov icon" descr="preencoded.png">    </p:cNvPr>
          <p:cNvPicPr>
            <a:picLocks noChangeAspect="1"/>
          </p:cNvPicPr>
          <p:nvPr/>
        </p:nvPicPr>
        <p:blipFill>
          <a:blip r:embed="rId3"/>
          <a:stretch>
            <a:fillRect/>
          </a:stretch>
        </p:blipFill>
        <p:spPr>
          <a:xfrm>
            <a:off x="1306068" y="2967228"/>
            <a:ext cx="283464" cy="283464"/>
          </a:xfrm>
          <a:prstGeom prst="rect">
            <a:avLst/>
          </a:prstGeom>
        </p:spPr>
      </p:pic>
      <p:sp>
        <p:nvSpPr>
          <p:cNvPr id="20" name="Checkov text"/>
          <p:cNvSpPr txBox="1"/>
          <p:nvPr/>
        </p:nvSpPr>
        <p:spPr>
          <a:xfrm>
            <a:off x="640080" y="3474720"/>
            <a:ext cx="1615440" cy="777240"/>
          </a:xfrm>
          <a:prstGeom prst="rect">
            <a:avLst/>
          </a:prstGeom>
          <a:noFill/>
          <a:ln/>
        </p:spPr>
        <p:txBody>
          <a:bodyPr wrap="square" lIns="0" tIns="0" rIns="0" bIns="0" rtlCol="0" anchor="t"/>
          <a:lstStyle/>
          <a:p>
            <a:pPr algn="ctr" indent="0" marL="0">
              <a:spcAft>
                <a:spcPts val="100"/>
              </a:spcAft>
              <a:buNone/>
            </a:pPr>
            <a:r>
              <a:rPr lang="en-GB" altLang="en-US" sz="1600" b="1" dirty="0">
                <a:solidFill>
                  <a:schemeClr val="tx2"/>
                </a:solidFill>
              </a:rPr>
              <a:t>Checkov</a:t>
            </a:r>
            <a:endParaRPr lang="en-GB" sz="1400" dirty="0"/>
          </a:p>
          <a:p>
            <a:pPr algn="ctr" indent="0" marL="0">
              <a:spcAft>
                <a:spcPts val="100"/>
              </a:spcAft>
              <a:buNone/>
            </a:pPr>
            <a:r>
              <a:rPr lang="en-GB" altLang="en-US" sz="1300" dirty="0">
                <a:solidFill>
                  <a:schemeClr val="tx1"/>
                </a:solidFill>
              </a:rPr>
              <a:t>fixed rules</a:t>
            </a:r>
            <a:endParaRPr lang="en-GB" sz="1400" dirty="0"/>
          </a:p>
          <a:p>
            <a:pPr algn="ctr" indent="0" marL="0">
              <a:spcAft>
                <a:spcPts val="100"/>
              </a:spcAft>
              <a:buNone/>
            </a:pPr>
            <a:r>
              <a:rPr lang="en-GB" altLang="en-US" sz="1100" dirty="0">
                <a:solidFill>
                  <a:schemeClr val="accent6"/>
                </a:solidFill>
              </a:rPr>
              <a:t>version 3.3.1</a:t>
            </a:r>
            <a:endParaRPr lang="en-GB" sz="1400" dirty="0"/>
          </a:p>
        </p:txBody>
      </p:sp>
      <p:sp>
        <p:nvSpPr>
          <p:cNvPr id="21" name="tfsec box"/>
          <p:cNvSpPr/>
          <p:nvPr/>
        </p:nvSpPr>
        <p:spPr>
          <a:xfrm>
            <a:off x="2529840" y="2697480"/>
            <a:ext cx="1798320" cy="1600200"/>
          </a:xfrm>
          <a:prstGeom prst="roundRect">
            <a:avLst>
              <a:gd name="adj" fmla="val 4571"/>
            </a:avLst>
          </a:prstGeom>
          <a:solidFill>
            <a:schemeClr val="bg1"/>
          </a:solidFill>
          <a:ln w="19050">
            <a:solidFill>
              <a:schemeClr val="accent2"/>
            </a:solidFill>
            <a:prstDash val="solid"/>
          </a:ln>
        </p:spPr>
      </p:sp>
      <p:sp>
        <p:nvSpPr>
          <p:cNvPr id="22" name="tfsec circle"/>
          <p:cNvSpPr/>
          <p:nvPr/>
        </p:nvSpPr>
        <p:spPr>
          <a:xfrm>
            <a:off x="3145536" y="2825496"/>
            <a:ext cx="566928" cy="566928"/>
          </a:xfrm>
          <a:prstGeom prst="ellipse">
            <a:avLst/>
          </a:prstGeom>
          <a:solidFill>
            <a:schemeClr val="accent2"/>
          </a:solidFill>
          <a:ln w="12700">
            <a:solidFill>
              <a:schemeClr val="accent2"/>
            </a:solidFill>
            <a:prstDash val="solid"/>
          </a:ln>
        </p:spPr>
      </p:sp>
      <p:pic>
        <p:nvPicPr>
          <p:cNvPr id="23" name="tfsec icon" descr="preencoded.png">    </p:cNvPr>
          <p:cNvPicPr>
            <a:picLocks noChangeAspect="1"/>
          </p:cNvPicPr>
          <p:nvPr/>
        </p:nvPicPr>
        <p:blipFill>
          <a:blip r:embed="rId4"/>
          <a:stretch>
            <a:fillRect/>
          </a:stretch>
        </p:blipFill>
        <p:spPr>
          <a:xfrm>
            <a:off x="3287268" y="2967228"/>
            <a:ext cx="283464" cy="283464"/>
          </a:xfrm>
          <a:prstGeom prst="rect">
            <a:avLst/>
          </a:prstGeom>
        </p:spPr>
      </p:pic>
      <p:sp>
        <p:nvSpPr>
          <p:cNvPr id="24" name="tfsec text"/>
          <p:cNvSpPr txBox="1"/>
          <p:nvPr/>
        </p:nvSpPr>
        <p:spPr>
          <a:xfrm>
            <a:off x="2621280" y="3474720"/>
            <a:ext cx="1615440" cy="777240"/>
          </a:xfrm>
          <a:prstGeom prst="rect">
            <a:avLst/>
          </a:prstGeom>
          <a:noFill/>
          <a:ln/>
        </p:spPr>
        <p:txBody>
          <a:bodyPr wrap="square" lIns="0" tIns="0" rIns="0" bIns="0" rtlCol="0" anchor="t"/>
          <a:lstStyle/>
          <a:p>
            <a:pPr algn="ctr" indent="0" marL="0">
              <a:spcAft>
                <a:spcPts val="100"/>
              </a:spcAft>
              <a:buNone/>
            </a:pPr>
            <a:r>
              <a:rPr lang="en-GB" altLang="en-US" sz="1600" b="1" dirty="0">
                <a:solidFill>
                  <a:schemeClr val="tx2"/>
                </a:solidFill>
              </a:rPr>
              <a:t>tfsec</a:t>
            </a:r>
            <a:endParaRPr lang="en-GB" sz="1400" dirty="0"/>
          </a:p>
          <a:p>
            <a:pPr algn="ctr" indent="0" marL="0">
              <a:spcAft>
                <a:spcPts val="100"/>
              </a:spcAft>
              <a:buNone/>
            </a:pPr>
            <a:r>
              <a:rPr lang="en-GB" altLang="en-US" sz="1300" dirty="0">
                <a:solidFill>
                  <a:schemeClr val="tx1"/>
                </a:solidFill>
              </a:rPr>
              <a:t>fixed rules</a:t>
            </a:r>
            <a:endParaRPr lang="en-GB" sz="1400" dirty="0"/>
          </a:p>
          <a:p>
            <a:pPr algn="ctr" indent="0" marL="0">
              <a:spcAft>
                <a:spcPts val="100"/>
              </a:spcAft>
              <a:buNone/>
            </a:pPr>
            <a:r>
              <a:rPr lang="en-GB" altLang="en-US" sz="1100" dirty="0">
                <a:solidFill>
                  <a:schemeClr val="accent6"/>
                </a:solidFill>
              </a:rPr>
              <a:t>version 1.28.14</a:t>
            </a:r>
            <a:endParaRPr lang="en-GB" sz="1400" dirty="0"/>
          </a:p>
        </p:txBody>
      </p:sp>
      <p:sp>
        <p:nvSpPr>
          <p:cNvPr id="25" name="AI reviewer box"/>
          <p:cNvSpPr/>
          <p:nvPr/>
        </p:nvSpPr>
        <p:spPr>
          <a:xfrm>
            <a:off x="4511040" y="2697480"/>
            <a:ext cx="1798320" cy="1600200"/>
          </a:xfrm>
          <a:prstGeom prst="roundRect">
            <a:avLst>
              <a:gd name="adj" fmla="val 4571"/>
            </a:avLst>
          </a:prstGeom>
          <a:solidFill>
            <a:schemeClr val="bg1"/>
          </a:solidFill>
          <a:ln w="19050">
            <a:solidFill>
              <a:schemeClr val="accent1"/>
            </a:solidFill>
            <a:prstDash val="solid"/>
          </a:ln>
        </p:spPr>
      </p:sp>
      <p:sp>
        <p:nvSpPr>
          <p:cNvPr id="26" name="AI reviewer circle"/>
          <p:cNvSpPr/>
          <p:nvPr/>
        </p:nvSpPr>
        <p:spPr>
          <a:xfrm>
            <a:off x="5126736" y="2825496"/>
            <a:ext cx="566928" cy="566928"/>
          </a:xfrm>
          <a:prstGeom prst="ellipse">
            <a:avLst/>
          </a:prstGeom>
          <a:solidFill>
            <a:schemeClr val="accent1"/>
          </a:solidFill>
          <a:ln w="12700">
            <a:solidFill>
              <a:schemeClr val="accent1"/>
            </a:solidFill>
            <a:prstDash val="solid"/>
          </a:ln>
        </p:spPr>
      </p:sp>
      <p:pic>
        <p:nvPicPr>
          <p:cNvPr id="27" name="AI reviewer icon" descr="preencoded.png">    </p:cNvPr>
          <p:cNvPicPr>
            <a:picLocks noChangeAspect="1"/>
          </p:cNvPicPr>
          <p:nvPr/>
        </p:nvPicPr>
        <p:blipFill>
          <a:blip r:embed="rId5"/>
          <a:stretch>
            <a:fillRect/>
          </a:stretch>
        </p:blipFill>
        <p:spPr>
          <a:xfrm>
            <a:off x="5268468" y="2967228"/>
            <a:ext cx="283464" cy="283464"/>
          </a:xfrm>
          <a:prstGeom prst="rect">
            <a:avLst/>
          </a:prstGeom>
        </p:spPr>
      </p:pic>
      <p:sp>
        <p:nvSpPr>
          <p:cNvPr id="28" name="AI reviewer text"/>
          <p:cNvSpPr txBox="1"/>
          <p:nvPr/>
        </p:nvSpPr>
        <p:spPr>
          <a:xfrm>
            <a:off x="4602480" y="3474720"/>
            <a:ext cx="1615440" cy="777240"/>
          </a:xfrm>
          <a:prstGeom prst="rect">
            <a:avLst/>
          </a:prstGeom>
          <a:noFill/>
          <a:ln/>
        </p:spPr>
        <p:txBody>
          <a:bodyPr wrap="square" lIns="0" tIns="0" rIns="0" bIns="0" rtlCol="0" anchor="t"/>
          <a:lstStyle/>
          <a:p>
            <a:pPr algn="ctr" indent="0" marL="0">
              <a:spcAft>
                <a:spcPts val="100"/>
              </a:spcAft>
              <a:buNone/>
            </a:pPr>
            <a:r>
              <a:rPr lang="en-GB" altLang="en-US" sz="1600" b="1" dirty="0">
                <a:solidFill>
                  <a:schemeClr val="tx2"/>
                </a:solidFill>
              </a:rPr>
              <a:t>AI reviewer</a:t>
            </a:r>
            <a:endParaRPr lang="en-GB" sz="1400" dirty="0"/>
          </a:p>
          <a:p>
            <a:pPr algn="ctr" indent="0" marL="0">
              <a:spcAft>
                <a:spcPts val="100"/>
              </a:spcAft>
              <a:buNone/>
            </a:pPr>
            <a:r>
              <a:rPr lang="en-GB" altLang="en-US" sz="1300" dirty="0">
                <a:solidFill>
                  <a:schemeClr val="tx1"/>
                </a:solidFill>
              </a:rPr>
              <a:t>reads all the code</a:t>
            </a:r>
            <a:endParaRPr lang="en-GB" sz="1400" dirty="0"/>
          </a:p>
          <a:p>
            <a:pPr algn="ctr" indent="0" marL="0">
              <a:spcAft>
                <a:spcPts val="100"/>
              </a:spcAft>
              <a:buNone/>
            </a:pPr>
            <a:r>
              <a:rPr lang="en-GB" altLang="en-US" sz="1100" dirty="0">
                <a:solidFill>
                  <a:schemeClr val="accent6"/>
                </a:solidFill>
              </a:rPr>
              <a:t>Claude</a:t>
            </a:r>
            <a:endParaRPr lang="en-GB" sz="1400" dirty="0"/>
          </a:p>
        </p:txBody>
      </p:sp>
      <p:sp>
        <p:nvSpPr>
          <p:cNvPr id="29" name="Fan-in stem 1"/>
          <p:cNvSpPr/>
          <p:nvPr/>
        </p:nvSpPr>
        <p:spPr>
          <a:xfrm>
            <a:off x="1447800" y="4297680"/>
            <a:ext cx="0" cy="137160"/>
          </a:xfrm>
          <a:prstGeom prst="line">
            <a:avLst/>
          </a:prstGeom>
          <a:noFill/>
          <a:ln w="19050">
            <a:solidFill>
              <a:srgbClr val="7A8794"/>
            </a:solidFill>
            <a:prstDash val="solid"/>
          </a:ln>
        </p:spPr>
      </p:sp>
      <p:sp>
        <p:nvSpPr>
          <p:cNvPr id="30" name="Fan-in stem 2"/>
          <p:cNvSpPr/>
          <p:nvPr/>
        </p:nvSpPr>
        <p:spPr>
          <a:xfrm>
            <a:off x="3429000" y="4297680"/>
            <a:ext cx="0" cy="137160"/>
          </a:xfrm>
          <a:prstGeom prst="line">
            <a:avLst/>
          </a:prstGeom>
          <a:noFill/>
          <a:ln w="19050">
            <a:solidFill>
              <a:srgbClr val="7A8794"/>
            </a:solidFill>
            <a:prstDash val="solid"/>
          </a:ln>
        </p:spPr>
      </p:sp>
      <p:sp>
        <p:nvSpPr>
          <p:cNvPr id="31" name="Fan-in stem 3"/>
          <p:cNvSpPr/>
          <p:nvPr/>
        </p:nvSpPr>
        <p:spPr>
          <a:xfrm>
            <a:off x="5410200" y="4297680"/>
            <a:ext cx="0" cy="137160"/>
          </a:xfrm>
          <a:prstGeom prst="line">
            <a:avLst/>
          </a:prstGeom>
          <a:noFill/>
          <a:ln w="19050">
            <a:solidFill>
              <a:srgbClr val="7A8794"/>
            </a:solidFill>
            <a:prstDash val="solid"/>
          </a:ln>
        </p:spPr>
      </p:sp>
      <p:sp>
        <p:nvSpPr>
          <p:cNvPr id="32" name="Fan-in bar"/>
          <p:cNvSpPr/>
          <p:nvPr/>
        </p:nvSpPr>
        <p:spPr>
          <a:xfrm>
            <a:off x="1447800" y="4434840"/>
            <a:ext cx="3962400" cy="0"/>
          </a:xfrm>
          <a:prstGeom prst="line">
            <a:avLst/>
          </a:prstGeom>
          <a:noFill/>
          <a:ln w="19050">
            <a:solidFill>
              <a:srgbClr val="7A8794"/>
            </a:solidFill>
            <a:prstDash val="solid"/>
          </a:ln>
        </p:spPr>
      </p:sp>
      <p:sp>
        <p:nvSpPr>
          <p:cNvPr id="33" name="Arrow to comments"/>
          <p:cNvSpPr/>
          <p:nvPr/>
        </p:nvSpPr>
        <p:spPr>
          <a:xfrm>
            <a:off x="3429000" y="4434840"/>
            <a:ext cx="0" cy="137160"/>
          </a:xfrm>
          <a:prstGeom prst="line">
            <a:avLst/>
          </a:prstGeom>
          <a:noFill/>
          <a:ln w="19050">
            <a:solidFill>
              <a:srgbClr val="7A8794"/>
            </a:solidFill>
            <a:prstDash val="solid"/>
            <a:tailEnd type="triangle"/>
          </a:ln>
        </p:spPr>
      </p:sp>
      <p:sp>
        <p:nvSpPr>
          <p:cNvPr id="34" name="Step comments"/>
          <p:cNvSpPr/>
          <p:nvPr/>
        </p:nvSpPr>
        <p:spPr>
          <a:xfrm>
            <a:off x="548640" y="4572000"/>
            <a:ext cx="5760720" cy="457200"/>
          </a:xfrm>
          <a:prstGeom prst="roundRect">
            <a:avLst>
              <a:gd name="adj" fmla="val 16000"/>
            </a:avLst>
          </a:prstGeom>
          <a:solidFill>
            <a:schemeClr val="bg2"/>
          </a:solidFill>
          <a:ln w="12700">
            <a:solidFill>
              <a:schemeClr val="bg2"/>
            </a:solidFill>
            <a:prstDash val="solid"/>
          </a:ln>
        </p:spPr>
      </p:sp>
      <p:sp>
        <p:nvSpPr>
          <p:cNvPr id="35" name="Step comments icon circle"/>
          <p:cNvSpPr/>
          <p:nvPr/>
        </p:nvSpPr>
        <p:spPr>
          <a:xfrm>
            <a:off x="676656" y="4608576"/>
            <a:ext cx="384048" cy="384048"/>
          </a:xfrm>
          <a:prstGeom prst="ellipse">
            <a:avLst/>
          </a:prstGeom>
          <a:solidFill>
            <a:schemeClr val="tx2"/>
          </a:solidFill>
          <a:ln w="12700">
            <a:solidFill>
              <a:schemeClr val="tx2"/>
            </a:solidFill>
            <a:prstDash val="solid"/>
          </a:ln>
        </p:spPr>
      </p:sp>
      <p:pic>
        <p:nvPicPr>
          <p:cNvPr id="36" name="Step comments icon icon" descr="preencoded.png">    </p:cNvPr>
          <p:cNvPicPr>
            <a:picLocks noChangeAspect="1"/>
          </p:cNvPicPr>
          <p:nvPr/>
        </p:nvPicPr>
        <p:blipFill>
          <a:blip r:embed="rId6"/>
          <a:stretch>
            <a:fillRect/>
          </a:stretch>
        </p:blipFill>
        <p:spPr>
          <a:xfrm>
            <a:off x="772668" y="4704588"/>
            <a:ext cx="192024" cy="192024"/>
          </a:xfrm>
          <a:prstGeom prst="rect">
            <a:avLst/>
          </a:prstGeom>
        </p:spPr>
      </p:pic>
      <p:sp>
        <p:nvSpPr>
          <p:cNvPr id="37" name="Step comments text"/>
          <p:cNvSpPr txBox="1"/>
          <p:nvPr/>
        </p:nvSpPr>
        <p:spPr>
          <a:xfrm>
            <a:off x="1188720" y="4572000"/>
            <a:ext cx="4983480" cy="457200"/>
          </a:xfrm>
          <a:prstGeom prst="rect">
            <a:avLst/>
          </a:prstGeom>
          <a:noFill/>
          <a:ln/>
        </p:spPr>
        <p:txBody>
          <a:bodyPr wrap="square" lIns="0" tIns="0" rIns="0" bIns="0" rtlCol="0" anchor="ctr"/>
          <a:lstStyle/>
          <a:p>
            <a:pPr indent="0" marL="0">
              <a:buNone/>
            </a:pPr>
            <a:r>
              <a:rPr lang="en-GB" altLang="en-US" sz="1500" b="1" dirty="0">
                <a:solidFill>
                  <a:schemeClr val="tx1"/>
                </a:solidFill>
              </a:rPr>
              <a:t>Each tool posts its own comment</a:t>
            </a:r>
            <a:endParaRPr lang="en-GB" sz="1500" dirty="0"/>
          </a:p>
        </p:txBody>
      </p:sp>
      <p:sp>
        <p:nvSpPr>
          <p:cNvPr id="38" name="Arrow to compare"/>
          <p:cNvSpPr/>
          <p:nvPr/>
        </p:nvSpPr>
        <p:spPr>
          <a:xfrm>
            <a:off x="3429000" y="5029200"/>
            <a:ext cx="0" cy="182880"/>
          </a:xfrm>
          <a:prstGeom prst="line">
            <a:avLst/>
          </a:prstGeom>
          <a:noFill/>
          <a:ln w="19050">
            <a:solidFill>
              <a:srgbClr val="7A8794"/>
            </a:solidFill>
            <a:prstDash val="solid"/>
            <a:tailEnd type="triangle"/>
          </a:ln>
        </p:spPr>
      </p:sp>
      <p:sp>
        <p:nvSpPr>
          <p:cNvPr id="39" name="Step compare"/>
          <p:cNvSpPr/>
          <p:nvPr/>
        </p:nvSpPr>
        <p:spPr>
          <a:xfrm>
            <a:off x="548640" y="5212080"/>
            <a:ext cx="5760720" cy="457200"/>
          </a:xfrm>
          <a:prstGeom prst="roundRect">
            <a:avLst>
              <a:gd name="adj" fmla="val 16000"/>
            </a:avLst>
          </a:prstGeom>
          <a:solidFill>
            <a:schemeClr val="bg2"/>
          </a:solidFill>
          <a:ln w="12700">
            <a:solidFill>
              <a:schemeClr val="bg2"/>
            </a:solidFill>
            <a:prstDash val="solid"/>
          </a:ln>
        </p:spPr>
      </p:sp>
      <p:sp>
        <p:nvSpPr>
          <p:cNvPr id="40" name="Step compare icon circle"/>
          <p:cNvSpPr/>
          <p:nvPr/>
        </p:nvSpPr>
        <p:spPr>
          <a:xfrm>
            <a:off x="676656" y="5248656"/>
            <a:ext cx="384048" cy="384048"/>
          </a:xfrm>
          <a:prstGeom prst="ellipse">
            <a:avLst/>
          </a:prstGeom>
          <a:solidFill>
            <a:schemeClr val="tx2"/>
          </a:solidFill>
          <a:ln w="12700">
            <a:solidFill>
              <a:schemeClr val="tx2"/>
            </a:solidFill>
            <a:prstDash val="solid"/>
          </a:ln>
        </p:spPr>
      </p:sp>
      <p:pic>
        <p:nvPicPr>
          <p:cNvPr id="41" name="Step compare icon icon" descr="preencoded.png">    </p:cNvPr>
          <p:cNvPicPr>
            <a:picLocks noChangeAspect="1"/>
          </p:cNvPicPr>
          <p:nvPr/>
        </p:nvPicPr>
        <p:blipFill>
          <a:blip r:embed="rId7"/>
          <a:stretch>
            <a:fillRect/>
          </a:stretch>
        </p:blipFill>
        <p:spPr>
          <a:xfrm>
            <a:off x="772668" y="5344668"/>
            <a:ext cx="192024" cy="192024"/>
          </a:xfrm>
          <a:prstGeom prst="rect">
            <a:avLst/>
          </a:prstGeom>
        </p:spPr>
      </p:pic>
      <p:sp>
        <p:nvSpPr>
          <p:cNvPr id="42" name="Step compare text"/>
          <p:cNvSpPr txBox="1"/>
          <p:nvPr/>
        </p:nvSpPr>
        <p:spPr>
          <a:xfrm>
            <a:off x="1188720" y="5212080"/>
            <a:ext cx="4983480" cy="457200"/>
          </a:xfrm>
          <a:prstGeom prst="rect">
            <a:avLst/>
          </a:prstGeom>
          <a:noFill/>
          <a:ln/>
        </p:spPr>
        <p:txBody>
          <a:bodyPr wrap="square" lIns="0" tIns="0" rIns="0" bIns="0" rtlCol="0" anchor="ctr"/>
          <a:lstStyle/>
          <a:p>
            <a:pPr indent="0" marL="0">
              <a:buNone/>
            </a:pPr>
            <a:r>
              <a:rPr lang="en-GB" altLang="en-US" sz="1500" b="1" dirty="0">
                <a:solidFill>
                  <a:schemeClr val="tx1"/>
                </a:solidFill>
              </a:rPr>
              <a:t>I compare them with the correct answers</a:t>
            </a:r>
            <a:endParaRPr lang="en-GB" sz="1500" dirty="0"/>
          </a:p>
        </p:txBody>
      </p:sp>
      <p:sp>
        <p:nvSpPr>
          <p:cNvPr id="43" name="Evidence heading"/>
          <p:cNvSpPr txBox="1"/>
          <p:nvPr/>
        </p:nvSpPr>
        <p:spPr>
          <a:xfrm>
            <a:off x="6675120" y="1325880"/>
            <a:ext cx="4967935" cy="594360"/>
          </a:xfrm>
          <a:prstGeom prst="rect">
            <a:avLst/>
          </a:prstGeom>
          <a:noFill/>
          <a:ln/>
        </p:spPr>
        <p:txBody>
          <a:bodyPr wrap="square" lIns="0" tIns="0" rIns="0" bIns="0" rtlCol="0" anchor="t"/>
          <a:lstStyle/>
          <a:p>
            <a:pPr indent="0" marL="0">
              <a:buNone/>
            </a:pPr>
            <a:r>
              <a:rPr lang="en-GB" altLang="en-US" sz="1700" b="1" dirty="0">
                <a:solidFill>
                  <a:schemeClr val="tx2"/>
                </a:solidFill>
              </a:rPr>
              <a:t>Real result: pull request #71</a:t>
            </a:r>
            <a:endParaRPr lang="en-GB" sz="1400" dirty="0"/>
          </a:p>
          <a:p>
            <a:pPr indent="0" marL="0">
              <a:buNone/>
            </a:pPr>
            <a:r>
              <a:rPr lang="en-GB" altLang="en-US" sz="1300" dirty="0">
                <a:solidFill>
                  <a:schemeClr val="accent6"/>
                </a:solidFill>
              </a:rPr>
              <a:t>SSH (remote login) left open to the whole internet</a:t>
            </a:r>
            <a:endParaRPr lang="en-GB" sz="1400" dirty="0"/>
          </a:p>
        </p:txBody>
      </p:sp>
      <p:sp>
        <p:nvSpPr>
          <p:cNvPr id="44" name="Checkov result card"/>
          <p:cNvSpPr/>
          <p:nvPr/>
        </p:nvSpPr>
        <p:spPr>
          <a:xfrm>
            <a:off x="6675120" y="2057400"/>
            <a:ext cx="4967935" cy="914400"/>
          </a:xfrm>
          <a:prstGeom prst="roundRect">
            <a:avLst>
              <a:gd name="adj" fmla="val 8000"/>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5" name="Checkov status circle"/>
          <p:cNvSpPr/>
          <p:nvPr/>
        </p:nvSpPr>
        <p:spPr>
          <a:xfrm>
            <a:off x="6858000" y="2240280"/>
            <a:ext cx="512064" cy="512064"/>
          </a:xfrm>
          <a:prstGeom prst="ellipse">
            <a:avLst/>
          </a:prstGeom>
          <a:solidFill>
            <a:schemeClr val="accent6"/>
          </a:solidFill>
          <a:ln w="12700">
            <a:solidFill>
              <a:schemeClr val="accent6"/>
            </a:solidFill>
            <a:prstDash val="solid"/>
          </a:ln>
        </p:spPr>
      </p:sp>
      <p:pic>
        <p:nvPicPr>
          <p:cNvPr id="46" name="Checkov status icon" descr="preencoded.png">    </p:cNvPr>
          <p:cNvPicPr>
            <a:picLocks noChangeAspect="1"/>
          </p:cNvPicPr>
          <p:nvPr/>
        </p:nvPicPr>
        <p:blipFill>
          <a:blip r:embed="rId8"/>
          <a:stretch>
            <a:fillRect/>
          </a:stretch>
        </p:blipFill>
        <p:spPr>
          <a:xfrm>
            <a:off x="6996257" y="2378537"/>
            <a:ext cx="235549" cy="235549"/>
          </a:xfrm>
          <a:prstGeom prst="rect">
            <a:avLst/>
          </a:prstGeom>
        </p:spPr>
      </p:pic>
      <p:sp>
        <p:nvSpPr>
          <p:cNvPr id="47" name="Checkov verdict"/>
          <p:cNvSpPr txBox="1"/>
          <p:nvPr/>
        </p:nvSpPr>
        <p:spPr>
          <a:xfrm>
            <a:off x="7543800" y="2203704"/>
            <a:ext cx="3962095" cy="320040"/>
          </a:xfrm>
          <a:prstGeom prst="rect">
            <a:avLst/>
          </a:prstGeom>
          <a:noFill/>
          <a:ln/>
        </p:spPr>
        <p:txBody>
          <a:bodyPr wrap="square" lIns="0" tIns="0" rIns="0" bIns="0" rtlCol="0" anchor="t"/>
          <a:lstStyle/>
          <a:p>
            <a:pPr indent="0" marL="0">
              <a:buNone/>
            </a:pPr>
            <a:r>
              <a:rPr lang="en-GB" altLang="en-US" sz="1500" b="1" dirty="0">
                <a:solidFill>
                  <a:schemeClr val="tx2"/>
                </a:solidFill>
              </a:rPr>
              <a:t>Checkov  </a:t>
            </a:r>
            <a:pPr indent="0" marL="0">
              <a:buNone/>
            </a:pPr>
            <a:r>
              <a:rPr lang="en-GB" altLang="en-US" sz="1500" b="1" dirty="0">
                <a:solidFill>
                  <a:schemeClr val="accent6"/>
                </a:solidFill>
              </a:rPr>
              <a:t>Missed it</a:t>
            </a:r>
            <a:endParaRPr lang="en-GB" sz="1500" dirty="0"/>
          </a:p>
        </p:txBody>
      </p:sp>
      <p:sp>
        <p:nvSpPr>
          <p:cNvPr id="48" name="Checkov output"/>
          <p:cNvSpPr txBox="1"/>
          <p:nvPr/>
        </p:nvSpPr>
        <p:spPr>
          <a:xfrm>
            <a:off x="7543800" y="2560320"/>
            <a:ext cx="3916375" cy="365760"/>
          </a:xfrm>
          <a:prstGeom prst="rect">
            <a:avLst/>
          </a:prstGeom>
          <a:noFill/>
          <a:ln/>
        </p:spPr>
        <p:txBody>
          <a:bodyPr wrap="square" lIns="0" tIns="0" rIns="0" bIns="0" rtlCol="0" anchor="t"/>
          <a:lstStyle/>
          <a:p>
            <a:pPr indent="0" marL="0">
              <a:buNone/>
            </a:pPr>
            <a:r>
              <a:rPr lang="en-GB" altLang="en-US" sz="1100" dirty="0">
                <a:solidFill>
                  <a:schemeClr val="tx1"/>
                </a:solidFill>
                <a:latin typeface="Courier New" pitchFamily="34" charset="0"/>
                <a:ea typeface="Courier New" pitchFamily="34" charset="-122"/>
                <a:cs typeface="Courier New" pitchFamily="34" charset="-120"/>
              </a:rPr>
              <a:t>Passed: 7 · Failed: 0 · Skipped: 0</a:t>
            </a:r>
            <a:endParaRPr lang="en-GB" sz="1100" dirty="0"/>
          </a:p>
        </p:txBody>
      </p:sp>
      <p:sp>
        <p:nvSpPr>
          <p:cNvPr id="49" name="tfsec result card"/>
          <p:cNvSpPr/>
          <p:nvPr/>
        </p:nvSpPr>
        <p:spPr>
          <a:xfrm>
            <a:off x="6675120" y="3108960"/>
            <a:ext cx="4967935" cy="1097280"/>
          </a:xfrm>
          <a:prstGeom prst="roundRect">
            <a:avLst>
              <a:gd name="adj" fmla="val 666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0" name="tfsec status circle"/>
          <p:cNvSpPr/>
          <p:nvPr/>
        </p:nvSpPr>
        <p:spPr>
          <a:xfrm>
            <a:off x="6858000" y="3291840"/>
            <a:ext cx="512064" cy="512064"/>
          </a:xfrm>
          <a:prstGeom prst="ellipse">
            <a:avLst/>
          </a:prstGeom>
          <a:solidFill>
            <a:schemeClr val="accent4"/>
          </a:solidFill>
          <a:ln w="12700">
            <a:solidFill>
              <a:schemeClr val="accent4"/>
            </a:solidFill>
            <a:prstDash val="solid"/>
          </a:ln>
        </p:spPr>
      </p:sp>
      <p:pic>
        <p:nvPicPr>
          <p:cNvPr id="51" name="tfsec status icon" descr="preencoded.png">    </p:cNvPr>
          <p:cNvPicPr>
            <a:picLocks noChangeAspect="1"/>
          </p:cNvPicPr>
          <p:nvPr/>
        </p:nvPicPr>
        <p:blipFill>
          <a:blip r:embed="rId9"/>
          <a:stretch>
            <a:fillRect/>
          </a:stretch>
        </p:blipFill>
        <p:spPr>
          <a:xfrm>
            <a:off x="6996257" y="3430097"/>
            <a:ext cx="235549" cy="235549"/>
          </a:xfrm>
          <a:prstGeom prst="rect">
            <a:avLst/>
          </a:prstGeom>
        </p:spPr>
      </p:pic>
      <p:sp>
        <p:nvSpPr>
          <p:cNvPr id="52" name="tfsec verdict"/>
          <p:cNvSpPr txBox="1"/>
          <p:nvPr/>
        </p:nvSpPr>
        <p:spPr>
          <a:xfrm>
            <a:off x="7543800" y="3255264"/>
            <a:ext cx="3962095" cy="320040"/>
          </a:xfrm>
          <a:prstGeom prst="rect">
            <a:avLst/>
          </a:prstGeom>
          <a:noFill/>
          <a:ln/>
        </p:spPr>
        <p:txBody>
          <a:bodyPr wrap="square" lIns="0" tIns="0" rIns="0" bIns="0" rtlCol="0" anchor="t"/>
          <a:lstStyle/>
          <a:p>
            <a:pPr indent="0" marL="0">
              <a:buNone/>
            </a:pPr>
            <a:r>
              <a:rPr lang="en-GB" altLang="en-US" sz="1500" b="1" dirty="0">
                <a:solidFill>
                  <a:schemeClr val="tx2"/>
                </a:solidFill>
              </a:rPr>
              <a:t>tfsec  </a:t>
            </a:r>
            <a:pPr indent="0" marL="0">
              <a:buNone/>
            </a:pPr>
            <a:r>
              <a:rPr lang="en-GB" altLang="en-US" sz="1500" b="1" dirty="0">
                <a:solidFill>
                  <a:schemeClr val="accent4"/>
                </a:solidFill>
              </a:rPr>
              <a:t>Found it</a:t>
            </a:r>
            <a:endParaRPr lang="en-GB" sz="1500" dirty="0"/>
          </a:p>
        </p:txBody>
      </p:sp>
      <p:sp>
        <p:nvSpPr>
          <p:cNvPr id="53" name="tfsec output"/>
          <p:cNvSpPr txBox="1"/>
          <p:nvPr/>
        </p:nvSpPr>
        <p:spPr>
          <a:xfrm>
            <a:off x="7543800" y="3611880"/>
            <a:ext cx="3916375" cy="548640"/>
          </a:xfrm>
          <a:prstGeom prst="rect">
            <a:avLst/>
          </a:prstGeom>
          <a:noFill/>
          <a:ln/>
        </p:spPr>
        <p:txBody>
          <a:bodyPr wrap="square" lIns="0" tIns="0" rIns="0" bIns="0" rtlCol="0" anchor="t"/>
          <a:lstStyle/>
          <a:p>
            <a:pPr indent="0" marL="0">
              <a:buNone/>
            </a:pPr>
            <a:r>
              <a:rPr lang="en-GB" altLang="en-US" sz="1100" dirty="0">
                <a:solidFill>
                  <a:schemeClr val="tx1"/>
                </a:solidFill>
                <a:latin typeface="Courier New" pitchFamily="34" charset="0"/>
                <a:ea typeface="Courier New" pitchFamily="34" charset="-122"/>
                <a:cs typeface="Courier New" pitchFamily="34" charset="-120"/>
              </a:rPr>
              <a:t>CRITICAL · AVD-AZU-0047 — Security group rule allows ingress from public internet.</a:t>
            </a:r>
            <a:endParaRPr lang="en-GB" sz="1100" dirty="0"/>
          </a:p>
        </p:txBody>
      </p:sp>
      <p:sp>
        <p:nvSpPr>
          <p:cNvPr id="54" name="AI reviewer result card"/>
          <p:cNvSpPr/>
          <p:nvPr/>
        </p:nvSpPr>
        <p:spPr>
          <a:xfrm>
            <a:off x="6675120" y="4343400"/>
            <a:ext cx="4967935" cy="1280160"/>
          </a:xfrm>
          <a:prstGeom prst="roundRect">
            <a:avLst>
              <a:gd name="adj" fmla="val 5714"/>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5" name="AI reviewer status circle"/>
          <p:cNvSpPr/>
          <p:nvPr/>
        </p:nvSpPr>
        <p:spPr>
          <a:xfrm>
            <a:off x="6858000" y="4526280"/>
            <a:ext cx="512064" cy="512064"/>
          </a:xfrm>
          <a:prstGeom prst="ellipse">
            <a:avLst/>
          </a:prstGeom>
          <a:solidFill>
            <a:schemeClr val="accent4"/>
          </a:solidFill>
          <a:ln w="12700">
            <a:solidFill>
              <a:schemeClr val="accent4"/>
            </a:solidFill>
            <a:prstDash val="solid"/>
          </a:ln>
        </p:spPr>
      </p:sp>
      <p:pic>
        <p:nvPicPr>
          <p:cNvPr id="56" name="AI reviewer status icon" descr="preencoded.png">    </p:cNvPr>
          <p:cNvPicPr>
            <a:picLocks noChangeAspect="1"/>
          </p:cNvPicPr>
          <p:nvPr/>
        </p:nvPicPr>
        <p:blipFill>
          <a:blip r:embed="rId10"/>
          <a:stretch>
            <a:fillRect/>
          </a:stretch>
        </p:blipFill>
        <p:spPr>
          <a:xfrm>
            <a:off x="6996257" y="4664537"/>
            <a:ext cx="235549" cy="235549"/>
          </a:xfrm>
          <a:prstGeom prst="rect">
            <a:avLst/>
          </a:prstGeom>
        </p:spPr>
      </p:pic>
      <p:sp>
        <p:nvSpPr>
          <p:cNvPr id="57" name="AI reviewer verdict"/>
          <p:cNvSpPr txBox="1"/>
          <p:nvPr/>
        </p:nvSpPr>
        <p:spPr>
          <a:xfrm>
            <a:off x="7543800" y="4489704"/>
            <a:ext cx="3962095" cy="320040"/>
          </a:xfrm>
          <a:prstGeom prst="rect">
            <a:avLst/>
          </a:prstGeom>
          <a:noFill/>
          <a:ln/>
        </p:spPr>
        <p:txBody>
          <a:bodyPr wrap="square" lIns="0" tIns="0" rIns="0" bIns="0" rtlCol="0" anchor="t"/>
          <a:lstStyle/>
          <a:p>
            <a:pPr indent="0" marL="0">
              <a:buNone/>
            </a:pPr>
            <a:r>
              <a:rPr lang="en-GB" altLang="en-US" sz="1500" b="1" dirty="0">
                <a:solidFill>
                  <a:schemeClr val="tx2"/>
                </a:solidFill>
              </a:rPr>
              <a:t>AI reviewer  </a:t>
            </a:r>
            <a:pPr indent="0" marL="0">
              <a:buNone/>
            </a:pPr>
            <a:r>
              <a:rPr lang="en-GB" altLang="en-US" sz="1500" b="1" dirty="0">
                <a:solidFill>
                  <a:schemeClr val="accent4"/>
                </a:solidFill>
              </a:rPr>
              <a:t>Found it, and explained the fix</a:t>
            </a:r>
            <a:endParaRPr lang="en-GB" sz="1500" dirty="0"/>
          </a:p>
        </p:txBody>
      </p:sp>
      <p:sp>
        <p:nvSpPr>
          <p:cNvPr id="58" name="AI reviewer output"/>
          <p:cNvSpPr txBox="1"/>
          <p:nvPr/>
        </p:nvSpPr>
        <p:spPr>
          <a:xfrm>
            <a:off x="7543800" y="4846320"/>
            <a:ext cx="3916375" cy="731520"/>
          </a:xfrm>
          <a:prstGeom prst="rect">
            <a:avLst/>
          </a:prstGeom>
          <a:noFill/>
          <a:ln/>
        </p:spPr>
        <p:txBody>
          <a:bodyPr wrap="square" lIns="0" tIns="0" rIns="0" bIns="0" rtlCol="0" anchor="t"/>
          <a:lstStyle/>
          <a:p>
            <a:pPr indent="0" marL="0">
              <a:buNone/>
            </a:pPr>
            <a:r>
              <a:rPr lang="en-GB" altLang="en-US" sz="1100" dirty="0">
                <a:solidFill>
                  <a:schemeClr val="tx1"/>
                </a:solidFill>
                <a:latin typeface="Courier New" pitchFamily="34" charset="0"/>
                <a:ea typeface="Courier New" pitchFamily="34" charset="-122"/>
                <a:cs typeface="Courier New" pitchFamily="34" charset="-120"/>
              </a:rPr>
              <a:t>HIGH · SECURITY_VULNERABILITY · Unrestricted inbound SSH access permitted from any source address</a:t>
            </a:r>
            <a:endParaRPr lang="en-GB" sz="1100" dirty="0"/>
          </a:p>
        </p:txBody>
      </p:sp>
      <p:sp>
        <p:nvSpPr>
          <p:cNvPr id="59" name="Evidence source"/>
          <p:cNvSpPr txBox="1"/>
          <p:nvPr/>
        </p:nvSpPr>
        <p:spPr>
          <a:xfrm>
            <a:off x="6675120" y="5779008"/>
            <a:ext cx="4967935" cy="411480"/>
          </a:xfrm>
          <a:prstGeom prst="rect">
            <a:avLst/>
          </a:prstGeom>
          <a:noFill/>
          <a:ln/>
        </p:spPr>
        <p:txBody>
          <a:bodyPr wrap="square" lIns="0" tIns="0" rIns="0" bIns="0" rtlCol="0" anchor="t"/>
          <a:lstStyle/>
          <a:p>
            <a:pPr indent="0" marL="0">
              <a:buNone/>
            </a:pPr>
            <a:r>
              <a:rPr lang="en-GB" altLang="en-US" sz="1100" dirty="0">
                <a:solidFill>
                  <a:schemeClr val="accent6"/>
                </a:solidFill>
              </a:rPr>
              <a:t>Copied word for word from the first run · Dissertation Figure 4.2 · github.com/abdulwaheed384/ai-pr-review</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4</a:t>
            </a:fld>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I tested it: fixed answers, three runs each</a:t>
            </a:r>
            <a:endParaRPr lang="en-GB" sz="3600" dirty="0"/>
          </a:p>
        </p:txBody>
      </p:sp>
      <p:sp>
        <p:nvSpPr>
          <p:cNvPr id="3" name="Tile tests"/>
          <p:cNvSpPr/>
          <p:nvPr/>
        </p:nvSpPr>
        <p:spPr>
          <a:xfrm>
            <a:off x="548640" y="1325880"/>
            <a:ext cx="2602154" cy="1554480"/>
          </a:xfrm>
          <a:prstGeom prst="roundRect">
            <a:avLst>
              <a:gd name="adj" fmla="val 4706"/>
            </a:avLst>
          </a:prstGeom>
          <a:solidFill>
            <a:schemeClr val="bg2"/>
          </a:solidFill>
          <a:ln w="12700">
            <a:solidFill>
              <a:schemeClr val="bg2"/>
            </a:solidFill>
            <a:prstDash val="solid"/>
          </a:ln>
        </p:spPr>
      </p:sp>
      <p:sp>
        <p:nvSpPr>
          <p:cNvPr id="4" name="Tile icon tests circle"/>
          <p:cNvSpPr/>
          <p:nvPr/>
        </p:nvSpPr>
        <p:spPr>
          <a:xfrm>
            <a:off x="749808" y="1545336"/>
            <a:ext cx="457200" cy="457200"/>
          </a:xfrm>
          <a:prstGeom prst="ellipse">
            <a:avLst/>
          </a:prstGeom>
          <a:solidFill>
            <a:schemeClr val="accent2"/>
          </a:solidFill>
          <a:ln w="12700">
            <a:solidFill>
              <a:schemeClr val="accent2"/>
            </a:solidFill>
            <a:prstDash val="solid"/>
          </a:ln>
        </p:spPr>
      </p:sp>
      <p:pic>
        <p:nvPicPr>
          <p:cNvPr id="5" name="Tile icon tests icon" descr="preencoded.png">    </p:cNvPr>
          <p:cNvPicPr>
            <a:picLocks noChangeAspect="1"/>
          </p:cNvPicPr>
          <p:nvPr/>
        </p:nvPicPr>
        <p:blipFill>
          <a:blip r:embed="rId1"/>
          <a:stretch>
            <a:fillRect/>
          </a:stretch>
        </p:blipFill>
        <p:spPr>
          <a:xfrm>
            <a:off x="864108" y="1659636"/>
            <a:ext cx="228600" cy="228600"/>
          </a:xfrm>
          <a:prstGeom prst="rect">
            <a:avLst/>
          </a:prstGeom>
        </p:spPr>
      </p:pic>
      <p:sp>
        <p:nvSpPr>
          <p:cNvPr id="6" name="Tile number tests"/>
          <p:cNvSpPr txBox="1"/>
          <p:nvPr/>
        </p:nvSpPr>
        <p:spPr>
          <a:xfrm>
            <a:off x="1325880" y="1435608"/>
            <a:ext cx="1733474" cy="685800"/>
          </a:xfrm>
          <a:prstGeom prst="rect">
            <a:avLst/>
          </a:prstGeom>
          <a:noFill/>
          <a:ln/>
        </p:spPr>
        <p:txBody>
          <a:bodyPr wrap="square" lIns="0" tIns="0" rIns="0" bIns="0" rtlCol="0" anchor="ctr"/>
          <a:lstStyle/>
          <a:p>
            <a:pPr indent="0" marL="0">
              <a:buNone/>
            </a:pPr>
            <a:r>
              <a:rPr lang="en-GB" altLang="en-US" sz="4000" b="1" dirty="0">
                <a:solidFill>
                  <a:schemeClr val="accent2"/>
                </a:solidFill>
              </a:rPr>
              <a:t>15</a:t>
            </a:r>
            <a:pPr indent="0" marL="0">
              <a:buNone/>
            </a:pPr>
            <a:r>
              <a:rPr lang="en-GB" altLang="en-US" sz="1800" b="1" dirty="0">
                <a:solidFill>
                  <a:schemeClr val="tx2"/>
                </a:solidFill>
              </a:rPr>
              <a:t>  tests</a:t>
            </a:r>
            <a:endParaRPr lang="en-GB" sz="1400" dirty="0"/>
          </a:p>
        </p:txBody>
      </p:sp>
      <p:sp>
        <p:nvSpPr>
          <p:cNvPr id="7" name="Tile text tests"/>
          <p:cNvSpPr txBox="1"/>
          <p:nvPr/>
        </p:nvSpPr>
        <p:spPr>
          <a:xfrm>
            <a:off x="749808" y="2194560"/>
            <a:ext cx="2236394" cy="594360"/>
          </a:xfrm>
          <a:prstGeom prst="rect">
            <a:avLst/>
          </a:prstGeom>
          <a:noFill/>
          <a:ln/>
        </p:spPr>
        <p:txBody>
          <a:bodyPr wrap="square" lIns="0" tIns="0" rIns="0" bIns="0" rtlCol="0" anchor="t"/>
          <a:lstStyle/>
          <a:p>
            <a:pPr indent="0" marL="0">
              <a:buNone/>
            </a:pPr>
            <a:r>
              <a:rPr lang="en-GB" altLang="en-US" sz="1300" dirty="0">
                <a:solidFill>
                  <a:schemeClr val="tx1"/>
                </a:solidFill>
              </a:rPr>
              <a:t>12 with a problem, 3 safe; answers fixed first</a:t>
            </a:r>
            <a:endParaRPr lang="en-GB" sz="1300" dirty="0"/>
          </a:p>
        </p:txBody>
      </p:sp>
      <p:sp>
        <p:nvSpPr>
          <p:cNvPr id="8" name="Tile runs"/>
          <p:cNvSpPr/>
          <p:nvPr/>
        </p:nvSpPr>
        <p:spPr>
          <a:xfrm>
            <a:off x="3379394" y="1325880"/>
            <a:ext cx="2602154" cy="1554480"/>
          </a:xfrm>
          <a:prstGeom prst="roundRect">
            <a:avLst>
              <a:gd name="adj" fmla="val 4706"/>
            </a:avLst>
          </a:prstGeom>
          <a:solidFill>
            <a:schemeClr val="bg2"/>
          </a:solidFill>
          <a:ln w="12700">
            <a:solidFill>
              <a:schemeClr val="bg2"/>
            </a:solidFill>
            <a:prstDash val="solid"/>
          </a:ln>
        </p:spPr>
      </p:sp>
      <p:sp>
        <p:nvSpPr>
          <p:cNvPr id="9" name="Tile icon runs circle"/>
          <p:cNvSpPr/>
          <p:nvPr/>
        </p:nvSpPr>
        <p:spPr>
          <a:xfrm>
            <a:off x="3580562" y="1545336"/>
            <a:ext cx="457200" cy="457200"/>
          </a:xfrm>
          <a:prstGeom prst="ellipse">
            <a:avLst/>
          </a:prstGeom>
          <a:solidFill>
            <a:schemeClr val="accent2"/>
          </a:solidFill>
          <a:ln w="12700">
            <a:solidFill>
              <a:schemeClr val="accent2"/>
            </a:solidFill>
            <a:prstDash val="solid"/>
          </a:ln>
        </p:spPr>
      </p:sp>
      <p:pic>
        <p:nvPicPr>
          <p:cNvPr id="10" name="Tile icon runs icon" descr="preencoded.png">    </p:cNvPr>
          <p:cNvPicPr>
            <a:picLocks noChangeAspect="1"/>
          </p:cNvPicPr>
          <p:nvPr/>
        </p:nvPicPr>
        <p:blipFill>
          <a:blip r:embed="rId2"/>
          <a:stretch>
            <a:fillRect/>
          </a:stretch>
        </p:blipFill>
        <p:spPr>
          <a:xfrm>
            <a:off x="3694862" y="1659636"/>
            <a:ext cx="228600" cy="228600"/>
          </a:xfrm>
          <a:prstGeom prst="rect">
            <a:avLst/>
          </a:prstGeom>
        </p:spPr>
      </p:pic>
      <p:sp>
        <p:nvSpPr>
          <p:cNvPr id="11" name="Tile number runs"/>
          <p:cNvSpPr txBox="1"/>
          <p:nvPr/>
        </p:nvSpPr>
        <p:spPr>
          <a:xfrm>
            <a:off x="4156634" y="1435608"/>
            <a:ext cx="1733474" cy="685800"/>
          </a:xfrm>
          <a:prstGeom prst="rect">
            <a:avLst/>
          </a:prstGeom>
          <a:noFill/>
          <a:ln/>
        </p:spPr>
        <p:txBody>
          <a:bodyPr wrap="square" lIns="0" tIns="0" rIns="0" bIns="0" rtlCol="0" anchor="ctr"/>
          <a:lstStyle/>
          <a:p>
            <a:pPr indent="0" marL="0">
              <a:buNone/>
            </a:pPr>
            <a:r>
              <a:rPr lang="en-GB" altLang="en-US" sz="4000" b="1" dirty="0">
                <a:solidFill>
                  <a:schemeClr val="accent2"/>
                </a:solidFill>
              </a:rPr>
              <a:t>46</a:t>
            </a:r>
            <a:pPr indent="0" marL="0">
              <a:buNone/>
            </a:pPr>
            <a:r>
              <a:rPr lang="en-GB" altLang="en-US" sz="1800" b="1" dirty="0">
                <a:solidFill>
                  <a:schemeClr val="tx2"/>
                </a:solidFill>
              </a:rPr>
              <a:t>  runs</a:t>
            </a:r>
            <a:endParaRPr lang="en-GB" sz="1400" dirty="0"/>
          </a:p>
        </p:txBody>
      </p:sp>
      <p:sp>
        <p:nvSpPr>
          <p:cNvPr id="12" name="Tile text runs"/>
          <p:cNvSpPr txBox="1"/>
          <p:nvPr/>
        </p:nvSpPr>
        <p:spPr>
          <a:xfrm>
            <a:off x="3580562" y="2194560"/>
            <a:ext cx="2236394" cy="594360"/>
          </a:xfrm>
          <a:prstGeom prst="rect">
            <a:avLst/>
          </a:prstGeom>
          <a:noFill/>
          <a:ln/>
        </p:spPr>
        <p:txBody>
          <a:bodyPr wrap="square" lIns="0" tIns="0" rIns="0" bIns="0" rtlCol="0" anchor="t"/>
          <a:lstStyle/>
          <a:p>
            <a:pPr indent="0" marL="0">
              <a:buNone/>
            </a:pPr>
            <a:r>
              <a:rPr lang="en-GB" altLang="en-US" sz="1300" dirty="0">
                <a:solidFill>
                  <a:schemeClr val="tx1"/>
                </a:solidFill>
              </a:rPr>
              <a:t>three per test, plus one extra for TC08</a:t>
            </a:r>
            <a:endParaRPr lang="en-GB" sz="1300" dirty="0"/>
          </a:p>
        </p:txBody>
      </p:sp>
      <p:sp>
        <p:nvSpPr>
          <p:cNvPr id="13" name="Tile scores"/>
          <p:cNvSpPr/>
          <p:nvPr/>
        </p:nvSpPr>
        <p:spPr>
          <a:xfrm>
            <a:off x="6210148" y="1325880"/>
            <a:ext cx="2602154" cy="1554480"/>
          </a:xfrm>
          <a:prstGeom prst="roundRect">
            <a:avLst>
              <a:gd name="adj" fmla="val 4706"/>
            </a:avLst>
          </a:prstGeom>
          <a:solidFill>
            <a:schemeClr val="bg2"/>
          </a:solidFill>
          <a:ln w="12700">
            <a:solidFill>
              <a:schemeClr val="bg2"/>
            </a:solidFill>
            <a:prstDash val="solid"/>
          </a:ln>
        </p:spPr>
      </p:sp>
      <p:sp>
        <p:nvSpPr>
          <p:cNvPr id="14" name="Tile icon scores circle"/>
          <p:cNvSpPr/>
          <p:nvPr/>
        </p:nvSpPr>
        <p:spPr>
          <a:xfrm>
            <a:off x="6411316" y="1545336"/>
            <a:ext cx="457200" cy="457200"/>
          </a:xfrm>
          <a:prstGeom prst="ellipse">
            <a:avLst/>
          </a:prstGeom>
          <a:solidFill>
            <a:schemeClr val="accent2"/>
          </a:solidFill>
          <a:ln w="12700">
            <a:solidFill>
              <a:schemeClr val="accent2"/>
            </a:solidFill>
            <a:prstDash val="solid"/>
          </a:ln>
        </p:spPr>
      </p:sp>
      <p:pic>
        <p:nvPicPr>
          <p:cNvPr id="15" name="Tile icon scores icon" descr="preencoded.png">    </p:cNvPr>
          <p:cNvPicPr>
            <a:picLocks noChangeAspect="1"/>
          </p:cNvPicPr>
          <p:nvPr/>
        </p:nvPicPr>
        <p:blipFill>
          <a:blip r:embed="rId3"/>
          <a:stretch>
            <a:fillRect/>
          </a:stretch>
        </p:blipFill>
        <p:spPr>
          <a:xfrm>
            <a:off x="6525616" y="1659636"/>
            <a:ext cx="228600" cy="228600"/>
          </a:xfrm>
          <a:prstGeom prst="rect">
            <a:avLst/>
          </a:prstGeom>
        </p:spPr>
      </p:pic>
      <p:sp>
        <p:nvSpPr>
          <p:cNvPr id="16" name="Tile number scores"/>
          <p:cNvSpPr txBox="1"/>
          <p:nvPr/>
        </p:nvSpPr>
        <p:spPr>
          <a:xfrm>
            <a:off x="6987388" y="1435608"/>
            <a:ext cx="1733474" cy="685800"/>
          </a:xfrm>
          <a:prstGeom prst="rect">
            <a:avLst/>
          </a:prstGeom>
          <a:noFill/>
          <a:ln/>
        </p:spPr>
        <p:txBody>
          <a:bodyPr wrap="square" lIns="0" tIns="0" rIns="0" bIns="0" rtlCol="0" anchor="ctr"/>
          <a:lstStyle/>
          <a:p>
            <a:pPr indent="0" marL="0">
              <a:buNone/>
            </a:pPr>
            <a:r>
              <a:rPr lang="en-GB" altLang="en-US" sz="4000" b="1" dirty="0">
                <a:solidFill>
                  <a:schemeClr val="accent2"/>
                </a:solidFill>
              </a:rPr>
              <a:t>6</a:t>
            </a:r>
            <a:pPr indent="0" marL="0">
              <a:buNone/>
            </a:pPr>
            <a:r>
              <a:rPr lang="en-GB" altLang="en-US" sz="1800" b="1" dirty="0">
                <a:solidFill>
                  <a:schemeClr val="tx2"/>
                </a:solidFill>
              </a:rPr>
              <a:t>  scores</a:t>
            </a:r>
            <a:endParaRPr lang="en-GB" sz="1400" dirty="0"/>
          </a:p>
        </p:txBody>
      </p:sp>
      <p:sp>
        <p:nvSpPr>
          <p:cNvPr id="17" name="Tile text scores"/>
          <p:cNvSpPr txBox="1"/>
          <p:nvPr/>
        </p:nvSpPr>
        <p:spPr>
          <a:xfrm>
            <a:off x="6411316" y="2194560"/>
            <a:ext cx="2236394" cy="594360"/>
          </a:xfrm>
          <a:prstGeom prst="rect">
            <a:avLst/>
          </a:prstGeom>
          <a:noFill/>
          <a:ln/>
        </p:spPr>
        <p:txBody>
          <a:bodyPr wrap="square" lIns="0" tIns="0" rIns="0" bIns="0" rtlCol="0" anchor="t"/>
          <a:lstStyle/>
          <a:p>
            <a:pPr indent="0" marL="0">
              <a:buNone/>
            </a:pPr>
            <a:r>
              <a:rPr lang="en-GB" altLang="en-US" sz="1300" dirty="0">
                <a:solidFill>
                  <a:schemeClr val="tx1"/>
                </a:solidFill>
              </a:rPr>
              <a:t>quality points for each AI review</a:t>
            </a:r>
            <a:endParaRPr lang="en-GB" sz="1300" dirty="0"/>
          </a:p>
        </p:txBody>
      </p:sp>
      <p:sp>
        <p:nvSpPr>
          <p:cNvPr id="18" name="Tile fixes"/>
          <p:cNvSpPr/>
          <p:nvPr/>
        </p:nvSpPr>
        <p:spPr>
          <a:xfrm>
            <a:off x="9040901" y="1325880"/>
            <a:ext cx="2602154" cy="1554480"/>
          </a:xfrm>
          <a:prstGeom prst="roundRect">
            <a:avLst>
              <a:gd name="adj" fmla="val 4706"/>
            </a:avLst>
          </a:prstGeom>
          <a:solidFill>
            <a:schemeClr val="bg2"/>
          </a:solidFill>
          <a:ln w="12700">
            <a:solidFill>
              <a:schemeClr val="bg2"/>
            </a:solidFill>
            <a:prstDash val="solid"/>
          </a:ln>
        </p:spPr>
      </p:sp>
      <p:sp>
        <p:nvSpPr>
          <p:cNvPr id="19" name="Tile icon fixes circle"/>
          <p:cNvSpPr/>
          <p:nvPr/>
        </p:nvSpPr>
        <p:spPr>
          <a:xfrm>
            <a:off x="9242069" y="1545336"/>
            <a:ext cx="457200" cy="457200"/>
          </a:xfrm>
          <a:prstGeom prst="ellipse">
            <a:avLst/>
          </a:prstGeom>
          <a:solidFill>
            <a:schemeClr val="accent1"/>
          </a:solidFill>
          <a:ln w="12700">
            <a:solidFill>
              <a:schemeClr val="accent1"/>
            </a:solidFill>
            <a:prstDash val="solid"/>
          </a:ln>
        </p:spPr>
      </p:sp>
      <p:pic>
        <p:nvPicPr>
          <p:cNvPr id="20" name="Tile icon fixes icon" descr="preencoded.png">    </p:cNvPr>
          <p:cNvPicPr>
            <a:picLocks noChangeAspect="1"/>
          </p:cNvPicPr>
          <p:nvPr/>
        </p:nvPicPr>
        <p:blipFill>
          <a:blip r:embed="rId4"/>
          <a:stretch>
            <a:fillRect/>
          </a:stretch>
        </p:blipFill>
        <p:spPr>
          <a:xfrm>
            <a:off x="9356369" y="1659636"/>
            <a:ext cx="228600" cy="228600"/>
          </a:xfrm>
          <a:prstGeom prst="rect">
            <a:avLst/>
          </a:prstGeom>
        </p:spPr>
      </p:pic>
      <p:sp>
        <p:nvSpPr>
          <p:cNvPr id="21" name="Tile number fixes"/>
          <p:cNvSpPr txBox="1"/>
          <p:nvPr/>
        </p:nvSpPr>
        <p:spPr>
          <a:xfrm>
            <a:off x="9818141" y="1435608"/>
            <a:ext cx="1733474" cy="685800"/>
          </a:xfrm>
          <a:prstGeom prst="rect">
            <a:avLst/>
          </a:prstGeom>
          <a:noFill/>
          <a:ln/>
        </p:spPr>
        <p:txBody>
          <a:bodyPr wrap="square" lIns="0" tIns="0" rIns="0" bIns="0" rtlCol="0" anchor="ctr"/>
          <a:lstStyle/>
          <a:p>
            <a:pPr indent="0" marL="0">
              <a:buNone/>
            </a:pPr>
            <a:r>
              <a:rPr lang="en-GB" altLang="en-US" sz="4000" b="1" dirty="0">
                <a:solidFill>
                  <a:schemeClr val="accent1"/>
                </a:solidFill>
              </a:rPr>
              <a:t>12</a:t>
            </a:r>
            <a:pPr indent="0" marL="0">
              <a:buNone/>
            </a:pPr>
            <a:r>
              <a:rPr lang="en-GB" altLang="en-US" sz="1800" b="1" dirty="0">
                <a:solidFill>
                  <a:schemeClr val="tx2"/>
                </a:solidFill>
              </a:rPr>
              <a:t>  fixes</a:t>
            </a:r>
            <a:endParaRPr lang="en-GB" sz="1400" dirty="0"/>
          </a:p>
        </p:txBody>
      </p:sp>
      <p:sp>
        <p:nvSpPr>
          <p:cNvPr id="22" name="Tile text fixes"/>
          <p:cNvSpPr txBox="1"/>
          <p:nvPr/>
        </p:nvSpPr>
        <p:spPr>
          <a:xfrm>
            <a:off x="9242069" y="2194560"/>
            <a:ext cx="2236394" cy="594360"/>
          </a:xfrm>
          <a:prstGeom prst="rect">
            <a:avLst/>
          </a:prstGeom>
          <a:noFill/>
          <a:ln/>
        </p:spPr>
        <p:txBody>
          <a:bodyPr wrap="square" lIns="0" tIns="0" rIns="0" bIns="0" rtlCol="0" anchor="t"/>
          <a:lstStyle/>
          <a:p>
            <a:pPr indent="0" marL="0">
              <a:buNone/>
            </a:pPr>
            <a:r>
              <a:rPr lang="en-GB" altLang="en-US" sz="1300" dirty="0">
                <a:solidFill>
                  <a:schemeClr val="tx1"/>
                </a:solidFill>
              </a:rPr>
              <a:t>every AI fix applied, then checked</a:t>
            </a:r>
            <a:endParaRPr lang="en-GB" sz="1300" dirty="0"/>
          </a:p>
        </p:txBody>
      </p:sp>
      <p:sp>
        <p:nvSpPr>
          <p:cNvPr id="23" name="Label What the 15 tests cover"/>
          <p:cNvSpPr txBox="1"/>
          <p:nvPr/>
        </p:nvSpPr>
        <p:spPr>
          <a:xfrm>
            <a:off x="548640" y="3127248"/>
            <a:ext cx="54864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WHAT THE 15 TESTS COVER</a:t>
            </a:r>
            <a:endParaRPr lang="en-GB" sz="1200" dirty="0"/>
          </a:p>
        </p:txBody>
      </p:sp>
      <p:sp>
        <p:nvSpPr>
          <p:cNvPr id="24" name="Network chip"/>
          <p:cNvSpPr/>
          <p:nvPr/>
        </p:nvSpPr>
        <p:spPr>
          <a:xfrm>
            <a:off x="548640" y="3429000"/>
            <a:ext cx="1696669" cy="713232"/>
          </a:xfrm>
          <a:prstGeom prst="roundRect">
            <a:avLst>
              <a:gd name="adj" fmla="val 10256"/>
            </a:avLst>
          </a:prstGeom>
          <a:solidFill>
            <a:schemeClr val="bg1"/>
          </a:solidFill>
          <a:ln w="12700">
            <a:solidFill>
              <a:srgbClr val="D3DAE2"/>
            </a:solidFill>
            <a:prstDash val="solid"/>
          </a:ln>
        </p:spPr>
      </p:sp>
      <p:sp>
        <p:nvSpPr>
          <p:cNvPr id="25" name="Network circle"/>
          <p:cNvSpPr/>
          <p:nvPr/>
        </p:nvSpPr>
        <p:spPr>
          <a:xfrm>
            <a:off x="685800" y="3584448"/>
            <a:ext cx="402336" cy="402336"/>
          </a:xfrm>
          <a:prstGeom prst="ellipse">
            <a:avLst/>
          </a:prstGeom>
          <a:solidFill>
            <a:schemeClr val="accent2"/>
          </a:solidFill>
          <a:ln w="12700">
            <a:solidFill>
              <a:schemeClr val="accent2"/>
            </a:solidFill>
            <a:prstDash val="solid"/>
          </a:ln>
        </p:spPr>
      </p:sp>
      <p:pic>
        <p:nvPicPr>
          <p:cNvPr id="26" name="Network icon" descr="preencoded.png">    </p:cNvPr>
          <p:cNvPicPr>
            <a:picLocks noChangeAspect="1"/>
          </p:cNvPicPr>
          <p:nvPr/>
        </p:nvPicPr>
        <p:blipFill>
          <a:blip r:embed="rId5"/>
          <a:stretch>
            <a:fillRect/>
          </a:stretch>
        </p:blipFill>
        <p:spPr>
          <a:xfrm>
            <a:off x="786384" y="3685032"/>
            <a:ext cx="201168" cy="201168"/>
          </a:xfrm>
          <a:prstGeom prst="rect">
            <a:avLst/>
          </a:prstGeom>
        </p:spPr>
      </p:pic>
      <p:sp>
        <p:nvSpPr>
          <p:cNvPr id="27" name="Network chip text"/>
          <p:cNvSpPr txBox="1"/>
          <p:nvPr/>
        </p:nvSpPr>
        <p:spPr>
          <a:xfrm>
            <a:off x="1170432" y="3502152"/>
            <a:ext cx="1010869" cy="566928"/>
          </a:xfrm>
          <a:prstGeom prst="rect">
            <a:avLst/>
          </a:prstGeom>
          <a:noFill/>
          <a:ln/>
        </p:spPr>
        <p:txBody>
          <a:bodyPr wrap="square" lIns="0" tIns="0" rIns="0" bIns="0" rtlCol="0" anchor="ctr"/>
          <a:lstStyle/>
          <a:p>
            <a:pPr indent="0" marL="0">
              <a:buNone/>
            </a:pPr>
            <a:r>
              <a:rPr lang="en-GB" altLang="en-US" sz="1300" b="1" dirty="0">
                <a:solidFill>
                  <a:schemeClr val="tx2"/>
                </a:solidFill>
              </a:rPr>
              <a:t>Network</a:t>
            </a:r>
            <a:endParaRPr lang="en-GB" sz="1300" dirty="0"/>
          </a:p>
          <a:p>
            <a:pPr indent="0" marL="0">
              <a:buNone/>
            </a:pPr>
            <a:r>
              <a:rPr lang="en-GB" altLang="en-US" sz="1200" dirty="0">
                <a:solidFill>
                  <a:schemeClr val="accent6"/>
                </a:solidFill>
              </a:rPr>
              <a:t>5 tests</a:t>
            </a:r>
            <a:endParaRPr lang="en-GB" sz="1300" dirty="0"/>
          </a:p>
        </p:txBody>
      </p:sp>
      <p:sp>
        <p:nvSpPr>
          <p:cNvPr id="28" name="Encryption chip"/>
          <p:cNvSpPr/>
          <p:nvPr/>
        </p:nvSpPr>
        <p:spPr>
          <a:xfrm>
            <a:off x="2428189" y="3429000"/>
            <a:ext cx="1696669" cy="713232"/>
          </a:xfrm>
          <a:prstGeom prst="roundRect">
            <a:avLst>
              <a:gd name="adj" fmla="val 10256"/>
            </a:avLst>
          </a:prstGeom>
          <a:solidFill>
            <a:schemeClr val="bg1"/>
          </a:solidFill>
          <a:ln w="12700">
            <a:solidFill>
              <a:srgbClr val="D3DAE2"/>
            </a:solidFill>
            <a:prstDash val="solid"/>
          </a:ln>
        </p:spPr>
      </p:sp>
      <p:sp>
        <p:nvSpPr>
          <p:cNvPr id="29" name="Encryption circle"/>
          <p:cNvSpPr/>
          <p:nvPr/>
        </p:nvSpPr>
        <p:spPr>
          <a:xfrm>
            <a:off x="2565349" y="3584448"/>
            <a:ext cx="402336" cy="402336"/>
          </a:xfrm>
          <a:prstGeom prst="ellipse">
            <a:avLst/>
          </a:prstGeom>
          <a:solidFill>
            <a:schemeClr val="accent2"/>
          </a:solidFill>
          <a:ln w="12700">
            <a:solidFill>
              <a:schemeClr val="accent2"/>
            </a:solidFill>
            <a:prstDash val="solid"/>
          </a:ln>
        </p:spPr>
      </p:sp>
      <p:pic>
        <p:nvPicPr>
          <p:cNvPr id="30" name="Encryption icon" descr="preencoded.png">    </p:cNvPr>
          <p:cNvPicPr>
            <a:picLocks noChangeAspect="1"/>
          </p:cNvPicPr>
          <p:nvPr/>
        </p:nvPicPr>
        <p:blipFill>
          <a:blip r:embed="rId6"/>
          <a:stretch>
            <a:fillRect/>
          </a:stretch>
        </p:blipFill>
        <p:spPr>
          <a:xfrm>
            <a:off x="2665933" y="3685032"/>
            <a:ext cx="201168" cy="201168"/>
          </a:xfrm>
          <a:prstGeom prst="rect">
            <a:avLst/>
          </a:prstGeom>
        </p:spPr>
      </p:pic>
      <p:sp>
        <p:nvSpPr>
          <p:cNvPr id="31" name="Encryption chip text"/>
          <p:cNvSpPr txBox="1"/>
          <p:nvPr/>
        </p:nvSpPr>
        <p:spPr>
          <a:xfrm>
            <a:off x="3049981" y="3502152"/>
            <a:ext cx="1010869" cy="566928"/>
          </a:xfrm>
          <a:prstGeom prst="rect">
            <a:avLst/>
          </a:prstGeom>
          <a:noFill/>
          <a:ln/>
        </p:spPr>
        <p:txBody>
          <a:bodyPr wrap="square" lIns="0" tIns="0" rIns="0" bIns="0" rtlCol="0" anchor="ctr"/>
          <a:lstStyle/>
          <a:p>
            <a:pPr indent="0" marL="0">
              <a:buNone/>
            </a:pPr>
            <a:r>
              <a:rPr lang="en-GB" altLang="en-US" sz="1300" b="1" dirty="0">
                <a:solidFill>
                  <a:schemeClr val="tx2"/>
                </a:solidFill>
              </a:rPr>
              <a:t>Encryption</a:t>
            </a:r>
            <a:endParaRPr lang="en-GB" sz="1300" dirty="0"/>
          </a:p>
          <a:p>
            <a:pPr indent="0" marL="0">
              <a:buNone/>
            </a:pPr>
            <a:r>
              <a:rPr lang="en-GB" altLang="en-US" sz="1200" dirty="0">
                <a:solidFill>
                  <a:schemeClr val="accent6"/>
                </a:solidFill>
              </a:rPr>
              <a:t>1 test</a:t>
            </a:r>
            <a:endParaRPr lang="en-GB" sz="1300" dirty="0"/>
          </a:p>
        </p:txBody>
      </p:sp>
      <p:sp>
        <p:nvSpPr>
          <p:cNvPr id="32" name="Logging chip"/>
          <p:cNvSpPr/>
          <p:nvPr/>
        </p:nvSpPr>
        <p:spPr>
          <a:xfrm>
            <a:off x="4307738" y="3429000"/>
            <a:ext cx="1696669" cy="713232"/>
          </a:xfrm>
          <a:prstGeom prst="roundRect">
            <a:avLst>
              <a:gd name="adj" fmla="val 10256"/>
            </a:avLst>
          </a:prstGeom>
          <a:solidFill>
            <a:schemeClr val="bg1"/>
          </a:solidFill>
          <a:ln w="12700">
            <a:solidFill>
              <a:srgbClr val="D3DAE2"/>
            </a:solidFill>
            <a:prstDash val="solid"/>
          </a:ln>
        </p:spPr>
      </p:sp>
      <p:sp>
        <p:nvSpPr>
          <p:cNvPr id="33" name="Logging circle"/>
          <p:cNvSpPr/>
          <p:nvPr/>
        </p:nvSpPr>
        <p:spPr>
          <a:xfrm>
            <a:off x="4444898" y="3584448"/>
            <a:ext cx="402336" cy="402336"/>
          </a:xfrm>
          <a:prstGeom prst="ellipse">
            <a:avLst/>
          </a:prstGeom>
          <a:solidFill>
            <a:schemeClr val="accent2"/>
          </a:solidFill>
          <a:ln w="12700">
            <a:solidFill>
              <a:schemeClr val="accent2"/>
            </a:solidFill>
            <a:prstDash val="solid"/>
          </a:ln>
        </p:spPr>
      </p:sp>
      <p:pic>
        <p:nvPicPr>
          <p:cNvPr id="34" name="Logging icon" descr="preencoded.png">    </p:cNvPr>
          <p:cNvPicPr>
            <a:picLocks noChangeAspect="1"/>
          </p:cNvPicPr>
          <p:nvPr/>
        </p:nvPicPr>
        <p:blipFill>
          <a:blip r:embed="rId7"/>
          <a:stretch>
            <a:fillRect/>
          </a:stretch>
        </p:blipFill>
        <p:spPr>
          <a:xfrm>
            <a:off x="4545482" y="3685032"/>
            <a:ext cx="201168" cy="201168"/>
          </a:xfrm>
          <a:prstGeom prst="rect">
            <a:avLst/>
          </a:prstGeom>
        </p:spPr>
      </p:pic>
      <p:sp>
        <p:nvSpPr>
          <p:cNvPr id="35" name="Logging chip text"/>
          <p:cNvSpPr txBox="1"/>
          <p:nvPr/>
        </p:nvSpPr>
        <p:spPr>
          <a:xfrm>
            <a:off x="4929530" y="3502152"/>
            <a:ext cx="1010869" cy="566928"/>
          </a:xfrm>
          <a:prstGeom prst="rect">
            <a:avLst/>
          </a:prstGeom>
          <a:noFill/>
          <a:ln/>
        </p:spPr>
        <p:txBody>
          <a:bodyPr wrap="square" lIns="0" tIns="0" rIns="0" bIns="0" rtlCol="0" anchor="ctr"/>
          <a:lstStyle/>
          <a:p>
            <a:pPr indent="0" marL="0">
              <a:buNone/>
            </a:pPr>
            <a:r>
              <a:rPr lang="en-GB" altLang="en-US" sz="1300" b="1" dirty="0">
                <a:solidFill>
                  <a:schemeClr val="tx2"/>
                </a:solidFill>
              </a:rPr>
              <a:t>Logging</a:t>
            </a:r>
            <a:endParaRPr lang="en-GB" sz="1300" dirty="0"/>
          </a:p>
          <a:p>
            <a:pPr indent="0" marL="0">
              <a:buNone/>
            </a:pPr>
            <a:r>
              <a:rPr lang="en-GB" altLang="en-US" sz="1200" dirty="0">
                <a:solidFill>
                  <a:schemeClr val="accent6"/>
                </a:solidFill>
              </a:rPr>
              <a:t>1 test</a:t>
            </a:r>
            <a:endParaRPr lang="en-GB" sz="1300" dirty="0"/>
          </a:p>
        </p:txBody>
      </p:sp>
      <p:sp>
        <p:nvSpPr>
          <p:cNvPr id="36" name="Secrets chip"/>
          <p:cNvSpPr/>
          <p:nvPr/>
        </p:nvSpPr>
        <p:spPr>
          <a:xfrm>
            <a:off x="6187288" y="3429000"/>
            <a:ext cx="1696669" cy="713232"/>
          </a:xfrm>
          <a:prstGeom prst="roundRect">
            <a:avLst>
              <a:gd name="adj" fmla="val 10256"/>
            </a:avLst>
          </a:prstGeom>
          <a:solidFill>
            <a:schemeClr val="bg1"/>
          </a:solidFill>
          <a:ln w="12700">
            <a:solidFill>
              <a:srgbClr val="D3DAE2"/>
            </a:solidFill>
            <a:prstDash val="solid"/>
          </a:ln>
        </p:spPr>
      </p:sp>
      <p:sp>
        <p:nvSpPr>
          <p:cNvPr id="37" name="Secrets circle"/>
          <p:cNvSpPr/>
          <p:nvPr/>
        </p:nvSpPr>
        <p:spPr>
          <a:xfrm>
            <a:off x="6324448" y="3584448"/>
            <a:ext cx="402336" cy="402336"/>
          </a:xfrm>
          <a:prstGeom prst="ellipse">
            <a:avLst/>
          </a:prstGeom>
          <a:solidFill>
            <a:schemeClr val="accent2"/>
          </a:solidFill>
          <a:ln w="12700">
            <a:solidFill>
              <a:schemeClr val="accent2"/>
            </a:solidFill>
            <a:prstDash val="solid"/>
          </a:ln>
        </p:spPr>
      </p:sp>
      <p:pic>
        <p:nvPicPr>
          <p:cNvPr id="38" name="Secrets icon" descr="preencoded.png">    </p:cNvPr>
          <p:cNvPicPr>
            <a:picLocks noChangeAspect="1"/>
          </p:cNvPicPr>
          <p:nvPr/>
        </p:nvPicPr>
        <p:blipFill>
          <a:blip r:embed="rId8"/>
          <a:stretch>
            <a:fillRect/>
          </a:stretch>
        </p:blipFill>
        <p:spPr>
          <a:xfrm>
            <a:off x="6425032" y="3685032"/>
            <a:ext cx="201168" cy="201168"/>
          </a:xfrm>
          <a:prstGeom prst="rect">
            <a:avLst/>
          </a:prstGeom>
        </p:spPr>
      </p:pic>
      <p:sp>
        <p:nvSpPr>
          <p:cNvPr id="39" name="Secrets chip text"/>
          <p:cNvSpPr txBox="1"/>
          <p:nvPr/>
        </p:nvSpPr>
        <p:spPr>
          <a:xfrm>
            <a:off x="6809080" y="3502152"/>
            <a:ext cx="1010869" cy="566928"/>
          </a:xfrm>
          <a:prstGeom prst="rect">
            <a:avLst/>
          </a:prstGeom>
          <a:noFill/>
          <a:ln/>
        </p:spPr>
        <p:txBody>
          <a:bodyPr wrap="square" lIns="0" tIns="0" rIns="0" bIns="0" rtlCol="0" anchor="ctr"/>
          <a:lstStyle/>
          <a:p>
            <a:pPr indent="0" marL="0">
              <a:buNone/>
            </a:pPr>
            <a:r>
              <a:rPr lang="en-GB" altLang="en-US" sz="1300" b="1" dirty="0">
                <a:solidFill>
                  <a:schemeClr val="tx2"/>
                </a:solidFill>
              </a:rPr>
              <a:t>Secrets</a:t>
            </a:r>
            <a:endParaRPr lang="en-GB" sz="1300" dirty="0"/>
          </a:p>
          <a:p>
            <a:pPr indent="0" marL="0">
              <a:buNone/>
            </a:pPr>
            <a:r>
              <a:rPr lang="en-GB" altLang="en-US" sz="1200" dirty="0">
                <a:solidFill>
                  <a:schemeClr val="accent6"/>
                </a:solidFill>
              </a:rPr>
              <a:t>2 tests</a:t>
            </a:r>
            <a:endParaRPr lang="en-GB" sz="1300" dirty="0"/>
          </a:p>
        </p:txBody>
      </p:sp>
      <p:sp>
        <p:nvSpPr>
          <p:cNvPr id="40" name="Identity chip"/>
          <p:cNvSpPr/>
          <p:nvPr/>
        </p:nvSpPr>
        <p:spPr>
          <a:xfrm>
            <a:off x="8066837" y="3429000"/>
            <a:ext cx="1696669" cy="713232"/>
          </a:xfrm>
          <a:prstGeom prst="roundRect">
            <a:avLst>
              <a:gd name="adj" fmla="val 10256"/>
            </a:avLst>
          </a:prstGeom>
          <a:solidFill>
            <a:schemeClr val="bg1"/>
          </a:solidFill>
          <a:ln w="12700">
            <a:solidFill>
              <a:srgbClr val="D3DAE2"/>
            </a:solidFill>
            <a:prstDash val="solid"/>
          </a:ln>
        </p:spPr>
      </p:sp>
      <p:sp>
        <p:nvSpPr>
          <p:cNvPr id="41" name="Identity circle"/>
          <p:cNvSpPr/>
          <p:nvPr/>
        </p:nvSpPr>
        <p:spPr>
          <a:xfrm>
            <a:off x="8203997" y="3584448"/>
            <a:ext cx="402336" cy="402336"/>
          </a:xfrm>
          <a:prstGeom prst="ellipse">
            <a:avLst/>
          </a:prstGeom>
          <a:solidFill>
            <a:schemeClr val="accent2"/>
          </a:solidFill>
          <a:ln w="12700">
            <a:solidFill>
              <a:schemeClr val="accent2"/>
            </a:solidFill>
            <a:prstDash val="solid"/>
          </a:ln>
        </p:spPr>
      </p:sp>
      <p:pic>
        <p:nvPicPr>
          <p:cNvPr id="42" name="Identity icon" descr="preencoded.png">    </p:cNvPr>
          <p:cNvPicPr>
            <a:picLocks noChangeAspect="1"/>
          </p:cNvPicPr>
          <p:nvPr/>
        </p:nvPicPr>
        <p:blipFill>
          <a:blip r:embed="rId9"/>
          <a:stretch>
            <a:fillRect/>
          </a:stretch>
        </p:blipFill>
        <p:spPr>
          <a:xfrm>
            <a:off x="8304581" y="3685032"/>
            <a:ext cx="201168" cy="201168"/>
          </a:xfrm>
          <a:prstGeom prst="rect">
            <a:avLst/>
          </a:prstGeom>
        </p:spPr>
      </p:pic>
      <p:sp>
        <p:nvSpPr>
          <p:cNvPr id="43" name="Identity chip text"/>
          <p:cNvSpPr txBox="1"/>
          <p:nvPr/>
        </p:nvSpPr>
        <p:spPr>
          <a:xfrm>
            <a:off x="8688629" y="3502152"/>
            <a:ext cx="1010869" cy="566928"/>
          </a:xfrm>
          <a:prstGeom prst="rect">
            <a:avLst/>
          </a:prstGeom>
          <a:noFill/>
          <a:ln/>
        </p:spPr>
        <p:txBody>
          <a:bodyPr wrap="square" lIns="0" tIns="0" rIns="0" bIns="0" rtlCol="0" anchor="ctr"/>
          <a:lstStyle/>
          <a:p>
            <a:pPr indent="0" marL="0">
              <a:buNone/>
            </a:pPr>
            <a:r>
              <a:rPr lang="en-GB" altLang="en-US" sz="1300" b="1" dirty="0">
                <a:solidFill>
                  <a:schemeClr val="tx2"/>
                </a:solidFill>
              </a:rPr>
              <a:t>Identity</a:t>
            </a:r>
            <a:endParaRPr lang="en-GB" sz="1300" dirty="0"/>
          </a:p>
          <a:p>
            <a:pPr indent="0" marL="0">
              <a:buNone/>
            </a:pPr>
            <a:r>
              <a:rPr lang="en-GB" altLang="en-US" sz="1200" dirty="0">
                <a:solidFill>
                  <a:schemeClr val="accent6"/>
                </a:solidFill>
              </a:rPr>
              <a:t>3 tests</a:t>
            </a:r>
            <a:endParaRPr lang="en-GB" sz="1300" dirty="0"/>
          </a:p>
        </p:txBody>
      </p:sp>
      <p:sp>
        <p:nvSpPr>
          <p:cNvPr id="44" name="Safe code chip"/>
          <p:cNvSpPr/>
          <p:nvPr/>
        </p:nvSpPr>
        <p:spPr>
          <a:xfrm>
            <a:off x="9946386" y="3429000"/>
            <a:ext cx="1696669" cy="713232"/>
          </a:xfrm>
          <a:prstGeom prst="roundRect">
            <a:avLst>
              <a:gd name="adj" fmla="val 10256"/>
            </a:avLst>
          </a:prstGeom>
          <a:solidFill>
            <a:schemeClr val="bg1"/>
          </a:solidFill>
          <a:ln w="12700">
            <a:solidFill>
              <a:srgbClr val="D3DAE2"/>
            </a:solidFill>
            <a:prstDash val="solid"/>
          </a:ln>
        </p:spPr>
      </p:sp>
      <p:sp>
        <p:nvSpPr>
          <p:cNvPr id="45" name="Safe code circle"/>
          <p:cNvSpPr/>
          <p:nvPr/>
        </p:nvSpPr>
        <p:spPr>
          <a:xfrm>
            <a:off x="10083546" y="3584448"/>
            <a:ext cx="402336" cy="402336"/>
          </a:xfrm>
          <a:prstGeom prst="ellipse">
            <a:avLst/>
          </a:prstGeom>
          <a:solidFill>
            <a:schemeClr val="accent4"/>
          </a:solidFill>
          <a:ln w="12700">
            <a:solidFill>
              <a:schemeClr val="accent4"/>
            </a:solidFill>
            <a:prstDash val="solid"/>
          </a:ln>
        </p:spPr>
      </p:sp>
      <p:pic>
        <p:nvPicPr>
          <p:cNvPr id="46" name="Safe code icon" descr="preencoded.png">    </p:cNvPr>
          <p:cNvPicPr>
            <a:picLocks noChangeAspect="1"/>
          </p:cNvPicPr>
          <p:nvPr/>
        </p:nvPicPr>
        <p:blipFill>
          <a:blip r:embed="rId10"/>
          <a:stretch>
            <a:fillRect/>
          </a:stretch>
        </p:blipFill>
        <p:spPr>
          <a:xfrm>
            <a:off x="10184130" y="3685032"/>
            <a:ext cx="201168" cy="201168"/>
          </a:xfrm>
          <a:prstGeom prst="rect">
            <a:avLst/>
          </a:prstGeom>
        </p:spPr>
      </p:pic>
      <p:sp>
        <p:nvSpPr>
          <p:cNvPr id="47" name="Safe code chip text"/>
          <p:cNvSpPr txBox="1"/>
          <p:nvPr/>
        </p:nvSpPr>
        <p:spPr>
          <a:xfrm>
            <a:off x="10568178" y="3502152"/>
            <a:ext cx="1010869" cy="566928"/>
          </a:xfrm>
          <a:prstGeom prst="rect">
            <a:avLst/>
          </a:prstGeom>
          <a:noFill/>
          <a:ln/>
        </p:spPr>
        <p:txBody>
          <a:bodyPr wrap="square" lIns="0" tIns="0" rIns="0" bIns="0" rtlCol="0" anchor="ctr"/>
          <a:lstStyle/>
          <a:p>
            <a:pPr indent="0" marL="0">
              <a:buNone/>
            </a:pPr>
            <a:r>
              <a:rPr lang="en-GB" altLang="en-US" sz="1300" b="1" dirty="0">
                <a:solidFill>
                  <a:schemeClr val="tx2"/>
                </a:solidFill>
              </a:rPr>
              <a:t>Safe code</a:t>
            </a:r>
            <a:endParaRPr lang="en-GB" sz="1300" dirty="0"/>
          </a:p>
          <a:p>
            <a:pPr indent="0" marL="0">
              <a:buNone/>
            </a:pPr>
            <a:r>
              <a:rPr lang="en-GB" altLang="en-US" sz="1200" dirty="0">
                <a:solidFill>
                  <a:schemeClr val="accent6"/>
                </a:solidFill>
              </a:rPr>
              <a:t>3 tests</a:t>
            </a:r>
            <a:endParaRPr lang="en-GB" sz="1300" dirty="0"/>
          </a:p>
        </p:txBody>
      </p:sp>
      <p:sp>
        <p:nvSpPr>
          <p:cNvPr id="48" name="Fairness card"/>
          <p:cNvSpPr/>
          <p:nvPr/>
        </p:nvSpPr>
        <p:spPr>
          <a:xfrm>
            <a:off x="548640" y="4434840"/>
            <a:ext cx="6766560" cy="1600200"/>
          </a:xfrm>
          <a:prstGeom prst="roundRect">
            <a:avLst>
              <a:gd name="adj" fmla="val 4571"/>
            </a:avLst>
          </a:prstGeom>
          <a:solidFill>
            <a:schemeClr val="tx2"/>
          </a:solidFill>
          <a:ln w="12700">
            <a:solidFill>
              <a:schemeClr val="tx2"/>
            </a:solidFill>
            <a:prstDash val="solid"/>
          </a:ln>
        </p:spPr>
      </p:sp>
      <p:sp>
        <p:nvSpPr>
          <p:cNvPr id="49" name="Fairness circle"/>
          <p:cNvSpPr/>
          <p:nvPr/>
        </p:nvSpPr>
        <p:spPr>
          <a:xfrm>
            <a:off x="777240" y="4599432"/>
            <a:ext cx="420624" cy="420624"/>
          </a:xfrm>
          <a:prstGeom prst="ellipse">
            <a:avLst/>
          </a:prstGeom>
          <a:solidFill>
            <a:schemeClr val="accent1"/>
          </a:solidFill>
          <a:ln w="12700">
            <a:solidFill>
              <a:schemeClr val="accent1"/>
            </a:solidFill>
            <a:prstDash val="solid"/>
          </a:ln>
        </p:spPr>
      </p:sp>
      <p:pic>
        <p:nvPicPr>
          <p:cNvPr id="50" name="Fairness icon" descr="preencoded.png">    </p:cNvPr>
          <p:cNvPicPr>
            <a:picLocks noChangeAspect="1"/>
          </p:cNvPicPr>
          <p:nvPr/>
        </p:nvPicPr>
        <p:blipFill>
          <a:blip r:embed="rId11"/>
          <a:stretch>
            <a:fillRect/>
          </a:stretch>
        </p:blipFill>
        <p:spPr>
          <a:xfrm>
            <a:off x="882396" y="4704588"/>
            <a:ext cx="210312" cy="210312"/>
          </a:xfrm>
          <a:prstGeom prst="rect">
            <a:avLst/>
          </a:prstGeom>
        </p:spPr>
      </p:pic>
      <p:sp>
        <p:nvSpPr>
          <p:cNvPr id="51" name="Fairness heading"/>
          <p:cNvSpPr txBox="1"/>
          <p:nvPr/>
        </p:nvSpPr>
        <p:spPr>
          <a:xfrm>
            <a:off x="1325880" y="4599432"/>
            <a:ext cx="5760720" cy="420624"/>
          </a:xfrm>
          <a:prstGeom prst="rect">
            <a:avLst/>
          </a:prstGeom>
          <a:noFill/>
          <a:ln/>
        </p:spPr>
        <p:txBody>
          <a:bodyPr wrap="square" lIns="0" tIns="0" rIns="0" bIns="0" rtlCol="0" anchor="ctr"/>
          <a:lstStyle/>
          <a:p>
            <a:pPr indent="0" marL="0">
              <a:buNone/>
            </a:pPr>
            <a:r>
              <a:rPr lang="en-GB" altLang="en-US" sz="1700" b="1" dirty="0">
                <a:solidFill>
                  <a:schemeClr val="bg1"/>
                </a:solidFill>
              </a:rPr>
              <a:t>Fairness check: the AI had to work alone</a:t>
            </a:r>
            <a:endParaRPr lang="en-GB" sz="1700" dirty="0"/>
          </a:p>
        </p:txBody>
      </p:sp>
      <p:sp>
        <p:nvSpPr>
          <p:cNvPr id="52" name="Fairness step 1"/>
          <p:cNvSpPr/>
          <p:nvPr/>
        </p:nvSpPr>
        <p:spPr>
          <a:xfrm>
            <a:off x="777240" y="5166360"/>
            <a:ext cx="1828800" cy="713232"/>
          </a:xfrm>
          <a:prstGeom prst="roundRect">
            <a:avLst>
              <a:gd name="adj" fmla="val 12821"/>
            </a:avLst>
          </a:prstGeom>
          <a:solidFill>
            <a:schemeClr val="bg1">
              <a:alpha val="12000"/>
            </a:schemeClr>
          </a:solidFill>
          <a:ln w="12700">
            <a:solidFill>
              <a:schemeClr val="bg1">
                <a:alpha val="0"/>
              </a:schemeClr>
            </a:solidFill>
            <a:prstDash val="solid"/>
          </a:ln>
        </p:spPr>
      </p:sp>
      <p:sp>
        <p:nvSpPr>
          <p:cNvPr id="53" name="Fairness step text 1"/>
          <p:cNvSpPr txBox="1"/>
          <p:nvPr/>
        </p:nvSpPr>
        <p:spPr>
          <a:xfrm>
            <a:off x="905256" y="5166360"/>
            <a:ext cx="1609344" cy="713232"/>
          </a:xfrm>
          <a:prstGeom prst="rect">
            <a:avLst/>
          </a:prstGeom>
          <a:noFill/>
          <a:ln/>
        </p:spPr>
        <p:txBody>
          <a:bodyPr wrap="square" lIns="0" tIns="0" rIns="0" bIns="0" rtlCol="0" anchor="ctr"/>
          <a:lstStyle/>
          <a:p>
            <a:pPr indent="0" marL="0">
              <a:spcAft>
                <a:spcPts val="100"/>
              </a:spcAft>
              <a:buNone/>
            </a:pPr>
            <a:r>
              <a:rPr lang="en-GB" altLang="en-US" sz="1300" b="1" dirty="0">
                <a:solidFill>
                  <a:schemeClr val="accent3"/>
                </a:solidFill>
              </a:rPr>
              <a:t>1  Found</a:t>
            </a:r>
            <a:endParaRPr lang="en-GB" sz="1400" dirty="0"/>
          </a:p>
          <a:p>
            <a:pPr indent="0" marL="0">
              <a:spcAft>
                <a:spcPts val="100"/>
              </a:spcAft>
              <a:buNone/>
            </a:pPr>
            <a:r>
              <a:rPr lang="en-GB" altLang="en-US" sz="1200" dirty="0">
                <a:solidFill>
                  <a:schemeClr val="bg1"/>
                </a:solidFill>
              </a:rPr>
              <a:t>Early AI runs could see the scanners’ results</a:t>
            </a:r>
            <a:endParaRPr lang="en-GB" sz="1400" dirty="0"/>
          </a:p>
        </p:txBody>
      </p:sp>
      <p:pic>
        <p:nvPicPr>
          <p:cNvPr id="54" name="Fairness arrow 1" descr="preencoded.png">    </p:cNvPr>
          <p:cNvPicPr>
            <a:picLocks noChangeAspect="1"/>
          </p:cNvPicPr>
          <p:nvPr/>
        </p:nvPicPr>
        <p:blipFill>
          <a:blip r:embed="rId12"/>
          <a:stretch>
            <a:fillRect/>
          </a:stretch>
        </p:blipFill>
        <p:spPr>
          <a:xfrm>
            <a:off x="2697480" y="5408676"/>
            <a:ext cx="228600" cy="228600"/>
          </a:xfrm>
          <a:prstGeom prst="rect">
            <a:avLst/>
          </a:prstGeom>
        </p:spPr>
      </p:pic>
      <p:sp>
        <p:nvSpPr>
          <p:cNvPr id="55" name="Fairness step 2"/>
          <p:cNvSpPr/>
          <p:nvPr/>
        </p:nvSpPr>
        <p:spPr>
          <a:xfrm>
            <a:off x="3017520" y="5166360"/>
            <a:ext cx="1828800" cy="713232"/>
          </a:xfrm>
          <a:prstGeom prst="roundRect">
            <a:avLst>
              <a:gd name="adj" fmla="val 12821"/>
            </a:avLst>
          </a:prstGeom>
          <a:solidFill>
            <a:schemeClr val="bg1">
              <a:alpha val="12000"/>
            </a:schemeClr>
          </a:solidFill>
          <a:ln w="12700">
            <a:solidFill>
              <a:schemeClr val="bg1">
                <a:alpha val="0"/>
              </a:schemeClr>
            </a:solidFill>
            <a:prstDash val="solid"/>
          </a:ln>
        </p:spPr>
      </p:sp>
      <p:sp>
        <p:nvSpPr>
          <p:cNvPr id="56" name="Fairness step text 2"/>
          <p:cNvSpPr txBox="1"/>
          <p:nvPr/>
        </p:nvSpPr>
        <p:spPr>
          <a:xfrm>
            <a:off x="3145536" y="5166360"/>
            <a:ext cx="1609344" cy="713232"/>
          </a:xfrm>
          <a:prstGeom prst="rect">
            <a:avLst/>
          </a:prstGeom>
          <a:noFill/>
          <a:ln/>
        </p:spPr>
        <p:txBody>
          <a:bodyPr wrap="square" lIns="0" tIns="0" rIns="0" bIns="0" rtlCol="0" anchor="ctr"/>
          <a:lstStyle/>
          <a:p>
            <a:pPr indent="0" marL="0">
              <a:spcAft>
                <a:spcPts val="100"/>
              </a:spcAft>
              <a:buNone/>
            </a:pPr>
            <a:r>
              <a:rPr lang="en-GB" altLang="en-US" sz="1300" b="1" dirty="0">
                <a:solidFill>
                  <a:schemeClr val="accent3"/>
                </a:solidFill>
              </a:rPr>
              <a:t>2  Fixed</a:t>
            </a:r>
            <a:endParaRPr lang="en-GB" sz="1400" dirty="0"/>
          </a:p>
          <a:p>
            <a:pPr indent="0" marL="0">
              <a:spcAft>
                <a:spcPts val="100"/>
              </a:spcAft>
              <a:buNone/>
            </a:pPr>
            <a:r>
              <a:rPr lang="en-GB" altLang="en-US" sz="1200" dirty="0">
                <a:solidFill>
                  <a:schemeClr val="bg1"/>
                </a:solidFill>
              </a:rPr>
              <a:t>PR #69 made the AI work alone</a:t>
            </a:r>
            <a:endParaRPr lang="en-GB" sz="1400" dirty="0"/>
          </a:p>
        </p:txBody>
      </p:sp>
      <p:pic>
        <p:nvPicPr>
          <p:cNvPr id="57" name="Fairness arrow 2" descr="preencoded.png">    </p:cNvPr>
          <p:cNvPicPr>
            <a:picLocks noChangeAspect="1"/>
          </p:cNvPicPr>
          <p:nvPr/>
        </p:nvPicPr>
        <p:blipFill>
          <a:blip r:embed="rId13"/>
          <a:stretch>
            <a:fillRect/>
          </a:stretch>
        </p:blipFill>
        <p:spPr>
          <a:xfrm>
            <a:off x="4937760" y="5408676"/>
            <a:ext cx="228600" cy="228600"/>
          </a:xfrm>
          <a:prstGeom prst="rect">
            <a:avLst/>
          </a:prstGeom>
        </p:spPr>
      </p:pic>
      <p:sp>
        <p:nvSpPr>
          <p:cNvPr id="58" name="Fairness step 3"/>
          <p:cNvSpPr/>
          <p:nvPr/>
        </p:nvSpPr>
        <p:spPr>
          <a:xfrm>
            <a:off x="5257800" y="5166360"/>
            <a:ext cx="1828800" cy="713232"/>
          </a:xfrm>
          <a:prstGeom prst="roundRect">
            <a:avLst>
              <a:gd name="adj" fmla="val 12821"/>
            </a:avLst>
          </a:prstGeom>
          <a:solidFill>
            <a:schemeClr val="bg1">
              <a:alpha val="12000"/>
            </a:schemeClr>
          </a:solidFill>
          <a:ln w="12700">
            <a:solidFill>
              <a:schemeClr val="bg1">
                <a:alpha val="0"/>
              </a:schemeClr>
            </a:solidFill>
            <a:prstDash val="solid"/>
          </a:ln>
        </p:spPr>
      </p:sp>
      <p:sp>
        <p:nvSpPr>
          <p:cNvPr id="59" name="Fairness step text 3"/>
          <p:cNvSpPr txBox="1"/>
          <p:nvPr/>
        </p:nvSpPr>
        <p:spPr>
          <a:xfrm>
            <a:off x="5385816" y="5166360"/>
            <a:ext cx="1609344" cy="713232"/>
          </a:xfrm>
          <a:prstGeom prst="rect">
            <a:avLst/>
          </a:prstGeom>
          <a:noFill/>
          <a:ln/>
        </p:spPr>
        <p:txBody>
          <a:bodyPr wrap="square" lIns="0" tIns="0" rIns="0" bIns="0" rtlCol="0" anchor="ctr"/>
          <a:lstStyle/>
          <a:p>
            <a:pPr indent="0" marL="0">
              <a:spcAft>
                <a:spcPts val="100"/>
              </a:spcAft>
              <a:buNone/>
            </a:pPr>
            <a:r>
              <a:rPr lang="en-GB" altLang="en-US" sz="1300" b="1" dirty="0">
                <a:solidFill>
                  <a:schemeClr val="accent3"/>
                </a:solidFill>
              </a:rPr>
              <a:t>3  Checked</a:t>
            </a:r>
            <a:endParaRPr lang="en-GB" sz="1400" dirty="0"/>
          </a:p>
          <a:p>
            <a:pPr indent="0" marL="0">
              <a:spcAft>
                <a:spcPts val="100"/>
              </a:spcAft>
              <a:buNone/>
            </a:pPr>
            <a:r>
              <a:rPr lang="en-GB" altLang="en-US" sz="1200" dirty="0">
                <a:solidFill>
                  <a:schemeClr val="bg1"/>
                </a:solidFill>
              </a:rPr>
              <a:t>All 46 runs confirmed it</a:t>
            </a:r>
            <a:endParaRPr lang="en-GB" sz="1400" dirty="0"/>
          </a:p>
        </p:txBody>
      </p:sp>
      <p:sp>
        <p:nvSpPr>
          <p:cNvPr id="60" name="Safety card"/>
          <p:cNvSpPr/>
          <p:nvPr/>
        </p:nvSpPr>
        <p:spPr>
          <a:xfrm>
            <a:off x="7589520" y="4434840"/>
            <a:ext cx="4053535" cy="1600200"/>
          </a:xfrm>
          <a:prstGeom prst="roundRect">
            <a:avLst>
              <a:gd name="adj" fmla="val 4571"/>
            </a:avLst>
          </a:prstGeom>
          <a:solidFill>
            <a:schemeClr val="bg2"/>
          </a:solidFill>
          <a:ln w="12700">
            <a:solidFill>
              <a:schemeClr val="bg2"/>
            </a:solidFill>
            <a:prstDash val="solid"/>
          </a:ln>
        </p:spPr>
      </p:sp>
      <p:sp>
        <p:nvSpPr>
          <p:cNvPr id="61" name="Safety heading"/>
          <p:cNvSpPr txBox="1"/>
          <p:nvPr/>
        </p:nvSpPr>
        <p:spPr>
          <a:xfrm>
            <a:off x="7818120" y="4599432"/>
            <a:ext cx="3596335" cy="320040"/>
          </a:xfrm>
          <a:prstGeom prst="rect">
            <a:avLst/>
          </a:prstGeom>
          <a:noFill/>
          <a:ln/>
        </p:spPr>
        <p:txBody>
          <a:bodyPr wrap="square" lIns="0" tIns="0" rIns="0" bIns="0" rtlCol="0" anchor="t"/>
          <a:lstStyle/>
          <a:p>
            <a:pPr indent="0" marL="0">
              <a:buNone/>
            </a:pPr>
            <a:r>
              <a:rPr lang="en-GB" altLang="en-US" sz="1700" b="1" dirty="0">
                <a:solidFill>
                  <a:schemeClr val="tx2"/>
                </a:solidFill>
              </a:rPr>
              <a:t>Safe and ethical</a:t>
            </a:r>
            <a:endParaRPr lang="en-GB" sz="1700" dirty="0"/>
          </a:p>
        </p:txBody>
      </p:sp>
      <p:pic>
        <p:nvPicPr>
          <p:cNvPr id="62" name="Safety tick 1" descr="preencoded.png">    </p:cNvPr>
          <p:cNvPicPr>
            <a:picLocks noChangeAspect="1"/>
          </p:cNvPicPr>
          <p:nvPr/>
        </p:nvPicPr>
        <p:blipFill>
          <a:blip r:embed="rId14"/>
          <a:stretch>
            <a:fillRect/>
          </a:stretch>
        </p:blipFill>
        <p:spPr>
          <a:xfrm>
            <a:off x="7836408" y="5074920"/>
            <a:ext cx="182880" cy="182880"/>
          </a:xfrm>
          <a:prstGeom prst="rect">
            <a:avLst/>
          </a:prstGeom>
        </p:spPr>
      </p:pic>
      <p:sp>
        <p:nvSpPr>
          <p:cNvPr id="63" name="Safety point 1"/>
          <p:cNvSpPr txBox="1"/>
          <p:nvPr/>
        </p:nvSpPr>
        <p:spPr>
          <a:xfrm>
            <a:off x="8138160" y="5029200"/>
            <a:ext cx="3322015" cy="292608"/>
          </a:xfrm>
          <a:prstGeom prst="rect">
            <a:avLst/>
          </a:prstGeom>
          <a:noFill/>
          <a:ln/>
        </p:spPr>
        <p:txBody>
          <a:bodyPr wrap="square" lIns="0" tIns="0" rIns="0" bIns="0" rtlCol="0" anchor="t"/>
          <a:lstStyle/>
          <a:p>
            <a:pPr indent="0" marL="0">
              <a:buNone/>
            </a:pPr>
            <a:r>
              <a:rPr lang="en-GB" altLang="en-US" sz="1400" dirty="0">
                <a:solidFill>
                  <a:schemeClr val="tx1"/>
                </a:solidFill>
              </a:rPr>
              <a:t>Fake secrets only</a:t>
            </a:r>
            <a:endParaRPr lang="en-GB" sz="1400" dirty="0"/>
          </a:p>
        </p:txBody>
      </p:sp>
      <p:pic>
        <p:nvPicPr>
          <p:cNvPr id="64" name="Safety tick 2" descr="preencoded.png">    </p:cNvPr>
          <p:cNvPicPr>
            <a:picLocks noChangeAspect="1"/>
          </p:cNvPicPr>
          <p:nvPr/>
        </p:nvPicPr>
        <p:blipFill>
          <a:blip r:embed="rId15"/>
          <a:stretch>
            <a:fillRect/>
          </a:stretch>
        </p:blipFill>
        <p:spPr>
          <a:xfrm>
            <a:off x="7836408" y="5385816"/>
            <a:ext cx="182880" cy="182880"/>
          </a:xfrm>
          <a:prstGeom prst="rect">
            <a:avLst/>
          </a:prstGeom>
        </p:spPr>
      </p:pic>
      <p:sp>
        <p:nvSpPr>
          <p:cNvPr id="65" name="Safety point 2"/>
          <p:cNvSpPr txBox="1"/>
          <p:nvPr/>
        </p:nvSpPr>
        <p:spPr>
          <a:xfrm>
            <a:off x="8138160" y="5340096"/>
            <a:ext cx="3322015" cy="292608"/>
          </a:xfrm>
          <a:prstGeom prst="rect">
            <a:avLst/>
          </a:prstGeom>
          <a:noFill/>
          <a:ln/>
        </p:spPr>
        <p:txBody>
          <a:bodyPr wrap="square" lIns="0" tIns="0" rIns="0" bIns="0" rtlCol="0" anchor="t"/>
          <a:lstStyle/>
          <a:p>
            <a:pPr indent="0" marL="0">
              <a:buNone/>
            </a:pPr>
            <a:r>
              <a:rPr lang="en-GB" altLang="en-US" sz="1400" dirty="0">
                <a:solidFill>
                  <a:schemeClr val="tx1"/>
                </a:solidFill>
              </a:rPr>
              <a:t>Nothing deployed to the cloud</a:t>
            </a:r>
            <a:endParaRPr lang="en-GB" sz="1400" dirty="0"/>
          </a:p>
        </p:txBody>
      </p:sp>
      <p:pic>
        <p:nvPicPr>
          <p:cNvPr id="66" name="Safety tick 3" descr="preencoded.png">    </p:cNvPr>
          <p:cNvPicPr>
            <a:picLocks noChangeAspect="1"/>
          </p:cNvPicPr>
          <p:nvPr/>
        </p:nvPicPr>
        <p:blipFill>
          <a:blip r:embed="rId16"/>
          <a:stretch>
            <a:fillRect/>
          </a:stretch>
        </p:blipFill>
        <p:spPr>
          <a:xfrm>
            <a:off x="7836408" y="5696712"/>
            <a:ext cx="182880" cy="182880"/>
          </a:xfrm>
          <a:prstGeom prst="rect">
            <a:avLst/>
          </a:prstGeom>
        </p:spPr>
      </p:pic>
      <p:sp>
        <p:nvSpPr>
          <p:cNvPr id="67" name="Safety point 3"/>
          <p:cNvSpPr txBox="1"/>
          <p:nvPr/>
        </p:nvSpPr>
        <p:spPr>
          <a:xfrm>
            <a:off x="8138160" y="5650992"/>
            <a:ext cx="3322015" cy="292608"/>
          </a:xfrm>
          <a:prstGeom prst="rect">
            <a:avLst/>
          </a:prstGeom>
          <a:noFill/>
          <a:ln/>
        </p:spPr>
        <p:txBody>
          <a:bodyPr wrap="square" lIns="0" tIns="0" rIns="0" bIns="0" rtlCol="0" anchor="t"/>
          <a:lstStyle/>
          <a:p>
            <a:pPr indent="0" marL="0">
              <a:buNone/>
            </a:pPr>
            <a:r>
              <a:rPr lang="en-GB" altLang="en-US" sz="1400" dirty="0">
                <a:solidFill>
                  <a:schemeClr val="tx1"/>
                </a:solidFill>
              </a:rPr>
              <a:t>No personal data</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5</a:t>
            </a:fld>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RQ1: the AI found more than the scanners combined</a:t>
            </a:r>
            <a:endParaRPr lang="en-GB" sz="3600" dirty="0"/>
          </a:p>
        </p:txBody>
      </p:sp>
      <p:sp>
        <p:nvSpPr>
          <p:cNvPr id="3" name="AI-only band 1"/>
          <p:cNvSpPr/>
          <p:nvPr/>
        </p:nvSpPr>
        <p:spPr>
          <a:xfrm>
            <a:off x="6949440" y="1371600"/>
            <a:ext cx="640080" cy="2670048"/>
          </a:xfrm>
          <a:prstGeom prst="roundRect">
            <a:avLst>
              <a:gd name="adj" fmla="val 8571"/>
            </a:avLst>
          </a:prstGeom>
          <a:solidFill>
            <a:schemeClr val="accent1">
              <a:alpha val="12000"/>
            </a:schemeClr>
          </a:solidFill>
          <a:ln w="15875">
            <a:solidFill>
              <a:schemeClr val="accent1"/>
            </a:solidFill>
            <a:prstDash val="solid"/>
          </a:ln>
        </p:spPr>
      </p:sp>
      <p:sp>
        <p:nvSpPr>
          <p:cNvPr id="4" name="AI-only band 2"/>
          <p:cNvSpPr/>
          <p:nvPr/>
        </p:nvSpPr>
        <p:spPr>
          <a:xfrm>
            <a:off x="8869680" y="1371600"/>
            <a:ext cx="1280160" cy="2670048"/>
          </a:xfrm>
          <a:prstGeom prst="roundRect">
            <a:avLst>
              <a:gd name="adj" fmla="val 4286"/>
            </a:avLst>
          </a:prstGeom>
          <a:solidFill>
            <a:schemeClr val="accent1">
              <a:alpha val="12000"/>
            </a:schemeClr>
          </a:solidFill>
          <a:ln w="15875">
            <a:solidFill>
              <a:schemeClr val="accent1"/>
            </a:solidFill>
            <a:prstDash val="solid"/>
          </a:ln>
        </p:spPr>
      </p:sp>
      <p:sp>
        <p:nvSpPr>
          <p:cNvPr id="5" name="Case TC02"/>
          <p:cNvSpPr txBox="1"/>
          <p:nvPr/>
        </p:nvSpPr>
        <p:spPr>
          <a:xfrm>
            <a:off x="242316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TC02</a:t>
            </a:r>
            <a:endParaRPr lang="en-GB" sz="1100" dirty="0"/>
          </a:p>
        </p:txBody>
      </p:sp>
      <p:sp>
        <p:nvSpPr>
          <p:cNvPr id="6" name="Case TC03"/>
          <p:cNvSpPr txBox="1"/>
          <p:nvPr/>
        </p:nvSpPr>
        <p:spPr>
          <a:xfrm>
            <a:off x="306324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TC03</a:t>
            </a:r>
            <a:endParaRPr lang="en-GB" sz="1100" dirty="0"/>
          </a:p>
        </p:txBody>
      </p:sp>
      <p:sp>
        <p:nvSpPr>
          <p:cNvPr id="7" name="Case TC04"/>
          <p:cNvSpPr txBox="1"/>
          <p:nvPr/>
        </p:nvSpPr>
        <p:spPr>
          <a:xfrm>
            <a:off x="370332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TC04</a:t>
            </a:r>
            <a:endParaRPr lang="en-GB" sz="1100" dirty="0"/>
          </a:p>
        </p:txBody>
      </p:sp>
      <p:sp>
        <p:nvSpPr>
          <p:cNvPr id="8" name="Case TC05"/>
          <p:cNvSpPr txBox="1"/>
          <p:nvPr/>
        </p:nvSpPr>
        <p:spPr>
          <a:xfrm>
            <a:off x="434340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TC05</a:t>
            </a:r>
            <a:endParaRPr lang="en-GB" sz="1100" dirty="0"/>
          </a:p>
        </p:txBody>
      </p:sp>
      <p:sp>
        <p:nvSpPr>
          <p:cNvPr id="9" name="Case TC06"/>
          <p:cNvSpPr txBox="1"/>
          <p:nvPr/>
        </p:nvSpPr>
        <p:spPr>
          <a:xfrm>
            <a:off x="498348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TC06</a:t>
            </a:r>
            <a:endParaRPr lang="en-GB" sz="1100" dirty="0"/>
          </a:p>
        </p:txBody>
      </p:sp>
      <p:sp>
        <p:nvSpPr>
          <p:cNvPr id="10" name="Case TC07"/>
          <p:cNvSpPr txBox="1"/>
          <p:nvPr/>
        </p:nvSpPr>
        <p:spPr>
          <a:xfrm>
            <a:off x="562356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TC07</a:t>
            </a:r>
            <a:endParaRPr lang="en-GB" sz="1100" dirty="0"/>
          </a:p>
        </p:txBody>
      </p:sp>
      <p:sp>
        <p:nvSpPr>
          <p:cNvPr id="11" name="Case TC08"/>
          <p:cNvSpPr txBox="1"/>
          <p:nvPr/>
        </p:nvSpPr>
        <p:spPr>
          <a:xfrm>
            <a:off x="626364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TC08</a:t>
            </a:r>
            <a:endParaRPr lang="en-GB" sz="1100" dirty="0"/>
          </a:p>
        </p:txBody>
      </p:sp>
      <p:sp>
        <p:nvSpPr>
          <p:cNvPr id="12" name="Case TC09"/>
          <p:cNvSpPr txBox="1"/>
          <p:nvPr/>
        </p:nvSpPr>
        <p:spPr>
          <a:xfrm>
            <a:off x="690372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TC09</a:t>
            </a:r>
            <a:endParaRPr lang="en-GB" sz="1100" dirty="0"/>
          </a:p>
        </p:txBody>
      </p:sp>
      <p:sp>
        <p:nvSpPr>
          <p:cNvPr id="13" name="Case TC10"/>
          <p:cNvSpPr txBox="1"/>
          <p:nvPr/>
        </p:nvSpPr>
        <p:spPr>
          <a:xfrm>
            <a:off x="754380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TC10</a:t>
            </a:r>
            <a:endParaRPr lang="en-GB" sz="1100" dirty="0"/>
          </a:p>
        </p:txBody>
      </p:sp>
      <p:sp>
        <p:nvSpPr>
          <p:cNvPr id="14" name="Case TC11"/>
          <p:cNvSpPr txBox="1"/>
          <p:nvPr/>
        </p:nvSpPr>
        <p:spPr>
          <a:xfrm>
            <a:off x="818388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TC11</a:t>
            </a:r>
            <a:endParaRPr lang="en-GB" sz="1100" dirty="0"/>
          </a:p>
        </p:txBody>
      </p:sp>
      <p:sp>
        <p:nvSpPr>
          <p:cNvPr id="15" name="Case TC13"/>
          <p:cNvSpPr txBox="1"/>
          <p:nvPr/>
        </p:nvSpPr>
        <p:spPr>
          <a:xfrm>
            <a:off x="882396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TC13</a:t>
            </a:r>
            <a:endParaRPr lang="en-GB" sz="1100" dirty="0"/>
          </a:p>
        </p:txBody>
      </p:sp>
      <p:sp>
        <p:nvSpPr>
          <p:cNvPr id="16" name="Case TC15"/>
          <p:cNvSpPr txBox="1"/>
          <p:nvPr/>
        </p:nvSpPr>
        <p:spPr>
          <a:xfrm>
            <a:off x="9464040" y="1463040"/>
            <a:ext cx="731520" cy="274320"/>
          </a:xfrm>
          <a:prstGeom prst="rect">
            <a:avLst/>
          </a:prstGeom>
          <a:noFill/>
          <a:ln/>
        </p:spPr>
        <p:txBody>
          <a:bodyPr wrap="square" lIns="0" tIns="0" rIns="0" bIns="0" rtlCol="0" anchor="t"/>
          <a:lstStyle/>
          <a:p>
            <a:pPr algn="ctr" indent="0" marL="0">
              <a:buNone/>
            </a:pPr>
            <a:r>
              <a:rPr lang="en-GB" altLang="en-US" sz="1100" dirty="0">
                <a:solidFill>
                  <a:schemeClr val="accent6"/>
                </a:solidFill>
              </a:rPr>
              <a:t>TC15</a:t>
            </a:r>
            <a:endParaRPr lang="en-GB" sz="1100" dirty="0"/>
          </a:p>
        </p:txBody>
      </p:sp>
      <p:sp>
        <p:nvSpPr>
          <p:cNvPr id="17" name="Row Checkov"/>
          <p:cNvSpPr txBox="1"/>
          <p:nvPr/>
        </p:nvSpPr>
        <p:spPr>
          <a:xfrm>
            <a:off x="548640" y="1783080"/>
            <a:ext cx="1874520" cy="457200"/>
          </a:xfrm>
          <a:prstGeom prst="rect">
            <a:avLst/>
          </a:prstGeom>
          <a:noFill/>
          <a:ln/>
        </p:spPr>
        <p:txBody>
          <a:bodyPr wrap="square" lIns="0" tIns="0" rIns="0" bIns="0" rtlCol="0" anchor="ctr"/>
          <a:lstStyle/>
          <a:p>
            <a:pPr indent="0" marL="0">
              <a:buNone/>
            </a:pPr>
            <a:r>
              <a:rPr lang="en-GB" altLang="en-US" sz="1500" b="1" dirty="0">
                <a:solidFill>
                  <a:schemeClr val="tx2"/>
                </a:solidFill>
              </a:rPr>
              <a:t>Checkov</a:t>
            </a:r>
            <a:endParaRPr lang="en-GB" sz="1500" dirty="0"/>
          </a:p>
        </p:txBody>
      </p:sp>
      <p:sp>
        <p:nvSpPr>
          <p:cNvPr id="18" name="Checkov TC02"/>
          <p:cNvSpPr/>
          <p:nvPr/>
        </p:nvSpPr>
        <p:spPr>
          <a:xfrm>
            <a:off x="2514600" y="1783080"/>
            <a:ext cx="548640" cy="457200"/>
          </a:xfrm>
          <a:prstGeom prst="roundRect">
            <a:avLst>
              <a:gd name="adj" fmla="val 16000"/>
            </a:avLst>
          </a:prstGeom>
          <a:solidFill>
            <a:schemeClr val="bg2"/>
          </a:solidFill>
          <a:ln w="9525">
            <a:solidFill>
              <a:srgbClr val="D3DAE2"/>
            </a:solidFill>
            <a:prstDash val="solid"/>
          </a:ln>
        </p:spPr>
      </p:sp>
      <p:sp>
        <p:nvSpPr>
          <p:cNvPr id="19" name="Checkov TC03"/>
          <p:cNvSpPr/>
          <p:nvPr/>
        </p:nvSpPr>
        <p:spPr>
          <a:xfrm>
            <a:off x="3154680" y="1783080"/>
            <a:ext cx="548640" cy="457200"/>
          </a:xfrm>
          <a:prstGeom prst="roundRect">
            <a:avLst>
              <a:gd name="adj" fmla="val 16000"/>
            </a:avLst>
          </a:prstGeom>
          <a:solidFill>
            <a:schemeClr val="bg2"/>
          </a:solidFill>
          <a:ln w="9525">
            <a:solidFill>
              <a:srgbClr val="D3DAE2"/>
            </a:solidFill>
            <a:prstDash val="solid"/>
          </a:ln>
        </p:spPr>
      </p:sp>
      <p:sp>
        <p:nvSpPr>
          <p:cNvPr id="20" name="Checkov TC04"/>
          <p:cNvSpPr/>
          <p:nvPr/>
        </p:nvSpPr>
        <p:spPr>
          <a:xfrm>
            <a:off x="3794760" y="1783080"/>
            <a:ext cx="548640" cy="457200"/>
          </a:xfrm>
          <a:prstGeom prst="roundRect">
            <a:avLst>
              <a:gd name="adj" fmla="val 16000"/>
            </a:avLst>
          </a:prstGeom>
          <a:solidFill>
            <a:schemeClr val="bg2"/>
          </a:solidFill>
          <a:ln w="9525">
            <a:solidFill>
              <a:srgbClr val="D3DAE2"/>
            </a:solidFill>
            <a:prstDash val="solid"/>
          </a:ln>
        </p:spPr>
      </p:sp>
      <p:sp>
        <p:nvSpPr>
          <p:cNvPr id="21" name="Checkov TC05"/>
          <p:cNvSpPr/>
          <p:nvPr/>
        </p:nvSpPr>
        <p:spPr>
          <a:xfrm>
            <a:off x="4434840" y="1783080"/>
            <a:ext cx="548640" cy="457200"/>
          </a:xfrm>
          <a:prstGeom prst="roundRect">
            <a:avLst>
              <a:gd name="adj" fmla="val 16000"/>
            </a:avLst>
          </a:prstGeom>
          <a:solidFill>
            <a:schemeClr val="accent2"/>
          </a:solidFill>
          <a:ln w="12700">
            <a:solidFill>
              <a:schemeClr val="accent2"/>
            </a:solidFill>
            <a:prstDash val="solid"/>
          </a:ln>
        </p:spPr>
      </p:sp>
      <p:sp>
        <p:nvSpPr>
          <p:cNvPr id="22" name="Checkov TC06"/>
          <p:cNvSpPr/>
          <p:nvPr/>
        </p:nvSpPr>
        <p:spPr>
          <a:xfrm>
            <a:off x="5074920" y="1783080"/>
            <a:ext cx="548640" cy="457200"/>
          </a:xfrm>
          <a:prstGeom prst="roundRect">
            <a:avLst>
              <a:gd name="adj" fmla="val 16000"/>
            </a:avLst>
          </a:prstGeom>
          <a:solidFill>
            <a:schemeClr val="accent2"/>
          </a:solidFill>
          <a:ln w="12700">
            <a:solidFill>
              <a:schemeClr val="accent2"/>
            </a:solidFill>
            <a:prstDash val="solid"/>
          </a:ln>
        </p:spPr>
      </p:sp>
      <p:sp>
        <p:nvSpPr>
          <p:cNvPr id="23" name="Checkov TC07"/>
          <p:cNvSpPr/>
          <p:nvPr/>
        </p:nvSpPr>
        <p:spPr>
          <a:xfrm>
            <a:off x="5715000" y="1783080"/>
            <a:ext cx="548640" cy="457200"/>
          </a:xfrm>
          <a:prstGeom prst="roundRect">
            <a:avLst>
              <a:gd name="adj" fmla="val 16000"/>
            </a:avLst>
          </a:prstGeom>
          <a:solidFill>
            <a:schemeClr val="accent2"/>
          </a:solidFill>
          <a:ln w="12700">
            <a:solidFill>
              <a:schemeClr val="accent2"/>
            </a:solidFill>
            <a:prstDash val="solid"/>
          </a:ln>
        </p:spPr>
      </p:sp>
      <p:sp>
        <p:nvSpPr>
          <p:cNvPr id="24" name="Checkov TC08"/>
          <p:cNvSpPr/>
          <p:nvPr/>
        </p:nvSpPr>
        <p:spPr>
          <a:xfrm>
            <a:off x="6355080" y="1783080"/>
            <a:ext cx="548640" cy="457200"/>
          </a:xfrm>
          <a:prstGeom prst="roundRect">
            <a:avLst>
              <a:gd name="adj" fmla="val 16000"/>
            </a:avLst>
          </a:prstGeom>
          <a:solidFill>
            <a:schemeClr val="bg2"/>
          </a:solidFill>
          <a:ln w="9525">
            <a:solidFill>
              <a:srgbClr val="D3DAE2"/>
            </a:solidFill>
            <a:prstDash val="solid"/>
          </a:ln>
        </p:spPr>
      </p:sp>
      <p:sp>
        <p:nvSpPr>
          <p:cNvPr id="25" name="Checkov TC09"/>
          <p:cNvSpPr/>
          <p:nvPr/>
        </p:nvSpPr>
        <p:spPr>
          <a:xfrm>
            <a:off x="6995160" y="1783080"/>
            <a:ext cx="548640" cy="457200"/>
          </a:xfrm>
          <a:prstGeom prst="roundRect">
            <a:avLst>
              <a:gd name="adj" fmla="val 16000"/>
            </a:avLst>
          </a:prstGeom>
          <a:solidFill>
            <a:schemeClr val="bg2"/>
          </a:solidFill>
          <a:ln w="9525">
            <a:solidFill>
              <a:srgbClr val="D3DAE2"/>
            </a:solidFill>
            <a:prstDash val="solid"/>
          </a:ln>
        </p:spPr>
      </p:sp>
      <p:sp>
        <p:nvSpPr>
          <p:cNvPr id="26" name="Checkov TC10"/>
          <p:cNvSpPr/>
          <p:nvPr/>
        </p:nvSpPr>
        <p:spPr>
          <a:xfrm>
            <a:off x="7635240" y="1783080"/>
            <a:ext cx="548640" cy="457200"/>
          </a:xfrm>
          <a:prstGeom prst="roundRect">
            <a:avLst>
              <a:gd name="adj" fmla="val 16000"/>
            </a:avLst>
          </a:prstGeom>
          <a:solidFill>
            <a:schemeClr val="accent2"/>
          </a:solidFill>
          <a:ln w="12700">
            <a:solidFill>
              <a:schemeClr val="accent2"/>
            </a:solidFill>
            <a:prstDash val="solid"/>
          </a:ln>
        </p:spPr>
      </p:sp>
      <p:sp>
        <p:nvSpPr>
          <p:cNvPr id="27" name="Checkov TC11"/>
          <p:cNvSpPr/>
          <p:nvPr/>
        </p:nvSpPr>
        <p:spPr>
          <a:xfrm>
            <a:off x="8275320" y="1783080"/>
            <a:ext cx="548640" cy="457200"/>
          </a:xfrm>
          <a:prstGeom prst="roundRect">
            <a:avLst>
              <a:gd name="adj" fmla="val 16000"/>
            </a:avLst>
          </a:prstGeom>
          <a:solidFill>
            <a:schemeClr val="accent2"/>
          </a:solidFill>
          <a:ln w="12700">
            <a:solidFill>
              <a:schemeClr val="accent2"/>
            </a:solidFill>
            <a:prstDash val="solid"/>
          </a:ln>
        </p:spPr>
      </p:sp>
      <p:sp>
        <p:nvSpPr>
          <p:cNvPr id="28" name="Checkov TC13"/>
          <p:cNvSpPr/>
          <p:nvPr/>
        </p:nvSpPr>
        <p:spPr>
          <a:xfrm>
            <a:off x="8915400" y="1783080"/>
            <a:ext cx="548640" cy="457200"/>
          </a:xfrm>
          <a:prstGeom prst="roundRect">
            <a:avLst>
              <a:gd name="adj" fmla="val 16000"/>
            </a:avLst>
          </a:prstGeom>
          <a:solidFill>
            <a:schemeClr val="bg2"/>
          </a:solidFill>
          <a:ln w="9525">
            <a:solidFill>
              <a:srgbClr val="D3DAE2"/>
            </a:solidFill>
            <a:prstDash val="solid"/>
          </a:ln>
        </p:spPr>
      </p:sp>
      <p:sp>
        <p:nvSpPr>
          <p:cNvPr id="29" name="Checkov TC15"/>
          <p:cNvSpPr/>
          <p:nvPr/>
        </p:nvSpPr>
        <p:spPr>
          <a:xfrm>
            <a:off x="9555480" y="1783080"/>
            <a:ext cx="548640" cy="457200"/>
          </a:xfrm>
          <a:prstGeom prst="roundRect">
            <a:avLst>
              <a:gd name="adj" fmla="val 16000"/>
            </a:avLst>
          </a:prstGeom>
          <a:solidFill>
            <a:schemeClr val="bg2"/>
          </a:solidFill>
          <a:ln w="9525">
            <a:solidFill>
              <a:srgbClr val="D3DAE2"/>
            </a:solidFill>
            <a:prstDash val="solid"/>
          </a:ln>
        </p:spPr>
      </p:sp>
      <p:sp>
        <p:nvSpPr>
          <p:cNvPr id="30" name="Total Checkov"/>
          <p:cNvSpPr txBox="1"/>
          <p:nvPr/>
        </p:nvSpPr>
        <p:spPr>
          <a:xfrm>
            <a:off x="10332720" y="1783080"/>
            <a:ext cx="1310335" cy="457200"/>
          </a:xfrm>
          <a:prstGeom prst="rect">
            <a:avLst/>
          </a:prstGeom>
          <a:noFill/>
          <a:ln/>
        </p:spPr>
        <p:txBody>
          <a:bodyPr wrap="square" lIns="0" tIns="0" rIns="0" bIns="0" rtlCol="0" anchor="ctr"/>
          <a:lstStyle/>
          <a:p>
            <a:pPr indent="0" marL="0">
              <a:buNone/>
            </a:pPr>
            <a:r>
              <a:rPr lang="en-GB" altLang="en-US" sz="2400" b="1" dirty="0">
                <a:solidFill>
                  <a:schemeClr val="accent2"/>
                </a:solidFill>
              </a:rPr>
              <a:t>5</a:t>
            </a:r>
            <a:endParaRPr lang="en-GB" sz="1400" dirty="0"/>
          </a:p>
        </p:txBody>
      </p:sp>
      <p:sp>
        <p:nvSpPr>
          <p:cNvPr id="31" name="Row tfsec"/>
          <p:cNvSpPr txBox="1"/>
          <p:nvPr/>
        </p:nvSpPr>
        <p:spPr>
          <a:xfrm>
            <a:off x="548640" y="2359152"/>
            <a:ext cx="1874520" cy="457200"/>
          </a:xfrm>
          <a:prstGeom prst="rect">
            <a:avLst/>
          </a:prstGeom>
          <a:noFill/>
          <a:ln/>
        </p:spPr>
        <p:txBody>
          <a:bodyPr wrap="square" lIns="0" tIns="0" rIns="0" bIns="0" rtlCol="0" anchor="ctr"/>
          <a:lstStyle/>
          <a:p>
            <a:pPr indent="0" marL="0">
              <a:buNone/>
            </a:pPr>
            <a:r>
              <a:rPr lang="en-GB" altLang="en-US" sz="1500" b="1" dirty="0">
                <a:solidFill>
                  <a:schemeClr val="tx2"/>
                </a:solidFill>
              </a:rPr>
              <a:t>tfsec</a:t>
            </a:r>
            <a:endParaRPr lang="en-GB" sz="1500" dirty="0"/>
          </a:p>
        </p:txBody>
      </p:sp>
      <p:sp>
        <p:nvSpPr>
          <p:cNvPr id="32" name="tfsec TC02"/>
          <p:cNvSpPr/>
          <p:nvPr/>
        </p:nvSpPr>
        <p:spPr>
          <a:xfrm>
            <a:off x="2514600" y="2359152"/>
            <a:ext cx="548640" cy="457200"/>
          </a:xfrm>
          <a:prstGeom prst="roundRect">
            <a:avLst>
              <a:gd name="adj" fmla="val 16000"/>
            </a:avLst>
          </a:prstGeom>
          <a:solidFill>
            <a:schemeClr val="accent2"/>
          </a:solidFill>
          <a:ln w="12700">
            <a:solidFill>
              <a:schemeClr val="accent2"/>
            </a:solidFill>
            <a:prstDash val="solid"/>
          </a:ln>
        </p:spPr>
      </p:sp>
      <p:sp>
        <p:nvSpPr>
          <p:cNvPr id="33" name="tfsec TC03"/>
          <p:cNvSpPr/>
          <p:nvPr/>
        </p:nvSpPr>
        <p:spPr>
          <a:xfrm>
            <a:off x="3154680" y="2359152"/>
            <a:ext cx="548640" cy="457200"/>
          </a:xfrm>
          <a:prstGeom prst="roundRect">
            <a:avLst>
              <a:gd name="adj" fmla="val 16000"/>
            </a:avLst>
          </a:prstGeom>
          <a:solidFill>
            <a:schemeClr val="accent2"/>
          </a:solidFill>
          <a:ln w="12700">
            <a:solidFill>
              <a:schemeClr val="accent2"/>
            </a:solidFill>
            <a:prstDash val="solid"/>
          </a:ln>
        </p:spPr>
      </p:sp>
      <p:sp>
        <p:nvSpPr>
          <p:cNvPr id="34" name="tfsec TC04"/>
          <p:cNvSpPr/>
          <p:nvPr/>
        </p:nvSpPr>
        <p:spPr>
          <a:xfrm>
            <a:off x="3794760" y="2359152"/>
            <a:ext cx="548640" cy="457200"/>
          </a:xfrm>
          <a:prstGeom prst="roundRect">
            <a:avLst>
              <a:gd name="adj" fmla="val 16000"/>
            </a:avLst>
          </a:prstGeom>
          <a:solidFill>
            <a:schemeClr val="accent2"/>
          </a:solidFill>
          <a:ln w="12700">
            <a:solidFill>
              <a:schemeClr val="accent2"/>
            </a:solidFill>
            <a:prstDash val="solid"/>
          </a:ln>
        </p:spPr>
      </p:sp>
      <p:sp>
        <p:nvSpPr>
          <p:cNvPr id="35" name="tfsec TC05"/>
          <p:cNvSpPr/>
          <p:nvPr/>
        </p:nvSpPr>
        <p:spPr>
          <a:xfrm>
            <a:off x="4434840" y="2359152"/>
            <a:ext cx="548640" cy="457200"/>
          </a:xfrm>
          <a:prstGeom prst="roundRect">
            <a:avLst>
              <a:gd name="adj" fmla="val 16000"/>
            </a:avLst>
          </a:prstGeom>
          <a:solidFill>
            <a:schemeClr val="bg2"/>
          </a:solidFill>
          <a:ln w="9525">
            <a:solidFill>
              <a:srgbClr val="D3DAE2"/>
            </a:solidFill>
            <a:prstDash val="solid"/>
          </a:ln>
        </p:spPr>
      </p:sp>
      <p:sp>
        <p:nvSpPr>
          <p:cNvPr id="36" name="tfsec TC06"/>
          <p:cNvSpPr/>
          <p:nvPr/>
        </p:nvSpPr>
        <p:spPr>
          <a:xfrm>
            <a:off x="5074920" y="2359152"/>
            <a:ext cx="548640" cy="457200"/>
          </a:xfrm>
          <a:prstGeom prst="roundRect">
            <a:avLst>
              <a:gd name="adj" fmla="val 16000"/>
            </a:avLst>
          </a:prstGeom>
          <a:solidFill>
            <a:schemeClr val="bg2"/>
          </a:solidFill>
          <a:ln w="9525">
            <a:solidFill>
              <a:srgbClr val="D3DAE2"/>
            </a:solidFill>
            <a:prstDash val="solid"/>
          </a:ln>
        </p:spPr>
      </p:sp>
      <p:sp>
        <p:nvSpPr>
          <p:cNvPr id="37" name="tfsec TC07"/>
          <p:cNvSpPr/>
          <p:nvPr/>
        </p:nvSpPr>
        <p:spPr>
          <a:xfrm>
            <a:off x="5715000" y="2359152"/>
            <a:ext cx="548640" cy="457200"/>
          </a:xfrm>
          <a:prstGeom prst="roundRect">
            <a:avLst>
              <a:gd name="adj" fmla="val 16000"/>
            </a:avLst>
          </a:prstGeom>
          <a:solidFill>
            <a:schemeClr val="accent2"/>
          </a:solidFill>
          <a:ln w="12700">
            <a:solidFill>
              <a:schemeClr val="accent2"/>
            </a:solidFill>
            <a:prstDash val="solid"/>
          </a:ln>
        </p:spPr>
      </p:sp>
      <p:sp>
        <p:nvSpPr>
          <p:cNvPr id="38" name="tfsec TC08"/>
          <p:cNvSpPr/>
          <p:nvPr/>
        </p:nvSpPr>
        <p:spPr>
          <a:xfrm>
            <a:off x="6355080" y="2359152"/>
            <a:ext cx="548640" cy="457200"/>
          </a:xfrm>
          <a:prstGeom prst="roundRect">
            <a:avLst>
              <a:gd name="adj" fmla="val 16000"/>
            </a:avLst>
          </a:prstGeom>
          <a:solidFill>
            <a:schemeClr val="bg2"/>
          </a:solidFill>
          <a:ln w="9525">
            <a:solidFill>
              <a:srgbClr val="D3DAE2"/>
            </a:solidFill>
            <a:prstDash val="solid"/>
          </a:ln>
        </p:spPr>
      </p:sp>
      <p:sp>
        <p:nvSpPr>
          <p:cNvPr id="39" name="tfsec TC09"/>
          <p:cNvSpPr/>
          <p:nvPr/>
        </p:nvSpPr>
        <p:spPr>
          <a:xfrm>
            <a:off x="6995160" y="2359152"/>
            <a:ext cx="548640" cy="457200"/>
          </a:xfrm>
          <a:prstGeom prst="roundRect">
            <a:avLst>
              <a:gd name="adj" fmla="val 16000"/>
            </a:avLst>
          </a:prstGeom>
          <a:solidFill>
            <a:schemeClr val="bg2"/>
          </a:solidFill>
          <a:ln w="9525">
            <a:solidFill>
              <a:srgbClr val="D3DAE2"/>
            </a:solidFill>
            <a:prstDash val="solid"/>
          </a:ln>
        </p:spPr>
      </p:sp>
      <p:sp>
        <p:nvSpPr>
          <p:cNvPr id="40" name="tfsec TC10"/>
          <p:cNvSpPr/>
          <p:nvPr/>
        </p:nvSpPr>
        <p:spPr>
          <a:xfrm>
            <a:off x="7635240" y="2359152"/>
            <a:ext cx="548640" cy="457200"/>
          </a:xfrm>
          <a:prstGeom prst="roundRect">
            <a:avLst>
              <a:gd name="adj" fmla="val 16000"/>
            </a:avLst>
          </a:prstGeom>
          <a:solidFill>
            <a:schemeClr val="bg2"/>
          </a:solidFill>
          <a:ln w="9525">
            <a:solidFill>
              <a:srgbClr val="D3DAE2"/>
            </a:solidFill>
            <a:prstDash val="solid"/>
          </a:ln>
        </p:spPr>
      </p:sp>
      <p:sp>
        <p:nvSpPr>
          <p:cNvPr id="41" name="tfsec TC11"/>
          <p:cNvSpPr/>
          <p:nvPr/>
        </p:nvSpPr>
        <p:spPr>
          <a:xfrm>
            <a:off x="8275320" y="2359152"/>
            <a:ext cx="548640" cy="457200"/>
          </a:xfrm>
          <a:prstGeom prst="roundRect">
            <a:avLst>
              <a:gd name="adj" fmla="val 16000"/>
            </a:avLst>
          </a:prstGeom>
          <a:solidFill>
            <a:schemeClr val="bg2"/>
          </a:solidFill>
          <a:ln w="9525">
            <a:solidFill>
              <a:srgbClr val="D3DAE2"/>
            </a:solidFill>
            <a:prstDash val="solid"/>
          </a:ln>
        </p:spPr>
      </p:sp>
      <p:sp>
        <p:nvSpPr>
          <p:cNvPr id="42" name="tfsec TC13"/>
          <p:cNvSpPr/>
          <p:nvPr/>
        </p:nvSpPr>
        <p:spPr>
          <a:xfrm>
            <a:off x="8915400" y="2359152"/>
            <a:ext cx="548640" cy="457200"/>
          </a:xfrm>
          <a:prstGeom prst="roundRect">
            <a:avLst>
              <a:gd name="adj" fmla="val 16000"/>
            </a:avLst>
          </a:prstGeom>
          <a:solidFill>
            <a:schemeClr val="bg2"/>
          </a:solidFill>
          <a:ln w="9525">
            <a:solidFill>
              <a:srgbClr val="D3DAE2"/>
            </a:solidFill>
            <a:prstDash val="solid"/>
          </a:ln>
        </p:spPr>
      </p:sp>
      <p:sp>
        <p:nvSpPr>
          <p:cNvPr id="43" name="tfsec TC15"/>
          <p:cNvSpPr/>
          <p:nvPr/>
        </p:nvSpPr>
        <p:spPr>
          <a:xfrm>
            <a:off x="9555480" y="2359152"/>
            <a:ext cx="548640" cy="457200"/>
          </a:xfrm>
          <a:prstGeom prst="roundRect">
            <a:avLst>
              <a:gd name="adj" fmla="val 16000"/>
            </a:avLst>
          </a:prstGeom>
          <a:solidFill>
            <a:schemeClr val="bg2"/>
          </a:solidFill>
          <a:ln w="9525">
            <a:solidFill>
              <a:srgbClr val="D3DAE2"/>
            </a:solidFill>
            <a:prstDash val="solid"/>
          </a:ln>
        </p:spPr>
      </p:sp>
      <p:sp>
        <p:nvSpPr>
          <p:cNvPr id="44" name="Total tfsec"/>
          <p:cNvSpPr txBox="1"/>
          <p:nvPr/>
        </p:nvSpPr>
        <p:spPr>
          <a:xfrm>
            <a:off x="10332720" y="2359152"/>
            <a:ext cx="1310335" cy="457200"/>
          </a:xfrm>
          <a:prstGeom prst="rect">
            <a:avLst/>
          </a:prstGeom>
          <a:noFill/>
          <a:ln/>
        </p:spPr>
        <p:txBody>
          <a:bodyPr wrap="square" lIns="0" tIns="0" rIns="0" bIns="0" rtlCol="0" anchor="ctr"/>
          <a:lstStyle/>
          <a:p>
            <a:pPr indent="0" marL="0">
              <a:buNone/>
            </a:pPr>
            <a:r>
              <a:rPr lang="en-GB" altLang="en-US" sz="2400" b="1" dirty="0">
                <a:solidFill>
                  <a:schemeClr val="accent2"/>
                </a:solidFill>
              </a:rPr>
              <a:t>4</a:t>
            </a:r>
            <a:endParaRPr lang="en-GB" sz="1400" dirty="0"/>
          </a:p>
        </p:txBody>
      </p:sp>
      <p:sp>
        <p:nvSpPr>
          <p:cNvPr id="45" name="Row Checkov + tfsec"/>
          <p:cNvSpPr txBox="1"/>
          <p:nvPr/>
        </p:nvSpPr>
        <p:spPr>
          <a:xfrm>
            <a:off x="548640" y="2935224"/>
            <a:ext cx="1874520" cy="457200"/>
          </a:xfrm>
          <a:prstGeom prst="rect">
            <a:avLst/>
          </a:prstGeom>
          <a:noFill/>
          <a:ln/>
        </p:spPr>
        <p:txBody>
          <a:bodyPr wrap="square" lIns="0" tIns="0" rIns="0" bIns="0" rtlCol="0" anchor="ctr"/>
          <a:lstStyle/>
          <a:p>
            <a:pPr indent="0" marL="0">
              <a:buNone/>
            </a:pPr>
            <a:r>
              <a:rPr lang="en-GB" altLang="en-US" sz="1500" b="1" dirty="0">
                <a:solidFill>
                  <a:schemeClr val="tx2"/>
                </a:solidFill>
              </a:rPr>
              <a:t>Checkov + tfsec</a:t>
            </a:r>
            <a:endParaRPr lang="en-GB" sz="1500" dirty="0"/>
          </a:p>
        </p:txBody>
      </p:sp>
      <p:sp>
        <p:nvSpPr>
          <p:cNvPr id="46" name="Checkov + tfsec TC02"/>
          <p:cNvSpPr/>
          <p:nvPr/>
        </p:nvSpPr>
        <p:spPr>
          <a:xfrm>
            <a:off x="2514600" y="2935224"/>
            <a:ext cx="548640" cy="457200"/>
          </a:xfrm>
          <a:prstGeom prst="roundRect">
            <a:avLst>
              <a:gd name="adj" fmla="val 16000"/>
            </a:avLst>
          </a:prstGeom>
          <a:solidFill>
            <a:schemeClr val="tx2"/>
          </a:solidFill>
          <a:ln w="12700">
            <a:solidFill>
              <a:schemeClr val="tx2"/>
            </a:solidFill>
            <a:prstDash val="solid"/>
          </a:ln>
        </p:spPr>
      </p:sp>
      <p:sp>
        <p:nvSpPr>
          <p:cNvPr id="47" name="Checkov + tfsec TC03"/>
          <p:cNvSpPr/>
          <p:nvPr/>
        </p:nvSpPr>
        <p:spPr>
          <a:xfrm>
            <a:off x="3154680" y="2935224"/>
            <a:ext cx="548640" cy="457200"/>
          </a:xfrm>
          <a:prstGeom prst="roundRect">
            <a:avLst>
              <a:gd name="adj" fmla="val 16000"/>
            </a:avLst>
          </a:prstGeom>
          <a:solidFill>
            <a:schemeClr val="tx2"/>
          </a:solidFill>
          <a:ln w="12700">
            <a:solidFill>
              <a:schemeClr val="tx2"/>
            </a:solidFill>
            <a:prstDash val="solid"/>
          </a:ln>
        </p:spPr>
      </p:sp>
      <p:sp>
        <p:nvSpPr>
          <p:cNvPr id="48" name="Checkov + tfsec TC04"/>
          <p:cNvSpPr/>
          <p:nvPr/>
        </p:nvSpPr>
        <p:spPr>
          <a:xfrm>
            <a:off x="3794760" y="2935224"/>
            <a:ext cx="548640" cy="457200"/>
          </a:xfrm>
          <a:prstGeom prst="roundRect">
            <a:avLst>
              <a:gd name="adj" fmla="val 16000"/>
            </a:avLst>
          </a:prstGeom>
          <a:solidFill>
            <a:schemeClr val="tx2"/>
          </a:solidFill>
          <a:ln w="12700">
            <a:solidFill>
              <a:schemeClr val="tx2"/>
            </a:solidFill>
            <a:prstDash val="solid"/>
          </a:ln>
        </p:spPr>
      </p:sp>
      <p:sp>
        <p:nvSpPr>
          <p:cNvPr id="49" name="Checkov + tfsec TC05"/>
          <p:cNvSpPr/>
          <p:nvPr/>
        </p:nvSpPr>
        <p:spPr>
          <a:xfrm>
            <a:off x="4434840" y="2935224"/>
            <a:ext cx="548640" cy="457200"/>
          </a:xfrm>
          <a:prstGeom prst="roundRect">
            <a:avLst>
              <a:gd name="adj" fmla="val 16000"/>
            </a:avLst>
          </a:prstGeom>
          <a:solidFill>
            <a:schemeClr val="tx2"/>
          </a:solidFill>
          <a:ln w="12700">
            <a:solidFill>
              <a:schemeClr val="tx2"/>
            </a:solidFill>
            <a:prstDash val="solid"/>
          </a:ln>
        </p:spPr>
      </p:sp>
      <p:sp>
        <p:nvSpPr>
          <p:cNvPr id="50" name="Checkov + tfsec TC06"/>
          <p:cNvSpPr/>
          <p:nvPr/>
        </p:nvSpPr>
        <p:spPr>
          <a:xfrm>
            <a:off x="5074920" y="2935224"/>
            <a:ext cx="548640" cy="457200"/>
          </a:xfrm>
          <a:prstGeom prst="roundRect">
            <a:avLst>
              <a:gd name="adj" fmla="val 16000"/>
            </a:avLst>
          </a:prstGeom>
          <a:solidFill>
            <a:schemeClr val="tx2"/>
          </a:solidFill>
          <a:ln w="12700">
            <a:solidFill>
              <a:schemeClr val="tx2"/>
            </a:solidFill>
            <a:prstDash val="solid"/>
          </a:ln>
        </p:spPr>
      </p:sp>
      <p:sp>
        <p:nvSpPr>
          <p:cNvPr id="51" name="Checkov + tfsec TC07"/>
          <p:cNvSpPr/>
          <p:nvPr/>
        </p:nvSpPr>
        <p:spPr>
          <a:xfrm>
            <a:off x="5715000" y="2935224"/>
            <a:ext cx="548640" cy="457200"/>
          </a:xfrm>
          <a:prstGeom prst="roundRect">
            <a:avLst>
              <a:gd name="adj" fmla="val 16000"/>
            </a:avLst>
          </a:prstGeom>
          <a:solidFill>
            <a:schemeClr val="tx2"/>
          </a:solidFill>
          <a:ln w="12700">
            <a:solidFill>
              <a:schemeClr val="tx2"/>
            </a:solidFill>
            <a:prstDash val="solid"/>
          </a:ln>
        </p:spPr>
      </p:sp>
      <p:sp>
        <p:nvSpPr>
          <p:cNvPr id="52" name="Checkov + tfsec TC08"/>
          <p:cNvSpPr/>
          <p:nvPr/>
        </p:nvSpPr>
        <p:spPr>
          <a:xfrm>
            <a:off x="6355080" y="2935224"/>
            <a:ext cx="548640" cy="457200"/>
          </a:xfrm>
          <a:prstGeom prst="roundRect">
            <a:avLst>
              <a:gd name="adj" fmla="val 16000"/>
            </a:avLst>
          </a:prstGeom>
          <a:solidFill>
            <a:schemeClr val="bg2"/>
          </a:solidFill>
          <a:ln w="9525">
            <a:solidFill>
              <a:srgbClr val="D3DAE2"/>
            </a:solidFill>
            <a:prstDash val="solid"/>
          </a:ln>
        </p:spPr>
      </p:sp>
      <p:sp>
        <p:nvSpPr>
          <p:cNvPr id="53" name="Checkov + tfsec TC09"/>
          <p:cNvSpPr/>
          <p:nvPr/>
        </p:nvSpPr>
        <p:spPr>
          <a:xfrm>
            <a:off x="6995160" y="2935224"/>
            <a:ext cx="548640" cy="457200"/>
          </a:xfrm>
          <a:prstGeom prst="roundRect">
            <a:avLst>
              <a:gd name="adj" fmla="val 16000"/>
            </a:avLst>
          </a:prstGeom>
          <a:solidFill>
            <a:schemeClr val="bg2"/>
          </a:solidFill>
          <a:ln w="9525">
            <a:solidFill>
              <a:srgbClr val="D3DAE2"/>
            </a:solidFill>
            <a:prstDash val="solid"/>
          </a:ln>
        </p:spPr>
      </p:sp>
      <p:sp>
        <p:nvSpPr>
          <p:cNvPr id="54" name="Checkov + tfsec TC10"/>
          <p:cNvSpPr/>
          <p:nvPr/>
        </p:nvSpPr>
        <p:spPr>
          <a:xfrm>
            <a:off x="7635240" y="2935224"/>
            <a:ext cx="548640" cy="457200"/>
          </a:xfrm>
          <a:prstGeom prst="roundRect">
            <a:avLst>
              <a:gd name="adj" fmla="val 16000"/>
            </a:avLst>
          </a:prstGeom>
          <a:solidFill>
            <a:schemeClr val="tx2"/>
          </a:solidFill>
          <a:ln w="12700">
            <a:solidFill>
              <a:schemeClr val="tx2"/>
            </a:solidFill>
            <a:prstDash val="solid"/>
          </a:ln>
        </p:spPr>
      </p:sp>
      <p:sp>
        <p:nvSpPr>
          <p:cNvPr id="55" name="Checkov + tfsec TC11"/>
          <p:cNvSpPr/>
          <p:nvPr/>
        </p:nvSpPr>
        <p:spPr>
          <a:xfrm>
            <a:off x="8275320" y="2935224"/>
            <a:ext cx="548640" cy="457200"/>
          </a:xfrm>
          <a:prstGeom prst="roundRect">
            <a:avLst>
              <a:gd name="adj" fmla="val 16000"/>
            </a:avLst>
          </a:prstGeom>
          <a:solidFill>
            <a:schemeClr val="tx2"/>
          </a:solidFill>
          <a:ln w="12700">
            <a:solidFill>
              <a:schemeClr val="tx2"/>
            </a:solidFill>
            <a:prstDash val="solid"/>
          </a:ln>
        </p:spPr>
      </p:sp>
      <p:sp>
        <p:nvSpPr>
          <p:cNvPr id="56" name="Checkov + tfsec TC13"/>
          <p:cNvSpPr/>
          <p:nvPr/>
        </p:nvSpPr>
        <p:spPr>
          <a:xfrm>
            <a:off x="8915400" y="2935224"/>
            <a:ext cx="548640" cy="457200"/>
          </a:xfrm>
          <a:prstGeom prst="roundRect">
            <a:avLst>
              <a:gd name="adj" fmla="val 16000"/>
            </a:avLst>
          </a:prstGeom>
          <a:solidFill>
            <a:schemeClr val="bg2"/>
          </a:solidFill>
          <a:ln w="9525">
            <a:solidFill>
              <a:srgbClr val="D3DAE2"/>
            </a:solidFill>
            <a:prstDash val="solid"/>
          </a:ln>
        </p:spPr>
      </p:sp>
      <p:sp>
        <p:nvSpPr>
          <p:cNvPr id="57" name="Checkov + tfsec TC15"/>
          <p:cNvSpPr/>
          <p:nvPr/>
        </p:nvSpPr>
        <p:spPr>
          <a:xfrm>
            <a:off x="9555480" y="2935224"/>
            <a:ext cx="548640" cy="457200"/>
          </a:xfrm>
          <a:prstGeom prst="roundRect">
            <a:avLst>
              <a:gd name="adj" fmla="val 16000"/>
            </a:avLst>
          </a:prstGeom>
          <a:solidFill>
            <a:schemeClr val="bg2"/>
          </a:solidFill>
          <a:ln w="9525">
            <a:solidFill>
              <a:srgbClr val="D3DAE2"/>
            </a:solidFill>
            <a:prstDash val="solid"/>
          </a:ln>
        </p:spPr>
      </p:sp>
      <p:sp>
        <p:nvSpPr>
          <p:cNvPr id="58" name="Total Checkov + tfsec"/>
          <p:cNvSpPr txBox="1"/>
          <p:nvPr/>
        </p:nvSpPr>
        <p:spPr>
          <a:xfrm>
            <a:off x="10332720" y="2935224"/>
            <a:ext cx="1310335" cy="457200"/>
          </a:xfrm>
          <a:prstGeom prst="rect">
            <a:avLst/>
          </a:prstGeom>
          <a:noFill/>
          <a:ln/>
        </p:spPr>
        <p:txBody>
          <a:bodyPr wrap="square" lIns="0" tIns="0" rIns="0" bIns="0" rtlCol="0" anchor="ctr"/>
          <a:lstStyle/>
          <a:p>
            <a:pPr indent="0" marL="0">
              <a:buNone/>
            </a:pPr>
            <a:r>
              <a:rPr lang="en-GB" altLang="en-US" sz="2400" b="1" dirty="0">
                <a:solidFill>
                  <a:schemeClr val="tx2"/>
                </a:solidFill>
              </a:rPr>
              <a:t>8</a:t>
            </a:r>
            <a:endParaRPr lang="en-GB" sz="1400" dirty="0"/>
          </a:p>
        </p:txBody>
      </p:sp>
      <p:sp>
        <p:nvSpPr>
          <p:cNvPr id="59" name="Row AI reviewer"/>
          <p:cNvSpPr txBox="1"/>
          <p:nvPr/>
        </p:nvSpPr>
        <p:spPr>
          <a:xfrm>
            <a:off x="548640" y="3511296"/>
            <a:ext cx="1874520" cy="457200"/>
          </a:xfrm>
          <a:prstGeom prst="rect">
            <a:avLst/>
          </a:prstGeom>
          <a:noFill/>
          <a:ln/>
        </p:spPr>
        <p:txBody>
          <a:bodyPr wrap="square" lIns="0" tIns="0" rIns="0" bIns="0" rtlCol="0" anchor="ctr"/>
          <a:lstStyle/>
          <a:p>
            <a:pPr indent="0" marL="0">
              <a:buNone/>
            </a:pPr>
            <a:r>
              <a:rPr lang="en-GB" altLang="en-US" sz="1500" b="1" dirty="0">
                <a:solidFill>
                  <a:schemeClr val="accent1"/>
                </a:solidFill>
              </a:rPr>
              <a:t>AI reviewer</a:t>
            </a:r>
            <a:endParaRPr lang="en-GB" sz="1500" dirty="0"/>
          </a:p>
        </p:txBody>
      </p:sp>
      <p:sp>
        <p:nvSpPr>
          <p:cNvPr id="60" name="AI reviewer TC02"/>
          <p:cNvSpPr/>
          <p:nvPr/>
        </p:nvSpPr>
        <p:spPr>
          <a:xfrm>
            <a:off x="2514600" y="3511296"/>
            <a:ext cx="548640" cy="457200"/>
          </a:xfrm>
          <a:prstGeom prst="roundRect">
            <a:avLst>
              <a:gd name="adj" fmla="val 16000"/>
            </a:avLst>
          </a:prstGeom>
          <a:solidFill>
            <a:schemeClr val="accent1"/>
          </a:solidFill>
          <a:ln w="12700">
            <a:solidFill>
              <a:schemeClr val="accent1"/>
            </a:solidFill>
            <a:prstDash val="solid"/>
          </a:ln>
        </p:spPr>
      </p:sp>
      <p:sp>
        <p:nvSpPr>
          <p:cNvPr id="61" name="AI reviewer TC03"/>
          <p:cNvSpPr/>
          <p:nvPr/>
        </p:nvSpPr>
        <p:spPr>
          <a:xfrm>
            <a:off x="3154680" y="3511296"/>
            <a:ext cx="548640" cy="457200"/>
          </a:xfrm>
          <a:prstGeom prst="roundRect">
            <a:avLst>
              <a:gd name="adj" fmla="val 16000"/>
            </a:avLst>
          </a:prstGeom>
          <a:solidFill>
            <a:schemeClr val="accent1"/>
          </a:solidFill>
          <a:ln w="12700">
            <a:solidFill>
              <a:schemeClr val="accent1"/>
            </a:solidFill>
            <a:prstDash val="solid"/>
          </a:ln>
        </p:spPr>
      </p:sp>
      <p:sp>
        <p:nvSpPr>
          <p:cNvPr id="62" name="AI reviewer TC04"/>
          <p:cNvSpPr/>
          <p:nvPr/>
        </p:nvSpPr>
        <p:spPr>
          <a:xfrm>
            <a:off x="3794760" y="3511296"/>
            <a:ext cx="548640" cy="457200"/>
          </a:xfrm>
          <a:prstGeom prst="roundRect">
            <a:avLst>
              <a:gd name="adj" fmla="val 16000"/>
            </a:avLst>
          </a:prstGeom>
          <a:solidFill>
            <a:schemeClr val="accent1"/>
          </a:solidFill>
          <a:ln w="12700">
            <a:solidFill>
              <a:schemeClr val="accent1"/>
            </a:solidFill>
            <a:prstDash val="solid"/>
          </a:ln>
        </p:spPr>
      </p:sp>
      <p:sp>
        <p:nvSpPr>
          <p:cNvPr id="63" name="AI reviewer TC05"/>
          <p:cNvSpPr/>
          <p:nvPr/>
        </p:nvSpPr>
        <p:spPr>
          <a:xfrm>
            <a:off x="4434840" y="3511296"/>
            <a:ext cx="548640" cy="457200"/>
          </a:xfrm>
          <a:prstGeom prst="roundRect">
            <a:avLst>
              <a:gd name="adj" fmla="val 16000"/>
            </a:avLst>
          </a:prstGeom>
          <a:solidFill>
            <a:schemeClr val="accent1"/>
          </a:solidFill>
          <a:ln w="12700">
            <a:solidFill>
              <a:schemeClr val="accent1"/>
            </a:solidFill>
            <a:prstDash val="solid"/>
          </a:ln>
        </p:spPr>
      </p:sp>
      <p:sp>
        <p:nvSpPr>
          <p:cNvPr id="64" name="AI reviewer TC06"/>
          <p:cNvSpPr/>
          <p:nvPr/>
        </p:nvSpPr>
        <p:spPr>
          <a:xfrm>
            <a:off x="5074920" y="3511296"/>
            <a:ext cx="548640" cy="457200"/>
          </a:xfrm>
          <a:prstGeom prst="roundRect">
            <a:avLst>
              <a:gd name="adj" fmla="val 16000"/>
            </a:avLst>
          </a:prstGeom>
          <a:solidFill>
            <a:schemeClr val="accent1"/>
          </a:solidFill>
          <a:ln w="12700">
            <a:solidFill>
              <a:schemeClr val="accent1"/>
            </a:solidFill>
            <a:prstDash val="solid"/>
          </a:ln>
        </p:spPr>
      </p:sp>
      <p:sp>
        <p:nvSpPr>
          <p:cNvPr id="65" name="AI reviewer TC07"/>
          <p:cNvSpPr/>
          <p:nvPr/>
        </p:nvSpPr>
        <p:spPr>
          <a:xfrm>
            <a:off x="5715000" y="3511296"/>
            <a:ext cx="548640" cy="457200"/>
          </a:xfrm>
          <a:prstGeom prst="roundRect">
            <a:avLst>
              <a:gd name="adj" fmla="val 16000"/>
            </a:avLst>
          </a:prstGeom>
          <a:solidFill>
            <a:schemeClr val="accent1"/>
          </a:solidFill>
          <a:ln w="12700">
            <a:solidFill>
              <a:schemeClr val="accent1"/>
            </a:solidFill>
            <a:prstDash val="solid"/>
          </a:ln>
        </p:spPr>
      </p:sp>
      <p:sp>
        <p:nvSpPr>
          <p:cNvPr id="66" name="AI reviewer TC08"/>
          <p:cNvSpPr/>
          <p:nvPr/>
        </p:nvSpPr>
        <p:spPr>
          <a:xfrm>
            <a:off x="6355080" y="3511296"/>
            <a:ext cx="548640" cy="457200"/>
          </a:xfrm>
          <a:prstGeom prst="roundRect">
            <a:avLst>
              <a:gd name="adj" fmla="val 16000"/>
            </a:avLst>
          </a:prstGeom>
          <a:solidFill>
            <a:schemeClr val="bg2"/>
          </a:solidFill>
          <a:ln w="9525">
            <a:solidFill>
              <a:srgbClr val="D3DAE2"/>
            </a:solidFill>
            <a:prstDash val="solid"/>
          </a:ln>
        </p:spPr>
      </p:sp>
      <p:sp>
        <p:nvSpPr>
          <p:cNvPr id="67" name="AI TC08 partial"/>
          <p:cNvSpPr/>
          <p:nvPr/>
        </p:nvSpPr>
        <p:spPr>
          <a:xfrm>
            <a:off x="6355080" y="3511296"/>
            <a:ext cx="274320" cy="457200"/>
          </a:xfrm>
          <a:prstGeom prst="roundRect">
            <a:avLst>
              <a:gd name="adj" fmla="val 26667"/>
            </a:avLst>
          </a:prstGeom>
          <a:solidFill>
            <a:schemeClr val="accent1"/>
          </a:solidFill>
          <a:ln w="12700">
            <a:solidFill>
              <a:schemeClr val="accent1"/>
            </a:solidFill>
            <a:prstDash val="solid"/>
          </a:ln>
        </p:spPr>
      </p:sp>
      <p:sp>
        <p:nvSpPr>
          <p:cNvPr id="68" name="AI reviewer TC09"/>
          <p:cNvSpPr/>
          <p:nvPr/>
        </p:nvSpPr>
        <p:spPr>
          <a:xfrm>
            <a:off x="6995160" y="3511296"/>
            <a:ext cx="548640" cy="457200"/>
          </a:xfrm>
          <a:prstGeom prst="roundRect">
            <a:avLst>
              <a:gd name="adj" fmla="val 16000"/>
            </a:avLst>
          </a:prstGeom>
          <a:solidFill>
            <a:schemeClr val="accent1"/>
          </a:solidFill>
          <a:ln w="12700">
            <a:solidFill>
              <a:schemeClr val="accent1"/>
            </a:solidFill>
            <a:prstDash val="solid"/>
          </a:ln>
        </p:spPr>
      </p:sp>
      <p:sp>
        <p:nvSpPr>
          <p:cNvPr id="69" name="AI reviewer TC10"/>
          <p:cNvSpPr/>
          <p:nvPr/>
        </p:nvSpPr>
        <p:spPr>
          <a:xfrm>
            <a:off x="7635240" y="3511296"/>
            <a:ext cx="548640" cy="457200"/>
          </a:xfrm>
          <a:prstGeom prst="roundRect">
            <a:avLst>
              <a:gd name="adj" fmla="val 16000"/>
            </a:avLst>
          </a:prstGeom>
          <a:solidFill>
            <a:schemeClr val="accent1"/>
          </a:solidFill>
          <a:ln w="12700">
            <a:solidFill>
              <a:schemeClr val="accent1"/>
            </a:solidFill>
            <a:prstDash val="solid"/>
          </a:ln>
        </p:spPr>
      </p:sp>
      <p:sp>
        <p:nvSpPr>
          <p:cNvPr id="70" name="AI reviewer TC11"/>
          <p:cNvSpPr/>
          <p:nvPr/>
        </p:nvSpPr>
        <p:spPr>
          <a:xfrm>
            <a:off x="8275320" y="3511296"/>
            <a:ext cx="548640" cy="457200"/>
          </a:xfrm>
          <a:prstGeom prst="roundRect">
            <a:avLst>
              <a:gd name="adj" fmla="val 16000"/>
            </a:avLst>
          </a:prstGeom>
          <a:solidFill>
            <a:schemeClr val="accent1"/>
          </a:solidFill>
          <a:ln w="12700">
            <a:solidFill>
              <a:schemeClr val="accent1"/>
            </a:solidFill>
            <a:prstDash val="solid"/>
          </a:ln>
        </p:spPr>
      </p:sp>
      <p:sp>
        <p:nvSpPr>
          <p:cNvPr id="71" name="AI reviewer TC13"/>
          <p:cNvSpPr/>
          <p:nvPr/>
        </p:nvSpPr>
        <p:spPr>
          <a:xfrm>
            <a:off x="8915400" y="3511296"/>
            <a:ext cx="548640" cy="457200"/>
          </a:xfrm>
          <a:prstGeom prst="roundRect">
            <a:avLst>
              <a:gd name="adj" fmla="val 16000"/>
            </a:avLst>
          </a:prstGeom>
          <a:solidFill>
            <a:schemeClr val="accent1"/>
          </a:solidFill>
          <a:ln w="12700">
            <a:solidFill>
              <a:schemeClr val="accent1"/>
            </a:solidFill>
            <a:prstDash val="solid"/>
          </a:ln>
        </p:spPr>
      </p:sp>
      <p:sp>
        <p:nvSpPr>
          <p:cNvPr id="72" name="AI reviewer TC15"/>
          <p:cNvSpPr/>
          <p:nvPr/>
        </p:nvSpPr>
        <p:spPr>
          <a:xfrm>
            <a:off x="9555480" y="3511296"/>
            <a:ext cx="548640" cy="457200"/>
          </a:xfrm>
          <a:prstGeom prst="roundRect">
            <a:avLst>
              <a:gd name="adj" fmla="val 16000"/>
            </a:avLst>
          </a:prstGeom>
          <a:solidFill>
            <a:schemeClr val="accent1"/>
          </a:solidFill>
          <a:ln w="12700">
            <a:solidFill>
              <a:schemeClr val="accent1"/>
            </a:solidFill>
            <a:prstDash val="solid"/>
          </a:ln>
        </p:spPr>
      </p:sp>
      <p:sp>
        <p:nvSpPr>
          <p:cNvPr id="73" name="Total AI reviewer"/>
          <p:cNvSpPr txBox="1"/>
          <p:nvPr/>
        </p:nvSpPr>
        <p:spPr>
          <a:xfrm>
            <a:off x="10332720" y="3511296"/>
            <a:ext cx="1310335" cy="457200"/>
          </a:xfrm>
          <a:prstGeom prst="rect">
            <a:avLst/>
          </a:prstGeom>
          <a:noFill/>
          <a:ln/>
        </p:spPr>
        <p:txBody>
          <a:bodyPr wrap="square" lIns="0" tIns="0" rIns="0" bIns="0" rtlCol="0" anchor="ctr"/>
          <a:lstStyle/>
          <a:p>
            <a:pPr indent="0" marL="0">
              <a:buNone/>
            </a:pPr>
            <a:r>
              <a:rPr lang="en-GB" altLang="en-US" sz="2400" b="1" dirty="0">
                <a:solidFill>
                  <a:schemeClr val="accent1"/>
                </a:solidFill>
              </a:rPr>
              <a:t>11 </a:t>
            </a:r>
            <a:pPr indent="0" marL="0">
              <a:buNone/>
            </a:pPr>
            <a:r>
              <a:rPr lang="en-GB" altLang="en-US" sz="1200" dirty="0">
                <a:solidFill>
                  <a:schemeClr val="accent6"/>
                </a:solidFill>
              </a:rPr>
              <a:t>+1 partly</a:t>
            </a:r>
            <a:endParaRPr lang="en-GB" sz="1400" dirty="0"/>
          </a:p>
        </p:txBody>
      </p:sp>
      <p:sp>
        <p:nvSpPr>
          <p:cNvPr id="74" name="Grid key"/>
          <p:cNvSpPr txBox="1"/>
          <p:nvPr/>
        </p:nvSpPr>
        <p:spPr>
          <a:xfrm>
            <a:off x="548640" y="4078224"/>
            <a:ext cx="11094415" cy="274320"/>
          </a:xfrm>
          <a:prstGeom prst="rect">
            <a:avLst/>
          </a:prstGeom>
          <a:noFill/>
          <a:ln/>
        </p:spPr>
        <p:txBody>
          <a:bodyPr wrap="square" lIns="0" tIns="0" rIns="0" bIns="0" rtlCol="0" anchor="t"/>
          <a:lstStyle/>
          <a:p>
            <a:pPr indent="0" marL="0">
              <a:buNone/>
            </a:pPr>
            <a:r>
              <a:rPr lang="en-GB" altLang="en-US" sz="1200" dirty="0">
                <a:solidFill>
                  <a:schemeClr val="accent6"/>
                </a:solidFill>
              </a:rPr>
              <a:t>Each square is one test with a problem.   Filled = found   ·   Half-filled = partly found   ·   Red band = found only by the AI</a:t>
            </a:r>
            <a:endParaRPr lang="en-GB" sz="1200" dirty="0"/>
          </a:p>
        </p:txBody>
      </p:sp>
      <p:sp>
        <p:nvSpPr>
          <p:cNvPr id="75" name="3 found only by the AI card"/>
          <p:cNvSpPr/>
          <p:nvPr/>
        </p:nvSpPr>
        <p:spPr>
          <a:xfrm>
            <a:off x="548640" y="4471416"/>
            <a:ext cx="3545738" cy="1325880"/>
          </a:xfrm>
          <a:prstGeom prst="roundRect">
            <a:avLst>
              <a:gd name="adj" fmla="val 5517"/>
            </a:avLst>
          </a:prstGeom>
          <a:solidFill>
            <a:schemeClr val="bg2"/>
          </a:solidFill>
          <a:ln w="12700">
            <a:solidFill>
              <a:schemeClr val="bg2"/>
            </a:solidFill>
            <a:prstDash val="solid"/>
          </a:ln>
        </p:spPr>
      </p:sp>
      <p:sp>
        <p:nvSpPr>
          <p:cNvPr id="76" name="3 found only by the AI circle"/>
          <p:cNvSpPr/>
          <p:nvPr/>
        </p:nvSpPr>
        <p:spPr>
          <a:xfrm>
            <a:off x="731520" y="4654296"/>
            <a:ext cx="457200" cy="457200"/>
          </a:xfrm>
          <a:prstGeom prst="ellipse">
            <a:avLst/>
          </a:prstGeom>
          <a:solidFill>
            <a:schemeClr val="accent1"/>
          </a:solidFill>
          <a:ln w="12700">
            <a:solidFill>
              <a:schemeClr val="accent1"/>
            </a:solidFill>
            <a:prstDash val="solid"/>
          </a:ln>
        </p:spPr>
      </p:sp>
      <p:pic>
        <p:nvPicPr>
          <p:cNvPr id="77" name="3 found only by the AI icon" descr="preencoded.png">    </p:cNvPr>
          <p:cNvPicPr>
            <a:picLocks noChangeAspect="1"/>
          </p:cNvPicPr>
          <p:nvPr/>
        </p:nvPicPr>
        <p:blipFill>
          <a:blip r:embed="rId1"/>
          <a:stretch>
            <a:fillRect/>
          </a:stretch>
        </p:blipFill>
        <p:spPr>
          <a:xfrm>
            <a:off x="845820" y="4768596"/>
            <a:ext cx="228600" cy="228600"/>
          </a:xfrm>
          <a:prstGeom prst="rect">
            <a:avLst/>
          </a:prstGeom>
        </p:spPr>
      </p:pic>
      <p:sp>
        <p:nvSpPr>
          <p:cNvPr id="78" name="3 found only by the AI text"/>
          <p:cNvSpPr txBox="1"/>
          <p:nvPr/>
        </p:nvSpPr>
        <p:spPr>
          <a:xfrm>
            <a:off x="1325880" y="4608576"/>
            <a:ext cx="263133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3 found only by the AI</a:t>
            </a:r>
            <a:endParaRPr lang="en-GB" sz="1400" dirty="0"/>
          </a:p>
          <a:p>
            <a:pPr indent="0" marL="0">
              <a:spcAft>
                <a:spcPts val="300"/>
              </a:spcAft>
              <a:buNone/>
            </a:pPr>
            <a:r>
              <a:rPr lang="en-GB" altLang="en-US" sz="1300" dirty="0">
                <a:solidFill>
                  <a:schemeClr val="tx1"/>
                </a:solidFill>
              </a:rPr>
              <a:t>Secrets left in code (TC09, TC15) and a role with too much power (TC13)</a:t>
            </a:r>
            <a:endParaRPr lang="en-GB" sz="1400" dirty="0"/>
          </a:p>
        </p:txBody>
      </p:sp>
      <p:sp>
        <p:nvSpPr>
          <p:cNvPr id="79" name="Scanners barely overlap card"/>
          <p:cNvSpPr/>
          <p:nvPr/>
        </p:nvSpPr>
        <p:spPr>
          <a:xfrm>
            <a:off x="4322978" y="4471416"/>
            <a:ext cx="3545738" cy="1325880"/>
          </a:xfrm>
          <a:prstGeom prst="roundRect">
            <a:avLst>
              <a:gd name="adj" fmla="val 5517"/>
            </a:avLst>
          </a:prstGeom>
          <a:solidFill>
            <a:schemeClr val="bg2"/>
          </a:solidFill>
          <a:ln w="12700">
            <a:solidFill>
              <a:schemeClr val="bg2"/>
            </a:solidFill>
            <a:prstDash val="solid"/>
          </a:ln>
        </p:spPr>
      </p:sp>
      <p:sp>
        <p:nvSpPr>
          <p:cNvPr id="80" name="Scanners barely overlap circle"/>
          <p:cNvSpPr/>
          <p:nvPr/>
        </p:nvSpPr>
        <p:spPr>
          <a:xfrm>
            <a:off x="4505858" y="4654296"/>
            <a:ext cx="457200" cy="457200"/>
          </a:xfrm>
          <a:prstGeom prst="ellipse">
            <a:avLst/>
          </a:prstGeom>
          <a:solidFill>
            <a:schemeClr val="accent2"/>
          </a:solidFill>
          <a:ln w="12700">
            <a:solidFill>
              <a:schemeClr val="accent2"/>
            </a:solidFill>
            <a:prstDash val="solid"/>
          </a:ln>
        </p:spPr>
      </p:sp>
      <p:pic>
        <p:nvPicPr>
          <p:cNvPr id="81" name="Scanners barely overlap icon" descr="preencoded.png">    </p:cNvPr>
          <p:cNvPicPr>
            <a:picLocks noChangeAspect="1"/>
          </p:cNvPicPr>
          <p:nvPr/>
        </p:nvPicPr>
        <p:blipFill>
          <a:blip r:embed="rId2"/>
          <a:stretch>
            <a:fillRect/>
          </a:stretch>
        </p:blipFill>
        <p:spPr>
          <a:xfrm>
            <a:off x="4620158" y="4768596"/>
            <a:ext cx="228600" cy="228600"/>
          </a:xfrm>
          <a:prstGeom prst="rect">
            <a:avLst/>
          </a:prstGeom>
        </p:spPr>
      </p:pic>
      <p:sp>
        <p:nvSpPr>
          <p:cNvPr id="82" name="Scanners barely overlap text"/>
          <p:cNvSpPr txBox="1"/>
          <p:nvPr/>
        </p:nvSpPr>
        <p:spPr>
          <a:xfrm>
            <a:off x="5100218" y="4608576"/>
            <a:ext cx="263133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Scanners barely overlap</a:t>
            </a:r>
            <a:endParaRPr lang="en-GB" sz="1400" dirty="0"/>
          </a:p>
          <a:p>
            <a:pPr indent="0" marL="0">
              <a:spcAft>
                <a:spcPts val="300"/>
              </a:spcAft>
              <a:buNone/>
            </a:pPr>
            <a:r>
              <a:rPr lang="en-GB" altLang="en-US" sz="1300" dirty="0">
                <a:solidFill>
                  <a:schemeClr val="tx1"/>
                </a:solidFill>
              </a:rPr>
              <a:t>Only TC07 found by both. Checkov missed “0.0.0.0/0” but caught the same rule written as “*”</a:t>
            </a:r>
            <a:endParaRPr lang="en-GB" sz="1400" dirty="0"/>
          </a:p>
        </p:txBody>
      </p:sp>
      <p:sp>
        <p:nvSpPr>
          <p:cNvPr id="83" name="But some wrong warnings card"/>
          <p:cNvSpPr/>
          <p:nvPr/>
        </p:nvSpPr>
        <p:spPr>
          <a:xfrm>
            <a:off x="8097317" y="4471416"/>
            <a:ext cx="3545738" cy="1325880"/>
          </a:xfrm>
          <a:prstGeom prst="roundRect">
            <a:avLst>
              <a:gd name="adj" fmla="val 5517"/>
            </a:avLst>
          </a:prstGeom>
          <a:solidFill>
            <a:schemeClr val="bg2"/>
          </a:solidFill>
          <a:ln w="12700">
            <a:solidFill>
              <a:schemeClr val="bg2"/>
            </a:solidFill>
            <a:prstDash val="solid"/>
          </a:ln>
        </p:spPr>
      </p:sp>
      <p:sp>
        <p:nvSpPr>
          <p:cNvPr id="84" name="But some wrong warnings circle"/>
          <p:cNvSpPr/>
          <p:nvPr/>
        </p:nvSpPr>
        <p:spPr>
          <a:xfrm>
            <a:off x="8280197" y="4654296"/>
            <a:ext cx="457200" cy="457200"/>
          </a:xfrm>
          <a:prstGeom prst="ellipse">
            <a:avLst/>
          </a:prstGeom>
          <a:solidFill>
            <a:schemeClr val="accent5"/>
          </a:solidFill>
          <a:ln w="12700">
            <a:solidFill>
              <a:schemeClr val="accent5"/>
            </a:solidFill>
            <a:prstDash val="solid"/>
          </a:ln>
        </p:spPr>
      </p:sp>
      <p:pic>
        <p:nvPicPr>
          <p:cNvPr id="85" name="But some wrong warnings icon" descr="preencoded.png">    </p:cNvPr>
          <p:cNvPicPr>
            <a:picLocks noChangeAspect="1"/>
          </p:cNvPicPr>
          <p:nvPr/>
        </p:nvPicPr>
        <p:blipFill>
          <a:blip r:embed="rId3"/>
          <a:stretch>
            <a:fillRect/>
          </a:stretch>
        </p:blipFill>
        <p:spPr>
          <a:xfrm>
            <a:off x="8394497" y="4768596"/>
            <a:ext cx="228600" cy="228600"/>
          </a:xfrm>
          <a:prstGeom prst="rect">
            <a:avLst/>
          </a:prstGeom>
        </p:spPr>
      </p:pic>
      <p:sp>
        <p:nvSpPr>
          <p:cNvPr id="86" name="But some wrong warnings text"/>
          <p:cNvSpPr txBox="1"/>
          <p:nvPr/>
        </p:nvSpPr>
        <p:spPr>
          <a:xfrm>
            <a:off x="8874557" y="4608576"/>
            <a:ext cx="263133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But some wrong warnings</a:t>
            </a:r>
            <a:endParaRPr lang="en-GB" sz="1400" dirty="0"/>
          </a:p>
          <a:p>
            <a:pPr indent="0" marL="0">
              <a:spcAft>
                <a:spcPts val="300"/>
              </a:spcAft>
              <a:buNone/>
            </a:pPr>
            <a:r>
              <a:rPr lang="en-GB" altLang="en-US" sz="1300" dirty="0">
                <a:solidFill>
                  <a:schemeClr val="tx1"/>
                </a:solidFill>
              </a:rPr>
              <a:t>Wrong warnings in 3 of 9 safe runs; one said “do not merge”. 82% of its 45 findings were right</a:t>
            </a:r>
            <a:endParaRPr lang="en-GB" sz="1400" dirty="0"/>
          </a:p>
        </p:txBody>
      </p:sp>
      <p:sp>
        <p:nvSpPr>
          <p:cNvPr id="87" name="Caveat"/>
          <p:cNvSpPr txBox="1"/>
          <p:nvPr/>
        </p:nvSpPr>
        <p:spPr>
          <a:xfrm>
            <a:off x="548640" y="5888736"/>
            <a:ext cx="11094415" cy="274320"/>
          </a:xfrm>
          <a:prstGeom prst="rect">
            <a:avLst/>
          </a:prstGeom>
          <a:noFill/>
          <a:ln/>
        </p:spPr>
        <p:txBody>
          <a:bodyPr wrap="square" lIns="0" tIns="0" rIns="0" bIns="0" rtlCol="0" anchor="t"/>
          <a:lstStyle/>
          <a:p>
            <a:pPr indent="0" marL="0">
              <a:buNone/>
            </a:pPr>
            <a:r>
              <a:rPr lang="en-GB" altLang="en-US" sz="1100" i="1" dirty="0">
                <a:solidFill>
                  <a:schemeClr val="accent6"/>
                </a:solidFill>
              </a:rPr>
              <a:t>Results for these 15 constructed tests only. “Found” = found in every run of that test. 82% becomes 89% if three findings about weak test files count as right.</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6</a:t>
            </a:fld>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RQ2 and RQ3: useful advice, but some false claims</a:t>
            </a:r>
            <a:endParaRPr lang="en-GB" sz="3600" dirty="0"/>
          </a:p>
        </p:txBody>
      </p:sp>
      <p:sp>
        <p:nvSpPr>
          <p:cNvPr id="3" name="Label RQ2 · Do the AI’s fixes work?"/>
          <p:cNvSpPr txBox="1"/>
          <p:nvPr/>
        </p:nvSpPr>
        <p:spPr>
          <a:xfrm>
            <a:off x="548640" y="1325880"/>
            <a:ext cx="516636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RQ2 · DO THE AI’S FIXES WORK?</a:t>
            </a:r>
            <a:endParaRPr lang="en-GB" sz="1200" dirty="0"/>
          </a:p>
        </p:txBody>
      </p:sp>
      <p:sp>
        <p:nvSpPr>
          <p:cNvPr id="4" name="RQ2 fixes solved the problem circle"/>
          <p:cNvSpPr/>
          <p:nvPr/>
        </p:nvSpPr>
        <p:spPr>
          <a:xfrm>
            <a:off x="548640" y="1801368"/>
            <a:ext cx="566928" cy="566928"/>
          </a:xfrm>
          <a:prstGeom prst="ellipse">
            <a:avLst/>
          </a:prstGeom>
          <a:solidFill>
            <a:schemeClr val="accent4"/>
          </a:solidFill>
          <a:ln w="12700">
            <a:solidFill>
              <a:schemeClr val="accent4"/>
            </a:solidFill>
            <a:prstDash val="solid"/>
          </a:ln>
        </p:spPr>
      </p:sp>
      <p:pic>
        <p:nvPicPr>
          <p:cNvPr id="5" name="RQ2 fixes solved the problem icon" descr="preencoded.png">    </p:cNvPr>
          <p:cNvPicPr>
            <a:picLocks noChangeAspect="1"/>
          </p:cNvPicPr>
          <p:nvPr/>
        </p:nvPicPr>
        <p:blipFill>
          <a:blip r:embed="rId1"/>
          <a:stretch>
            <a:fillRect/>
          </a:stretch>
        </p:blipFill>
        <p:spPr>
          <a:xfrm>
            <a:off x="690372" y="1943100"/>
            <a:ext cx="283464" cy="283464"/>
          </a:xfrm>
          <a:prstGeom prst="rect">
            <a:avLst/>
          </a:prstGeom>
        </p:spPr>
      </p:pic>
      <p:sp>
        <p:nvSpPr>
          <p:cNvPr id="6" name="RQ2 number 1"/>
          <p:cNvSpPr txBox="1"/>
          <p:nvPr/>
        </p:nvSpPr>
        <p:spPr>
          <a:xfrm>
            <a:off x="1280160" y="1691640"/>
            <a:ext cx="1371600" cy="786384"/>
          </a:xfrm>
          <a:prstGeom prst="rect">
            <a:avLst/>
          </a:prstGeom>
          <a:noFill/>
          <a:ln/>
        </p:spPr>
        <p:txBody>
          <a:bodyPr wrap="square" lIns="0" tIns="0" rIns="0" bIns="0" rtlCol="0" anchor="ctr"/>
          <a:lstStyle/>
          <a:p>
            <a:pPr indent="0" marL="0">
              <a:buNone/>
            </a:pPr>
            <a:r>
              <a:rPr lang="en-GB" altLang="en-US" sz="3600" b="1" dirty="0">
                <a:solidFill>
                  <a:schemeClr val="accent4"/>
                </a:solidFill>
              </a:rPr>
              <a:t>12/12</a:t>
            </a:r>
            <a:endParaRPr lang="en-GB" sz="3600" dirty="0"/>
          </a:p>
        </p:txBody>
      </p:sp>
      <p:sp>
        <p:nvSpPr>
          <p:cNvPr id="7" name="RQ2 label 1"/>
          <p:cNvSpPr txBox="1"/>
          <p:nvPr/>
        </p:nvSpPr>
        <p:spPr>
          <a:xfrm>
            <a:off x="2697480" y="1691640"/>
            <a:ext cx="3017520" cy="786384"/>
          </a:xfrm>
          <a:prstGeom prst="rect">
            <a:avLst/>
          </a:prstGeom>
          <a:noFill/>
          <a:ln/>
        </p:spPr>
        <p:txBody>
          <a:bodyPr wrap="square" lIns="0" tIns="0" rIns="0" bIns="0" rtlCol="0" anchor="ctr"/>
          <a:lstStyle/>
          <a:p>
            <a:pPr indent="0" marL="0">
              <a:spcAft>
                <a:spcPts val="200"/>
              </a:spcAft>
              <a:buNone/>
            </a:pPr>
            <a:r>
              <a:rPr lang="en-GB" altLang="en-US" sz="1500" b="1" dirty="0">
                <a:solidFill>
                  <a:schemeClr val="tx2"/>
                </a:solidFill>
              </a:rPr>
              <a:t>fixes solved the problem</a:t>
            </a:r>
            <a:endParaRPr lang="en-GB" sz="1400" dirty="0"/>
          </a:p>
          <a:p>
            <a:pPr indent="0" marL="0">
              <a:spcAft>
                <a:spcPts val="200"/>
              </a:spcAft>
              <a:buNone/>
            </a:pPr>
            <a:r>
              <a:rPr lang="en-GB" altLang="en-US" sz="1200" dirty="0">
                <a:solidFill>
                  <a:schemeClr val="accent6"/>
                </a:solidFill>
              </a:rPr>
              <a:t>8 also confirmed by a scanner</a:t>
            </a:r>
            <a:endParaRPr lang="en-GB" sz="1400" dirty="0"/>
          </a:p>
        </p:txBody>
      </p:sp>
      <p:sp>
        <p:nvSpPr>
          <p:cNvPr id="8" name="RQ2 AI no longer saw the problem circle"/>
          <p:cNvSpPr/>
          <p:nvPr/>
        </p:nvSpPr>
        <p:spPr>
          <a:xfrm>
            <a:off x="548640" y="2788920"/>
            <a:ext cx="566928" cy="566928"/>
          </a:xfrm>
          <a:prstGeom prst="ellipse">
            <a:avLst/>
          </a:prstGeom>
          <a:solidFill>
            <a:schemeClr val="accent2"/>
          </a:solidFill>
          <a:ln w="12700">
            <a:solidFill>
              <a:schemeClr val="accent2"/>
            </a:solidFill>
            <a:prstDash val="solid"/>
          </a:ln>
        </p:spPr>
      </p:sp>
      <p:pic>
        <p:nvPicPr>
          <p:cNvPr id="9" name="RQ2 AI no longer saw the problem icon" descr="preencoded.png">    </p:cNvPr>
          <p:cNvPicPr>
            <a:picLocks noChangeAspect="1"/>
          </p:cNvPicPr>
          <p:nvPr/>
        </p:nvPicPr>
        <p:blipFill>
          <a:blip r:embed="rId2"/>
          <a:stretch>
            <a:fillRect/>
          </a:stretch>
        </p:blipFill>
        <p:spPr>
          <a:xfrm>
            <a:off x="690372" y="2930652"/>
            <a:ext cx="283464" cy="283464"/>
          </a:xfrm>
          <a:prstGeom prst="rect">
            <a:avLst/>
          </a:prstGeom>
        </p:spPr>
      </p:pic>
      <p:sp>
        <p:nvSpPr>
          <p:cNvPr id="10" name="RQ2 number 2"/>
          <p:cNvSpPr txBox="1"/>
          <p:nvPr/>
        </p:nvSpPr>
        <p:spPr>
          <a:xfrm>
            <a:off x="1280160" y="2679192"/>
            <a:ext cx="1371600" cy="786384"/>
          </a:xfrm>
          <a:prstGeom prst="rect">
            <a:avLst/>
          </a:prstGeom>
          <a:noFill/>
          <a:ln/>
        </p:spPr>
        <p:txBody>
          <a:bodyPr wrap="square" lIns="0" tIns="0" rIns="0" bIns="0" rtlCol="0" anchor="ctr"/>
          <a:lstStyle/>
          <a:p>
            <a:pPr indent="0" marL="0">
              <a:buNone/>
            </a:pPr>
            <a:r>
              <a:rPr lang="en-GB" altLang="en-US" sz="3600" b="1" dirty="0">
                <a:solidFill>
                  <a:schemeClr val="accent2"/>
                </a:solidFill>
              </a:rPr>
              <a:t>9/12</a:t>
            </a:r>
            <a:endParaRPr lang="en-GB" sz="3600" dirty="0"/>
          </a:p>
        </p:txBody>
      </p:sp>
      <p:sp>
        <p:nvSpPr>
          <p:cNvPr id="11" name="RQ2 label 2"/>
          <p:cNvSpPr txBox="1"/>
          <p:nvPr/>
        </p:nvSpPr>
        <p:spPr>
          <a:xfrm>
            <a:off x="2697480" y="2679192"/>
            <a:ext cx="3017520" cy="786384"/>
          </a:xfrm>
          <a:prstGeom prst="rect">
            <a:avLst/>
          </a:prstGeom>
          <a:noFill/>
          <a:ln/>
        </p:spPr>
        <p:txBody>
          <a:bodyPr wrap="square" lIns="0" tIns="0" rIns="0" bIns="0" rtlCol="0" anchor="ctr"/>
          <a:lstStyle/>
          <a:p>
            <a:pPr indent="0" marL="0">
              <a:spcAft>
                <a:spcPts val="200"/>
              </a:spcAft>
              <a:buNone/>
            </a:pPr>
            <a:r>
              <a:rPr lang="en-GB" altLang="en-US" sz="1500" b="1" dirty="0">
                <a:solidFill>
                  <a:schemeClr val="tx2"/>
                </a:solidFill>
              </a:rPr>
              <a:t>AI no longer saw the problem</a:t>
            </a:r>
            <a:endParaRPr lang="en-GB" sz="1400" dirty="0"/>
          </a:p>
          <a:p>
            <a:pPr indent="0" marL="0">
              <a:spcAft>
                <a:spcPts val="200"/>
              </a:spcAft>
              <a:buNone/>
            </a:pPr>
            <a:r>
              <a:rPr lang="en-GB" altLang="en-US" sz="1200" dirty="0">
                <a:solidFill>
                  <a:schemeClr val="accent6"/>
                </a:solidFill>
              </a:rPr>
              <a:t>an old comment caused 2 HIGH flags</a:t>
            </a:r>
            <a:endParaRPr lang="en-GB" sz="1400" dirty="0"/>
          </a:p>
          <a:p>
            <a:pPr indent="0" marL="0">
              <a:spcAft>
                <a:spcPts val="200"/>
              </a:spcAft>
              <a:buNone/>
            </a:pPr>
            <a:r>
              <a:rPr lang="en-GB" altLang="en-US" sz="1200" dirty="0">
                <a:solidFill>
                  <a:schemeClr val="accent6"/>
                </a:solidFill>
              </a:rPr>
              <a:t>1 fix not reviewed (delete-only)</a:t>
            </a:r>
            <a:endParaRPr lang="en-GB" sz="1400" dirty="0"/>
          </a:p>
        </p:txBody>
      </p:sp>
      <p:sp>
        <p:nvSpPr>
          <p:cNvPr id="12" name="RQ2 tip broke the code circle"/>
          <p:cNvSpPr/>
          <p:nvPr/>
        </p:nvSpPr>
        <p:spPr>
          <a:xfrm>
            <a:off x="548640" y="3776472"/>
            <a:ext cx="566928" cy="566928"/>
          </a:xfrm>
          <a:prstGeom prst="ellipse">
            <a:avLst/>
          </a:prstGeom>
          <a:solidFill>
            <a:schemeClr val="accent1"/>
          </a:solidFill>
          <a:ln w="12700">
            <a:solidFill>
              <a:schemeClr val="accent1"/>
            </a:solidFill>
            <a:prstDash val="solid"/>
          </a:ln>
        </p:spPr>
      </p:sp>
      <p:pic>
        <p:nvPicPr>
          <p:cNvPr id="13" name="RQ2 tip broke the code icon" descr="preencoded.png">    </p:cNvPr>
          <p:cNvPicPr>
            <a:picLocks noChangeAspect="1"/>
          </p:cNvPicPr>
          <p:nvPr/>
        </p:nvPicPr>
        <p:blipFill>
          <a:blip r:embed="rId3"/>
          <a:stretch>
            <a:fillRect/>
          </a:stretch>
        </p:blipFill>
        <p:spPr>
          <a:xfrm>
            <a:off x="690372" y="3918204"/>
            <a:ext cx="283464" cy="283464"/>
          </a:xfrm>
          <a:prstGeom prst="rect">
            <a:avLst/>
          </a:prstGeom>
        </p:spPr>
      </p:pic>
      <p:sp>
        <p:nvSpPr>
          <p:cNvPr id="14" name="RQ2 number 3"/>
          <p:cNvSpPr txBox="1"/>
          <p:nvPr/>
        </p:nvSpPr>
        <p:spPr>
          <a:xfrm>
            <a:off x="1280160" y="3666744"/>
            <a:ext cx="1371600" cy="786384"/>
          </a:xfrm>
          <a:prstGeom prst="rect">
            <a:avLst/>
          </a:prstGeom>
          <a:noFill/>
          <a:ln/>
        </p:spPr>
        <p:txBody>
          <a:bodyPr wrap="square" lIns="0" tIns="0" rIns="0" bIns="0" rtlCol="0" anchor="ctr"/>
          <a:lstStyle/>
          <a:p>
            <a:pPr indent="0" marL="0">
              <a:buNone/>
            </a:pPr>
            <a:r>
              <a:rPr lang="en-GB" altLang="en-US" sz="3600" b="1" dirty="0">
                <a:solidFill>
                  <a:schemeClr val="accent1"/>
                </a:solidFill>
              </a:rPr>
              <a:t>1</a:t>
            </a:r>
            <a:endParaRPr lang="en-GB" sz="3600" dirty="0"/>
          </a:p>
        </p:txBody>
      </p:sp>
      <p:sp>
        <p:nvSpPr>
          <p:cNvPr id="15" name="RQ2 label 3"/>
          <p:cNvSpPr txBox="1"/>
          <p:nvPr/>
        </p:nvSpPr>
        <p:spPr>
          <a:xfrm>
            <a:off x="2697480" y="3666744"/>
            <a:ext cx="3017520" cy="786384"/>
          </a:xfrm>
          <a:prstGeom prst="rect">
            <a:avLst/>
          </a:prstGeom>
          <a:noFill/>
          <a:ln/>
        </p:spPr>
        <p:txBody>
          <a:bodyPr wrap="square" lIns="0" tIns="0" rIns="0" bIns="0" rtlCol="0" anchor="ctr"/>
          <a:lstStyle/>
          <a:p>
            <a:pPr indent="0" marL="0">
              <a:spcAft>
                <a:spcPts val="200"/>
              </a:spcAft>
              <a:buNone/>
            </a:pPr>
            <a:r>
              <a:rPr lang="en-GB" altLang="en-US" sz="1500" b="1" dirty="0">
                <a:solidFill>
                  <a:schemeClr val="tx2"/>
                </a:solidFill>
              </a:rPr>
              <a:t>tip broke the code</a:t>
            </a:r>
            <a:endParaRPr lang="en-GB" sz="1400" dirty="0"/>
          </a:p>
          <a:p>
            <a:pPr indent="0" marL="0">
              <a:spcAft>
                <a:spcPts val="200"/>
              </a:spcAft>
              <a:buNone/>
            </a:pPr>
            <a:r>
              <a:rPr lang="en-GB" altLang="en-US" sz="1200" dirty="0">
                <a:solidFill>
                  <a:schemeClr val="accent6"/>
                </a:solidFill>
              </a:rPr>
              <a:t>TC10: it said a role needs tags</a:t>
            </a:r>
            <a:endParaRPr lang="en-GB" sz="1400" dirty="0"/>
          </a:p>
        </p:txBody>
      </p:sp>
      <p:sp>
        <p:nvSpPr>
          <p:cNvPr id="16" name="Validate error card"/>
          <p:cNvSpPr/>
          <p:nvPr/>
        </p:nvSpPr>
        <p:spPr>
          <a:xfrm>
            <a:off x="548640" y="4754880"/>
            <a:ext cx="5166360" cy="868680"/>
          </a:xfrm>
          <a:prstGeom prst="roundRect">
            <a:avLst>
              <a:gd name="adj" fmla="val 8421"/>
            </a:avLst>
          </a:prstGeom>
          <a:solidFill>
            <a:schemeClr val="bg2"/>
          </a:solidFill>
          <a:ln w="12700">
            <a:solidFill>
              <a:schemeClr val="bg2"/>
            </a:solidFill>
            <a:prstDash val="solid"/>
          </a:ln>
        </p:spPr>
      </p:sp>
      <p:sp>
        <p:nvSpPr>
          <p:cNvPr id="17" name="Validate error"/>
          <p:cNvSpPr txBox="1"/>
          <p:nvPr/>
        </p:nvSpPr>
        <p:spPr>
          <a:xfrm>
            <a:off x="731520" y="4754880"/>
            <a:ext cx="4800600" cy="868680"/>
          </a:xfrm>
          <a:prstGeom prst="rect">
            <a:avLst/>
          </a:prstGeom>
          <a:noFill/>
          <a:ln/>
        </p:spPr>
        <p:txBody>
          <a:bodyPr wrap="square" lIns="0" tIns="0" rIns="0" bIns="0" rtlCol="0" anchor="ctr"/>
          <a:lstStyle/>
          <a:p>
            <a:pPr indent="0" marL="0">
              <a:spcAft>
                <a:spcPts val="300"/>
              </a:spcAft>
              <a:buNone/>
            </a:pPr>
            <a:r>
              <a:rPr lang="en-GB" altLang="en-US" sz="1100" dirty="0">
                <a:solidFill>
                  <a:schemeClr val="accent6"/>
                </a:solidFill>
              </a:rPr>
              <a:t>Terraform’s check, after following that tip</a:t>
            </a:r>
            <a:endParaRPr lang="en-GB" sz="1400" dirty="0"/>
          </a:p>
          <a:p>
            <a:pPr indent="0" marL="0">
              <a:spcAft>
                <a:spcPts val="300"/>
              </a:spcAft>
              <a:buNone/>
            </a:pPr>
            <a:r>
              <a:rPr lang="en-GB" altLang="en-US" sz="1300" b="1" dirty="0">
                <a:solidFill>
                  <a:schemeClr val="accent1"/>
                </a:solidFill>
                <a:latin typeface="Courier New" pitchFamily="34" charset="0"/>
                <a:ea typeface="Courier New" pitchFamily="34" charset="-122"/>
                <a:cs typeface="Courier New" pitchFamily="34" charset="-120"/>
              </a:rPr>
              <a:t>An argument named "tags" is not expected here.</a:t>
            </a:r>
            <a:endParaRPr lang="en-GB" sz="1400" dirty="0"/>
          </a:p>
        </p:txBody>
      </p:sp>
      <p:sp>
        <p:nvSpPr>
          <p:cNvPr id="18" name="Label RQ3 · Do its comments help understanding?"/>
          <p:cNvSpPr txBox="1"/>
          <p:nvPr/>
        </p:nvSpPr>
        <p:spPr>
          <a:xfrm>
            <a:off x="6172200" y="1325880"/>
            <a:ext cx="5470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RQ3 · DO ITS COMMENTS HELP UNDERSTANDING?</a:t>
            </a:r>
            <a:endParaRPr lang="en-GB" sz="1200" dirty="0"/>
          </a:p>
        </p:txBody>
      </p:sp>
      <p:sp>
        <p:nvSpPr>
          <p:cNvPr id="19" name="Scanner comment card"/>
          <p:cNvSpPr/>
          <p:nvPr/>
        </p:nvSpPr>
        <p:spPr>
          <a:xfrm>
            <a:off x="6172200" y="1645920"/>
            <a:ext cx="2643988" cy="1417320"/>
          </a:xfrm>
          <a:prstGeom prst="roundRect">
            <a:avLst>
              <a:gd name="adj" fmla="val 5161"/>
            </a:avLst>
          </a:prstGeom>
          <a:solidFill>
            <a:schemeClr val="bg2"/>
          </a:solidFill>
          <a:ln w="12700">
            <a:solidFill>
              <a:schemeClr val="bg2"/>
            </a:solidFill>
            <a:prstDash val="solid"/>
          </a:ln>
        </p:spPr>
      </p:sp>
      <p:sp>
        <p:nvSpPr>
          <p:cNvPr id="20" name="Scanner says"/>
          <p:cNvSpPr txBox="1"/>
          <p:nvPr/>
        </p:nvSpPr>
        <p:spPr>
          <a:xfrm>
            <a:off x="6336792" y="1755648"/>
            <a:ext cx="2369668" cy="274320"/>
          </a:xfrm>
          <a:prstGeom prst="rect">
            <a:avLst/>
          </a:prstGeom>
          <a:noFill/>
          <a:ln/>
        </p:spPr>
        <p:txBody>
          <a:bodyPr wrap="square" lIns="0" tIns="0" rIns="0" bIns="0" rtlCol="0" anchor="t"/>
          <a:lstStyle/>
          <a:p>
            <a:pPr indent="0" marL="0">
              <a:buNone/>
            </a:pPr>
            <a:r>
              <a:rPr lang="en-GB" altLang="en-US" sz="1300" b="1" dirty="0">
                <a:solidFill>
                  <a:schemeClr val="accent6"/>
                </a:solidFill>
              </a:rPr>
              <a:t>Scanner says</a:t>
            </a:r>
            <a:endParaRPr lang="en-GB" sz="1300" dirty="0"/>
          </a:p>
        </p:txBody>
      </p:sp>
      <p:sp>
        <p:nvSpPr>
          <p:cNvPr id="21" name="Scanner example"/>
          <p:cNvSpPr txBox="1"/>
          <p:nvPr/>
        </p:nvSpPr>
        <p:spPr>
          <a:xfrm>
            <a:off x="6336792" y="2057400"/>
            <a:ext cx="2369668" cy="960120"/>
          </a:xfrm>
          <a:prstGeom prst="rect">
            <a:avLst/>
          </a:prstGeom>
          <a:noFill/>
          <a:ln/>
        </p:spPr>
        <p:txBody>
          <a:bodyPr wrap="square" lIns="0" tIns="0" rIns="0" bIns="0" rtlCol="0" anchor="t"/>
          <a:lstStyle/>
          <a:p>
            <a:pPr indent="0" marL="0">
              <a:buNone/>
            </a:pPr>
            <a:r>
              <a:rPr lang="en-GB" altLang="en-US" sz="1100" dirty="0">
                <a:solidFill>
                  <a:schemeClr val="tx1"/>
                </a:solidFill>
                <a:latin typeface="Courier New" pitchFamily="34" charset="0"/>
                <a:ea typeface="Courier New" pitchFamily="34" charset="-122"/>
                <a:cs typeface="Courier New" pitchFamily="34" charset="-120"/>
              </a:rPr>
              <a:t>CRITICAL · AVD-AZU-0047 — Security group rule allows ingress from public internet.</a:t>
            </a:r>
            <a:endParaRPr lang="en-GB" sz="1100" dirty="0"/>
          </a:p>
        </p:txBody>
      </p:sp>
      <p:sp>
        <p:nvSpPr>
          <p:cNvPr id="22" name="AI comment card"/>
          <p:cNvSpPr/>
          <p:nvPr/>
        </p:nvSpPr>
        <p:spPr>
          <a:xfrm>
            <a:off x="8999068" y="1645920"/>
            <a:ext cx="2643988" cy="1417320"/>
          </a:xfrm>
          <a:prstGeom prst="roundRect">
            <a:avLst>
              <a:gd name="adj" fmla="val 5161"/>
            </a:avLst>
          </a:prstGeom>
          <a:solidFill>
            <a:schemeClr val="bg1"/>
          </a:solidFill>
          <a:ln w="19050">
            <a:solidFill>
              <a:srgbClr val="C73D1A"/>
            </a:solidFill>
            <a:prstDash val="solid"/>
          </a:ln>
        </p:spPr>
      </p:sp>
      <p:sp>
        <p:nvSpPr>
          <p:cNvPr id="23" name="AI explains"/>
          <p:cNvSpPr txBox="1"/>
          <p:nvPr/>
        </p:nvSpPr>
        <p:spPr>
          <a:xfrm>
            <a:off x="9163660" y="1755648"/>
            <a:ext cx="2369668" cy="274320"/>
          </a:xfrm>
          <a:prstGeom prst="rect">
            <a:avLst/>
          </a:prstGeom>
          <a:noFill/>
          <a:ln/>
        </p:spPr>
        <p:txBody>
          <a:bodyPr wrap="square" lIns="0" tIns="0" rIns="0" bIns="0" rtlCol="0" anchor="t"/>
          <a:lstStyle/>
          <a:p>
            <a:pPr indent="0" marL="0">
              <a:buNone/>
            </a:pPr>
            <a:r>
              <a:rPr lang="en-GB" altLang="en-US" sz="1300" b="1" dirty="0">
                <a:solidFill>
                  <a:schemeClr val="accent1"/>
                </a:solidFill>
              </a:rPr>
              <a:t>AI explains</a:t>
            </a:r>
            <a:endParaRPr lang="en-GB" sz="1300" dirty="0"/>
          </a:p>
        </p:txBody>
      </p:sp>
      <p:pic>
        <p:nvPicPr>
          <p:cNvPr id="24" name="AI tick 1" descr="preencoded.png">    </p:cNvPr>
          <p:cNvPicPr>
            <a:picLocks noChangeAspect="1"/>
          </p:cNvPicPr>
          <p:nvPr/>
        </p:nvPicPr>
        <p:blipFill>
          <a:blip r:embed="rId4"/>
          <a:stretch>
            <a:fillRect/>
          </a:stretch>
        </p:blipFill>
        <p:spPr>
          <a:xfrm>
            <a:off x="9181948" y="2148840"/>
            <a:ext cx="182880" cy="182880"/>
          </a:xfrm>
          <a:prstGeom prst="rect">
            <a:avLst/>
          </a:prstGeom>
        </p:spPr>
      </p:pic>
      <p:sp>
        <p:nvSpPr>
          <p:cNvPr id="25" name="AI point 1"/>
          <p:cNvSpPr txBox="1"/>
          <p:nvPr/>
        </p:nvSpPr>
        <p:spPr>
          <a:xfrm>
            <a:off x="9456268" y="2103120"/>
            <a:ext cx="2095348" cy="274320"/>
          </a:xfrm>
          <a:prstGeom prst="rect">
            <a:avLst/>
          </a:prstGeom>
          <a:noFill/>
          <a:ln/>
        </p:spPr>
        <p:txBody>
          <a:bodyPr wrap="square" lIns="0" tIns="0" rIns="0" bIns="0" rtlCol="0" anchor="t"/>
          <a:lstStyle/>
          <a:p>
            <a:pPr indent="0" marL="0">
              <a:buNone/>
            </a:pPr>
            <a:r>
              <a:rPr lang="en-GB" altLang="en-US" sz="1400" b="1" dirty="0">
                <a:solidFill>
                  <a:schemeClr val="tx2"/>
                </a:solidFill>
              </a:rPr>
              <a:t>What is wrong</a:t>
            </a:r>
            <a:endParaRPr lang="en-GB" sz="1400" dirty="0"/>
          </a:p>
        </p:txBody>
      </p:sp>
      <p:pic>
        <p:nvPicPr>
          <p:cNvPr id="26" name="AI tick 2" descr="preencoded.png">    </p:cNvPr>
          <p:cNvPicPr>
            <a:picLocks noChangeAspect="1"/>
          </p:cNvPicPr>
          <p:nvPr/>
        </p:nvPicPr>
        <p:blipFill>
          <a:blip r:embed="rId5"/>
          <a:stretch>
            <a:fillRect/>
          </a:stretch>
        </p:blipFill>
        <p:spPr>
          <a:xfrm>
            <a:off x="9181948" y="2450592"/>
            <a:ext cx="182880" cy="182880"/>
          </a:xfrm>
          <a:prstGeom prst="rect">
            <a:avLst/>
          </a:prstGeom>
        </p:spPr>
      </p:pic>
      <p:sp>
        <p:nvSpPr>
          <p:cNvPr id="27" name="AI point 2"/>
          <p:cNvSpPr txBox="1"/>
          <p:nvPr/>
        </p:nvSpPr>
        <p:spPr>
          <a:xfrm>
            <a:off x="9456268" y="2404872"/>
            <a:ext cx="2095348" cy="274320"/>
          </a:xfrm>
          <a:prstGeom prst="rect">
            <a:avLst/>
          </a:prstGeom>
          <a:noFill/>
          <a:ln/>
        </p:spPr>
        <p:txBody>
          <a:bodyPr wrap="square" lIns="0" tIns="0" rIns="0" bIns="0" rtlCol="0" anchor="t"/>
          <a:lstStyle/>
          <a:p>
            <a:pPr indent="0" marL="0">
              <a:buNone/>
            </a:pPr>
            <a:r>
              <a:rPr lang="en-GB" altLang="en-US" sz="1400" b="1" dirty="0">
                <a:solidFill>
                  <a:schemeClr val="tx2"/>
                </a:solidFill>
              </a:rPr>
              <a:t>Why it matters</a:t>
            </a:r>
            <a:endParaRPr lang="en-GB" sz="1400" dirty="0"/>
          </a:p>
        </p:txBody>
      </p:sp>
      <p:pic>
        <p:nvPicPr>
          <p:cNvPr id="28" name="AI tick 3" descr="preencoded.png">    </p:cNvPr>
          <p:cNvPicPr>
            <a:picLocks noChangeAspect="1"/>
          </p:cNvPicPr>
          <p:nvPr/>
        </p:nvPicPr>
        <p:blipFill>
          <a:blip r:embed="rId6"/>
          <a:stretch>
            <a:fillRect/>
          </a:stretch>
        </p:blipFill>
        <p:spPr>
          <a:xfrm>
            <a:off x="9181948" y="2752344"/>
            <a:ext cx="182880" cy="182880"/>
          </a:xfrm>
          <a:prstGeom prst="rect">
            <a:avLst/>
          </a:prstGeom>
        </p:spPr>
      </p:pic>
      <p:sp>
        <p:nvSpPr>
          <p:cNvPr id="29" name="AI point 3"/>
          <p:cNvSpPr txBox="1"/>
          <p:nvPr/>
        </p:nvSpPr>
        <p:spPr>
          <a:xfrm>
            <a:off x="9456268" y="2706624"/>
            <a:ext cx="2095348" cy="274320"/>
          </a:xfrm>
          <a:prstGeom prst="rect">
            <a:avLst/>
          </a:prstGeom>
          <a:noFill/>
          <a:ln/>
        </p:spPr>
        <p:txBody>
          <a:bodyPr wrap="square" lIns="0" tIns="0" rIns="0" bIns="0" rtlCol="0" anchor="t"/>
          <a:lstStyle/>
          <a:p>
            <a:pPr indent="0" marL="0">
              <a:buNone/>
            </a:pPr>
            <a:r>
              <a:rPr lang="en-GB" altLang="en-US" sz="1400" b="1" dirty="0">
                <a:solidFill>
                  <a:schemeClr val="tx2"/>
                </a:solidFill>
              </a:rPr>
              <a:t>How to fix it</a:t>
            </a:r>
            <a:endParaRPr lang="en-GB" sz="1400" dirty="0"/>
          </a:p>
        </p:txBody>
      </p:sp>
      <p:graphicFrame>
        <p:nvGraphicFramePr>
          <p:cNvPr id="30" name="Score chart" descr=""/>
          <p:cNvGraphicFramePr/>
          <p:nvPr/>
        </p:nvGraphicFramePr>
        <p:xfrm>
          <a:off x="6172200" y="3154680"/>
          <a:ext cx="5470855" cy="1691640"/>
        </p:xfrm>
        <a:graphic xmlns:a="http://schemas.openxmlformats.org/drawingml/2006/main">
          <a:graphicData uri="http://schemas.openxmlformats.org/drawingml/2006/chart">
            <c:chart xmlns:c="http://schemas.openxmlformats.org/drawingml/2006/chart" r:id="rId7"/>
          </a:graphicData>
        </a:graphic>
      </p:graphicFrame>
      <p:sp>
        <p:nvSpPr>
          <p:cNvPr id="31" name="RQ3 risk"/>
          <p:cNvSpPr txBox="1"/>
          <p:nvPr/>
        </p:nvSpPr>
        <p:spPr>
          <a:xfrm>
            <a:off x="6172200" y="4937760"/>
            <a:ext cx="5470855" cy="411480"/>
          </a:xfrm>
          <a:prstGeom prst="rect">
            <a:avLst/>
          </a:prstGeom>
          <a:noFill/>
          <a:ln/>
        </p:spPr>
        <p:txBody>
          <a:bodyPr wrap="square" lIns="0" tIns="0" rIns="0" bIns="0" rtlCol="0" anchor="t"/>
          <a:lstStyle/>
          <a:p>
            <a:pPr indent="0" marL="0">
              <a:buNone/>
            </a:pPr>
            <a:r>
              <a:rPr lang="en-GB" altLang="en-US" sz="1500" b="1" dirty="0">
                <a:solidFill>
                  <a:schemeClr val="accent1"/>
                </a:solidFill>
              </a:rPr>
              <a:t>Risk: </a:t>
            </a:r>
            <a:pPr indent="0" marL="0">
              <a:buNone/>
            </a:pPr>
            <a:r>
              <a:rPr lang="en-GB" altLang="en-US" sz="1500" dirty="0">
                <a:solidFill>
                  <a:schemeClr val="tx1"/>
                </a:solidFill>
              </a:rPr>
              <a:t>sometimes wrong, but sounds sure of itself (Ji et al., 2023)</a:t>
            </a:r>
            <a:endParaRPr lang="en-GB" sz="1500" dirty="0"/>
          </a:p>
        </p:txBody>
      </p:sp>
      <p:sp>
        <p:nvSpPr>
          <p:cNvPr id="32" name="Scoring caveat"/>
          <p:cNvSpPr txBox="1"/>
          <p:nvPr/>
        </p:nvSpPr>
        <p:spPr>
          <a:xfrm>
            <a:off x="6172200" y="5394960"/>
            <a:ext cx="5470855" cy="274320"/>
          </a:xfrm>
          <a:prstGeom prst="rect">
            <a:avLst/>
          </a:prstGeom>
          <a:noFill/>
          <a:ln/>
        </p:spPr>
        <p:txBody>
          <a:bodyPr wrap="square" lIns="0" tIns="0" rIns="0" bIns="0" rtlCol="0" anchor="t"/>
          <a:lstStyle/>
          <a:p>
            <a:pPr indent="0" marL="0">
              <a:buNone/>
            </a:pPr>
            <a:r>
              <a:rPr lang="en-GB" altLang="en-US" sz="1100" i="1" dirty="0">
                <a:solidFill>
                  <a:schemeClr val="accent6"/>
                </a:solidFill>
              </a:rPr>
              <a:t>Scored once, with AI help; the reason for each score is recorded.</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7</a:t>
            </a:fld>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RQ4: code comments changed the AI’s verdict</a:t>
            </a:r>
            <a:endParaRPr lang="en-GB" sz="3600" dirty="0"/>
          </a:p>
        </p:txBody>
      </p:sp>
      <p:sp>
        <p:nvSpPr>
          <p:cNvPr id="3" name="(a) card"/>
          <p:cNvSpPr/>
          <p:nvPr/>
        </p:nvSpPr>
        <p:spPr>
          <a:xfrm>
            <a:off x="548640" y="1325880"/>
            <a:ext cx="6446520" cy="1828800"/>
          </a:xfrm>
          <a:prstGeom prst="roundRect">
            <a:avLst>
              <a:gd name="adj" fmla="val 4000"/>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 name="(a) heading"/>
          <p:cNvSpPr txBox="1"/>
          <p:nvPr/>
        </p:nvSpPr>
        <p:spPr>
          <a:xfrm>
            <a:off x="777240" y="1453896"/>
            <a:ext cx="5989320" cy="310896"/>
          </a:xfrm>
          <a:prstGeom prst="rect">
            <a:avLst/>
          </a:prstGeom>
          <a:noFill/>
          <a:ln/>
        </p:spPr>
        <p:txBody>
          <a:bodyPr wrap="square" lIns="0" tIns="0" rIns="0" bIns="0" rtlCol="0" anchor="t"/>
          <a:lstStyle/>
          <a:p>
            <a:pPr indent="0" marL="0">
              <a:buNone/>
            </a:pPr>
            <a:r>
              <a:rPr lang="en-GB" altLang="en-US" sz="1600" b="1" dirty="0">
                <a:solidFill>
                  <a:schemeClr val="accent1"/>
                </a:solidFill>
              </a:rPr>
              <a:t>(a)  </a:t>
            </a:r>
            <a:pPr indent="0" marL="0">
              <a:buNone/>
            </a:pPr>
            <a:r>
              <a:rPr lang="en-GB" altLang="en-US" sz="1600" b="1" dirty="0">
                <a:solidFill>
                  <a:schemeClr val="tx2"/>
                </a:solidFill>
              </a:rPr>
              <a:t>Old comment left in · PR #85</a:t>
            </a:r>
            <a:endParaRPr lang="en-GB" sz="1600" dirty="0"/>
          </a:p>
        </p:txBody>
      </p:sp>
      <p:sp>
        <p:nvSpPr>
          <p:cNvPr id="5" name="(a) code box"/>
          <p:cNvSpPr/>
          <p:nvPr/>
        </p:nvSpPr>
        <p:spPr>
          <a:xfrm>
            <a:off x="777240" y="1828800"/>
            <a:ext cx="5989320" cy="502920"/>
          </a:xfrm>
          <a:prstGeom prst="roundRect">
            <a:avLst>
              <a:gd name="adj" fmla="val 7273"/>
            </a:avLst>
          </a:prstGeom>
          <a:solidFill>
            <a:schemeClr val="bg2"/>
          </a:solidFill>
          <a:ln w="12700">
            <a:solidFill>
              <a:schemeClr val="bg2"/>
            </a:solidFill>
            <a:prstDash val="solid"/>
          </a:ln>
        </p:spPr>
      </p:sp>
      <p:sp>
        <p:nvSpPr>
          <p:cNvPr id="6" name="(a) code"/>
          <p:cNvSpPr txBox="1"/>
          <p:nvPr/>
        </p:nvSpPr>
        <p:spPr>
          <a:xfrm>
            <a:off x="868680" y="1828800"/>
            <a:ext cx="5897880" cy="502920"/>
          </a:xfrm>
          <a:prstGeom prst="rect">
            <a:avLst/>
          </a:prstGeom>
          <a:noFill/>
          <a:ln/>
        </p:spPr>
        <p:txBody>
          <a:bodyPr wrap="square" lIns="0" tIns="0" rIns="0" bIns="0" rtlCol="0" anchor="ctr"/>
          <a:lstStyle/>
          <a:p>
            <a:pPr indent="0" marL="0">
              <a:buNone/>
            </a:pPr>
            <a:r>
              <a:rPr lang="en-GB" altLang="en-US" sz="1000" dirty="0">
                <a:solidFill>
                  <a:schemeClr val="accent4"/>
                </a:solidFill>
                <a:latin typeface="Courier New" pitchFamily="34" charset="0"/>
                <a:ea typeface="Courier New" pitchFamily="34" charset="-122"/>
                <a:cs typeface="Courier New" pitchFamily="34" charset="-120"/>
              </a:rPr>
              <a:t># TC02: Deliberately unrestricted SSH access</a:t>
            </a:r>
            <a:endParaRPr lang="en-GB" sz="1000" dirty="0"/>
          </a:p>
          <a:p>
            <a:pPr indent="0" marL="0">
              <a:buNone/>
            </a:pPr>
            <a:r>
              <a:rPr lang="en-GB" altLang="en-US" sz="1000" dirty="0">
                <a:solidFill>
                  <a:schemeClr val="tx1"/>
                </a:solidFill>
                <a:latin typeface="Courier New" pitchFamily="34" charset="0"/>
                <a:ea typeface="Courier New" pitchFamily="34" charset="-122"/>
                <a:cs typeface="Courier New" pitchFamily="34" charset="-120"/>
              </a:rPr>
              <a:t>source_address_prefix = "203.0.113.10/32"</a:t>
            </a:r>
            <a:endParaRPr lang="en-GB" sz="1000" dirty="0"/>
          </a:p>
        </p:txBody>
      </p:sp>
      <p:sp>
        <p:nvSpPr>
          <p:cNvPr id="7" name="(a) verdict pill"/>
          <p:cNvSpPr/>
          <p:nvPr/>
        </p:nvSpPr>
        <p:spPr>
          <a:xfrm>
            <a:off x="777240" y="2496312"/>
            <a:ext cx="2148840" cy="438912"/>
          </a:xfrm>
          <a:prstGeom prst="roundRect">
            <a:avLst>
              <a:gd name="adj" fmla="val 50000"/>
            </a:avLst>
          </a:prstGeom>
          <a:solidFill>
            <a:schemeClr val="accent1"/>
          </a:solidFill>
          <a:ln w="12700">
            <a:solidFill>
              <a:schemeClr val="accent1"/>
            </a:solidFill>
            <a:prstDash val="solid"/>
          </a:ln>
        </p:spPr>
      </p:sp>
      <p:pic>
        <p:nvPicPr>
          <p:cNvPr id="8" name="(a) verdict icon" descr="preencoded.png">    </p:cNvPr>
          <p:cNvPicPr>
            <a:picLocks noChangeAspect="1"/>
          </p:cNvPicPr>
          <p:nvPr/>
        </p:nvPicPr>
        <p:blipFill>
          <a:blip r:embed="rId1"/>
          <a:stretch>
            <a:fillRect/>
          </a:stretch>
        </p:blipFill>
        <p:spPr>
          <a:xfrm>
            <a:off x="932688" y="2606040"/>
            <a:ext cx="219456" cy="219456"/>
          </a:xfrm>
          <a:prstGeom prst="rect">
            <a:avLst/>
          </a:prstGeom>
        </p:spPr>
      </p:pic>
      <p:sp>
        <p:nvSpPr>
          <p:cNvPr id="9" name="(a) verdict"/>
          <p:cNvSpPr txBox="1"/>
          <p:nvPr/>
        </p:nvSpPr>
        <p:spPr>
          <a:xfrm>
            <a:off x="1234440" y="2496312"/>
            <a:ext cx="1645920" cy="438912"/>
          </a:xfrm>
          <a:prstGeom prst="rect">
            <a:avLst/>
          </a:prstGeom>
          <a:noFill/>
          <a:ln/>
        </p:spPr>
        <p:txBody>
          <a:bodyPr wrap="square" lIns="0" tIns="0" rIns="0" bIns="0" rtlCol="0" anchor="ctr"/>
          <a:lstStyle/>
          <a:p>
            <a:pPr indent="0" marL="0">
              <a:buNone/>
            </a:pPr>
            <a:r>
              <a:rPr lang="en-GB" altLang="en-US" sz="1500" b="1" dirty="0">
                <a:solidFill>
                  <a:schemeClr val="bg1"/>
                </a:solidFill>
              </a:rPr>
              <a:t>HIGH · 70/100</a:t>
            </a:r>
            <a:endParaRPr lang="en-GB" sz="1500" dirty="0"/>
          </a:p>
        </p:txBody>
      </p:sp>
      <p:sp>
        <p:nvSpPr>
          <p:cNvPr id="10" name="(a) says"/>
          <p:cNvSpPr txBox="1"/>
          <p:nvPr/>
        </p:nvSpPr>
        <p:spPr>
          <a:xfrm>
            <a:off x="3108960" y="2496312"/>
            <a:ext cx="3703320" cy="438912"/>
          </a:xfrm>
          <a:prstGeom prst="rect">
            <a:avLst/>
          </a:prstGeom>
          <a:noFill/>
          <a:ln/>
        </p:spPr>
        <p:txBody>
          <a:bodyPr wrap="square" lIns="0" tIns="0" rIns="0" bIns="0" rtlCol="0" anchor="ctr"/>
          <a:lstStyle/>
          <a:p>
            <a:pPr indent="0" marL="0">
              <a:buNone/>
            </a:pPr>
            <a:r>
              <a:rPr lang="en-GB" altLang="en-US" sz="1300" dirty="0">
                <a:solidFill>
                  <a:schemeClr val="tx1"/>
                </a:solidFill>
              </a:rPr>
              <a:t>AI flagged its own fix, quoting the comment</a:t>
            </a:r>
            <a:endParaRPr lang="en-GB" sz="1300" dirty="0"/>
          </a:p>
        </p:txBody>
      </p:sp>
      <p:sp>
        <p:nvSpPr>
          <p:cNvPr id="11" name="(b) card"/>
          <p:cNvSpPr/>
          <p:nvPr/>
        </p:nvSpPr>
        <p:spPr>
          <a:xfrm>
            <a:off x="548640" y="3291840"/>
            <a:ext cx="6446520" cy="1828800"/>
          </a:xfrm>
          <a:prstGeom prst="roundRect">
            <a:avLst>
              <a:gd name="adj" fmla="val 4000"/>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12" name="(b) heading"/>
          <p:cNvSpPr txBox="1"/>
          <p:nvPr/>
        </p:nvSpPr>
        <p:spPr>
          <a:xfrm>
            <a:off x="777240" y="3419856"/>
            <a:ext cx="5989320" cy="310896"/>
          </a:xfrm>
          <a:prstGeom prst="rect">
            <a:avLst/>
          </a:prstGeom>
          <a:noFill/>
          <a:ln/>
        </p:spPr>
        <p:txBody>
          <a:bodyPr wrap="square" lIns="0" tIns="0" rIns="0" bIns="0" rtlCol="0" anchor="t"/>
          <a:lstStyle/>
          <a:p>
            <a:pPr indent="0" marL="0">
              <a:buNone/>
            </a:pPr>
            <a:r>
              <a:rPr lang="en-GB" altLang="en-US" sz="1600" b="1" dirty="0">
                <a:solidFill>
                  <a:schemeClr val="accent1"/>
                </a:solidFill>
              </a:rPr>
              <a:t>(b)  </a:t>
            </a:r>
            <a:pPr indent="0" marL="0">
              <a:buNone/>
            </a:pPr>
            <a:r>
              <a:rPr lang="en-GB" altLang="en-US" sz="1600" b="1" dirty="0">
                <a:solidFill>
                  <a:schemeClr val="tx2"/>
                </a:solidFill>
              </a:rPr>
              <a:t>Only the comment changed · PR #98</a:t>
            </a:r>
            <a:endParaRPr lang="en-GB" sz="1600" dirty="0"/>
          </a:p>
        </p:txBody>
      </p:sp>
      <p:sp>
        <p:nvSpPr>
          <p:cNvPr id="13" name="(b) code box"/>
          <p:cNvSpPr/>
          <p:nvPr/>
        </p:nvSpPr>
        <p:spPr>
          <a:xfrm>
            <a:off x="777240" y="3794760"/>
            <a:ext cx="5989320" cy="502920"/>
          </a:xfrm>
          <a:prstGeom prst="roundRect">
            <a:avLst>
              <a:gd name="adj" fmla="val 7273"/>
            </a:avLst>
          </a:prstGeom>
          <a:solidFill>
            <a:schemeClr val="bg2"/>
          </a:solidFill>
          <a:ln w="12700">
            <a:solidFill>
              <a:schemeClr val="bg2"/>
            </a:solidFill>
            <a:prstDash val="solid"/>
          </a:ln>
        </p:spPr>
      </p:sp>
      <p:sp>
        <p:nvSpPr>
          <p:cNvPr id="14" name="(b) code"/>
          <p:cNvSpPr txBox="1"/>
          <p:nvPr/>
        </p:nvSpPr>
        <p:spPr>
          <a:xfrm>
            <a:off x="868680" y="3794760"/>
            <a:ext cx="5897880" cy="502920"/>
          </a:xfrm>
          <a:prstGeom prst="rect">
            <a:avLst/>
          </a:prstGeom>
          <a:noFill/>
          <a:ln/>
        </p:spPr>
        <p:txBody>
          <a:bodyPr wrap="square" lIns="0" tIns="0" rIns="0" bIns="0" rtlCol="0" anchor="ctr"/>
          <a:lstStyle/>
          <a:p>
            <a:pPr indent="0" marL="0">
              <a:buNone/>
            </a:pPr>
            <a:r>
              <a:rPr lang="en-GB" altLang="en-US" sz="1000" dirty="0">
                <a:solidFill>
                  <a:schemeClr val="accent4"/>
                </a:solidFill>
                <a:latin typeface="Courier New" pitchFamily="34" charset="0"/>
                <a:ea typeface="Courier New" pitchFamily="34" charset="-122"/>
                <a:cs typeface="Courier New" pitchFamily="34" charset="-120"/>
              </a:rPr>
              <a:t># TC02 remediated: SSH restricted to the approved administration address.</a:t>
            </a:r>
            <a:endParaRPr lang="en-GB" sz="1000" dirty="0"/>
          </a:p>
          <a:p>
            <a:pPr indent="0" marL="0">
              <a:buNone/>
            </a:pPr>
            <a:r>
              <a:rPr lang="en-GB" altLang="en-US" sz="1000" dirty="0">
                <a:solidFill>
                  <a:schemeClr val="tx1"/>
                </a:solidFill>
                <a:latin typeface="Courier New" pitchFamily="34" charset="0"/>
                <a:ea typeface="Courier New" pitchFamily="34" charset="-122"/>
                <a:cs typeface="Courier New" pitchFamily="34" charset="-120"/>
              </a:rPr>
              <a:t>source_address_prefix = "203.0.113.10/32"</a:t>
            </a:r>
            <a:endParaRPr lang="en-GB" sz="1000" dirty="0"/>
          </a:p>
        </p:txBody>
      </p:sp>
      <p:sp>
        <p:nvSpPr>
          <p:cNvPr id="15" name="(b) verdict pill"/>
          <p:cNvSpPr/>
          <p:nvPr/>
        </p:nvSpPr>
        <p:spPr>
          <a:xfrm>
            <a:off x="777240" y="4462272"/>
            <a:ext cx="2148840" cy="438912"/>
          </a:xfrm>
          <a:prstGeom prst="roundRect">
            <a:avLst>
              <a:gd name="adj" fmla="val 50000"/>
            </a:avLst>
          </a:prstGeom>
          <a:solidFill>
            <a:schemeClr val="accent4"/>
          </a:solidFill>
          <a:ln w="12700">
            <a:solidFill>
              <a:schemeClr val="accent4"/>
            </a:solidFill>
            <a:prstDash val="solid"/>
          </a:ln>
        </p:spPr>
      </p:sp>
      <p:pic>
        <p:nvPicPr>
          <p:cNvPr id="16" name="(b) verdict icon" descr="preencoded.png">    </p:cNvPr>
          <p:cNvPicPr>
            <a:picLocks noChangeAspect="1"/>
          </p:cNvPicPr>
          <p:nvPr/>
        </p:nvPicPr>
        <p:blipFill>
          <a:blip r:embed="rId2"/>
          <a:stretch>
            <a:fillRect/>
          </a:stretch>
        </p:blipFill>
        <p:spPr>
          <a:xfrm>
            <a:off x="932688" y="4572000"/>
            <a:ext cx="219456" cy="219456"/>
          </a:xfrm>
          <a:prstGeom prst="rect">
            <a:avLst/>
          </a:prstGeom>
        </p:spPr>
      </p:pic>
      <p:sp>
        <p:nvSpPr>
          <p:cNvPr id="17" name="(b) verdict"/>
          <p:cNvSpPr txBox="1"/>
          <p:nvPr/>
        </p:nvSpPr>
        <p:spPr>
          <a:xfrm>
            <a:off x="1234440" y="4462272"/>
            <a:ext cx="1645920" cy="438912"/>
          </a:xfrm>
          <a:prstGeom prst="rect">
            <a:avLst/>
          </a:prstGeom>
          <a:noFill/>
          <a:ln/>
        </p:spPr>
        <p:txBody>
          <a:bodyPr wrap="square" lIns="0" tIns="0" rIns="0" bIns="0" rtlCol="0" anchor="ctr"/>
          <a:lstStyle/>
          <a:p>
            <a:pPr indent="0" marL="0">
              <a:buNone/>
            </a:pPr>
            <a:r>
              <a:rPr lang="en-GB" altLang="en-US" sz="1500" b="1" dirty="0">
                <a:solidFill>
                  <a:schemeClr val="bg1"/>
                </a:solidFill>
              </a:rPr>
              <a:t>LOW · 95/100</a:t>
            </a:r>
            <a:endParaRPr lang="en-GB" sz="1500" dirty="0"/>
          </a:p>
        </p:txBody>
      </p:sp>
      <p:sp>
        <p:nvSpPr>
          <p:cNvPr id="18" name="(b) says"/>
          <p:cNvSpPr txBox="1"/>
          <p:nvPr/>
        </p:nvSpPr>
        <p:spPr>
          <a:xfrm>
            <a:off x="3108960" y="4462272"/>
            <a:ext cx="3703320" cy="438912"/>
          </a:xfrm>
          <a:prstGeom prst="rect">
            <a:avLst/>
          </a:prstGeom>
          <a:noFill/>
          <a:ln/>
        </p:spPr>
        <p:txBody>
          <a:bodyPr wrap="square" lIns="0" tIns="0" rIns="0" bIns="0" rtlCol="0" anchor="ctr"/>
          <a:lstStyle/>
          <a:p>
            <a:pPr indent="0" marL="0">
              <a:buNone/>
            </a:pPr>
            <a:r>
              <a:rPr lang="en-GB" altLang="en-US" sz="1300" dirty="0">
                <a:solidFill>
                  <a:schemeClr val="tx1"/>
                </a:solidFill>
              </a:rPr>
              <a:t>AI approved the same fix, with a low note</a:t>
            </a:r>
            <a:endParaRPr lang="en-GB" sz="1300" dirty="0"/>
          </a:p>
        </p:txBody>
      </p:sp>
      <p:sp>
        <p:nvSpPr>
          <p:cNvPr id="19" name="Comment caption"/>
          <p:cNvSpPr txBox="1"/>
          <p:nvPr/>
        </p:nvSpPr>
        <p:spPr>
          <a:xfrm>
            <a:off x="548640" y="5285232"/>
            <a:ext cx="6446520" cy="457200"/>
          </a:xfrm>
          <a:prstGeom prst="rect">
            <a:avLst/>
          </a:prstGeom>
          <a:noFill/>
          <a:ln/>
        </p:spPr>
        <p:txBody>
          <a:bodyPr wrap="square" lIns="0" tIns="0" rIns="0" bIns="0" rtlCol="0" anchor="t"/>
          <a:lstStyle/>
          <a:p>
            <a:pPr indent="0" marL="0">
              <a:buNone/>
            </a:pPr>
            <a:r>
              <a:rPr lang="en-GB" altLang="en-US" sz="1200" i="1" dirty="0">
                <a:solidFill>
                  <a:schemeClr val="accent6"/>
                </a:solidFill>
              </a:rPr>
              <a:t>Same code, different comment, different answer (TC03 did the same). Text the AI reads can steer it (Greshake et al., 2023).</a:t>
            </a:r>
            <a:endParaRPr lang="en-GB" sz="1200" dirty="0"/>
          </a:p>
        </p:txBody>
      </p:sp>
      <p:sp>
        <p:nvSpPr>
          <p:cNvPr id="20" name="Same test, different answers card"/>
          <p:cNvSpPr/>
          <p:nvPr/>
        </p:nvSpPr>
        <p:spPr>
          <a:xfrm>
            <a:off x="7269480" y="1325880"/>
            <a:ext cx="4373575" cy="1325880"/>
          </a:xfrm>
          <a:prstGeom prst="roundRect">
            <a:avLst>
              <a:gd name="adj" fmla="val 5517"/>
            </a:avLst>
          </a:prstGeom>
          <a:solidFill>
            <a:schemeClr val="bg2"/>
          </a:solidFill>
          <a:ln w="12700">
            <a:solidFill>
              <a:schemeClr val="bg2"/>
            </a:solidFill>
            <a:prstDash val="solid"/>
          </a:ln>
        </p:spPr>
      </p:sp>
      <p:sp>
        <p:nvSpPr>
          <p:cNvPr id="21" name="Same test, different answers circle"/>
          <p:cNvSpPr/>
          <p:nvPr/>
        </p:nvSpPr>
        <p:spPr>
          <a:xfrm>
            <a:off x="7452360" y="1508760"/>
            <a:ext cx="502920" cy="502920"/>
          </a:xfrm>
          <a:prstGeom prst="ellipse">
            <a:avLst/>
          </a:prstGeom>
          <a:solidFill>
            <a:schemeClr val="accent5"/>
          </a:solidFill>
          <a:ln w="12700">
            <a:solidFill>
              <a:schemeClr val="accent5"/>
            </a:solidFill>
            <a:prstDash val="solid"/>
          </a:ln>
        </p:spPr>
      </p:sp>
      <p:pic>
        <p:nvPicPr>
          <p:cNvPr id="22" name="Same test, different answers icon" descr="preencoded.png">    </p:cNvPr>
          <p:cNvPicPr>
            <a:picLocks noChangeAspect="1"/>
          </p:cNvPicPr>
          <p:nvPr/>
        </p:nvPicPr>
        <p:blipFill>
          <a:blip r:embed="rId3"/>
          <a:stretch>
            <a:fillRect/>
          </a:stretch>
        </p:blipFill>
        <p:spPr>
          <a:xfrm>
            <a:off x="7578090" y="1634490"/>
            <a:ext cx="251460" cy="251460"/>
          </a:xfrm>
          <a:prstGeom prst="rect">
            <a:avLst/>
          </a:prstGeom>
        </p:spPr>
      </p:pic>
      <p:sp>
        <p:nvSpPr>
          <p:cNvPr id="23" name="Same test, different answers heading"/>
          <p:cNvSpPr txBox="1"/>
          <p:nvPr/>
        </p:nvSpPr>
        <p:spPr>
          <a:xfrm>
            <a:off x="8092440" y="1481328"/>
            <a:ext cx="3413455" cy="310896"/>
          </a:xfrm>
          <a:prstGeom prst="rect">
            <a:avLst/>
          </a:prstGeom>
          <a:noFill/>
          <a:ln/>
        </p:spPr>
        <p:txBody>
          <a:bodyPr wrap="square" lIns="0" tIns="0" rIns="0" bIns="0" rtlCol="0" anchor="t"/>
          <a:lstStyle/>
          <a:p>
            <a:pPr indent="0" marL="0">
              <a:buNone/>
            </a:pPr>
            <a:r>
              <a:rPr lang="en-GB" altLang="en-US" sz="1500" b="1" dirty="0">
                <a:solidFill>
                  <a:schemeClr val="tx2"/>
                </a:solidFill>
              </a:rPr>
              <a:t>Same test, different answers</a:t>
            </a:r>
            <a:endParaRPr lang="en-GB" sz="1500" dirty="0"/>
          </a:p>
        </p:txBody>
      </p:sp>
      <p:sp>
        <p:nvSpPr>
          <p:cNvPr id="24" name="TC05 run 1"/>
          <p:cNvSpPr/>
          <p:nvPr/>
        </p:nvSpPr>
        <p:spPr>
          <a:xfrm>
            <a:off x="8092440" y="1874520"/>
            <a:ext cx="804672" cy="329184"/>
          </a:xfrm>
          <a:prstGeom prst="roundRect">
            <a:avLst>
              <a:gd name="adj" fmla="val 50000"/>
            </a:avLst>
          </a:prstGeom>
          <a:solidFill>
            <a:schemeClr val="accent1"/>
          </a:solidFill>
          <a:ln w="12700">
            <a:solidFill>
              <a:schemeClr val="accent1"/>
            </a:solidFill>
            <a:prstDash val="solid"/>
          </a:ln>
        </p:spPr>
      </p:sp>
      <p:sp>
        <p:nvSpPr>
          <p:cNvPr id="25" name="TC05 run 1 severity"/>
          <p:cNvSpPr txBox="1"/>
          <p:nvPr/>
        </p:nvSpPr>
        <p:spPr>
          <a:xfrm>
            <a:off x="8092440" y="1874520"/>
            <a:ext cx="804672"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HIGH</a:t>
            </a:r>
            <a:endParaRPr lang="en-GB" sz="1200" dirty="0"/>
          </a:p>
        </p:txBody>
      </p:sp>
      <p:sp>
        <p:nvSpPr>
          <p:cNvPr id="26" name="TC05 run 2"/>
          <p:cNvSpPr/>
          <p:nvPr/>
        </p:nvSpPr>
        <p:spPr>
          <a:xfrm>
            <a:off x="9006840" y="1874520"/>
            <a:ext cx="804672" cy="329184"/>
          </a:xfrm>
          <a:prstGeom prst="roundRect">
            <a:avLst>
              <a:gd name="adj" fmla="val 50000"/>
            </a:avLst>
          </a:prstGeom>
          <a:solidFill>
            <a:schemeClr val="accent1"/>
          </a:solidFill>
          <a:ln w="12700">
            <a:solidFill>
              <a:schemeClr val="accent1"/>
            </a:solidFill>
            <a:prstDash val="solid"/>
          </a:ln>
        </p:spPr>
      </p:sp>
      <p:sp>
        <p:nvSpPr>
          <p:cNvPr id="27" name="TC05 run 2 severity"/>
          <p:cNvSpPr txBox="1"/>
          <p:nvPr/>
        </p:nvSpPr>
        <p:spPr>
          <a:xfrm>
            <a:off x="9006840" y="1874520"/>
            <a:ext cx="804672"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HIGH</a:t>
            </a:r>
            <a:endParaRPr lang="en-GB" sz="1200" dirty="0"/>
          </a:p>
        </p:txBody>
      </p:sp>
      <p:sp>
        <p:nvSpPr>
          <p:cNvPr id="28" name="TC05 run 3"/>
          <p:cNvSpPr/>
          <p:nvPr/>
        </p:nvSpPr>
        <p:spPr>
          <a:xfrm>
            <a:off x="9921240" y="1874520"/>
            <a:ext cx="1051560" cy="329184"/>
          </a:xfrm>
          <a:prstGeom prst="roundRect">
            <a:avLst>
              <a:gd name="adj" fmla="val 50000"/>
            </a:avLst>
          </a:prstGeom>
          <a:solidFill>
            <a:schemeClr val="accent5"/>
          </a:solidFill>
          <a:ln w="12700">
            <a:solidFill>
              <a:schemeClr val="accent5"/>
            </a:solidFill>
            <a:prstDash val="solid"/>
          </a:ln>
        </p:spPr>
      </p:sp>
      <p:sp>
        <p:nvSpPr>
          <p:cNvPr id="29" name="TC05 run 3 severity"/>
          <p:cNvSpPr txBox="1"/>
          <p:nvPr/>
        </p:nvSpPr>
        <p:spPr>
          <a:xfrm>
            <a:off x="9921240" y="1874520"/>
            <a:ext cx="105156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MEDIUM</a:t>
            </a:r>
            <a:endParaRPr lang="en-GB" sz="1200" dirty="0"/>
          </a:p>
        </p:txBody>
      </p:sp>
      <p:sp>
        <p:nvSpPr>
          <p:cNvPr id="30" name="TC05 caption"/>
          <p:cNvSpPr txBox="1"/>
          <p:nvPr/>
        </p:nvSpPr>
        <p:spPr>
          <a:xfrm>
            <a:off x="8092440" y="2267712"/>
            <a:ext cx="3413455" cy="256032"/>
          </a:xfrm>
          <a:prstGeom prst="rect">
            <a:avLst/>
          </a:prstGeom>
          <a:noFill/>
          <a:ln/>
        </p:spPr>
        <p:txBody>
          <a:bodyPr wrap="square" lIns="0" tIns="0" rIns="0" bIns="0" rtlCol="0" anchor="t"/>
          <a:lstStyle/>
          <a:p>
            <a:pPr indent="0" marL="0">
              <a:buNone/>
            </a:pPr>
            <a:r>
              <a:rPr lang="en-GB" altLang="en-US" sz="1200" dirty="0">
                <a:solidFill>
                  <a:schemeClr val="accent6"/>
                </a:solidFill>
              </a:rPr>
              <a:t>TC05, three runs (Ouyang et al., 2025)</a:t>
            </a:r>
            <a:endParaRPr lang="en-GB" sz="1200" dirty="0"/>
          </a:p>
        </p:txBody>
      </p:sp>
      <p:sp>
        <p:nvSpPr>
          <p:cNvPr id="31" name="Some problems stay hidden card"/>
          <p:cNvSpPr/>
          <p:nvPr/>
        </p:nvSpPr>
        <p:spPr>
          <a:xfrm>
            <a:off x="7269480" y="2788920"/>
            <a:ext cx="4373575" cy="1325880"/>
          </a:xfrm>
          <a:prstGeom prst="roundRect">
            <a:avLst>
              <a:gd name="adj" fmla="val 5517"/>
            </a:avLst>
          </a:prstGeom>
          <a:solidFill>
            <a:schemeClr val="bg2"/>
          </a:solidFill>
          <a:ln w="12700">
            <a:solidFill>
              <a:schemeClr val="bg2"/>
            </a:solidFill>
            <a:prstDash val="solid"/>
          </a:ln>
        </p:spPr>
      </p:sp>
      <p:sp>
        <p:nvSpPr>
          <p:cNvPr id="32" name="Some problems stay hidden circle"/>
          <p:cNvSpPr/>
          <p:nvPr/>
        </p:nvSpPr>
        <p:spPr>
          <a:xfrm>
            <a:off x="7452360" y="2971800"/>
            <a:ext cx="502920" cy="502920"/>
          </a:xfrm>
          <a:prstGeom prst="ellipse">
            <a:avLst/>
          </a:prstGeom>
          <a:solidFill>
            <a:schemeClr val="accent1"/>
          </a:solidFill>
          <a:ln w="12700">
            <a:solidFill>
              <a:schemeClr val="accent1"/>
            </a:solidFill>
            <a:prstDash val="solid"/>
          </a:ln>
        </p:spPr>
      </p:sp>
      <p:pic>
        <p:nvPicPr>
          <p:cNvPr id="33" name="Some problems stay hidden icon" descr="preencoded.png">    </p:cNvPr>
          <p:cNvPicPr>
            <a:picLocks noChangeAspect="1"/>
          </p:cNvPicPr>
          <p:nvPr/>
        </p:nvPicPr>
        <p:blipFill>
          <a:blip r:embed="rId4"/>
          <a:stretch>
            <a:fillRect/>
          </a:stretch>
        </p:blipFill>
        <p:spPr>
          <a:xfrm>
            <a:off x="7578090" y="3097530"/>
            <a:ext cx="251460" cy="251460"/>
          </a:xfrm>
          <a:prstGeom prst="rect">
            <a:avLst/>
          </a:prstGeom>
        </p:spPr>
      </p:pic>
      <p:sp>
        <p:nvSpPr>
          <p:cNvPr id="34" name="Some problems stay hidden heading"/>
          <p:cNvSpPr txBox="1"/>
          <p:nvPr/>
        </p:nvSpPr>
        <p:spPr>
          <a:xfrm>
            <a:off x="8092440" y="2944368"/>
            <a:ext cx="3413455" cy="310896"/>
          </a:xfrm>
          <a:prstGeom prst="rect">
            <a:avLst/>
          </a:prstGeom>
          <a:noFill/>
          <a:ln/>
        </p:spPr>
        <p:txBody>
          <a:bodyPr wrap="square" lIns="0" tIns="0" rIns="0" bIns="0" rtlCol="0" anchor="t"/>
          <a:lstStyle/>
          <a:p>
            <a:pPr indent="0" marL="0">
              <a:buNone/>
            </a:pPr>
            <a:r>
              <a:rPr lang="en-GB" altLang="en-US" sz="1500" b="1" dirty="0">
                <a:solidFill>
                  <a:schemeClr val="tx2"/>
                </a:solidFill>
              </a:rPr>
              <a:t>Some problems stay hidden</a:t>
            </a:r>
            <a:endParaRPr lang="en-GB" sz="1500" dirty="0"/>
          </a:p>
        </p:txBody>
      </p:sp>
      <p:sp>
        <p:nvSpPr>
          <p:cNvPr id="35" name="Hidden points"/>
          <p:cNvSpPr txBox="1"/>
          <p:nvPr/>
        </p:nvSpPr>
        <p:spPr>
          <a:xfrm>
            <a:off x="8092440" y="3319272"/>
            <a:ext cx="3413455" cy="640080"/>
          </a:xfrm>
          <a:prstGeom prst="rect">
            <a:avLst/>
          </a:prstGeom>
          <a:noFill/>
          <a:ln/>
        </p:spPr>
        <p:txBody>
          <a:bodyPr wrap="square" lIns="0" tIns="0" rIns="0" bIns="0" rtlCol="0" anchor="t"/>
          <a:lstStyle/>
          <a:p>
            <a:pPr marL="152400" indent="-152400">
              <a:spcAft>
                <a:spcPts val="400"/>
              </a:spcAft>
              <a:buSzPct val="100000"/>
              <a:buChar char="•"/>
            </a:pPr>
            <a:r>
              <a:rPr lang="en-GB" altLang="en-US" sz="1300" dirty="0">
                <a:solidFill>
                  <a:schemeClr val="tx1"/>
                </a:solidFill>
              </a:rPr>
              <a:t>“Needs context” findings are not shown</a:t>
            </a:r>
            <a:endParaRPr lang="en-GB" sz="1300" dirty="0"/>
          </a:p>
          <a:p>
            <a:pPr marL="152400" indent="-152400">
              <a:spcAft>
                <a:spcPts val="400"/>
              </a:spcAft>
              <a:buSzPct val="100000"/>
              <a:buChar char="•"/>
            </a:pPr>
            <a:r>
              <a:rPr lang="en-GB" altLang="en-US" sz="1300" dirty="0">
                <a:solidFill>
                  <a:schemeClr val="tx1"/>
                </a:solidFill>
              </a:rPr>
              <a:t>Delete-only changes skip the AI</a:t>
            </a:r>
            <a:endParaRPr lang="en-GB" sz="1300" dirty="0"/>
          </a:p>
        </p:txBody>
      </p:sp>
      <p:sp>
        <p:nvSpPr>
          <p:cNvPr id="36" name="Fast enough card"/>
          <p:cNvSpPr/>
          <p:nvPr/>
        </p:nvSpPr>
        <p:spPr>
          <a:xfrm>
            <a:off x="7269480" y="4251960"/>
            <a:ext cx="4373575" cy="1325880"/>
          </a:xfrm>
          <a:prstGeom prst="roundRect">
            <a:avLst>
              <a:gd name="adj" fmla="val 5517"/>
            </a:avLst>
          </a:prstGeom>
          <a:solidFill>
            <a:schemeClr val="bg2"/>
          </a:solidFill>
          <a:ln w="12700">
            <a:solidFill>
              <a:schemeClr val="bg2"/>
            </a:solidFill>
            <a:prstDash val="solid"/>
          </a:ln>
        </p:spPr>
      </p:sp>
      <p:sp>
        <p:nvSpPr>
          <p:cNvPr id="37" name="Fast enough circle"/>
          <p:cNvSpPr/>
          <p:nvPr/>
        </p:nvSpPr>
        <p:spPr>
          <a:xfrm>
            <a:off x="7452360" y="4434840"/>
            <a:ext cx="502920" cy="502920"/>
          </a:xfrm>
          <a:prstGeom prst="ellipse">
            <a:avLst/>
          </a:prstGeom>
          <a:solidFill>
            <a:schemeClr val="accent2"/>
          </a:solidFill>
          <a:ln w="12700">
            <a:solidFill>
              <a:schemeClr val="accent2"/>
            </a:solidFill>
            <a:prstDash val="solid"/>
          </a:ln>
        </p:spPr>
      </p:sp>
      <p:pic>
        <p:nvPicPr>
          <p:cNvPr id="38" name="Fast enough icon" descr="preencoded.png">    </p:cNvPr>
          <p:cNvPicPr>
            <a:picLocks noChangeAspect="1"/>
          </p:cNvPicPr>
          <p:nvPr/>
        </p:nvPicPr>
        <p:blipFill>
          <a:blip r:embed="rId5"/>
          <a:stretch>
            <a:fillRect/>
          </a:stretch>
        </p:blipFill>
        <p:spPr>
          <a:xfrm>
            <a:off x="7578090" y="4560570"/>
            <a:ext cx="251460" cy="251460"/>
          </a:xfrm>
          <a:prstGeom prst="rect">
            <a:avLst/>
          </a:prstGeom>
        </p:spPr>
      </p:pic>
      <p:sp>
        <p:nvSpPr>
          <p:cNvPr id="39" name="Fast enough heading"/>
          <p:cNvSpPr txBox="1"/>
          <p:nvPr/>
        </p:nvSpPr>
        <p:spPr>
          <a:xfrm>
            <a:off x="8092440" y="4407408"/>
            <a:ext cx="3413455" cy="310896"/>
          </a:xfrm>
          <a:prstGeom prst="rect">
            <a:avLst/>
          </a:prstGeom>
          <a:noFill/>
          <a:ln/>
        </p:spPr>
        <p:txBody>
          <a:bodyPr wrap="square" lIns="0" tIns="0" rIns="0" bIns="0" rtlCol="0" anchor="t"/>
          <a:lstStyle/>
          <a:p>
            <a:pPr indent="0" marL="0">
              <a:buNone/>
            </a:pPr>
            <a:r>
              <a:rPr lang="en-GB" altLang="en-US" sz="1500" b="1" dirty="0">
                <a:solidFill>
                  <a:schemeClr val="tx2"/>
                </a:solidFill>
              </a:rPr>
              <a:t>Fast enough</a:t>
            </a:r>
            <a:endParaRPr lang="en-GB" sz="1500" dirty="0"/>
          </a:p>
        </p:txBody>
      </p:sp>
      <p:sp>
        <p:nvSpPr>
          <p:cNvPr id="40" name="Speed"/>
          <p:cNvSpPr txBox="1"/>
          <p:nvPr/>
        </p:nvSpPr>
        <p:spPr>
          <a:xfrm>
            <a:off x="8092440" y="4690872"/>
            <a:ext cx="3413455" cy="777240"/>
          </a:xfrm>
          <a:prstGeom prst="rect">
            <a:avLst/>
          </a:prstGeom>
          <a:noFill/>
          <a:ln/>
        </p:spPr>
        <p:txBody>
          <a:bodyPr wrap="square" lIns="0" tIns="0" rIns="0" bIns="0" rtlCol="0" anchor="t"/>
          <a:lstStyle/>
          <a:p>
            <a:pPr indent="0" marL="0">
              <a:spcAft>
                <a:spcPts val="100"/>
              </a:spcAft>
              <a:buNone/>
            </a:pPr>
            <a:r>
              <a:rPr lang="en-GB" altLang="en-US" sz="2400" b="1" dirty="0">
                <a:solidFill>
                  <a:schemeClr val="accent2"/>
                </a:solidFill>
              </a:rPr>
              <a:t>under 2 minutes</a:t>
            </a:r>
            <a:endParaRPr lang="en-GB" sz="1400" dirty="0"/>
          </a:p>
          <a:p>
            <a:pPr indent="0" marL="0">
              <a:spcAft>
                <a:spcPts val="100"/>
              </a:spcAft>
              <a:buNone/>
            </a:pPr>
            <a:r>
              <a:rPr lang="en-GB" altLang="en-US" sz="1200" dirty="0">
                <a:solidFill>
                  <a:schemeClr val="accent6"/>
                </a:solidFill>
              </a:rPr>
              <a:t>for feedback; the AI took about 30 seconds</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8</a:t>
            </a:fld>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Evaluation: what holds up, and its limits</a:t>
            </a:r>
            <a:endParaRPr lang="en-GB" sz="3600" dirty="0"/>
          </a:p>
        </p:txBody>
      </p:sp>
      <p:sp>
        <p:nvSpPr>
          <p:cNvPr id="3" name="What holds up column"/>
          <p:cNvSpPr/>
          <p:nvPr/>
        </p:nvSpPr>
        <p:spPr>
          <a:xfrm>
            <a:off x="548640" y="1325880"/>
            <a:ext cx="3515258" cy="3611880"/>
          </a:xfrm>
          <a:prstGeom prst="roundRect">
            <a:avLst>
              <a:gd name="adj" fmla="val 2081"/>
            </a:avLst>
          </a:prstGeom>
          <a:solidFill>
            <a:schemeClr val="bg2"/>
          </a:solidFill>
          <a:ln w="12700">
            <a:solidFill>
              <a:schemeClr val="bg2"/>
            </a:solidFill>
            <a:prstDash val="solid"/>
          </a:ln>
        </p:spPr>
      </p:sp>
      <p:sp>
        <p:nvSpPr>
          <p:cNvPr id="4" name="What holds up circle"/>
          <p:cNvSpPr/>
          <p:nvPr/>
        </p:nvSpPr>
        <p:spPr>
          <a:xfrm>
            <a:off x="777240" y="1481328"/>
            <a:ext cx="530352" cy="530352"/>
          </a:xfrm>
          <a:prstGeom prst="ellipse">
            <a:avLst/>
          </a:prstGeom>
          <a:solidFill>
            <a:schemeClr val="accent4"/>
          </a:solidFill>
          <a:ln w="12700">
            <a:solidFill>
              <a:schemeClr val="accent4"/>
            </a:solidFill>
            <a:prstDash val="solid"/>
          </a:ln>
        </p:spPr>
      </p:sp>
      <p:pic>
        <p:nvPicPr>
          <p:cNvPr id="5" name="What holds up icon" descr="preencoded.png">    </p:cNvPr>
          <p:cNvPicPr>
            <a:picLocks noChangeAspect="1"/>
          </p:cNvPicPr>
          <p:nvPr/>
        </p:nvPicPr>
        <p:blipFill>
          <a:blip r:embed="rId1"/>
          <a:stretch>
            <a:fillRect/>
          </a:stretch>
        </p:blipFill>
        <p:spPr>
          <a:xfrm>
            <a:off x="909828" y="1613916"/>
            <a:ext cx="265176" cy="265176"/>
          </a:xfrm>
          <a:prstGeom prst="rect">
            <a:avLst/>
          </a:prstGeom>
        </p:spPr>
      </p:pic>
      <p:sp>
        <p:nvSpPr>
          <p:cNvPr id="6" name="What holds up heading"/>
          <p:cNvSpPr txBox="1"/>
          <p:nvPr/>
        </p:nvSpPr>
        <p:spPr>
          <a:xfrm>
            <a:off x="1444752" y="1481328"/>
            <a:ext cx="2417978" cy="530352"/>
          </a:xfrm>
          <a:prstGeom prst="rect">
            <a:avLst/>
          </a:prstGeom>
          <a:noFill/>
          <a:ln/>
        </p:spPr>
        <p:txBody>
          <a:bodyPr wrap="square" lIns="0" tIns="0" rIns="0" bIns="0" rtlCol="0" anchor="ctr"/>
          <a:lstStyle/>
          <a:p>
            <a:pPr indent="0" marL="0">
              <a:buNone/>
            </a:pPr>
            <a:r>
              <a:rPr lang="en-GB" altLang="en-US" sz="1900" b="1" dirty="0">
                <a:solidFill>
                  <a:schemeClr val="tx2"/>
                </a:solidFill>
              </a:rPr>
              <a:t>What holds up</a:t>
            </a:r>
            <a:endParaRPr lang="en-GB" sz="1900" dirty="0"/>
          </a:p>
        </p:txBody>
      </p:sp>
      <p:sp>
        <p:nvSpPr>
          <p:cNvPr id="7" name="What holds up points"/>
          <p:cNvSpPr txBox="1"/>
          <p:nvPr/>
        </p:nvSpPr>
        <p:spPr>
          <a:xfrm>
            <a:off x="777240" y="2176272"/>
            <a:ext cx="3103778" cy="2651760"/>
          </a:xfrm>
          <a:prstGeom prst="rect">
            <a:avLst/>
          </a:prstGeom>
          <a:noFill/>
          <a:ln/>
        </p:spPr>
        <p:txBody>
          <a:bodyPr wrap="square" lIns="0" tIns="0" rIns="0" bIns="0" rtlCol="0" anchor="t"/>
          <a:lstStyle/>
          <a:p>
            <a:pPr marL="177800" indent="-177800">
              <a:spcAft>
                <a:spcPts val="800"/>
              </a:spcAft>
              <a:buSzPct val="100000"/>
              <a:buChar char="•"/>
            </a:pPr>
            <a:r>
              <a:rPr lang="en-GB" altLang="en-US" sz="1400" dirty="0">
                <a:solidFill>
                  <a:schemeClr val="tx1"/>
                </a:solidFill>
              </a:rPr>
              <a:t>Scanners only see their own rules</a:t>
            </a:r>
            <a:endParaRPr lang="en-GB" sz="1400" dirty="0"/>
          </a:p>
          <a:p>
            <a:pPr marL="177800" indent="-177800">
              <a:spcAft>
                <a:spcPts val="800"/>
              </a:spcAft>
              <a:buSzPct val="100000"/>
              <a:buChar char="•"/>
            </a:pPr>
            <a:r>
              <a:rPr lang="en-GB" altLang="en-US" sz="1400" dirty="0">
                <a:solidFill>
                  <a:schemeClr val="tx1"/>
                </a:solidFill>
              </a:rPr>
              <a:t>Scanners complement each other</a:t>
            </a:r>
            <a:endParaRPr lang="en-GB" sz="1400" dirty="0"/>
          </a:p>
          <a:p>
            <a:pPr marL="177800" indent="-177800">
              <a:spcAft>
                <a:spcPts val="800"/>
              </a:spcAft>
              <a:buSzPct val="100000"/>
              <a:buChar char="•"/>
            </a:pPr>
            <a:r>
              <a:rPr lang="en-GB" altLang="en-US" sz="1400" dirty="0">
                <a:solidFill>
                  <a:schemeClr val="tx1"/>
                </a:solidFill>
              </a:rPr>
              <a:t>The AI caught context problems the scanners missed</a:t>
            </a:r>
            <a:endParaRPr lang="en-GB" sz="1400" dirty="0"/>
          </a:p>
          <a:p>
            <a:pPr marL="177800" indent="-177800">
              <a:spcAft>
                <a:spcPts val="800"/>
              </a:spcAft>
              <a:buSzPct val="100000"/>
              <a:buChar char="•"/>
            </a:pPr>
            <a:r>
              <a:rPr lang="en-GB" altLang="en-US" sz="1400" dirty="0">
                <a:solidFill>
                  <a:schemeClr val="tx1"/>
                </a:solidFill>
              </a:rPr>
              <a:t>The AI’s answers changed between identical runs</a:t>
            </a:r>
            <a:endParaRPr lang="en-GB" sz="1400" dirty="0"/>
          </a:p>
        </p:txBody>
      </p:sp>
      <p:sp>
        <p:nvSpPr>
          <p:cNvPr id="8" name="Limits column"/>
          <p:cNvSpPr/>
          <p:nvPr/>
        </p:nvSpPr>
        <p:spPr>
          <a:xfrm>
            <a:off x="4338218" y="1325880"/>
            <a:ext cx="3515258" cy="3611880"/>
          </a:xfrm>
          <a:prstGeom prst="roundRect">
            <a:avLst>
              <a:gd name="adj" fmla="val 2081"/>
            </a:avLst>
          </a:prstGeom>
          <a:solidFill>
            <a:schemeClr val="bg2"/>
          </a:solidFill>
          <a:ln w="12700">
            <a:solidFill>
              <a:schemeClr val="bg2"/>
            </a:solidFill>
            <a:prstDash val="solid"/>
          </a:ln>
        </p:spPr>
      </p:sp>
      <p:sp>
        <p:nvSpPr>
          <p:cNvPr id="9" name="Limits circle"/>
          <p:cNvSpPr/>
          <p:nvPr/>
        </p:nvSpPr>
        <p:spPr>
          <a:xfrm>
            <a:off x="4566818" y="1481328"/>
            <a:ext cx="530352" cy="530352"/>
          </a:xfrm>
          <a:prstGeom prst="ellipse">
            <a:avLst/>
          </a:prstGeom>
          <a:solidFill>
            <a:schemeClr val="accent5"/>
          </a:solidFill>
          <a:ln w="12700">
            <a:solidFill>
              <a:schemeClr val="accent5"/>
            </a:solidFill>
            <a:prstDash val="solid"/>
          </a:ln>
        </p:spPr>
      </p:sp>
      <p:pic>
        <p:nvPicPr>
          <p:cNvPr id="10" name="Limits icon" descr="preencoded.png">    </p:cNvPr>
          <p:cNvPicPr>
            <a:picLocks noChangeAspect="1"/>
          </p:cNvPicPr>
          <p:nvPr/>
        </p:nvPicPr>
        <p:blipFill>
          <a:blip r:embed="rId2"/>
          <a:stretch>
            <a:fillRect/>
          </a:stretch>
        </p:blipFill>
        <p:spPr>
          <a:xfrm>
            <a:off x="4699406" y="1613916"/>
            <a:ext cx="265176" cy="265176"/>
          </a:xfrm>
          <a:prstGeom prst="rect">
            <a:avLst/>
          </a:prstGeom>
        </p:spPr>
      </p:pic>
      <p:sp>
        <p:nvSpPr>
          <p:cNvPr id="11" name="Limits heading"/>
          <p:cNvSpPr txBox="1"/>
          <p:nvPr/>
        </p:nvSpPr>
        <p:spPr>
          <a:xfrm>
            <a:off x="5234330" y="1481328"/>
            <a:ext cx="2417978" cy="530352"/>
          </a:xfrm>
          <a:prstGeom prst="rect">
            <a:avLst/>
          </a:prstGeom>
          <a:noFill/>
          <a:ln/>
        </p:spPr>
        <p:txBody>
          <a:bodyPr wrap="square" lIns="0" tIns="0" rIns="0" bIns="0" rtlCol="0" anchor="ctr"/>
          <a:lstStyle/>
          <a:p>
            <a:pPr indent="0" marL="0">
              <a:buNone/>
            </a:pPr>
            <a:r>
              <a:rPr lang="en-GB" altLang="en-US" sz="1900" b="1" dirty="0">
                <a:solidFill>
                  <a:schemeClr val="tx2"/>
                </a:solidFill>
              </a:rPr>
              <a:t>Limits</a:t>
            </a:r>
            <a:endParaRPr lang="en-GB" sz="1900" dirty="0"/>
          </a:p>
        </p:txBody>
      </p:sp>
      <p:sp>
        <p:nvSpPr>
          <p:cNvPr id="12" name="Limits points"/>
          <p:cNvSpPr txBox="1"/>
          <p:nvPr/>
        </p:nvSpPr>
        <p:spPr>
          <a:xfrm>
            <a:off x="4566818" y="2176272"/>
            <a:ext cx="3103778" cy="2651760"/>
          </a:xfrm>
          <a:prstGeom prst="rect">
            <a:avLst/>
          </a:prstGeom>
          <a:noFill/>
          <a:ln/>
        </p:spPr>
        <p:txBody>
          <a:bodyPr wrap="square" lIns="0" tIns="0" rIns="0" bIns="0" rtlCol="0" anchor="t"/>
          <a:lstStyle/>
          <a:p>
            <a:pPr marL="177800" indent="-177800">
              <a:spcAft>
                <a:spcPts val="800"/>
              </a:spcAft>
              <a:buSzPct val="100000"/>
              <a:buChar char="•"/>
            </a:pPr>
            <a:r>
              <a:rPr lang="en-GB" altLang="en-US" sz="1400" dirty="0">
                <a:solidFill>
                  <a:schemeClr val="tx1"/>
                </a:solidFill>
              </a:rPr>
              <a:t>Only 15 tests, written by me</a:t>
            </a:r>
            <a:endParaRPr lang="en-GB" sz="1400" dirty="0"/>
          </a:p>
          <a:p>
            <a:pPr marL="177800" indent="-177800">
              <a:spcAft>
                <a:spcPts val="800"/>
              </a:spcAft>
              <a:buSzPct val="100000"/>
              <a:buChar char="•"/>
            </a:pPr>
            <a:r>
              <a:rPr lang="en-GB" altLang="en-US" sz="1400" dirty="0">
                <a:solidFill>
                  <a:schemeClr val="tx1"/>
                </a:solidFill>
              </a:rPr>
              <a:t>One cloud and one AI model</a:t>
            </a:r>
            <a:endParaRPr lang="en-GB" sz="1400" dirty="0"/>
          </a:p>
          <a:p>
            <a:pPr marL="177800" indent="-177800">
              <a:spcAft>
                <a:spcPts val="800"/>
              </a:spcAft>
              <a:buSzPct val="100000"/>
              <a:buChar char="•"/>
            </a:pPr>
            <a:r>
              <a:rPr lang="en-GB" altLang="en-US" sz="1400" dirty="0">
                <a:solidFill>
                  <a:schemeClr val="tx1"/>
                </a:solidFill>
              </a:rPr>
              <a:t>Some tests chosen where scanners are weak (Ding et al., 2025)</a:t>
            </a:r>
            <a:endParaRPr lang="en-GB" sz="1400" dirty="0"/>
          </a:p>
          <a:p>
            <a:pPr marL="177800" indent="-177800">
              <a:spcAft>
                <a:spcPts val="800"/>
              </a:spcAft>
              <a:buSzPct val="100000"/>
              <a:buChar char="•"/>
            </a:pPr>
            <a:r>
              <a:rPr lang="en-GB" altLang="en-US" sz="1400" dirty="0">
                <a:solidFill>
                  <a:schemeClr val="tx1"/>
                </a:solidFill>
              </a:rPr>
              <a:t>Comments and a policy file may have helped the AI</a:t>
            </a:r>
            <a:endParaRPr lang="en-GB" sz="1400" dirty="0"/>
          </a:p>
          <a:p>
            <a:pPr marL="177800" indent="-177800">
              <a:spcAft>
                <a:spcPts val="800"/>
              </a:spcAft>
              <a:buSzPct val="100000"/>
              <a:buChar char="•"/>
            </a:pPr>
            <a:r>
              <a:rPr lang="en-GB" altLang="en-US" sz="1400" dirty="0">
                <a:solidFill>
                  <a:schemeClr val="tx1"/>
                </a:solidFill>
              </a:rPr>
              <a:t>Scored once, with AI help</a:t>
            </a:r>
            <a:endParaRPr lang="en-GB" sz="1400" dirty="0"/>
          </a:p>
        </p:txBody>
      </p:sp>
      <p:sp>
        <p:nvSpPr>
          <p:cNvPr id="13" name="Lesson column"/>
          <p:cNvSpPr/>
          <p:nvPr/>
        </p:nvSpPr>
        <p:spPr>
          <a:xfrm>
            <a:off x="8127797" y="1325880"/>
            <a:ext cx="3515258" cy="3611880"/>
          </a:xfrm>
          <a:prstGeom prst="roundRect">
            <a:avLst>
              <a:gd name="adj" fmla="val 2081"/>
            </a:avLst>
          </a:prstGeom>
          <a:solidFill>
            <a:schemeClr val="tx2"/>
          </a:solidFill>
          <a:ln w="12700">
            <a:solidFill>
              <a:schemeClr val="tx2"/>
            </a:solidFill>
            <a:prstDash val="solid"/>
          </a:ln>
        </p:spPr>
      </p:sp>
      <p:sp>
        <p:nvSpPr>
          <p:cNvPr id="14" name="Lesson circle"/>
          <p:cNvSpPr/>
          <p:nvPr/>
        </p:nvSpPr>
        <p:spPr>
          <a:xfrm>
            <a:off x="8356397" y="1481328"/>
            <a:ext cx="530352" cy="530352"/>
          </a:xfrm>
          <a:prstGeom prst="ellipse">
            <a:avLst/>
          </a:prstGeom>
          <a:solidFill>
            <a:schemeClr val="accent1"/>
          </a:solidFill>
          <a:ln w="12700">
            <a:solidFill>
              <a:schemeClr val="accent1"/>
            </a:solidFill>
            <a:prstDash val="solid"/>
          </a:ln>
        </p:spPr>
      </p:sp>
      <p:pic>
        <p:nvPicPr>
          <p:cNvPr id="15" name="Lesson icon" descr="preencoded.png">    </p:cNvPr>
          <p:cNvPicPr>
            <a:picLocks noChangeAspect="1"/>
          </p:cNvPicPr>
          <p:nvPr/>
        </p:nvPicPr>
        <p:blipFill>
          <a:blip r:embed="rId3"/>
          <a:stretch>
            <a:fillRect/>
          </a:stretch>
        </p:blipFill>
        <p:spPr>
          <a:xfrm>
            <a:off x="8488985" y="1613916"/>
            <a:ext cx="265176" cy="265176"/>
          </a:xfrm>
          <a:prstGeom prst="rect">
            <a:avLst/>
          </a:prstGeom>
        </p:spPr>
      </p:pic>
      <p:sp>
        <p:nvSpPr>
          <p:cNvPr id="16" name="Lesson heading"/>
          <p:cNvSpPr txBox="1"/>
          <p:nvPr/>
        </p:nvSpPr>
        <p:spPr>
          <a:xfrm>
            <a:off x="9023909" y="1481328"/>
            <a:ext cx="2417978" cy="530352"/>
          </a:xfrm>
          <a:prstGeom prst="rect">
            <a:avLst/>
          </a:prstGeom>
          <a:noFill/>
          <a:ln/>
        </p:spPr>
        <p:txBody>
          <a:bodyPr wrap="square" lIns="0" tIns="0" rIns="0" bIns="0" rtlCol="0" anchor="ctr"/>
          <a:lstStyle/>
          <a:p>
            <a:pPr indent="0" marL="0">
              <a:buNone/>
            </a:pPr>
            <a:r>
              <a:rPr lang="en-GB" altLang="en-US" sz="1900" b="1" dirty="0">
                <a:solidFill>
                  <a:schemeClr val="bg1"/>
                </a:solidFill>
              </a:rPr>
              <a:t>What I learned</a:t>
            </a:r>
            <a:endParaRPr lang="en-GB" sz="1900" dirty="0"/>
          </a:p>
        </p:txBody>
      </p:sp>
      <p:sp>
        <p:nvSpPr>
          <p:cNvPr id="17" name="Lesson quote"/>
          <p:cNvSpPr txBox="1"/>
          <p:nvPr/>
        </p:nvSpPr>
        <p:spPr>
          <a:xfrm>
            <a:off x="8402117" y="2121408"/>
            <a:ext cx="2966618" cy="960120"/>
          </a:xfrm>
          <a:prstGeom prst="rect">
            <a:avLst/>
          </a:prstGeom>
          <a:noFill/>
          <a:ln/>
        </p:spPr>
        <p:txBody>
          <a:bodyPr wrap="square" lIns="0" tIns="0" rIns="0" bIns="0" rtlCol="0" anchor="t"/>
          <a:lstStyle/>
          <a:p>
            <a:pPr indent="0" marL="0">
              <a:buNone/>
            </a:pPr>
            <a:r>
              <a:rPr lang="en-GB" altLang="en-US" sz="1700" i="1" dirty="0">
                <a:solidFill>
                  <a:schemeClr val="bg1"/>
                </a:solidFill>
                <a:latin typeface="Cambria" pitchFamily="34" charset="0"/>
                <a:ea typeface="Cambria" pitchFamily="34" charset="-122"/>
                <a:cs typeface="Cambria" pitchFamily="34" charset="-120"/>
              </a:rPr>
              <a:t>“I trust a result only when I can link it to its run, commit and raw output.”</a:t>
            </a:r>
            <a:endParaRPr lang="en-GB" sz="1700" dirty="0"/>
          </a:p>
        </p:txBody>
      </p:sp>
      <p:sp>
        <p:nvSpPr>
          <p:cNvPr id="18" name="Chain Run circle"/>
          <p:cNvSpPr/>
          <p:nvPr/>
        </p:nvSpPr>
        <p:spPr>
          <a:xfrm>
            <a:off x="8667953" y="3200400"/>
            <a:ext cx="457200" cy="457200"/>
          </a:xfrm>
          <a:prstGeom prst="ellipse">
            <a:avLst/>
          </a:prstGeom>
          <a:solidFill>
            <a:schemeClr val="accent2"/>
          </a:solidFill>
          <a:ln w="12700">
            <a:solidFill>
              <a:schemeClr val="accent2"/>
            </a:solidFill>
            <a:prstDash val="solid"/>
          </a:ln>
        </p:spPr>
      </p:sp>
      <p:pic>
        <p:nvPicPr>
          <p:cNvPr id="19" name="Chain Run icon" descr="preencoded.png">    </p:cNvPr>
          <p:cNvPicPr>
            <a:picLocks noChangeAspect="1"/>
          </p:cNvPicPr>
          <p:nvPr/>
        </p:nvPicPr>
        <p:blipFill>
          <a:blip r:embed="rId4"/>
          <a:stretch>
            <a:fillRect/>
          </a:stretch>
        </p:blipFill>
        <p:spPr>
          <a:xfrm>
            <a:off x="8782253" y="3314700"/>
            <a:ext cx="228600" cy="228600"/>
          </a:xfrm>
          <a:prstGeom prst="rect">
            <a:avLst/>
          </a:prstGeom>
        </p:spPr>
      </p:pic>
      <p:sp>
        <p:nvSpPr>
          <p:cNvPr id="20" name="Chain label Run"/>
          <p:cNvSpPr txBox="1"/>
          <p:nvPr/>
        </p:nvSpPr>
        <p:spPr>
          <a:xfrm>
            <a:off x="8347913" y="3712464"/>
            <a:ext cx="1097280" cy="237744"/>
          </a:xfrm>
          <a:prstGeom prst="rect">
            <a:avLst/>
          </a:prstGeom>
          <a:noFill/>
          <a:ln/>
        </p:spPr>
        <p:txBody>
          <a:bodyPr wrap="square" lIns="0" tIns="0" rIns="0" bIns="0" rtlCol="0" anchor="t"/>
          <a:lstStyle/>
          <a:p>
            <a:pPr algn="ctr" indent="0" marL="0">
              <a:buNone/>
            </a:pPr>
            <a:r>
              <a:rPr lang="en-GB" altLang="en-US" sz="1200" dirty="0">
                <a:solidFill>
                  <a:schemeClr val="bg1"/>
                </a:solidFill>
              </a:rPr>
              <a:t>Run</a:t>
            </a:r>
            <a:endParaRPr lang="en-GB" sz="1200" dirty="0"/>
          </a:p>
        </p:txBody>
      </p:sp>
      <p:pic>
        <p:nvPicPr>
          <p:cNvPr id="21" name="Chain arrow 1" descr="preencoded.png">    </p:cNvPr>
          <p:cNvPicPr>
            <a:picLocks noChangeAspect="1"/>
          </p:cNvPicPr>
          <p:nvPr/>
        </p:nvPicPr>
        <p:blipFill>
          <a:blip r:embed="rId5"/>
          <a:stretch>
            <a:fillRect/>
          </a:stretch>
        </p:blipFill>
        <p:spPr>
          <a:xfrm>
            <a:off x="9290406" y="3328416"/>
            <a:ext cx="201168" cy="201168"/>
          </a:xfrm>
          <a:prstGeom prst="rect">
            <a:avLst/>
          </a:prstGeom>
        </p:spPr>
      </p:pic>
      <p:sp>
        <p:nvSpPr>
          <p:cNvPr id="22" name="Chain Commit circle"/>
          <p:cNvSpPr/>
          <p:nvPr/>
        </p:nvSpPr>
        <p:spPr>
          <a:xfrm>
            <a:off x="9656826" y="3200400"/>
            <a:ext cx="457200" cy="457200"/>
          </a:xfrm>
          <a:prstGeom prst="ellipse">
            <a:avLst/>
          </a:prstGeom>
          <a:solidFill>
            <a:schemeClr val="accent2"/>
          </a:solidFill>
          <a:ln w="12700">
            <a:solidFill>
              <a:schemeClr val="accent2"/>
            </a:solidFill>
            <a:prstDash val="solid"/>
          </a:ln>
        </p:spPr>
      </p:sp>
      <p:pic>
        <p:nvPicPr>
          <p:cNvPr id="23" name="Chain Commit icon" descr="preencoded.png">    </p:cNvPr>
          <p:cNvPicPr>
            <a:picLocks noChangeAspect="1"/>
          </p:cNvPicPr>
          <p:nvPr/>
        </p:nvPicPr>
        <p:blipFill>
          <a:blip r:embed="rId6"/>
          <a:stretch>
            <a:fillRect/>
          </a:stretch>
        </p:blipFill>
        <p:spPr>
          <a:xfrm>
            <a:off x="9771126" y="3314700"/>
            <a:ext cx="228600" cy="228600"/>
          </a:xfrm>
          <a:prstGeom prst="rect">
            <a:avLst/>
          </a:prstGeom>
        </p:spPr>
      </p:pic>
      <p:sp>
        <p:nvSpPr>
          <p:cNvPr id="24" name="Chain label Commit"/>
          <p:cNvSpPr txBox="1"/>
          <p:nvPr/>
        </p:nvSpPr>
        <p:spPr>
          <a:xfrm>
            <a:off x="9336786" y="3712464"/>
            <a:ext cx="1097280" cy="237744"/>
          </a:xfrm>
          <a:prstGeom prst="rect">
            <a:avLst/>
          </a:prstGeom>
          <a:noFill/>
          <a:ln/>
        </p:spPr>
        <p:txBody>
          <a:bodyPr wrap="square" lIns="0" tIns="0" rIns="0" bIns="0" rtlCol="0" anchor="t"/>
          <a:lstStyle/>
          <a:p>
            <a:pPr algn="ctr" indent="0" marL="0">
              <a:buNone/>
            </a:pPr>
            <a:r>
              <a:rPr lang="en-GB" altLang="en-US" sz="1200" dirty="0">
                <a:solidFill>
                  <a:schemeClr val="bg1"/>
                </a:solidFill>
              </a:rPr>
              <a:t>Commit</a:t>
            </a:r>
            <a:endParaRPr lang="en-GB" sz="1200" dirty="0"/>
          </a:p>
        </p:txBody>
      </p:sp>
      <p:pic>
        <p:nvPicPr>
          <p:cNvPr id="25" name="Chain arrow 2" descr="preencoded.png">    </p:cNvPr>
          <p:cNvPicPr>
            <a:picLocks noChangeAspect="1"/>
          </p:cNvPicPr>
          <p:nvPr/>
        </p:nvPicPr>
        <p:blipFill>
          <a:blip r:embed="rId7"/>
          <a:stretch>
            <a:fillRect/>
          </a:stretch>
        </p:blipFill>
        <p:spPr>
          <a:xfrm>
            <a:off x="10279278" y="3328416"/>
            <a:ext cx="201168" cy="201168"/>
          </a:xfrm>
          <a:prstGeom prst="rect">
            <a:avLst/>
          </a:prstGeom>
        </p:spPr>
      </p:pic>
      <p:sp>
        <p:nvSpPr>
          <p:cNvPr id="26" name="Chain Raw output circle"/>
          <p:cNvSpPr/>
          <p:nvPr/>
        </p:nvSpPr>
        <p:spPr>
          <a:xfrm>
            <a:off x="10645699" y="3200400"/>
            <a:ext cx="457200" cy="457200"/>
          </a:xfrm>
          <a:prstGeom prst="ellipse">
            <a:avLst/>
          </a:prstGeom>
          <a:solidFill>
            <a:schemeClr val="accent2"/>
          </a:solidFill>
          <a:ln w="12700">
            <a:solidFill>
              <a:schemeClr val="accent2"/>
            </a:solidFill>
            <a:prstDash val="solid"/>
          </a:ln>
        </p:spPr>
      </p:sp>
      <p:pic>
        <p:nvPicPr>
          <p:cNvPr id="27" name="Chain Raw output icon" descr="preencoded.png">    </p:cNvPr>
          <p:cNvPicPr>
            <a:picLocks noChangeAspect="1"/>
          </p:cNvPicPr>
          <p:nvPr/>
        </p:nvPicPr>
        <p:blipFill>
          <a:blip r:embed="rId8"/>
          <a:stretch>
            <a:fillRect/>
          </a:stretch>
        </p:blipFill>
        <p:spPr>
          <a:xfrm>
            <a:off x="10759999" y="3314700"/>
            <a:ext cx="228600" cy="228600"/>
          </a:xfrm>
          <a:prstGeom prst="rect">
            <a:avLst/>
          </a:prstGeom>
        </p:spPr>
      </p:pic>
      <p:sp>
        <p:nvSpPr>
          <p:cNvPr id="28" name="Chain label Raw output"/>
          <p:cNvSpPr txBox="1"/>
          <p:nvPr/>
        </p:nvSpPr>
        <p:spPr>
          <a:xfrm>
            <a:off x="10325659" y="3712464"/>
            <a:ext cx="1097280" cy="237744"/>
          </a:xfrm>
          <a:prstGeom prst="rect">
            <a:avLst/>
          </a:prstGeom>
          <a:noFill/>
          <a:ln/>
        </p:spPr>
        <p:txBody>
          <a:bodyPr wrap="square" lIns="0" tIns="0" rIns="0" bIns="0" rtlCol="0" anchor="t"/>
          <a:lstStyle/>
          <a:p>
            <a:pPr algn="ctr" indent="0" marL="0">
              <a:buNone/>
            </a:pPr>
            <a:r>
              <a:rPr lang="en-GB" altLang="en-US" sz="1200" dirty="0">
                <a:solidFill>
                  <a:schemeClr val="bg1"/>
                </a:solidFill>
              </a:rPr>
              <a:t>Raw output</a:t>
            </a:r>
            <a:endParaRPr lang="en-GB" sz="1200" dirty="0"/>
          </a:p>
        </p:txBody>
      </p:sp>
      <p:sp>
        <p:nvSpPr>
          <p:cNvPr id="29" name="Lesson note"/>
          <p:cNvSpPr txBox="1"/>
          <p:nvPr/>
        </p:nvSpPr>
        <p:spPr>
          <a:xfrm>
            <a:off x="8402117" y="4114800"/>
            <a:ext cx="2966618" cy="640080"/>
          </a:xfrm>
          <a:prstGeom prst="rect">
            <a:avLst/>
          </a:prstGeom>
          <a:noFill/>
          <a:ln/>
        </p:spPr>
        <p:txBody>
          <a:bodyPr wrap="square" lIns="0" tIns="0" rIns="0" bIns="0" rtlCol="0" anchor="t"/>
          <a:lstStyle/>
          <a:p>
            <a:pPr indent="0" marL="0">
              <a:buNone/>
            </a:pPr>
            <a:r>
              <a:rPr lang="en-GB" altLang="en-US" sz="1200" dirty="0">
                <a:solidFill>
                  <a:schemeClr val="bg1"/>
                </a:solidFill>
              </a:rPr>
              <a:t>Tracing results this way is how I found my own fairness flaw. I fixed it before reporting any results.</a:t>
            </a:r>
            <a:endParaRPr lang="en-GB" sz="1200" dirty="0"/>
          </a:p>
        </p:txBody>
      </p:sp>
      <p:sp>
        <p:nvSpPr>
          <p:cNvPr id="30" name="Label Objectives: all met, within the limits of 15 tests"/>
          <p:cNvSpPr txBox="1"/>
          <p:nvPr/>
        </p:nvSpPr>
        <p:spPr>
          <a:xfrm>
            <a:off x="548640" y="5120640"/>
            <a:ext cx="11094415" cy="256032"/>
          </a:xfrm>
          <a:prstGeom prst="rect">
            <a:avLst/>
          </a:prstGeom>
          <a:noFill/>
          <a:ln/>
        </p:spPr>
        <p:txBody>
          <a:bodyPr wrap="square" lIns="0" tIns="0" rIns="0" bIns="0" rtlCol="0" anchor="t"/>
          <a:lstStyle/>
          <a:p>
            <a:pPr indent="0" marL="0">
              <a:buNone/>
            </a:pPr>
            <a:r>
              <a:rPr lang="en-GB" altLang="en-US" sz="1200" b="1" spc="150" kern="0" dirty="0">
                <a:solidFill>
                  <a:schemeClr val="accent4"/>
                </a:solidFill>
              </a:rPr>
              <a:t>OBJECTIVES: ALL MET, WITHIN THE LIMITS OF 15 TESTS</a:t>
            </a:r>
            <a:endParaRPr lang="en-GB" sz="1200" dirty="0"/>
          </a:p>
        </p:txBody>
      </p:sp>
      <p:sp>
        <p:nvSpPr>
          <p:cNvPr id="31" name="O1 objective"/>
          <p:cNvSpPr/>
          <p:nvPr/>
        </p:nvSpPr>
        <p:spPr>
          <a:xfrm>
            <a:off x="548640" y="5422392"/>
            <a:ext cx="2636444" cy="502920"/>
          </a:xfrm>
          <a:prstGeom prst="roundRect">
            <a:avLst>
              <a:gd name="adj" fmla="val 49091"/>
            </a:avLst>
          </a:prstGeom>
          <a:solidFill>
            <a:schemeClr val="bg1"/>
          </a:solidFill>
          <a:ln w="15875">
            <a:solidFill>
              <a:srgbClr val="2E7D4F"/>
            </a:solidFill>
            <a:prstDash val="solid"/>
          </a:ln>
        </p:spPr>
      </p:sp>
      <p:sp>
        <p:nvSpPr>
          <p:cNvPr id="32" name="O1 check circle"/>
          <p:cNvSpPr/>
          <p:nvPr/>
        </p:nvSpPr>
        <p:spPr>
          <a:xfrm>
            <a:off x="640080" y="5500116"/>
            <a:ext cx="347472" cy="347472"/>
          </a:xfrm>
          <a:prstGeom prst="ellipse">
            <a:avLst/>
          </a:prstGeom>
          <a:solidFill>
            <a:schemeClr val="accent4"/>
          </a:solidFill>
          <a:ln w="12700">
            <a:solidFill>
              <a:schemeClr val="accent4"/>
            </a:solidFill>
            <a:prstDash val="solid"/>
          </a:ln>
        </p:spPr>
      </p:sp>
      <p:pic>
        <p:nvPicPr>
          <p:cNvPr id="33" name="O1 check icon" descr="preencoded.png">    </p:cNvPr>
          <p:cNvPicPr>
            <a:picLocks noChangeAspect="1"/>
          </p:cNvPicPr>
          <p:nvPr/>
        </p:nvPicPr>
        <p:blipFill>
          <a:blip r:embed="rId9"/>
          <a:stretch>
            <a:fillRect/>
          </a:stretch>
        </p:blipFill>
        <p:spPr>
          <a:xfrm>
            <a:off x="723473" y="5583509"/>
            <a:ext cx="180685" cy="180685"/>
          </a:xfrm>
          <a:prstGeom prst="rect">
            <a:avLst/>
          </a:prstGeom>
        </p:spPr>
      </p:pic>
      <p:sp>
        <p:nvSpPr>
          <p:cNvPr id="34" name="O1 text"/>
          <p:cNvSpPr txBox="1"/>
          <p:nvPr/>
        </p:nvSpPr>
        <p:spPr>
          <a:xfrm>
            <a:off x="1078992" y="5422392"/>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O1  </a:t>
            </a:r>
            <a:pPr indent="0" marL="0">
              <a:buNone/>
            </a:pPr>
            <a:r>
              <a:rPr lang="en-GB" altLang="en-US" sz="1300" dirty="0">
                <a:solidFill>
                  <a:schemeClr val="tx1"/>
                </a:solidFill>
              </a:rPr>
              <a:t>Literature review</a:t>
            </a:r>
            <a:endParaRPr lang="en-GB" sz="1300" dirty="0"/>
          </a:p>
        </p:txBody>
      </p:sp>
      <p:sp>
        <p:nvSpPr>
          <p:cNvPr id="35" name="O2 objective"/>
          <p:cNvSpPr/>
          <p:nvPr/>
        </p:nvSpPr>
        <p:spPr>
          <a:xfrm>
            <a:off x="3367964" y="5422392"/>
            <a:ext cx="2636444" cy="502920"/>
          </a:xfrm>
          <a:prstGeom prst="roundRect">
            <a:avLst>
              <a:gd name="adj" fmla="val 49091"/>
            </a:avLst>
          </a:prstGeom>
          <a:solidFill>
            <a:schemeClr val="bg1"/>
          </a:solidFill>
          <a:ln w="15875">
            <a:solidFill>
              <a:srgbClr val="2E7D4F"/>
            </a:solidFill>
            <a:prstDash val="solid"/>
          </a:ln>
        </p:spPr>
      </p:sp>
      <p:sp>
        <p:nvSpPr>
          <p:cNvPr id="36" name="O2 check circle"/>
          <p:cNvSpPr/>
          <p:nvPr/>
        </p:nvSpPr>
        <p:spPr>
          <a:xfrm>
            <a:off x="3459404" y="5500116"/>
            <a:ext cx="347472" cy="347472"/>
          </a:xfrm>
          <a:prstGeom prst="ellipse">
            <a:avLst/>
          </a:prstGeom>
          <a:solidFill>
            <a:schemeClr val="accent4"/>
          </a:solidFill>
          <a:ln w="12700">
            <a:solidFill>
              <a:schemeClr val="accent4"/>
            </a:solidFill>
            <a:prstDash val="solid"/>
          </a:ln>
        </p:spPr>
      </p:sp>
      <p:pic>
        <p:nvPicPr>
          <p:cNvPr id="37" name="O2 check icon" descr="preencoded.png">    </p:cNvPr>
          <p:cNvPicPr>
            <a:picLocks noChangeAspect="1"/>
          </p:cNvPicPr>
          <p:nvPr/>
        </p:nvPicPr>
        <p:blipFill>
          <a:blip r:embed="rId10"/>
          <a:stretch>
            <a:fillRect/>
          </a:stretch>
        </p:blipFill>
        <p:spPr>
          <a:xfrm>
            <a:off x="3542797" y="5583509"/>
            <a:ext cx="180685" cy="180685"/>
          </a:xfrm>
          <a:prstGeom prst="rect">
            <a:avLst/>
          </a:prstGeom>
        </p:spPr>
      </p:pic>
      <p:sp>
        <p:nvSpPr>
          <p:cNvPr id="38" name="O2 text"/>
          <p:cNvSpPr txBox="1"/>
          <p:nvPr/>
        </p:nvSpPr>
        <p:spPr>
          <a:xfrm>
            <a:off x="3898316" y="5422392"/>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O2  </a:t>
            </a:r>
            <a:pPr indent="0" marL="0">
              <a:buNone/>
            </a:pPr>
            <a:r>
              <a:rPr lang="en-GB" altLang="en-US" sz="1300" dirty="0">
                <a:solidFill>
                  <a:schemeClr val="tx1"/>
                </a:solidFill>
              </a:rPr>
              <a:t>Working pipeline</a:t>
            </a:r>
            <a:endParaRPr lang="en-GB" sz="1300" dirty="0"/>
          </a:p>
        </p:txBody>
      </p:sp>
      <p:sp>
        <p:nvSpPr>
          <p:cNvPr id="39" name="O3 objective"/>
          <p:cNvSpPr/>
          <p:nvPr/>
        </p:nvSpPr>
        <p:spPr>
          <a:xfrm>
            <a:off x="6187288" y="5422392"/>
            <a:ext cx="2636444" cy="502920"/>
          </a:xfrm>
          <a:prstGeom prst="roundRect">
            <a:avLst>
              <a:gd name="adj" fmla="val 49091"/>
            </a:avLst>
          </a:prstGeom>
          <a:solidFill>
            <a:schemeClr val="bg1"/>
          </a:solidFill>
          <a:ln w="15875">
            <a:solidFill>
              <a:srgbClr val="2E7D4F"/>
            </a:solidFill>
            <a:prstDash val="solid"/>
          </a:ln>
        </p:spPr>
      </p:sp>
      <p:sp>
        <p:nvSpPr>
          <p:cNvPr id="40" name="O3 check circle"/>
          <p:cNvSpPr/>
          <p:nvPr/>
        </p:nvSpPr>
        <p:spPr>
          <a:xfrm>
            <a:off x="6278728" y="5500116"/>
            <a:ext cx="347472" cy="347472"/>
          </a:xfrm>
          <a:prstGeom prst="ellipse">
            <a:avLst/>
          </a:prstGeom>
          <a:solidFill>
            <a:schemeClr val="accent4"/>
          </a:solidFill>
          <a:ln w="12700">
            <a:solidFill>
              <a:schemeClr val="accent4"/>
            </a:solidFill>
            <a:prstDash val="solid"/>
          </a:ln>
        </p:spPr>
      </p:sp>
      <p:pic>
        <p:nvPicPr>
          <p:cNvPr id="41" name="O3 check icon" descr="preencoded.png">    </p:cNvPr>
          <p:cNvPicPr>
            <a:picLocks noChangeAspect="1"/>
          </p:cNvPicPr>
          <p:nvPr/>
        </p:nvPicPr>
        <p:blipFill>
          <a:blip r:embed="rId11"/>
          <a:stretch>
            <a:fillRect/>
          </a:stretch>
        </p:blipFill>
        <p:spPr>
          <a:xfrm>
            <a:off x="6362121" y="5583509"/>
            <a:ext cx="180685" cy="180685"/>
          </a:xfrm>
          <a:prstGeom prst="rect">
            <a:avLst/>
          </a:prstGeom>
        </p:spPr>
      </p:pic>
      <p:sp>
        <p:nvSpPr>
          <p:cNvPr id="42" name="O3 text"/>
          <p:cNvSpPr txBox="1"/>
          <p:nvPr/>
        </p:nvSpPr>
        <p:spPr>
          <a:xfrm>
            <a:off x="6717640" y="5422392"/>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O3  </a:t>
            </a:r>
            <a:pPr indent="0" marL="0">
              <a:buNone/>
            </a:pPr>
            <a:r>
              <a:rPr lang="en-GB" altLang="en-US" sz="1300" dirty="0">
                <a:solidFill>
                  <a:schemeClr val="tx1"/>
                </a:solidFill>
              </a:rPr>
              <a:t>Scanner comparison</a:t>
            </a:r>
            <a:endParaRPr lang="en-GB" sz="1300" dirty="0"/>
          </a:p>
        </p:txBody>
      </p:sp>
      <p:sp>
        <p:nvSpPr>
          <p:cNvPr id="43" name="O4 objective"/>
          <p:cNvSpPr/>
          <p:nvPr/>
        </p:nvSpPr>
        <p:spPr>
          <a:xfrm>
            <a:off x="9006611" y="5422392"/>
            <a:ext cx="2636444" cy="502920"/>
          </a:xfrm>
          <a:prstGeom prst="roundRect">
            <a:avLst>
              <a:gd name="adj" fmla="val 49091"/>
            </a:avLst>
          </a:prstGeom>
          <a:solidFill>
            <a:schemeClr val="bg1"/>
          </a:solidFill>
          <a:ln w="15875">
            <a:solidFill>
              <a:srgbClr val="2E7D4F"/>
            </a:solidFill>
            <a:prstDash val="solid"/>
          </a:ln>
        </p:spPr>
      </p:sp>
      <p:sp>
        <p:nvSpPr>
          <p:cNvPr id="44" name="O4 check circle"/>
          <p:cNvSpPr/>
          <p:nvPr/>
        </p:nvSpPr>
        <p:spPr>
          <a:xfrm>
            <a:off x="9098051" y="5500116"/>
            <a:ext cx="347472" cy="347472"/>
          </a:xfrm>
          <a:prstGeom prst="ellipse">
            <a:avLst/>
          </a:prstGeom>
          <a:solidFill>
            <a:schemeClr val="accent4"/>
          </a:solidFill>
          <a:ln w="12700">
            <a:solidFill>
              <a:schemeClr val="accent4"/>
            </a:solidFill>
            <a:prstDash val="solid"/>
          </a:ln>
        </p:spPr>
      </p:sp>
      <p:pic>
        <p:nvPicPr>
          <p:cNvPr id="45" name="O4 check icon" descr="preencoded.png">    </p:cNvPr>
          <p:cNvPicPr>
            <a:picLocks noChangeAspect="1"/>
          </p:cNvPicPr>
          <p:nvPr/>
        </p:nvPicPr>
        <p:blipFill>
          <a:blip r:embed="rId12"/>
          <a:stretch>
            <a:fillRect/>
          </a:stretch>
        </p:blipFill>
        <p:spPr>
          <a:xfrm>
            <a:off x="9181445" y="5583509"/>
            <a:ext cx="180685" cy="180685"/>
          </a:xfrm>
          <a:prstGeom prst="rect">
            <a:avLst/>
          </a:prstGeom>
        </p:spPr>
      </p:pic>
      <p:sp>
        <p:nvSpPr>
          <p:cNvPr id="46" name="O4 text"/>
          <p:cNvSpPr txBox="1"/>
          <p:nvPr/>
        </p:nvSpPr>
        <p:spPr>
          <a:xfrm>
            <a:off x="9536963" y="5422392"/>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O4  </a:t>
            </a:r>
            <a:pPr indent="0" marL="0">
              <a:buNone/>
            </a:pPr>
            <a:r>
              <a:rPr lang="en-GB" altLang="en-US" sz="1300" dirty="0">
                <a:solidFill>
                  <a:schemeClr val="tx1"/>
                </a:solidFill>
              </a:rPr>
              <a:t>Benefits and limits</a:t>
            </a:r>
            <a:endParaRPr lang="en-GB" sz="13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9</a:t>
            </a:fld>
            <a:endParaRPr lang="en-GB"/>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Conclusion: an advisor beside scanners, not a gate</a:t>
            </a:r>
            <a:endParaRPr lang="en-GB" sz="3600" dirty="0"/>
          </a:p>
        </p:txBody>
      </p:sp>
      <p:sp>
        <p:nvSpPr>
          <p:cNvPr id="3" name="Answer card"/>
          <p:cNvSpPr/>
          <p:nvPr/>
        </p:nvSpPr>
        <p:spPr>
          <a:xfrm>
            <a:off x="548640" y="1325880"/>
            <a:ext cx="6446520" cy="1280160"/>
          </a:xfrm>
          <a:prstGeom prst="roundRect">
            <a:avLst>
              <a:gd name="adj" fmla="val 5714"/>
            </a:avLst>
          </a:prstGeom>
          <a:solidFill>
            <a:schemeClr val="tx2"/>
          </a:solidFill>
          <a:ln w="12700">
            <a:solidFill>
              <a:schemeClr val="tx2"/>
            </a:solidFill>
            <a:prstDash val="solid"/>
          </a:ln>
        </p:spPr>
      </p:sp>
      <p:sp>
        <p:nvSpPr>
          <p:cNvPr id="4" name="Answer"/>
          <p:cNvSpPr txBox="1"/>
          <p:nvPr/>
        </p:nvSpPr>
        <p:spPr>
          <a:xfrm>
            <a:off x="822960" y="1325880"/>
            <a:ext cx="5897880" cy="1280160"/>
          </a:xfrm>
          <a:prstGeom prst="rect">
            <a:avLst/>
          </a:prstGeom>
          <a:noFill/>
          <a:ln/>
        </p:spPr>
        <p:txBody>
          <a:bodyPr wrap="square" lIns="0" tIns="0" rIns="0" bIns="0" rtlCol="0" anchor="ctr"/>
          <a:lstStyle/>
          <a:p>
            <a:pPr indent="0" marL="0">
              <a:spcAft>
                <a:spcPts val="200"/>
              </a:spcAft>
              <a:buNone/>
            </a:pPr>
            <a:r>
              <a:rPr lang="en-GB" altLang="en-US" sz="2600" b="1" dirty="0">
                <a:solidFill>
                  <a:schemeClr val="bg1"/>
                </a:solidFill>
              </a:rPr>
              <a:t>A qualified yes</a:t>
            </a:r>
            <a:endParaRPr lang="en-GB" sz="1400" dirty="0"/>
          </a:p>
          <a:p>
            <a:pPr indent="0" marL="0">
              <a:spcAft>
                <a:spcPts val="200"/>
              </a:spcAft>
              <a:buNone/>
            </a:pPr>
            <a:r>
              <a:rPr lang="en-GB" altLang="en-US" sz="1400" dirty="0">
                <a:solidFill>
                  <a:schemeClr val="bg1"/>
                </a:solidFill>
              </a:rPr>
              <a:t>The AI found 11 of the 12 problems, and part of the last one; the two scanners together found 8. But its mistakes are harder to predict.</a:t>
            </a:r>
            <a:endParaRPr lang="en-GB" sz="1400" dirty="0"/>
          </a:p>
        </p:txBody>
      </p:sp>
      <p:sp>
        <p:nvSpPr>
          <p:cNvPr id="5" name="Scanners circle"/>
          <p:cNvSpPr/>
          <p:nvPr/>
        </p:nvSpPr>
        <p:spPr>
          <a:xfrm>
            <a:off x="1339596" y="2743200"/>
            <a:ext cx="566928" cy="566928"/>
          </a:xfrm>
          <a:prstGeom prst="ellipse">
            <a:avLst/>
          </a:prstGeom>
          <a:solidFill>
            <a:schemeClr val="accent2"/>
          </a:solidFill>
          <a:ln w="12700">
            <a:solidFill>
              <a:schemeClr val="accent2"/>
            </a:solidFill>
            <a:prstDash val="solid"/>
          </a:ln>
        </p:spPr>
      </p:sp>
      <p:pic>
        <p:nvPicPr>
          <p:cNvPr id="6" name="Scanners icon" descr="preencoded.png">    </p:cNvPr>
          <p:cNvPicPr>
            <a:picLocks noChangeAspect="1"/>
          </p:cNvPicPr>
          <p:nvPr/>
        </p:nvPicPr>
        <p:blipFill>
          <a:blip r:embed="rId1"/>
          <a:stretch>
            <a:fillRect/>
          </a:stretch>
        </p:blipFill>
        <p:spPr>
          <a:xfrm>
            <a:off x="1481328" y="2884932"/>
            <a:ext cx="283464" cy="283464"/>
          </a:xfrm>
          <a:prstGeom prst="rect">
            <a:avLst/>
          </a:prstGeom>
        </p:spPr>
      </p:pic>
      <p:sp>
        <p:nvSpPr>
          <p:cNvPr id="7" name="Scanners role"/>
          <p:cNvSpPr txBox="1"/>
          <p:nvPr/>
        </p:nvSpPr>
        <p:spPr>
          <a:xfrm>
            <a:off x="617220" y="3364992"/>
            <a:ext cx="2011680" cy="457200"/>
          </a:xfrm>
          <a:prstGeom prst="rect">
            <a:avLst/>
          </a:prstGeom>
          <a:noFill/>
          <a:ln/>
        </p:spPr>
        <p:txBody>
          <a:bodyPr wrap="square" lIns="0" tIns="0" rIns="0" bIns="0" rtlCol="0" anchor="t"/>
          <a:lstStyle/>
          <a:p>
            <a:pPr algn="ctr" indent="0" marL="0">
              <a:buNone/>
            </a:pPr>
            <a:r>
              <a:rPr lang="en-GB" altLang="en-US" sz="1400" b="1" dirty="0">
                <a:solidFill>
                  <a:schemeClr val="tx2"/>
                </a:solidFill>
              </a:rPr>
              <a:t>Scanners</a:t>
            </a:r>
            <a:endParaRPr lang="en-GB" sz="1400" dirty="0"/>
          </a:p>
          <a:p>
            <a:pPr algn="ctr" indent="0" marL="0">
              <a:buNone/>
            </a:pPr>
            <a:r>
              <a:rPr lang="en-GB" altLang="en-US" sz="1400" dirty="0">
                <a:solidFill>
                  <a:schemeClr val="tx1"/>
                </a:solidFill>
              </a:rPr>
              <a:t>enforce the rules</a:t>
            </a:r>
            <a:endParaRPr lang="en-GB" sz="1400" dirty="0"/>
          </a:p>
        </p:txBody>
      </p:sp>
      <p:pic>
        <p:nvPicPr>
          <p:cNvPr id="8" name="Role link 1" descr="preencoded.png">    </p:cNvPr>
          <p:cNvPicPr>
            <a:picLocks noChangeAspect="1"/>
          </p:cNvPicPr>
          <p:nvPr/>
        </p:nvPicPr>
        <p:blipFill>
          <a:blip r:embed="rId2"/>
          <a:stretch>
            <a:fillRect/>
          </a:stretch>
        </p:blipFill>
        <p:spPr>
          <a:xfrm>
            <a:off x="2560320" y="2889504"/>
            <a:ext cx="274320" cy="274320"/>
          </a:xfrm>
          <a:prstGeom prst="rect">
            <a:avLst/>
          </a:prstGeom>
        </p:spPr>
      </p:pic>
      <p:sp>
        <p:nvSpPr>
          <p:cNvPr id="9" name="AI circle"/>
          <p:cNvSpPr/>
          <p:nvPr/>
        </p:nvSpPr>
        <p:spPr>
          <a:xfrm>
            <a:off x="3488436" y="2743200"/>
            <a:ext cx="566928" cy="566928"/>
          </a:xfrm>
          <a:prstGeom prst="ellipse">
            <a:avLst/>
          </a:prstGeom>
          <a:solidFill>
            <a:schemeClr val="accent1"/>
          </a:solidFill>
          <a:ln w="12700">
            <a:solidFill>
              <a:schemeClr val="accent1"/>
            </a:solidFill>
            <a:prstDash val="solid"/>
          </a:ln>
        </p:spPr>
      </p:sp>
      <p:pic>
        <p:nvPicPr>
          <p:cNvPr id="10" name="AI icon" descr="preencoded.png">    </p:cNvPr>
          <p:cNvPicPr>
            <a:picLocks noChangeAspect="1"/>
          </p:cNvPicPr>
          <p:nvPr/>
        </p:nvPicPr>
        <p:blipFill>
          <a:blip r:embed="rId3"/>
          <a:stretch>
            <a:fillRect/>
          </a:stretch>
        </p:blipFill>
        <p:spPr>
          <a:xfrm>
            <a:off x="3630168" y="2884932"/>
            <a:ext cx="283464" cy="283464"/>
          </a:xfrm>
          <a:prstGeom prst="rect">
            <a:avLst/>
          </a:prstGeom>
        </p:spPr>
      </p:pic>
      <p:sp>
        <p:nvSpPr>
          <p:cNvPr id="11" name="AI role"/>
          <p:cNvSpPr txBox="1"/>
          <p:nvPr/>
        </p:nvSpPr>
        <p:spPr>
          <a:xfrm>
            <a:off x="2766060" y="3364992"/>
            <a:ext cx="2011680" cy="457200"/>
          </a:xfrm>
          <a:prstGeom prst="rect">
            <a:avLst/>
          </a:prstGeom>
          <a:noFill/>
          <a:ln/>
        </p:spPr>
        <p:txBody>
          <a:bodyPr wrap="square" lIns="0" tIns="0" rIns="0" bIns="0" rtlCol="0" anchor="t"/>
          <a:lstStyle/>
          <a:p>
            <a:pPr algn="ctr" indent="0" marL="0">
              <a:buNone/>
            </a:pPr>
            <a:r>
              <a:rPr lang="en-GB" altLang="en-US" sz="1400" b="1" dirty="0">
                <a:solidFill>
                  <a:schemeClr val="tx2"/>
                </a:solidFill>
              </a:rPr>
              <a:t>AI</a:t>
            </a:r>
            <a:endParaRPr lang="en-GB" sz="1400" dirty="0"/>
          </a:p>
          <a:p>
            <a:pPr algn="ctr" indent="0" marL="0">
              <a:buNone/>
            </a:pPr>
            <a:r>
              <a:rPr lang="en-GB" altLang="en-US" sz="1400" dirty="0">
                <a:solidFill>
                  <a:schemeClr val="tx1"/>
                </a:solidFill>
              </a:rPr>
              <a:t>gives advice</a:t>
            </a:r>
            <a:endParaRPr lang="en-GB" sz="1400" dirty="0"/>
          </a:p>
        </p:txBody>
      </p:sp>
      <p:pic>
        <p:nvPicPr>
          <p:cNvPr id="12" name="Role link 2" descr="preencoded.png">    </p:cNvPr>
          <p:cNvPicPr>
            <a:picLocks noChangeAspect="1"/>
          </p:cNvPicPr>
          <p:nvPr/>
        </p:nvPicPr>
        <p:blipFill>
          <a:blip r:embed="rId4"/>
          <a:stretch>
            <a:fillRect/>
          </a:stretch>
        </p:blipFill>
        <p:spPr>
          <a:xfrm>
            <a:off x="4709160" y="2889504"/>
            <a:ext cx="274320" cy="274320"/>
          </a:xfrm>
          <a:prstGeom prst="rect">
            <a:avLst/>
          </a:prstGeom>
        </p:spPr>
      </p:pic>
      <p:sp>
        <p:nvSpPr>
          <p:cNvPr id="13" name="People circle"/>
          <p:cNvSpPr/>
          <p:nvPr/>
        </p:nvSpPr>
        <p:spPr>
          <a:xfrm>
            <a:off x="5637276" y="2743200"/>
            <a:ext cx="566928" cy="566928"/>
          </a:xfrm>
          <a:prstGeom prst="ellipse">
            <a:avLst/>
          </a:prstGeom>
          <a:solidFill>
            <a:schemeClr val="tx2"/>
          </a:solidFill>
          <a:ln w="12700">
            <a:solidFill>
              <a:schemeClr val="tx2"/>
            </a:solidFill>
            <a:prstDash val="solid"/>
          </a:ln>
        </p:spPr>
      </p:sp>
      <p:pic>
        <p:nvPicPr>
          <p:cNvPr id="14" name="People icon" descr="preencoded.png">    </p:cNvPr>
          <p:cNvPicPr>
            <a:picLocks noChangeAspect="1"/>
          </p:cNvPicPr>
          <p:nvPr/>
        </p:nvPicPr>
        <p:blipFill>
          <a:blip r:embed="rId5"/>
          <a:stretch>
            <a:fillRect/>
          </a:stretch>
        </p:blipFill>
        <p:spPr>
          <a:xfrm>
            <a:off x="5779008" y="2884932"/>
            <a:ext cx="283464" cy="283464"/>
          </a:xfrm>
          <a:prstGeom prst="rect">
            <a:avLst/>
          </a:prstGeom>
        </p:spPr>
      </p:pic>
      <p:sp>
        <p:nvSpPr>
          <p:cNvPr id="15" name="People role"/>
          <p:cNvSpPr txBox="1"/>
          <p:nvPr/>
        </p:nvSpPr>
        <p:spPr>
          <a:xfrm>
            <a:off x="4914900" y="3364992"/>
            <a:ext cx="2011680" cy="457200"/>
          </a:xfrm>
          <a:prstGeom prst="rect">
            <a:avLst/>
          </a:prstGeom>
          <a:noFill/>
          <a:ln/>
        </p:spPr>
        <p:txBody>
          <a:bodyPr wrap="square" lIns="0" tIns="0" rIns="0" bIns="0" rtlCol="0" anchor="t"/>
          <a:lstStyle/>
          <a:p>
            <a:pPr algn="ctr" indent="0" marL="0">
              <a:buNone/>
            </a:pPr>
            <a:r>
              <a:rPr lang="en-GB" altLang="en-US" sz="1400" b="1" dirty="0">
                <a:solidFill>
                  <a:schemeClr val="tx2"/>
                </a:solidFill>
              </a:rPr>
              <a:t>People</a:t>
            </a:r>
            <a:endParaRPr lang="en-GB" sz="1400" dirty="0"/>
          </a:p>
          <a:p>
            <a:pPr algn="ctr" indent="0" marL="0">
              <a:buNone/>
            </a:pPr>
            <a:r>
              <a:rPr lang="en-GB" altLang="en-US" sz="1400" dirty="0">
                <a:solidFill>
                  <a:schemeClr val="tx1"/>
                </a:solidFill>
              </a:rPr>
              <a:t>decide</a:t>
            </a:r>
            <a:endParaRPr lang="en-GB" sz="1400" dirty="0"/>
          </a:p>
        </p:txBody>
      </p:sp>
      <p:sp>
        <p:nvSpPr>
          <p:cNvPr id="16" name="Label My advice"/>
          <p:cNvSpPr txBox="1"/>
          <p:nvPr/>
        </p:nvSpPr>
        <p:spPr>
          <a:xfrm>
            <a:off x="548640" y="3950208"/>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MY ADVICE</a:t>
            </a:r>
            <a:endParaRPr lang="en-GB" sz="1200" dirty="0"/>
          </a:p>
        </p:txBody>
      </p:sp>
      <p:sp>
        <p:nvSpPr>
          <p:cNvPr id="17" name="Advice 1"/>
          <p:cNvSpPr/>
          <p:nvPr/>
        </p:nvSpPr>
        <p:spPr>
          <a:xfrm>
            <a:off x="548640" y="4224528"/>
            <a:ext cx="2057400" cy="475488"/>
          </a:xfrm>
          <a:prstGeom prst="roundRect">
            <a:avLst>
              <a:gd name="adj" fmla="val 50000"/>
            </a:avLst>
          </a:prstGeom>
          <a:solidFill>
            <a:schemeClr val="bg2"/>
          </a:solidFill>
          <a:ln w="12700">
            <a:solidFill>
              <a:schemeClr val="bg2"/>
            </a:solidFill>
            <a:prstDash val="solid"/>
          </a:ln>
        </p:spPr>
      </p:sp>
      <p:sp>
        <p:nvSpPr>
          <p:cNvPr id="18" name="Advice icon 1 circle"/>
          <p:cNvSpPr/>
          <p:nvPr/>
        </p:nvSpPr>
        <p:spPr>
          <a:xfrm>
            <a:off x="621792" y="4288536"/>
            <a:ext cx="347472" cy="347472"/>
          </a:xfrm>
          <a:prstGeom prst="ellipse">
            <a:avLst/>
          </a:prstGeom>
          <a:solidFill>
            <a:schemeClr val="accent2"/>
          </a:solidFill>
          <a:ln w="12700">
            <a:solidFill>
              <a:schemeClr val="accent2"/>
            </a:solidFill>
            <a:prstDash val="solid"/>
          </a:ln>
        </p:spPr>
      </p:sp>
      <p:pic>
        <p:nvPicPr>
          <p:cNvPr id="19" name="Advice icon 1 icon" descr="preencoded.png">    </p:cNvPr>
          <p:cNvPicPr>
            <a:picLocks noChangeAspect="1"/>
          </p:cNvPicPr>
          <p:nvPr/>
        </p:nvPicPr>
        <p:blipFill>
          <a:blip r:embed="rId6"/>
          <a:stretch>
            <a:fillRect/>
          </a:stretch>
        </p:blipFill>
        <p:spPr>
          <a:xfrm>
            <a:off x="708660" y="4375404"/>
            <a:ext cx="173736" cy="173736"/>
          </a:xfrm>
          <a:prstGeom prst="rect">
            <a:avLst/>
          </a:prstGeom>
        </p:spPr>
      </p:pic>
      <p:sp>
        <p:nvSpPr>
          <p:cNvPr id="20" name="Advice text 1"/>
          <p:cNvSpPr txBox="1"/>
          <p:nvPr/>
        </p:nvSpPr>
        <p:spPr>
          <a:xfrm>
            <a:off x="1033272" y="4224528"/>
            <a:ext cx="1508760" cy="475488"/>
          </a:xfrm>
          <a:prstGeom prst="rect">
            <a:avLst/>
          </a:prstGeom>
          <a:noFill/>
          <a:ln/>
        </p:spPr>
        <p:txBody>
          <a:bodyPr wrap="square" lIns="0" tIns="0" rIns="0" bIns="0" rtlCol="0" anchor="ctr"/>
          <a:lstStyle/>
          <a:p>
            <a:pPr indent="0" marL="0">
              <a:buNone/>
            </a:pPr>
            <a:r>
              <a:rPr lang="en-GB" altLang="en-US" sz="1200" dirty="0">
                <a:solidFill>
                  <a:schemeClr val="tx1"/>
                </a:solidFill>
              </a:rPr>
              <a:t>Use more than one scanner</a:t>
            </a:r>
            <a:endParaRPr lang="en-GB" sz="1200" dirty="0"/>
          </a:p>
        </p:txBody>
      </p:sp>
      <p:sp>
        <p:nvSpPr>
          <p:cNvPr id="21" name="Advice 2"/>
          <p:cNvSpPr/>
          <p:nvPr/>
        </p:nvSpPr>
        <p:spPr>
          <a:xfrm>
            <a:off x="2743200" y="4224528"/>
            <a:ext cx="2057400" cy="475488"/>
          </a:xfrm>
          <a:prstGeom prst="roundRect">
            <a:avLst>
              <a:gd name="adj" fmla="val 50000"/>
            </a:avLst>
          </a:prstGeom>
          <a:solidFill>
            <a:schemeClr val="bg2"/>
          </a:solidFill>
          <a:ln w="12700">
            <a:solidFill>
              <a:schemeClr val="bg2"/>
            </a:solidFill>
            <a:prstDash val="solid"/>
          </a:ln>
        </p:spPr>
      </p:sp>
      <p:sp>
        <p:nvSpPr>
          <p:cNvPr id="22" name="Advice icon 2 circle"/>
          <p:cNvSpPr/>
          <p:nvPr/>
        </p:nvSpPr>
        <p:spPr>
          <a:xfrm>
            <a:off x="2816352" y="4288536"/>
            <a:ext cx="347472" cy="347472"/>
          </a:xfrm>
          <a:prstGeom prst="ellipse">
            <a:avLst/>
          </a:prstGeom>
          <a:solidFill>
            <a:schemeClr val="accent2"/>
          </a:solidFill>
          <a:ln w="12700">
            <a:solidFill>
              <a:schemeClr val="accent2"/>
            </a:solidFill>
            <a:prstDash val="solid"/>
          </a:ln>
        </p:spPr>
      </p:sp>
      <p:pic>
        <p:nvPicPr>
          <p:cNvPr id="23" name="Advice icon 2 icon" descr="preencoded.png">    </p:cNvPr>
          <p:cNvPicPr>
            <a:picLocks noChangeAspect="1"/>
          </p:cNvPicPr>
          <p:nvPr/>
        </p:nvPicPr>
        <p:blipFill>
          <a:blip r:embed="rId7"/>
          <a:stretch>
            <a:fillRect/>
          </a:stretch>
        </p:blipFill>
        <p:spPr>
          <a:xfrm>
            <a:off x="2903220" y="4375404"/>
            <a:ext cx="173736" cy="173736"/>
          </a:xfrm>
          <a:prstGeom prst="rect">
            <a:avLst/>
          </a:prstGeom>
        </p:spPr>
      </p:pic>
      <p:sp>
        <p:nvSpPr>
          <p:cNvPr id="24" name="Advice text 2"/>
          <p:cNvSpPr txBox="1"/>
          <p:nvPr/>
        </p:nvSpPr>
        <p:spPr>
          <a:xfrm>
            <a:off x="3227832" y="4224528"/>
            <a:ext cx="1508760" cy="475488"/>
          </a:xfrm>
          <a:prstGeom prst="rect">
            <a:avLst/>
          </a:prstGeom>
          <a:noFill/>
          <a:ln/>
        </p:spPr>
        <p:txBody>
          <a:bodyPr wrap="square" lIns="0" tIns="0" rIns="0" bIns="0" rtlCol="0" anchor="ctr"/>
          <a:lstStyle/>
          <a:p>
            <a:pPr indent="0" marL="0">
              <a:buNone/>
            </a:pPr>
            <a:r>
              <a:rPr lang="en-GB" altLang="en-US" sz="1200" dirty="0">
                <a:solidFill>
                  <a:schemeClr val="tx1"/>
                </a:solidFill>
              </a:rPr>
              <a:t>Treat comments as untrusted</a:t>
            </a:r>
            <a:endParaRPr lang="en-GB" sz="1200" dirty="0"/>
          </a:p>
        </p:txBody>
      </p:sp>
      <p:sp>
        <p:nvSpPr>
          <p:cNvPr id="25" name="Advice 3"/>
          <p:cNvSpPr/>
          <p:nvPr/>
        </p:nvSpPr>
        <p:spPr>
          <a:xfrm>
            <a:off x="4937760" y="4224528"/>
            <a:ext cx="2057400" cy="475488"/>
          </a:xfrm>
          <a:prstGeom prst="roundRect">
            <a:avLst>
              <a:gd name="adj" fmla="val 50000"/>
            </a:avLst>
          </a:prstGeom>
          <a:solidFill>
            <a:schemeClr val="bg2"/>
          </a:solidFill>
          <a:ln w="12700">
            <a:solidFill>
              <a:schemeClr val="bg2"/>
            </a:solidFill>
            <a:prstDash val="solid"/>
          </a:ln>
        </p:spPr>
      </p:sp>
      <p:sp>
        <p:nvSpPr>
          <p:cNvPr id="26" name="Advice icon 3 circle"/>
          <p:cNvSpPr/>
          <p:nvPr/>
        </p:nvSpPr>
        <p:spPr>
          <a:xfrm>
            <a:off x="5010912" y="4288536"/>
            <a:ext cx="347472" cy="347472"/>
          </a:xfrm>
          <a:prstGeom prst="ellipse">
            <a:avLst/>
          </a:prstGeom>
          <a:solidFill>
            <a:schemeClr val="accent2"/>
          </a:solidFill>
          <a:ln w="12700">
            <a:solidFill>
              <a:schemeClr val="accent2"/>
            </a:solidFill>
            <a:prstDash val="solid"/>
          </a:ln>
        </p:spPr>
      </p:sp>
      <p:pic>
        <p:nvPicPr>
          <p:cNvPr id="27" name="Advice icon 3 icon" descr="preencoded.png">    </p:cNvPr>
          <p:cNvPicPr>
            <a:picLocks noChangeAspect="1"/>
          </p:cNvPicPr>
          <p:nvPr/>
        </p:nvPicPr>
        <p:blipFill>
          <a:blip r:embed="rId8"/>
          <a:stretch>
            <a:fillRect/>
          </a:stretch>
        </p:blipFill>
        <p:spPr>
          <a:xfrm>
            <a:off x="5097780" y="4375404"/>
            <a:ext cx="173736" cy="173736"/>
          </a:xfrm>
          <a:prstGeom prst="rect">
            <a:avLst/>
          </a:prstGeom>
        </p:spPr>
      </p:pic>
      <p:sp>
        <p:nvSpPr>
          <p:cNvPr id="28" name="Advice text 3"/>
          <p:cNvSpPr txBox="1"/>
          <p:nvPr/>
        </p:nvSpPr>
        <p:spPr>
          <a:xfrm>
            <a:off x="5422392" y="4224528"/>
            <a:ext cx="1508760" cy="475488"/>
          </a:xfrm>
          <a:prstGeom prst="rect">
            <a:avLst/>
          </a:prstGeom>
          <a:noFill/>
          <a:ln/>
        </p:spPr>
        <p:txBody>
          <a:bodyPr wrap="square" lIns="0" tIns="0" rIns="0" bIns="0" rtlCol="0" anchor="ctr"/>
          <a:lstStyle/>
          <a:p>
            <a:pPr indent="0" marL="0">
              <a:buNone/>
            </a:pPr>
            <a:r>
              <a:rPr lang="en-GB" altLang="en-US" sz="1200" dirty="0">
                <a:solidFill>
                  <a:schemeClr val="tx1"/>
                </a:solidFill>
              </a:rPr>
              <a:t>Show unsure findings</a:t>
            </a:r>
            <a:endParaRPr lang="en-GB" sz="1200" dirty="0"/>
          </a:p>
        </p:txBody>
      </p:sp>
      <p:sp>
        <p:nvSpPr>
          <p:cNvPr id="29" name="Advice 4"/>
          <p:cNvSpPr/>
          <p:nvPr/>
        </p:nvSpPr>
        <p:spPr>
          <a:xfrm>
            <a:off x="548640" y="4791456"/>
            <a:ext cx="2057400" cy="475488"/>
          </a:xfrm>
          <a:prstGeom prst="roundRect">
            <a:avLst>
              <a:gd name="adj" fmla="val 50000"/>
            </a:avLst>
          </a:prstGeom>
          <a:solidFill>
            <a:schemeClr val="bg2"/>
          </a:solidFill>
          <a:ln w="12700">
            <a:solidFill>
              <a:schemeClr val="bg2"/>
            </a:solidFill>
            <a:prstDash val="solid"/>
          </a:ln>
        </p:spPr>
      </p:sp>
      <p:sp>
        <p:nvSpPr>
          <p:cNvPr id="30" name="Advice icon 4 circle"/>
          <p:cNvSpPr/>
          <p:nvPr/>
        </p:nvSpPr>
        <p:spPr>
          <a:xfrm>
            <a:off x="621792" y="4855464"/>
            <a:ext cx="347472" cy="347472"/>
          </a:xfrm>
          <a:prstGeom prst="ellipse">
            <a:avLst/>
          </a:prstGeom>
          <a:solidFill>
            <a:schemeClr val="accent2"/>
          </a:solidFill>
          <a:ln w="12700">
            <a:solidFill>
              <a:schemeClr val="accent2"/>
            </a:solidFill>
            <a:prstDash val="solid"/>
          </a:ln>
        </p:spPr>
      </p:sp>
      <p:pic>
        <p:nvPicPr>
          <p:cNvPr id="31" name="Advice icon 4 icon" descr="preencoded.png">    </p:cNvPr>
          <p:cNvPicPr>
            <a:picLocks noChangeAspect="1"/>
          </p:cNvPicPr>
          <p:nvPr/>
        </p:nvPicPr>
        <p:blipFill>
          <a:blip r:embed="rId9"/>
          <a:stretch>
            <a:fillRect/>
          </a:stretch>
        </p:blipFill>
        <p:spPr>
          <a:xfrm>
            <a:off x="708660" y="4942332"/>
            <a:ext cx="173736" cy="173736"/>
          </a:xfrm>
          <a:prstGeom prst="rect">
            <a:avLst/>
          </a:prstGeom>
        </p:spPr>
      </p:pic>
      <p:sp>
        <p:nvSpPr>
          <p:cNvPr id="32" name="Advice text 4"/>
          <p:cNvSpPr txBox="1"/>
          <p:nvPr/>
        </p:nvSpPr>
        <p:spPr>
          <a:xfrm>
            <a:off x="1033272" y="4791456"/>
            <a:ext cx="1508760" cy="475488"/>
          </a:xfrm>
          <a:prstGeom prst="rect">
            <a:avLst/>
          </a:prstGeom>
          <a:noFill/>
          <a:ln/>
        </p:spPr>
        <p:txBody>
          <a:bodyPr wrap="square" lIns="0" tIns="0" rIns="0" bIns="0" rtlCol="0" anchor="ctr"/>
          <a:lstStyle/>
          <a:p>
            <a:pPr indent="0" marL="0">
              <a:buNone/>
            </a:pPr>
            <a:r>
              <a:rPr lang="en-GB" altLang="en-US" sz="1200" dirty="0">
                <a:solidFill>
                  <a:schemeClr val="tx1"/>
                </a:solidFill>
              </a:rPr>
              <a:t>Auto-test every AI fix</a:t>
            </a:r>
            <a:endParaRPr lang="en-GB" sz="1200" dirty="0"/>
          </a:p>
        </p:txBody>
      </p:sp>
      <p:sp>
        <p:nvSpPr>
          <p:cNvPr id="33" name="Advice 5"/>
          <p:cNvSpPr/>
          <p:nvPr/>
        </p:nvSpPr>
        <p:spPr>
          <a:xfrm>
            <a:off x="2743200" y="4791456"/>
            <a:ext cx="2057400" cy="475488"/>
          </a:xfrm>
          <a:prstGeom prst="roundRect">
            <a:avLst>
              <a:gd name="adj" fmla="val 50000"/>
            </a:avLst>
          </a:prstGeom>
          <a:solidFill>
            <a:schemeClr val="bg2"/>
          </a:solidFill>
          <a:ln w="12700">
            <a:solidFill>
              <a:schemeClr val="bg2"/>
            </a:solidFill>
            <a:prstDash val="solid"/>
          </a:ln>
        </p:spPr>
      </p:sp>
      <p:sp>
        <p:nvSpPr>
          <p:cNvPr id="34" name="Advice icon 5 circle"/>
          <p:cNvSpPr/>
          <p:nvPr/>
        </p:nvSpPr>
        <p:spPr>
          <a:xfrm>
            <a:off x="2816352" y="4855464"/>
            <a:ext cx="347472" cy="347472"/>
          </a:xfrm>
          <a:prstGeom prst="ellipse">
            <a:avLst/>
          </a:prstGeom>
          <a:solidFill>
            <a:schemeClr val="accent2"/>
          </a:solidFill>
          <a:ln w="12700">
            <a:solidFill>
              <a:schemeClr val="accent2"/>
            </a:solidFill>
            <a:prstDash val="solid"/>
          </a:ln>
        </p:spPr>
      </p:sp>
      <p:pic>
        <p:nvPicPr>
          <p:cNvPr id="35" name="Advice icon 5 icon" descr="preencoded.png">    </p:cNvPr>
          <p:cNvPicPr>
            <a:picLocks noChangeAspect="1"/>
          </p:cNvPicPr>
          <p:nvPr/>
        </p:nvPicPr>
        <p:blipFill>
          <a:blip r:embed="rId10"/>
          <a:stretch>
            <a:fillRect/>
          </a:stretch>
        </p:blipFill>
        <p:spPr>
          <a:xfrm>
            <a:off x="2903220" y="4942332"/>
            <a:ext cx="173736" cy="173736"/>
          </a:xfrm>
          <a:prstGeom prst="rect">
            <a:avLst/>
          </a:prstGeom>
        </p:spPr>
      </p:pic>
      <p:sp>
        <p:nvSpPr>
          <p:cNvPr id="36" name="Advice text 5"/>
          <p:cNvSpPr txBox="1"/>
          <p:nvPr/>
        </p:nvSpPr>
        <p:spPr>
          <a:xfrm>
            <a:off x="3227832" y="4791456"/>
            <a:ext cx="1508760" cy="475488"/>
          </a:xfrm>
          <a:prstGeom prst="rect">
            <a:avLst/>
          </a:prstGeom>
          <a:noFill/>
          <a:ln/>
        </p:spPr>
        <p:txBody>
          <a:bodyPr wrap="square" lIns="0" tIns="0" rIns="0" bIns="0" rtlCol="0" anchor="ctr"/>
          <a:lstStyle/>
          <a:p>
            <a:pPr indent="0" marL="0">
              <a:buNone/>
            </a:pPr>
            <a:r>
              <a:rPr lang="en-GB" altLang="en-US" sz="1200" dirty="0">
                <a:solidFill>
                  <a:schemeClr val="tx1"/>
                </a:solidFill>
              </a:rPr>
              <a:t>Check delete-only changes</a:t>
            </a:r>
            <a:endParaRPr lang="en-GB" sz="1200" dirty="0"/>
          </a:p>
        </p:txBody>
      </p:sp>
      <p:sp>
        <p:nvSpPr>
          <p:cNvPr id="37" name="Advice 6"/>
          <p:cNvSpPr/>
          <p:nvPr/>
        </p:nvSpPr>
        <p:spPr>
          <a:xfrm>
            <a:off x="4937760" y="4791456"/>
            <a:ext cx="2057400" cy="475488"/>
          </a:xfrm>
          <a:prstGeom prst="roundRect">
            <a:avLst>
              <a:gd name="adj" fmla="val 50000"/>
            </a:avLst>
          </a:prstGeom>
          <a:solidFill>
            <a:schemeClr val="bg2"/>
          </a:solidFill>
          <a:ln w="12700">
            <a:solidFill>
              <a:schemeClr val="bg2"/>
            </a:solidFill>
            <a:prstDash val="solid"/>
          </a:ln>
        </p:spPr>
      </p:sp>
      <p:sp>
        <p:nvSpPr>
          <p:cNvPr id="38" name="Advice icon 6 circle"/>
          <p:cNvSpPr/>
          <p:nvPr/>
        </p:nvSpPr>
        <p:spPr>
          <a:xfrm>
            <a:off x="5010912" y="4855464"/>
            <a:ext cx="347472" cy="347472"/>
          </a:xfrm>
          <a:prstGeom prst="ellipse">
            <a:avLst/>
          </a:prstGeom>
          <a:solidFill>
            <a:schemeClr val="accent2"/>
          </a:solidFill>
          <a:ln w="12700">
            <a:solidFill>
              <a:schemeClr val="accent2"/>
            </a:solidFill>
            <a:prstDash val="solid"/>
          </a:ln>
        </p:spPr>
      </p:sp>
      <p:pic>
        <p:nvPicPr>
          <p:cNvPr id="39" name="Advice icon 6 icon" descr="preencoded.png">    </p:cNvPr>
          <p:cNvPicPr>
            <a:picLocks noChangeAspect="1"/>
          </p:cNvPicPr>
          <p:nvPr/>
        </p:nvPicPr>
        <p:blipFill>
          <a:blip r:embed="rId11"/>
          <a:stretch>
            <a:fillRect/>
          </a:stretch>
        </p:blipFill>
        <p:spPr>
          <a:xfrm>
            <a:off x="5097780" y="4942332"/>
            <a:ext cx="173736" cy="173736"/>
          </a:xfrm>
          <a:prstGeom prst="rect">
            <a:avLst/>
          </a:prstGeom>
        </p:spPr>
      </p:pic>
      <p:sp>
        <p:nvSpPr>
          <p:cNvPr id="40" name="Advice text 6"/>
          <p:cNvSpPr txBox="1"/>
          <p:nvPr/>
        </p:nvSpPr>
        <p:spPr>
          <a:xfrm>
            <a:off x="5422392" y="4791456"/>
            <a:ext cx="1508760" cy="475488"/>
          </a:xfrm>
          <a:prstGeom prst="rect">
            <a:avLst/>
          </a:prstGeom>
          <a:noFill/>
          <a:ln/>
        </p:spPr>
        <p:txBody>
          <a:bodyPr wrap="square" lIns="0" tIns="0" rIns="0" bIns="0" rtlCol="0" anchor="ctr"/>
          <a:lstStyle/>
          <a:p>
            <a:pPr indent="0" marL="0">
              <a:buNone/>
            </a:pPr>
            <a:r>
              <a:rPr lang="en-GB" altLang="en-US" sz="1200" dirty="0">
                <a:solidFill>
                  <a:schemeClr val="tx1"/>
                </a:solidFill>
              </a:rPr>
              <a:t>Log the AI model used</a:t>
            </a:r>
            <a:endParaRPr lang="en-GB" sz="1200" dirty="0"/>
          </a:p>
        </p:txBody>
      </p:sp>
      <p:sp>
        <p:nvSpPr>
          <p:cNvPr id="41" name="Next steps circle"/>
          <p:cNvSpPr/>
          <p:nvPr/>
        </p:nvSpPr>
        <p:spPr>
          <a:xfrm>
            <a:off x="548640" y="5513832"/>
            <a:ext cx="384048" cy="384048"/>
          </a:xfrm>
          <a:prstGeom prst="ellipse">
            <a:avLst/>
          </a:prstGeom>
          <a:solidFill>
            <a:schemeClr val="accent1"/>
          </a:solidFill>
          <a:ln w="12700">
            <a:solidFill>
              <a:schemeClr val="accent1"/>
            </a:solidFill>
            <a:prstDash val="solid"/>
          </a:ln>
        </p:spPr>
      </p:sp>
      <p:pic>
        <p:nvPicPr>
          <p:cNvPr id="42" name="Next steps icon" descr="preencoded.png">    </p:cNvPr>
          <p:cNvPicPr>
            <a:picLocks noChangeAspect="1"/>
          </p:cNvPicPr>
          <p:nvPr/>
        </p:nvPicPr>
        <p:blipFill>
          <a:blip r:embed="rId12"/>
          <a:stretch>
            <a:fillRect/>
          </a:stretch>
        </p:blipFill>
        <p:spPr>
          <a:xfrm>
            <a:off x="644652" y="5609844"/>
            <a:ext cx="192024" cy="192024"/>
          </a:xfrm>
          <a:prstGeom prst="rect">
            <a:avLst/>
          </a:prstGeom>
        </p:spPr>
      </p:pic>
      <p:sp>
        <p:nvSpPr>
          <p:cNvPr id="43" name="Next steps text"/>
          <p:cNvSpPr txBox="1"/>
          <p:nvPr/>
        </p:nvSpPr>
        <p:spPr>
          <a:xfrm>
            <a:off x="1051560" y="5477256"/>
            <a:ext cx="5897880" cy="457200"/>
          </a:xfrm>
          <a:prstGeom prst="rect">
            <a:avLst/>
          </a:prstGeom>
          <a:noFill/>
          <a:ln/>
        </p:spPr>
        <p:txBody>
          <a:bodyPr wrap="square" lIns="0" tIns="0" rIns="0" bIns="0" rtlCol="0" anchor="ctr"/>
          <a:lstStyle/>
          <a:p>
            <a:pPr indent="0" marL="0">
              <a:buNone/>
            </a:pPr>
            <a:r>
              <a:rPr lang="en-GB" altLang="en-US" sz="1300" b="1" dirty="0">
                <a:solidFill>
                  <a:schemeClr val="tx2"/>
                </a:solidFill>
              </a:rPr>
              <a:t>Next: </a:t>
            </a:r>
            <a:pPr indent="0" marL="0">
              <a:buNone/>
            </a:pPr>
            <a:r>
              <a:rPr lang="en-GB" altLang="en-US" sz="1300" dirty="0">
                <a:solidFill>
                  <a:schemeClr val="tx1"/>
                </a:solidFill>
              </a:rPr>
              <a:t>real-world code · more AI models · comment-trick tests · real developers</a:t>
            </a:r>
            <a:endParaRPr lang="en-GB" sz="1300" dirty="0"/>
          </a:p>
        </p:txBody>
      </p:sp>
      <p:sp>
        <p:nvSpPr>
          <p:cNvPr id="44" name="Label References"/>
          <p:cNvSpPr txBox="1"/>
          <p:nvPr/>
        </p:nvSpPr>
        <p:spPr>
          <a:xfrm>
            <a:off x="7315200" y="1325880"/>
            <a:ext cx="4327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REFERENCES</a:t>
            </a:r>
            <a:endParaRPr lang="en-GB" sz="1200" dirty="0"/>
          </a:p>
        </p:txBody>
      </p:sp>
      <p:sp>
        <p:nvSpPr>
          <p:cNvPr id="45" name="Reference list"/>
          <p:cNvSpPr txBox="1"/>
          <p:nvPr/>
        </p:nvSpPr>
        <p:spPr>
          <a:xfrm>
            <a:off x="7315200" y="1609344"/>
            <a:ext cx="4327855" cy="4434840"/>
          </a:xfrm>
          <a:prstGeom prst="rect">
            <a:avLst/>
          </a:prstGeom>
          <a:noFill/>
          <a:ln/>
        </p:spPr>
        <p:txBody>
          <a:bodyPr wrap="square" lIns="0" tIns="0" rIns="0" bIns="0" rtlCol="0" anchor="t"/>
          <a:lstStyle/>
          <a:p>
            <a:pPr indent="0" marL="0">
              <a:spcAft>
                <a:spcPts val="300"/>
              </a:spcAft>
              <a:buNone/>
            </a:pPr>
            <a:r>
              <a:rPr lang="en-GB" altLang="en-US" sz="1000" dirty="0">
                <a:solidFill>
                  <a:schemeClr val="tx1"/>
                </a:solidFill>
              </a:rPr>
              <a:t>Ding, Y. et al. (2025) ‘Vulnerability detection with code language models: How far are we?’, </a:t>
            </a:r>
            <a:pPr indent="0" marL="0">
              <a:spcAft>
                <a:spcPts val="300"/>
              </a:spcAft>
              <a:buNone/>
            </a:pPr>
            <a:r>
              <a:rPr lang="en-GB" altLang="en-US" sz="1000" i="1" dirty="0">
                <a:solidFill>
                  <a:schemeClr val="tx1"/>
                </a:solidFill>
              </a:rPr>
              <a:t>Proceedings of the 47th IEEE/ACM ICSE</a:t>
            </a:r>
            <a:pPr indent="0" marL="0">
              <a:spcAft>
                <a:spcPts val="300"/>
              </a:spcAft>
              <a:buNone/>
            </a:pPr>
            <a:r>
              <a:rPr lang="en-GB" altLang="en-US" sz="1000" dirty="0">
                <a:solidFill>
                  <a:schemeClr val="tx1"/>
                </a:solidFill>
              </a:rPr>
              <a:t>.</a:t>
            </a:r>
            <a:endParaRPr lang="en-GB" sz="1000" dirty="0"/>
          </a:p>
          <a:p>
            <a:pPr indent="0" marL="0">
              <a:spcAft>
                <a:spcPts val="300"/>
              </a:spcAft>
              <a:buNone/>
            </a:pPr>
            <a:r>
              <a:rPr lang="en-GB" altLang="en-US" sz="1000" dirty="0">
                <a:solidFill>
                  <a:schemeClr val="tx1"/>
                </a:solidFill>
              </a:rPr>
              <a:t>Greshake, K. et al. (2023) ‘Not what you’ve signed up for: Compromising real-world LLM-integrated applications with indirect prompt injection’, </a:t>
            </a:r>
            <a:pPr indent="0" marL="0">
              <a:spcAft>
                <a:spcPts val="300"/>
              </a:spcAft>
              <a:buNone/>
            </a:pPr>
            <a:r>
              <a:rPr lang="en-GB" altLang="en-US" sz="1000" i="1" dirty="0">
                <a:solidFill>
                  <a:schemeClr val="tx1"/>
                </a:solidFill>
              </a:rPr>
              <a:t>Proceedings of AISec ’23</a:t>
            </a:r>
            <a:pPr indent="0" marL="0">
              <a:spcAft>
                <a:spcPts val="300"/>
              </a:spcAft>
              <a:buNone/>
            </a:pPr>
            <a:r>
              <a:rPr lang="en-GB" altLang="en-US" sz="1000" dirty="0">
                <a:solidFill>
                  <a:schemeClr val="tx1"/>
                </a:solidFill>
              </a:rPr>
              <a:t>, pp. 79–90.</a:t>
            </a:r>
            <a:endParaRPr lang="en-GB" sz="1000" dirty="0"/>
          </a:p>
          <a:p>
            <a:pPr indent="0" marL="0">
              <a:spcAft>
                <a:spcPts val="300"/>
              </a:spcAft>
              <a:buNone/>
            </a:pPr>
            <a:r>
              <a:rPr lang="en-GB" altLang="en-US" sz="1000" dirty="0">
                <a:solidFill>
                  <a:schemeClr val="tx1"/>
                </a:solidFill>
              </a:rPr>
              <a:t>Ji, Z. et al. (2023) ‘Survey of hallucination in natural language generation’, </a:t>
            </a:r>
            <a:pPr indent="0" marL="0">
              <a:spcAft>
                <a:spcPts val="300"/>
              </a:spcAft>
              <a:buNone/>
            </a:pPr>
            <a:r>
              <a:rPr lang="en-GB" altLang="en-US" sz="1000" i="1" dirty="0">
                <a:solidFill>
                  <a:schemeClr val="tx1"/>
                </a:solidFill>
              </a:rPr>
              <a:t>ACM Computing Surveys</a:t>
            </a:r>
            <a:pPr indent="0" marL="0">
              <a:spcAft>
                <a:spcPts val="300"/>
              </a:spcAft>
              <a:buNone/>
            </a:pPr>
            <a:r>
              <a:rPr lang="en-GB" altLang="en-US" sz="1000" dirty="0">
                <a:solidFill>
                  <a:schemeClr val="tx1"/>
                </a:solidFill>
              </a:rPr>
              <a:t>, 55(12), pp. 1–38.</a:t>
            </a:r>
            <a:endParaRPr lang="en-GB" sz="1000" dirty="0"/>
          </a:p>
          <a:p>
            <a:pPr indent="0" marL="0">
              <a:spcAft>
                <a:spcPts val="300"/>
              </a:spcAft>
              <a:buNone/>
            </a:pPr>
            <a:r>
              <a:rPr lang="en-GB" altLang="en-US" sz="1000" dirty="0">
                <a:solidFill>
                  <a:schemeClr val="tx1"/>
                </a:solidFill>
              </a:rPr>
              <a:t>Johnson, B. et al. (2013) ‘Why don’t software developers use static analysis tools to find bugs?’, </a:t>
            </a:r>
            <a:pPr indent="0" marL="0">
              <a:spcAft>
                <a:spcPts val="300"/>
              </a:spcAft>
              <a:buNone/>
            </a:pPr>
            <a:r>
              <a:rPr lang="en-GB" altLang="en-US" sz="1000" i="1" dirty="0">
                <a:solidFill>
                  <a:schemeClr val="tx1"/>
                </a:solidFill>
              </a:rPr>
              <a:t>Proceedings of the 35th ICSE</a:t>
            </a:r>
            <a:pPr indent="0" marL="0">
              <a:spcAft>
                <a:spcPts val="300"/>
              </a:spcAft>
              <a:buNone/>
            </a:pPr>
            <a:r>
              <a:rPr lang="en-GB" altLang="en-US" sz="1000" dirty="0">
                <a:solidFill>
                  <a:schemeClr val="tx1"/>
                </a:solidFill>
              </a:rPr>
              <a:t>, pp. 672–681.</a:t>
            </a:r>
            <a:endParaRPr lang="en-GB" sz="1000" dirty="0"/>
          </a:p>
          <a:p>
            <a:pPr indent="0" marL="0">
              <a:spcAft>
                <a:spcPts val="300"/>
              </a:spcAft>
              <a:buNone/>
            </a:pPr>
            <a:r>
              <a:rPr lang="en-GB" altLang="en-US" sz="1000" dirty="0">
                <a:solidFill>
                  <a:schemeClr val="tx1"/>
                </a:solidFill>
              </a:rPr>
              <a:t>Li, H. et al. (2024) ‘Enhancing static analysis for practical bug detection: An LLM-integrated approach’, </a:t>
            </a:r>
            <a:pPr indent="0" marL="0">
              <a:spcAft>
                <a:spcPts val="300"/>
              </a:spcAft>
              <a:buNone/>
            </a:pPr>
            <a:r>
              <a:rPr lang="en-GB" altLang="en-US" sz="1000" i="1" dirty="0">
                <a:solidFill>
                  <a:schemeClr val="tx1"/>
                </a:solidFill>
              </a:rPr>
              <a:t>Proceedings of the ACM on Programming Languages</a:t>
            </a:r>
            <a:pPr indent="0" marL="0">
              <a:spcAft>
                <a:spcPts val="300"/>
              </a:spcAft>
              <a:buNone/>
            </a:pPr>
            <a:r>
              <a:rPr lang="en-GB" altLang="en-US" sz="1000" dirty="0">
                <a:solidFill>
                  <a:schemeClr val="tx1"/>
                </a:solidFill>
              </a:rPr>
              <a:t>, 8(OOPSLA1), Article 111.</a:t>
            </a:r>
            <a:endParaRPr lang="en-GB" sz="1000" dirty="0"/>
          </a:p>
          <a:p>
            <a:pPr indent="0" marL="0">
              <a:spcAft>
                <a:spcPts val="300"/>
              </a:spcAft>
              <a:buNone/>
            </a:pPr>
            <a:r>
              <a:rPr lang="en-GB" altLang="en-US" sz="1000" dirty="0">
                <a:solidFill>
                  <a:schemeClr val="tx1"/>
                </a:solidFill>
              </a:rPr>
              <a:t>Microsoft (2024) </a:t>
            </a:r>
            <a:pPr indent="0" marL="0">
              <a:spcAft>
                <a:spcPts val="300"/>
              </a:spcAft>
              <a:buNone/>
            </a:pPr>
            <a:r>
              <a:rPr lang="en-GB" altLang="en-US" sz="1000" i="1" dirty="0">
                <a:solidFill>
                  <a:schemeClr val="tx1"/>
                </a:solidFill>
              </a:rPr>
              <a:t>Shared responsibility in the cloud</a:t>
            </a:r>
            <a:pPr indent="0" marL="0">
              <a:spcAft>
                <a:spcPts val="300"/>
              </a:spcAft>
              <a:buNone/>
            </a:pPr>
            <a:r>
              <a:rPr lang="en-GB" altLang="en-US" sz="1000" dirty="0">
                <a:solidFill>
                  <a:schemeClr val="tx1"/>
                </a:solidFill>
              </a:rPr>
              <a:t>. Available at: https://learn.microsoft.com/azure/security/fundamentals/shared-responsibility (Accessed: 23 July 2026).</a:t>
            </a:r>
            <a:endParaRPr lang="en-GB" sz="1000" dirty="0"/>
          </a:p>
          <a:p>
            <a:pPr indent="0" marL="0">
              <a:spcAft>
                <a:spcPts val="300"/>
              </a:spcAft>
              <a:buNone/>
            </a:pPr>
            <a:r>
              <a:rPr lang="en-GB" altLang="en-US" sz="1000" dirty="0">
                <a:solidFill>
                  <a:schemeClr val="tx1"/>
                </a:solidFill>
              </a:rPr>
              <a:t>Morris, K. (2020) </a:t>
            </a:r>
            <a:pPr indent="0" marL="0">
              <a:spcAft>
                <a:spcPts val="300"/>
              </a:spcAft>
              <a:buNone/>
            </a:pPr>
            <a:r>
              <a:rPr lang="en-GB" altLang="en-US" sz="1000" i="1" dirty="0">
                <a:solidFill>
                  <a:schemeClr val="tx1"/>
                </a:solidFill>
              </a:rPr>
              <a:t>Infrastructure as Code: Dynamic Systems for the Cloud Age</a:t>
            </a:r>
            <a:pPr indent="0" marL="0">
              <a:spcAft>
                <a:spcPts val="300"/>
              </a:spcAft>
              <a:buNone/>
            </a:pPr>
            <a:r>
              <a:rPr lang="en-GB" altLang="en-US" sz="1000" dirty="0">
                <a:solidFill>
                  <a:schemeClr val="tx1"/>
                </a:solidFill>
              </a:rPr>
              <a:t>. 2nd edn. Sebastopol, CA: O’Reilly Media.</a:t>
            </a:r>
            <a:endParaRPr lang="en-GB" sz="1000" dirty="0"/>
          </a:p>
          <a:p>
            <a:pPr indent="0" marL="0">
              <a:spcAft>
                <a:spcPts val="300"/>
              </a:spcAft>
              <a:buNone/>
            </a:pPr>
            <a:r>
              <a:rPr lang="en-GB" altLang="en-US" sz="1000" dirty="0">
                <a:solidFill>
                  <a:schemeClr val="tx1"/>
                </a:solidFill>
              </a:rPr>
              <a:t>Ouyang, S. et al. (2025) ‘An empirical study of the non-determinism of ChatGPT in code generation’, </a:t>
            </a:r>
            <a:pPr indent="0" marL="0">
              <a:spcAft>
                <a:spcPts val="300"/>
              </a:spcAft>
              <a:buNone/>
            </a:pPr>
            <a:r>
              <a:rPr lang="en-GB" altLang="en-US" sz="1000" i="1" dirty="0">
                <a:solidFill>
                  <a:schemeClr val="tx1"/>
                </a:solidFill>
              </a:rPr>
              <a:t>ACM Transactions on Software Engineering and Methodology</a:t>
            </a:r>
            <a:pPr indent="0" marL="0">
              <a:spcAft>
                <a:spcPts val="300"/>
              </a:spcAft>
              <a:buNone/>
            </a:pPr>
            <a:r>
              <a:rPr lang="en-GB" altLang="en-US" sz="1000" dirty="0">
                <a:solidFill>
                  <a:schemeClr val="tx1"/>
                </a:solidFill>
              </a:rPr>
              <a:t>, 34(2), pp. 1–28.</a:t>
            </a:r>
            <a:endParaRPr lang="en-GB" sz="1000" dirty="0"/>
          </a:p>
          <a:p>
            <a:pPr indent="0" marL="0">
              <a:spcAft>
                <a:spcPts val="300"/>
              </a:spcAft>
              <a:buNone/>
            </a:pPr>
            <a:r>
              <a:rPr lang="en-GB" altLang="en-US" sz="1000" dirty="0">
                <a:solidFill>
                  <a:schemeClr val="tx1"/>
                </a:solidFill>
              </a:rPr>
              <a:t>Pearce, H. et al. (2023) ‘Examining zero-shot vulnerability repair with large language models’, </a:t>
            </a:r>
            <a:pPr indent="0" marL="0">
              <a:spcAft>
                <a:spcPts val="300"/>
              </a:spcAft>
              <a:buNone/>
            </a:pPr>
            <a:r>
              <a:rPr lang="en-GB" altLang="en-US" sz="1000" i="1" dirty="0">
                <a:solidFill>
                  <a:schemeClr val="tx1"/>
                </a:solidFill>
              </a:rPr>
              <a:t>2023 IEEE Symposium on Security and Privacy</a:t>
            </a:r>
            <a:pPr indent="0" marL="0">
              <a:spcAft>
                <a:spcPts val="300"/>
              </a:spcAft>
              <a:buNone/>
            </a:pPr>
            <a:r>
              <a:rPr lang="en-GB" altLang="en-US" sz="1000" dirty="0">
                <a:solidFill>
                  <a:schemeClr val="tx1"/>
                </a:solidFill>
              </a:rPr>
              <a:t>, pp. 2339–2356.</a:t>
            </a:r>
            <a:endParaRPr lang="en-GB" sz="1000" dirty="0"/>
          </a:p>
          <a:p>
            <a:pPr indent="0" marL="0">
              <a:spcAft>
                <a:spcPts val="300"/>
              </a:spcAft>
              <a:buNone/>
            </a:pPr>
            <a:r>
              <a:rPr lang="en-GB" altLang="en-US" sz="1000" dirty="0">
                <a:solidFill>
                  <a:schemeClr val="tx1"/>
                </a:solidFill>
              </a:rPr>
              <a:t>Rahman, A., Parnin, C. and Williams, L. (2019) ‘The seven sins: Security smells in infrastructure as code scripts’, </a:t>
            </a:r>
            <a:pPr indent="0" marL="0">
              <a:spcAft>
                <a:spcPts val="300"/>
              </a:spcAft>
              <a:buNone/>
            </a:pPr>
            <a:r>
              <a:rPr lang="en-GB" altLang="en-US" sz="1000" i="1" dirty="0">
                <a:solidFill>
                  <a:schemeClr val="tx1"/>
                </a:solidFill>
              </a:rPr>
              <a:t>Proceedings of the 41st ICSE</a:t>
            </a:r>
            <a:pPr indent="0" marL="0">
              <a:spcAft>
                <a:spcPts val="300"/>
              </a:spcAft>
              <a:buNone/>
            </a:pPr>
            <a:r>
              <a:rPr lang="en-GB" altLang="en-US" sz="1000" dirty="0">
                <a:solidFill>
                  <a:schemeClr val="tx1"/>
                </a:solidFill>
              </a:rPr>
              <a:t>, pp. 164–175.</a:t>
            </a:r>
            <a:endParaRPr lang="en-GB" sz="10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a:t>
            </a:fld>
            <a:endParaRPr lang="en-GB"/>
          </a:p>
        </p:txBody>
      </p:sp>
    </p:spTree>
  </p:cSld>
  <p:clrMapOvr>
    <a:masterClrMapping/>
  </p:clrMapOvr>
</p:sld>
</file>

<file path=ppt/theme/theme1.xml><?xml version="1.0" encoding="utf-8"?>
<a:theme xmlns:a="http://schemas.openxmlformats.org/drawingml/2006/main" name="Sunderland Research">
  <a:themeElements>
    <a:clrScheme name="Sunderland Research">
      <a:dk1>
        <a:srgbClr val="1A1F26"/>
      </a:dk1>
      <a:lt1>
        <a:srgbClr val="FFFFFF"/>
      </a:lt1>
      <a:dk2>
        <a:srgbClr val="08233E"/>
      </a:dk2>
      <a:lt2>
        <a:srgbClr val="EEF2F6"/>
      </a:lt2>
      <a:accent1>
        <a:srgbClr val="C73D1A"/>
      </a:accent1>
      <a:accent2>
        <a:srgbClr val="156082"/>
      </a:accent2>
      <a:accent3>
        <a:srgbClr val="6C93B8"/>
      </a:accent3>
      <a:accent4>
        <a:srgbClr val="2E7D4F"/>
      </a:accent4>
      <a:accent5>
        <a:srgbClr val="B7791F"/>
      </a:accent5>
      <a:accent6>
        <a:srgbClr val="7A8794"/>
      </a:accent6>
      <a:hlink>
        <a:srgbClr val="156082"/>
      </a:hlink>
      <a:folHlink>
        <a:srgbClr val="6C93B8"/>
      </a:folHlink>
    </a:clrScheme>
    <a:fontScheme name="Sunderland Resear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Sunderland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AI-Driven Security Review in Modern DevSecOps Pipelines</dc:title>
  <dc:subject>PROM06 Research Project: recorded presentation</dc:subject>
  <dc:creator>Abdul Waheed</dc:creator>
  <cp:lastModifiedBy>Abdul Waheed</cp:lastModifiedBy>
  <cp:revision>1</cp:revision>
  <dcterms:created xsi:type="dcterms:W3CDTF">2026-10-14T21:50:30Z</dcterms:created>
  <dcterms:modified xsi:type="dcterms:W3CDTF">2026-10-14T21:50:30Z</dcterms:modified>
</cp:coreProperties>
</file>