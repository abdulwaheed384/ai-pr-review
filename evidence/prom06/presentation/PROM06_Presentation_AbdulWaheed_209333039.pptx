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0c56ba8-41f2-9ed2-cf16-017e1a5d2e13}">
          <p14:sldIdLst>
            <p14:sldId id="256"/>
            <p14:sldId id="257"/>
          </p14:sldIdLst>
        </p14:section>
        <p14:section name="Research context" id="{323e1109-4fb3-4f95-45e7-b58cd39ff04d}">
          <p14:sldIdLst>
            <p14:sldId id="258"/>
          </p14:sldIdLst>
        </p14:section>
        <p14:section name="Practical work" id="{6303a734-ba16-7b31-9f35-5cfaf9f31dcb}">
          <p14:sldIdLst>
            <p14:sldId id="259"/>
            <p14:sldId id="260"/>
          </p14:sldIdLst>
        </p14:section>
        <p14:section name="Results" id="{457389d6-a66f-8cba-578a-6996acc26a8a}">
          <p14:sldIdLst>
            <p14:sldId id="261"/>
            <p14:sldId id="262"/>
            <p14:sldId id="263"/>
          </p14:sldIdLst>
        </p14:section>
        <p14:section name="Evaluation and conclusion" id="{c109050b-e343-3de1-9710-94c464f0f21b}">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8233E"/>
                </a:solidFill>
                <a:latin typeface="+mn-lt"/>
              </a:defRPr>
            </a:pPr>
            <a:r>
              <a:rPr sz="1300" b="0" i="0" u="none" strike="noStrike">
                <a:solidFill>
                  <a:srgbClr val="08233E"/>
                </a:solidFill>
                <a:latin typeface="+mn-lt"/>
              </a:rPr>
              <a:t>Vulnerable cases detected (of 12)</a:t>
            </a:r>
          </a:p>
        </c:rich>
      </c:tx>
      <c:layout/>
      <c:overlay val="0"/>
    </c:title>
    <c:autoTitleDeleted val="0"/>
    <c:plotArea>
      <c:layout/>
      <c:barChart>
        <c:barDir val="col"/>
        <c:grouping val="clustered"/>
        <c:varyColors val="0"/>
        <c:ser>
          <c:idx val="0"/>
          <c:order val="0"/>
          <c:tx>
            <c:strRef>
              <c:f>Sheet1!$B$1</c:f>
              <c:strCache>
                <c:ptCount val="1"/>
                <c:pt idx="0">
                  <c:v>Vulnerable cases detected</c:v>
                </c:pt>
              </c:strCache>
            </c:strRef>
          </c:tx>
          <c:spPr>
            <a:solidFill>
              <a:srgbClr val="156082"/>
            </a:solidFill>
            <a:effectLst/>
          </c:spPr>
          <c:invertIfNegative val="0"/>
          <c:dLbls>
            <c:numFmt formatCode="#,##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156082"/>
              </a:solidFill>
              <a:effectLst/>
            </c:spPr>
          </c:dPt>
          <c:dPt>
            <c:idx val="2"/>
            <c:invertIfNegative val="0"/>
            <c:bubble3D val="0"/>
            <c:spPr>
              <a:solidFill>
                <a:srgbClr val="08233E"/>
              </a:solidFill>
              <a:effectLst/>
            </c:spPr>
          </c:dPt>
          <c:dPt>
            <c:idx val="3"/>
            <c:invertIfNegative val="0"/>
            <c:bubble3D val="0"/>
            <c:spPr>
              <a:solidFill>
                <a:srgbClr val="C73D1A"/>
              </a:solidFill>
              <a:effectLst/>
            </c:spPr>
          </c:dPt>
          <c:cat>
            <c:multiLvlStrRef>
              <c:f>Sheet1!$A$2:$A$5</c:f>
              <c:multiLvlStrCache>
                <c:ptCount val="4"/>
                <c:lvl>
                  <c:pt idx="0">
                    <c:v>Checkov</c:v>
                  </c:pt>
                  <c:pt idx="1">
                    <c:v>tfsec</c:v>
                  </c:pt>
                  <c:pt idx="2">
                    <c:v>Scanners combined</c:v>
                  </c:pt>
                  <c:pt idx="3">
                    <c:v>AI reviewer
(+1 partial)</c:v>
                  </c:pt>
                </c:lvl>
              </c:multiLvlStrCache>
            </c:multiLvlStrRef>
          </c:cat>
          <c:val>
            <c:numRef>
              <c:f>Sheet1!$B$2:$B$5</c:f>
              <c:numCache>
                <c:formatCode>General</c:formatCode>
                <c:ptCount val="4"/>
                <c:pt idx="0">
                  <c:v>5</c:v>
                </c:pt>
                <c:pt idx="1">
                  <c:v>4</c:v>
                </c:pt>
                <c:pt idx="2">
                  <c:v>8</c:v>
                </c:pt>
                <c:pt idx="3">
                  <c:v>11</c:v>
                </c:pt>
              </c:numCache>
            </c:numRef>
          </c:val>
        </c:ser>
        <c:dLbls>
          <c:numFmt formatCode="#,##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1F26"/>
                </a:solidFill>
                <a:latin typeface="+mn-lt"/>
              </a:defRPr>
            </a:pPr>
            <a:endParaRPr lang="en-GB"/>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1E6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0"/>
                </a:solidFill>
                <a:latin typeface="+mn-lt"/>
              </a:defRPr>
            </a:pPr>
            <a:endParaRPr lang="en-GB"/>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8233E"/>
                </a:solidFill>
                <a:latin typeface="+mn-lt"/>
              </a:defRPr>
            </a:pPr>
            <a:r>
              <a:rPr sz="1300" b="0" i="0" u="none" strike="noStrike">
                <a:solidFill>
                  <a:srgbClr val="08233E"/>
                </a:solidFill>
                <a:latin typeface="+mn-lt"/>
              </a:rPr>
              <a:t>Mean rubric score, 37 vulnerable-case runs (0–2)</a:t>
            </a:r>
          </a:p>
        </c:rich>
      </c:tx>
      <c:layout/>
      <c:overlay val="0"/>
    </c:title>
    <c:autoTitleDeleted val="0"/>
    <c:plotArea>
      <c:layout/>
      <c:barChart>
        <c:barDir val="bar"/>
        <c:grouping val="clustered"/>
        <c:varyColors val="0"/>
        <c:ser>
          <c:idx val="0"/>
          <c:order val="0"/>
          <c:tx>
            <c:strRef>
              <c:f>Sheet1!$B$1</c:f>
              <c:strCache>
                <c:ptCount val="1"/>
                <c:pt idx="0">
                  <c:v>Mean score (0–2)</c:v>
                </c:pt>
              </c:strCache>
            </c:strRef>
          </c:tx>
          <c:spPr>
            <a:solidFill>
              <a:srgbClr val="C73D1A"/>
            </a:solidFill>
            <a:effectLst/>
          </c:spPr>
          <c:invertIfNegative val="0"/>
          <c:dLbls>
            <c:numFmt formatCode="0.0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C73D1A"/>
              </a:solidFill>
              <a:effectLst/>
            </c:spPr>
          </c:dPt>
          <c:dPt>
            <c:idx val="1"/>
            <c:invertIfNegative val="0"/>
            <c:bubble3D val="0"/>
            <c:spPr>
              <a:solidFill>
                <a:srgbClr val="156082"/>
              </a:solidFill>
              <a:effectLst/>
            </c:spPr>
          </c:dPt>
          <c:dPt>
            <c:idx val="2"/>
            <c:invertIfNegative val="0"/>
            <c:bubble3D val="0"/>
            <c:spPr>
              <a:solidFill>
                <a:srgbClr val="156082"/>
              </a:solidFill>
              <a:effectLst/>
            </c:spPr>
          </c:dPt>
          <c:dPt>
            <c:idx val="3"/>
            <c:invertIfNegative val="0"/>
            <c:bubble3D val="0"/>
            <c:spPr>
              <a:solidFill>
                <a:srgbClr val="156082"/>
              </a:solidFill>
              <a:effectLst/>
            </c:spPr>
          </c:dPt>
          <c:dPt>
            <c:idx val="4"/>
            <c:invertIfNegative val="0"/>
            <c:bubble3D val="0"/>
            <c:spPr>
              <a:solidFill>
                <a:srgbClr val="156082"/>
              </a:solidFill>
              <a:effectLst/>
            </c:spPr>
          </c:dPt>
          <c:dPt>
            <c:idx val="5"/>
            <c:invertIfNegative val="0"/>
            <c:bubble3D val="0"/>
            <c:spPr>
              <a:solidFill>
                <a:srgbClr val="156082"/>
              </a:solidFill>
              <a:effectLst/>
            </c:spPr>
          </c:dPt>
          <c:cat>
            <c:multiLvlStrRef>
              <c:f>Sheet1!$A$2:$A$7</c:f>
              <c:multiLvlStrCache>
                <c:ptCount val="6"/>
                <c:lvl>
                  <c:pt idx="0">
                    <c:v>Explanation accuracy</c:v>
                  </c:pt>
                  <c:pt idx="1">
                    <c:v>Developer usefulness</c:v>
                  </c:pt>
                  <c:pt idx="2">
                    <c:v>Remediation</c:v>
                  </c:pt>
                  <c:pt idx="3">
                    <c:v>Impact</c:v>
                  </c:pt>
                  <c:pt idx="4">
                    <c:v>Detection</c:v>
                  </c:pt>
                  <c:pt idx="5">
                    <c:v>Context awareness</c:v>
                  </c:pt>
                </c:lvl>
              </c:multiLvlStrCache>
            </c:multiLvlStrRef>
          </c:cat>
          <c:val>
            <c:numRef>
              <c:f>Sheet1!$B$2:$B$7</c:f>
              <c:numCache>
                <c:formatCode>General</c:formatCode>
                <c:ptCount val="6"/>
                <c:pt idx="0">
                  <c:v>1.65</c:v>
                </c:pt>
                <c:pt idx="1">
                  <c:v>1.76</c:v>
                </c:pt>
                <c:pt idx="2">
                  <c:v>1.89</c:v>
                </c:pt>
                <c:pt idx="3">
                  <c:v>1.89</c:v>
                </c:pt>
                <c:pt idx="4">
                  <c:v>1.89</c:v>
                </c:pt>
                <c:pt idx="5">
                  <c:v>1.97</c:v>
                </c:pt>
              </c:numCache>
            </c:numRef>
          </c:val>
        </c:ser>
        <c:dLbls>
          <c:numFmt formatCode="0.0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1F26"/>
                </a:solidFill>
                <a:latin typeface="+mn-lt"/>
              </a:defRPr>
            </a:pPr>
            <a:endParaRPr lang="en-GB"/>
          </a:p>
        </c:txPr>
        <c:crossAx val="2094734552"/>
        <c:crosses val="autoZero"/>
        <c:auto val="1"/>
        <c:lblAlgn val="ctr"/>
        <c:noMultiLvlLbl val="1"/>
      </c:catAx>
      <c:valAx>
        <c:axId val="2094734552"/>
        <c:scaling>
          <c:orientation val="minMax"/>
          <c:max val="2"/>
          <c:min val="0"/>
        </c:scaling>
        <c:delete val="0"/>
        <c:axPos val="b"/>
        <c:majorGridlines>
          <c:spPr>
            <a:ln w="9525" cap="flat">
              <a:solidFill>
                <a:srgbClr val="E1E6EC"/>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GB"/>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GB"/>
              <a:t>7/23/19</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GB"/>
              <a:t>‹#›</a:t>
            </a:fld>
            <a:endParaRPr lang="en-GB"/>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 · about 40 seconds]
Hello, I'm Abdul Waheed. This is my PROM06 research project for the MSc in Computer Science with Cybersecurity at the University of Sunderland, supervised by Liz Gandy.
My project evaluates AI-driven security review in a DevSecOps pipeline. I built a pipeline where two established scanners, Checkov and tfsec, and an AI reviewer all review the same Terraform pull requests. Then I compared their results against answers I had fixed in advance.
I'll cover why this matters, what I built, how I tested it, what I found and what it means.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2 · about 1 minute 25 seconds]
Cloud infrastructure is now written as code. With Terraform, one insecure line, such as a firewall rule open to the whole internet, is copied into every environment that uses it. And under the shared-responsibility model, getting that configuration right is the customer's job.
Teams usually catch these mistakes with rule-based scanners. They are fast and consistent, but they only find what their rules describe, and developers tend to ignore noisy, poorly explained warnings.
AI reviewers promise something different. They read the whole configuration and explain problems in plain language. But they can also state false things with confidence, and give different answers to the same input.
So my aim was to evaluate how effective an AI security reviewer is in a DevSecOps pipeline, compared with Checkov and tfsec. My four questions cover detection accuracy, the quality of its fixes, its likely effect on developer understanding, and the practical challenges of using it. My objectives were to review the literature, build the pipeline, evaluate it against a fixed ground truth, and investigate the benefits and limits.
This sits at the heart of my programme: secure software delivery, cloud security and the safe use of AI.</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2</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3 · about 1 minute 20 seconds]
The literature shaped both how I designed the study and how I read the results.
Johnson and colleagues found that developers abandon tools whose warnings are noisy and poorly explained, so I measured false alarms and scored the explanations, not just detections.
Rahman and colleagues documented security smells that keep appearing in infrastructure code, such as open network addresses and hard-coded secrets, and several of my test cases are exactly these.
Hybrid designs, like the one by Li and colleagues, pass the scanner's output to the language model. Then you can't tell what the AI found on its own, so I kept my reviewer independent.
The last two rows I added once my early results showed they mattered. Models answer the same request differently, so I repeated every review. And their claims and fixes can be wrong, so I applied every fix and tested it again.
The gap is the lack of head-to-head evidence: an AI reviewer against Terraform scanners, on the same changes and a fixed ground truth, with independence, repeatability and fixes tested together.</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3</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4 · about 1 minute 25 seconds]
This is what I built. Every Terraform pull request starts one GitHub Actions job. It first checks that the code is valid. It never runs plan or apply, so nothing is ever deployed. Then three reviewers run: Checkov, tfsec and my AI reviewer, which sends all the Terraform files, a short policy file and the README to Claude, and asks for a structured answer with at most three findings. Each tool posts its own comment on the pull request, every raw output is saved, and no tool sees another tool's results.
On the right is real output from pull request 71. This is test case TC02, where SSH is open to the whole internet. Checkov passed seven checks and failed none, so it missed the problem. tfsec flagged it as critical. The AI reviewer flagged it as high, and explained the risk and how to fix it.
[Optional demo, about 30 seconds: open pull request 71 on GitHub and scroll through the three comments.]
All the code and run evidence are public in my GitHub repository.</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4</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5 · about 1 minute 20 seconds]
Here's how I tested it. I wrote fifteen Terraform test cases and fixed the correct answer for each one before running any tool. Twelve contain a vulnerability, across network exposure, encryption, logging, secrets and identity. Three are acceptable, including a web endpoint that is meant to be public, to check whether the tools raise false alarms.
Each case was opened as a pull request and then run twice more, giving forty-six independent runs. I classified every output against the ground truth, scored the AI's output on six dimensions I had fixed in advance, and finally applied the AI's own fixes and ran all the checks again.
One discovery changed the study. When I traced my early results back to their workflow runs, I found the AI had been given the scanners' findings in its prompt, so those results weren't independent. I changed the workflow in pull request 69, reran every case, and checked the metadata of all forty-six runs.
Ethically, everything was synthetic: dummy secrets, documentation IP addresses, nothing merged or deployed, and no personal data.</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6 · about 1 minute 25 seconds]
Now the results, starting with RQ1, detection accuracy. Of the twelve vulnerable cases, Checkov found five and tfsec four, eight together. The AI reviewer found eleven, and partly found a twelfth: it noticed a missing logging setting in all four runs, but showed it to the developer only once.
Three things stand out. First, three cases were found only by the AI: two hard-coded secrets, and an over-privileged role that could only be judged against a separate requirements file.
Second, the scanners barely overlapped. Only the weak-TLS case was caught by both, and Checkov passed rules open to 0.0.0.0/0 but failed the very same rule written with a star.
Third, the AI made a different kind of error. Three of nine runs on acceptable configurations raised a finding, and once it blocked a legitimate HTTPS change, the kind of false alarm that erodes trust in tools. Of its forty-five confirmed findings, 82 per cent were correct, or 89 per cent if three findings about weaknesses in my own test files count as valid.
The whole gap comes from three cases no scanner rule covers, and these numbers describe my fifteen cases, not real-world rates.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6</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7 · about 1 minute 20 seconds]
For RQ2, I didn't just read the AI's fixes, I applied them. All twelve resolved the problem and passed validation, and for eight, the scanner that had flagged the issue confirmed the fix. On a fresh AI review, nine no longer raised the original problem.
But one recommendation was simply wrong. In a TC10 run, the AI claimed a role definition must carry tags. Applying that made terraform validate fail, as you can see here.
For RQ3, I judged the likely effect on developer understanding from the feedback itself. The chart shows the average rubric scores over thirty-seven runs. The AI explained what was wrong, why it mattered and how to fix it, in plain language, while the scanners gave a rule ID and one generic line. That points to a positive likely impact.
The weakest score was explanation accuracy, at 1.65. Some explanations stated false platform facts with confidence, the hallucination problem from the literature, and a developer could learn those as facts. These scores come from a single rater, with AI assistance, and every score's reasoning is recorded.</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7</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8 · about 1 minute 25 seconds]
RQ4 is about practical challenges, and this was my most surprising finding. On the left is the same TC02 fix, reviewed twice. In version A, the old comment "Deliberately unrestricted SSH access" was still in the file. The AI raised a high-severity finding against its own fix and quoted that comment. In version B, only the comment changed, and the AI approved it with a low note. TC03 behaved the same way.
So text in the code can raise or lower the AI's verdict, whatever the configuration says. This is a form of indirect prompt injection, as Greshake and colleagues describe. In a real pull request, anyone who can write a comment could influence the reviewer.
Three other challenges. The same input gave different answers: TC08 was classified three ways in four runs, and TC05 was rated high, high, then medium. Findings could be hidden or skipped: a "needs context" finding never reaches the developer, and a pull request that only deletes a file skips the AI step. The time cost, though, was small: a median of 31.5 seconds for the AI, and comments in under two minutes.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8</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9 · about 1 minute 20 seconds]
So how far can these results be trusted? What holds up best is structural: scanner coverage depends on rules, the two scanners complemented each other, the AI found problems that need context, and its errors were less predictable.
The limits are real. Fifteen constructed cases, one cloud, one model and one prompt can't represent real repositories, and I partly chose cases where scanner rules were weak. As Ding and colleagues warn, constructed test sets can flatter AI models. Comments in my test files may have cued the AI, only the AI got the policy file, and the scoring was done once, with AI assistance.
My biggest lesson came from my own mistake. Results I first treated as independent were not. Rerunning everything cost time, but it saved the study, and now I only treat a result as established when I can link it to a run, a commit and the raw output.
Overall, all four objectives were met, with the evaluation valid within the limits of the sample.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9</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10 · about 1 minute 10 seconds]
So, can AI-assisted review improve infrastructure-as-code security analysis? On these fifteen cases, the answer is a qualified yes. It improved coverage, finding everything the scanners found plus three cases they missed. But its errors were less predictable, so it shouldn't replace the scanners or decide merges.
My recommendations are on the left: let the scanners enforce and the AI advise; run more than one scanner; treat comments and pull-request text as untrusted; show uncertain findings instead of hiding them; validate AI fixes automatically; and review deletion-only changes and log the model version.
For future research, the next step is realism: real Terraform changes from public repositories, many more runs across several models, a deliberate study of comment manipulation, and a study with developers.
The references are on the right, and all the code and evidence are on GitHub. Thank you for listening.</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10</a:t>
            </a:fld>
            <a:endParaRPr lang="en-GB"/>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NAVY">
    <p:bg>
      <p:bgPr>
        <a:solidFill>
          <a:srgbClr val="08233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w="12700">
            <a:solidFill>
              <a:schemeClr val="tx2"/>
            </a:solidFill>
            <a:prstDash val="solid"/>
          </a:ln>
        </p:spPr>
      </p:sp>
      <p:sp>
        <p:nvSpPr>
          <p:cNvPr id="3" name="Shape 1"/>
          <p:cNvSpPr/>
          <p:nvPr/>
        </p:nvSpPr>
        <p:spPr>
          <a:xfrm>
            <a:off x="548640" y="502920"/>
            <a:ext cx="2514600" cy="1097280"/>
          </a:xfrm>
          <a:prstGeom prst="rect">
            <a:avLst/>
          </a:prstGeom>
          <a:solidFill>
            <a:schemeClr val="bg1"/>
          </a:solidFill>
          <a:ln w="12700">
            <a:solidFill>
              <a:schemeClr val="bg1"/>
            </a:solidFill>
            <a:prstDash val="solid"/>
          </a:ln>
        </p:spPr>
      </p:sp>
      <p:pic>
        <p:nvPicPr>
          <p:cNvPr id="4" name="Image 0" descr="/tmp/claude-0/-home-claude-ai-pr-review/8123617a-09e1-5f82-8592-b520c5c856e4/scratchpad/ppt/uos_logo.png">    </p:cNvPr>
          <p:cNvPicPr>
            <a:picLocks noChangeAspect="1"/>
          </p:cNvPicPr>
          <p:nvPr/>
        </p:nvPicPr>
        <p:blipFill>
          <a:blip r:embed="rId1"/>
          <a:stretch>
            <a:fillRect/>
          </a:stretch>
        </p:blipFill>
        <p:spPr>
          <a:xfrm>
            <a:off x="704088" y="548640"/>
            <a:ext cx="2194560" cy="1024128"/>
          </a:xfrm>
          <a:prstGeom prst="rect">
            <a:avLst/>
          </a:prstGeom>
        </p:spPr>
      </p:pic>
      <p:sp>
        <p:nvSpPr>
          <p:cNvPr id="5" name="Text 2"/>
          <p:cNvSpPr/>
          <p:nvPr>
            <p:ph type="title" hasCustomPrompt="1"/>
          </p:nvPr>
        </p:nvSpPr>
        <p:spPr>
          <a:xfrm>
            <a:off x="548640" y="1874520"/>
            <a:ext cx="11094415" cy="1325880"/>
          </a:xfrm>
          <a:prstGeom prst="rect">
            <a:avLst/>
          </a:prstGeom>
          <a:noFill/>
          <a:ln/>
        </p:spPr>
        <p:txBody>
          <a:bodyPr wrap="square" rtlCol="0"/>
          <a:lstStyle>
            <a:lvl1pPr algn="l" indent="0" marL="0">
              <a:buNone/>
              <a:defRPr lang="en-GB" altLang="en-US" sz="4000" b="1" dirty="0">
                <a:solidFill>
                  <a:schemeClr val="bg1"/>
                </a:solidFill>
              </a:defRPr>
            </a:lvl1pPr>
          </a:lstStyle>
          <a:p>
            <a:pPr algn="l" indent="0" marL="0">
              <a:buNone/>
            </a:pPr>
            <a:endParaRPr lang="en-GB" sz="4000" dirty="0"/>
          </a:p>
        </p:txBody>
      </p:sp>
      <p:sp>
        <p:nvSpPr>
          <p:cNvPr id="6" name="Text 2"/>
          <p:cNvSpPr/>
          <p:nvPr>
            <p:ph idx="104" type="body" hasCustomPrompt="1"/>
          </p:nvPr>
        </p:nvSpPr>
        <p:spPr>
          <a:xfrm>
            <a:off x="548640" y="3310128"/>
            <a:ext cx="11094415" cy="457200"/>
          </a:xfrm>
          <a:prstGeom prst="rect">
            <a:avLst/>
          </a:prstGeom>
          <a:noFill/>
          <a:ln/>
        </p:spPr>
        <p:txBody>
          <a:bodyPr wrap="square" rtlCol="0"/>
          <a:lstStyle>
            <a:lvl1pPr algn="l" indent="0" marL="0">
              <a:buNone/>
              <a:defRPr lang="en-GB" altLang="en-US" sz="2000" dirty="0">
                <a:solidFill>
                  <a:schemeClr val="bg2"/>
                </a:solidFill>
              </a:defRPr>
            </a:lvl1pPr>
          </a:lstStyle>
          <a:p>
            <a:pPr algn="l" indent="0" marL="0">
              <a:buNone/>
            </a:pPr>
            <a:endParaRPr lang="en-GB"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rtlCol="0"/>
          <a:lstStyle>
            <a:lvl1pPr algn="l" indent="0" marL="0">
              <a:buNone/>
              <a:defRPr lang="en-GB" altLang="en-US" sz="3600" b="1" dirty="0">
                <a:solidFill>
                  <a:schemeClr val="tx2"/>
                </a:solidFill>
              </a:defRPr>
            </a:lvl1pPr>
          </a:lstStyle>
          <a:p>
            <a:pPr algn="l" indent="0" marL="0">
              <a:buNone/>
            </a:pPr>
            <a:endParaRPr lang="en-GB" sz="3600" dirty="0"/>
          </a:p>
        </p:txBody>
      </p:sp>
      <p:sp>
        <p:nvSpPr>
          <p:cNvPr id="3" name="Text 0"/>
          <p:cNvSpPr/>
          <p:nvPr/>
        </p:nvSpPr>
        <p:spPr>
          <a:xfrm>
            <a:off x="548640" y="6382512"/>
            <a:ext cx="6858000" cy="274320"/>
          </a:xfrm>
          <a:prstGeom prst="rect">
            <a:avLst/>
          </a:prstGeom>
          <a:noFill/>
          <a:ln/>
        </p:spPr>
        <p:txBody>
          <a:bodyPr wrap="square" lIns="0" tIns="0" rIns="0" bIns="0" rtlCol="0" anchor="ctr"/>
          <a:lstStyle/>
          <a:p>
            <a:pPr indent="0" marL="0">
              <a:buNone/>
            </a:pPr>
            <a:r>
              <a:rPr lang="en-GB" altLang="en-US" sz="1000" dirty="0">
                <a:solidFill>
                  <a:schemeClr val="accent6"/>
                </a:solidFill>
              </a:rPr>
              <a:t>Abdul Waheed · PROM06 Research Project · University of Sunderland</a:t>
            </a:r>
            <a:endParaRPr lang="en-GB" sz="1000" dirty="0"/>
          </a:p>
        </p:txBody>
      </p:sp>
      <p:pic>
        <p:nvPicPr>
          <p:cNvPr id="4" name="Image 0" descr="/tmp/claude-0/-home-claude-ai-pr-review/8123617a-09e1-5f82-8592-b520c5c856e4/scratchpad/ppt/uos_logo.png">    </p:cNvPr>
          <p:cNvPicPr>
            <a:picLocks noChangeAspect="1"/>
          </p:cNvPicPr>
          <p:nvPr/>
        </p:nvPicPr>
        <p:blipFill>
          <a:blip r:embed="rId1"/>
          <a:stretch>
            <a:fillRect/>
          </a:stretch>
        </p:blipFill>
        <p:spPr>
          <a:xfrm>
            <a:off x="10920679" y="6327648"/>
            <a:ext cx="722376" cy="338328"/>
          </a:xfrm>
          <a:prstGeom prst="rect">
            <a:avLst/>
          </a:prstGeom>
        </p:spPr>
      </p:pic>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1003</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null</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hasCustomPrompt="1"/>
          </p:nvPr>
        </p:nvSpPr>
        <p:spPr>
          <a:xfrm>
            <a:off x="548640" y="1874520"/>
            <a:ext cx="11094415" cy="1325880"/>
          </a:xfrm>
          <a:prstGeom prst="rect">
            <a:avLst/>
          </a:prstGeom>
          <a:noFill/>
          <a:ln/>
        </p:spPr>
        <p:txBody>
          <a:bodyPr wrap="square" lIns="0" tIns="0" rIns="0" bIns="0" rtlCol="0" anchor="t"/>
          <a:lstStyle/>
          <a:p>
            <a:pPr algn="l" indent="0" marL="0">
              <a:buNone/>
            </a:pPr>
            <a:r>
              <a:rPr lang="en-GB" altLang="en-US" sz="4000" b="1" dirty="0">
                <a:solidFill>
                  <a:schemeClr val="bg1"/>
                </a:solidFill>
              </a:rPr>
              <a:t>Evaluating AI-Driven Security Review</a:t>
            </a:r>
            <a:endParaRPr lang="en-GB" sz="4000" dirty="0"/>
          </a:p>
          <a:p>
            <a:pPr algn="l" indent="0" marL="0">
              <a:buNone/>
            </a:pPr>
            <a:r>
              <a:rPr lang="en-GB" altLang="en-US" sz="4000" b="1" dirty="0">
                <a:solidFill>
                  <a:schemeClr val="bg1"/>
                </a:solidFill>
              </a:rPr>
              <a:t>in Modern DevSecOps Pipelines</a:t>
            </a:r>
            <a:endParaRPr lang="en-GB" sz="4000" dirty="0"/>
          </a:p>
        </p:txBody>
      </p:sp>
      <p:sp>
        <p:nvSpPr>
          <p:cNvPr id="3" name="Text 2"/>
          <p:cNvSpPr/>
          <p:nvPr>
            <p:ph idx="104" type="body" hasCustomPrompt="1"/>
          </p:nvPr>
        </p:nvSpPr>
        <p:spPr>
          <a:xfrm>
            <a:off x="548640" y="3310128"/>
            <a:ext cx="11094415" cy="457200"/>
          </a:xfrm>
          <a:prstGeom prst="rect">
            <a:avLst/>
          </a:prstGeom>
          <a:noFill/>
          <a:ln/>
        </p:spPr>
        <p:txBody>
          <a:bodyPr wrap="square" lIns="0" tIns="0" rIns="0" bIns="0" rtlCol="0" anchor="t"/>
          <a:lstStyle/>
          <a:p>
            <a:pPr algn="l" indent="0" marL="0">
              <a:buNone/>
            </a:pPr>
            <a:r>
              <a:rPr lang="en-GB" altLang="en-US" sz="2000" dirty="0">
                <a:solidFill>
                  <a:schemeClr val="bg2"/>
                </a:solidFill>
              </a:rPr>
              <a:t>An empirical comparison of an AI reviewer with Checkov and tfsec for Terraform pull requests</a:t>
            </a:r>
            <a:endParaRPr lang="en-GB" sz="2000" dirty="0"/>
          </a:p>
        </p:txBody>
      </p:sp>
      <p:sp>
        <p:nvSpPr>
          <p:cNvPr id="4" name="Presenter details"/>
          <p:cNvSpPr txBox="1"/>
          <p:nvPr/>
        </p:nvSpPr>
        <p:spPr>
          <a:xfrm>
            <a:off x="548640" y="4160520"/>
            <a:ext cx="6949440" cy="1737360"/>
          </a:xfrm>
          <a:prstGeom prst="rect">
            <a:avLst/>
          </a:prstGeom>
          <a:noFill/>
          <a:ln/>
        </p:spPr>
        <p:txBody>
          <a:bodyPr wrap="square" lIns="0" tIns="0" rIns="0" bIns="0" rtlCol="0" anchor="t"/>
          <a:lstStyle/>
          <a:p>
            <a:pPr indent="0" marL="0">
              <a:spcAft>
                <a:spcPts val="400"/>
              </a:spcAft>
              <a:buNone/>
            </a:pPr>
            <a:r>
              <a:rPr lang="en-GB" altLang="en-US" sz="1800" b="1" dirty="0">
                <a:solidFill>
                  <a:schemeClr val="bg1"/>
                </a:solidFill>
              </a:rPr>
              <a:t>Abdul Waheed</a:t>
            </a:r>
            <a:endParaRPr lang="en-GB" sz="1400" dirty="0"/>
          </a:p>
          <a:p>
            <a:pPr indent="0" marL="0">
              <a:spcAft>
                <a:spcPts val="400"/>
              </a:spcAft>
              <a:buNone/>
            </a:pPr>
            <a:r>
              <a:rPr lang="en-GB" altLang="en-US" sz="1400" dirty="0">
                <a:solidFill>
                  <a:schemeClr val="bg2"/>
                </a:solidFill>
              </a:rPr>
              <a:t>Student number 209333039</a:t>
            </a:r>
            <a:endParaRPr lang="en-GB" sz="1400" dirty="0"/>
          </a:p>
          <a:p>
            <a:pPr indent="0" marL="0">
              <a:spcAft>
                <a:spcPts val="400"/>
              </a:spcAft>
              <a:buNone/>
            </a:pPr>
            <a:r>
              <a:rPr lang="en-GB" altLang="en-US" sz="1400" dirty="0">
                <a:solidFill>
                  <a:schemeClr val="bg2"/>
                </a:solidFill>
              </a:rPr>
              <a:t>MSc Computer Science with Cybersecurity · PROM06 Research Project</a:t>
            </a:r>
            <a:endParaRPr lang="en-GB" sz="1400" dirty="0"/>
          </a:p>
          <a:p>
            <a:pPr indent="0" marL="0">
              <a:spcAft>
                <a:spcPts val="400"/>
              </a:spcAft>
              <a:buNone/>
            </a:pPr>
            <a:r>
              <a:rPr lang="en-GB" altLang="en-US" sz="1400" dirty="0">
                <a:solidFill>
                  <a:schemeClr val="bg2"/>
                </a:solidFill>
              </a:rPr>
              <a:t>Supervisor: Liz Gandy</a:t>
            </a:r>
            <a:endParaRPr lang="en-GB" sz="1400" dirty="0"/>
          </a:p>
          <a:p>
            <a:pPr indent="0" marL="0">
              <a:spcAft>
                <a:spcPts val="400"/>
              </a:spcAft>
              <a:buNone/>
            </a:pPr>
            <a:r>
              <a:rPr lang="en-GB" altLang="en-US" sz="1400" dirty="0">
                <a:solidFill>
                  <a:schemeClr val="bg2"/>
                </a:solidFill>
              </a:rPr>
              <a:t>Faculty of Technology · School of Computer Science · October 2026</a:t>
            </a:r>
            <a:endParaRPr lang="en-GB" sz="1400" dirty="0"/>
          </a:p>
        </p:txBody>
      </p:sp>
      <p:sp>
        <p:nvSpPr>
          <p:cNvPr id="5" name="Pull request circle"/>
          <p:cNvSpPr/>
          <p:nvPr/>
        </p:nvSpPr>
        <p:spPr>
          <a:xfrm>
            <a:off x="9692640" y="4069080"/>
            <a:ext cx="731520" cy="731520"/>
          </a:xfrm>
          <a:prstGeom prst="ellipse">
            <a:avLst/>
          </a:prstGeom>
          <a:solidFill>
            <a:schemeClr val="bg1"/>
          </a:solidFill>
          <a:ln w="12700">
            <a:solidFill>
              <a:schemeClr val="bg1"/>
            </a:solidFill>
            <a:prstDash val="solid"/>
          </a:ln>
        </p:spPr>
      </p:sp>
      <p:pic>
        <p:nvPicPr>
          <p:cNvPr id="6" name="Pull request icon" descr="preencoded.png">    </p:cNvPr>
          <p:cNvPicPr>
            <a:picLocks noChangeAspect="1"/>
          </p:cNvPicPr>
          <p:nvPr/>
        </p:nvPicPr>
        <p:blipFill>
          <a:blip r:embed="rId1"/>
          <a:stretch>
            <a:fillRect/>
          </a:stretch>
        </p:blipFill>
        <p:spPr>
          <a:xfrm>
            <a:off x="9868205" y="4244645"/>
            <a:ext cx="380390" cy="380390"/>
          </a:xfrm>
          <a:prstGeom prst="rect">
            <a:avLst/>
          </a:prstGeom>
        </p:spPr>
      </p:pic>
      <p:sp>
        <p:nvSpPr>
          <p:cNvPr id="7" name="Connector left"/>
          <p:cNvSpPr/>
          <p:nvPr/>
        </p:nvSpPr>
        <p:spPr>
          <a:xfrm flipH="1">
            <a:off x="8915400" y="4800600"/>
            <a:ext cx="1143000" cy="320040"/>
          </a:xfrm>
          <a:prstGeom prst="line">
            <a:avLst/>
          </a:prstGeom>
          <a:noFill/>
          <a:ln w="15875">
            <a:solidFill>
              <a:schemeClr val="accent3"/>
            </a:solidFill>
            <a:prstDash val="solid"/>
          </a:ln>
        </p:spPr>
      </p:sp>
      <p:sp>
        <p:nvSpPr>
          <p:cNvPr id="8" name="Connector middle"/>
          <p:cNvSpPr/>
          <p:nvPr/>
        </p:nvSpPr>
        <p:spPr>
          <a:xfrm>
            <a:off x="10058400" y="4800600"/>
            <a:ext cx="0" cy="320040"/>
          </a:xfrm>
          <a:prstGeom prst="line">
            <a:avLst/>
          </a:prstGeom>
          <a:noFill/>
          <a:ln w="15875">
            <a:solidFill>
              <a:schemeClr val="accent3"/>
            </a:solidFill>
            <a:prstDash val="solid"/>
          </a:ln>
        </p:spPr>
      </p:sp>
      <p:sp>
        <p:nvSpPr>
          <p:cNvPr id="9" name="Connector right"/>
          <p:cNvSpPr/>
          <p:nvPr/>
        </p:nvSpPr>
        <p:spPr>
          <a:xfrm>
            <a:off x="10058400" y="4800600"/>
            <a:ext cx="1143000" cy="320040"/>
          </a:xfrm>
          <a:prstGeom prst="line">
            <a:avLst/>
          </a:prstGeom>
          <a:noFill/>
          <a:ln w="15875">
            <a:solidFill>
              <a:schemeClr val="accent3"/>
            </a:solidFill>
            <a:prstDash val="solid"/>
          </a:ln>
        </p:spPr>
      </p:sp>
      <p:sp>
        <p:nvSpPr>
          <p:cNvPr id="10" name="Checkov circle"/>
          <p:cNvSpPr/>
          <p:nvPr/>
        </p:nvSpPr>
        <p:spPr>
          <a:xfrm>
            <a:off x="8549640" y="5120640"/>
            <a:ext cx="731520" cy="731520"/>
          </a:xfrm>
          <a:prstGeom prst="ellipse">
            <a:avLst/>
          </a:prstGeom>
          <a:solidFill>
            <a:schemeClr val="accent3"/>
          </a:solidFill>
          <a:ln w="19050">
            <a:solidFill>
              <a:schemeClr val="bg1"/>
            </a:solidFill>
            <a:prstDash val="solid"/>
          </a:ln>
        </p:spPr>
      </p:sp>
      <p:pic>
        <p:nvPicPr>
          <p:cNvPr id="11" name="Checkov icon" descr="preencoded.png">    </p:cNvPr>
          <p:cNvPicPr>
            <a:picLocks noChangeAspect="1"/>
          </p:cNvPicPr>
          <p:nvPr/>
        </p:nvPicPr>
        <p:blipFill>
          <a:blip r:embed="rId2"/>
          <a:stretch>
            <a:fillRect/>
          </a:stretch>
        </p:blipFill>
        <p:spPr>
          <a:xfrm>
            <a:off x="8732520" y="5303520"/>
            <a:ext cx="365760" cy="365760"/>
          </a:xfrm>
          <a:prstGeom prst="rect">
            <a:avLst/>
          </a:prstGeom>
        </p:spPr>
      </p:pic>
      <p:sp>
        <p:nvSpPr>
          <p:cNvPr id="12" name="Checkov label"/>
          <p:cNvSpPr txBox="1"/>
          <p:nvPr/>
        </p:nvSpPr>
        <p:spPr>
          <a:xfrm>
            <a:off x="8348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Checkov</a:t>
            </a:r>
            <a:endParaRPr lang="en-GB" sz="1300" dirty="0"/>
          </a:p>
        </p:txBody>
      </p:sp>
      <p:sp>
        <p:nvSpPr>
          <p:cNvPr id="13" name="tfsec circle"/>
          <p:cNvSpPr/>
          <p:nvPr/>
        </p:nvSpPr>
        <p:spPr>
          <a:xfrm>
            <a:off x="9692640" y="5120640"/>
            <a:ext cx="731520" cy="731520"/>
          </a:xfrm>
          <a:prstGeom prst="ellipse">
            <a:avLst/>
          </a:prstGeom>
          <a:solidFill>
            <a:schemeClr val="accent3"/>
          </a:solidFill>
          <a:ln w="19050">
            <a:solidFill>
              <a:schemeClr val="bg1"/>
            </a:solidFill>
            <a:prstDash val="solid"/>
          </a:ln>
        </p:spPr>
      </p:sp>
      <p:pic>
        <p:nvPicPr>
          <p:cNvPr id="14" name="tfsec icon" descr="preencoded.png">    </p:cNvPr>
          <p:cNvPicPr>
            <a:picLocks noChangeAspect="1"/>
          </p:cNvPicPr>
          <p:nvPr/>
        </p:nvPicPr>
        <p:blipFill>
          <a:blip r:embed="rId3"/>
          <a:stretch>
            <a:fillRect/>
          </a:stretch>
        </p:blipFill>
        <p:spPr>
          <a:xfrm>
            <a:off x="9875520" y="5303520"/>
            <a:ext cx="365760" cy="365760"/>
          </a:xfrm>
          <a:prstGeom prst="rect">
            <a:avLst/>
          </a:prstGeom>
        </p:spPr>
      </p:pic>
      <p:sp>
        <p:nvSpPr>
          <p:cNvPr id="15" name="tfsec label"/>
          <p:cNvSpPr txBox="1"/>
          <p:nvPr/>
        </p:nvSpPr>
        <p:spPr>
          <a:xfrm>
            <a:off x="9491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tfsec</a:t>
            </a:r>
            <a:endParaRPr lang="en-GB" sz="1300" dirty="0"/>
          </a:p>
        </p:txBody>
      </p:sp>
      <p:sp>
        <p:nvSpPr>
          <p:cNvPr id="16" name="AI reviewer circle"/>
          <p:cNvSpPr/>
          <p:nvPr/>
        </p:nvSpPr>
        <p:spPr>
          <a:xfrm>
            <a:off x="10835640" y="5120640"/>
            <a:ext cx="731520" cy="731520"/>
          </a:xfrm>
          <a:prstGeom prst="ellipse">
            <a:avLst/>
          </a:prstGeom>
          <a:solidFill>
            <a:schemeClr val="accent1"/>
          </a:solidFill>
          <a:ln w="19050">
            <a:solidFill>
              <a:schemeClr val="bg1"/>
            </a:solidFill>
            <a:prstDash val="solid"/>
          </a:ln>
        </p:spPr>
      </p:sp>
      <p:pic>
        <p:nvPicPr>
          <p:cNvPr id="17" name="AI reviewer icon" descr="preencoded.png">    </p:cNvPr>
          <p:cNvPicPr>
            <a:picLocks noChangeAspect="1"/>
          </p:cNvPicPr>
          <p:nvPr/>
        </p:nvPicPr>
        <p:blipFill>
          <a:blip r:embed="rId4"/>
          <a:stretch>
            <a:fillRect/>
          </a:stretch>
        </p:blipFill>
        <p:spPr>
          <a:xfrm>
            <a:off x="11018520" y="5303520"/>
            <a:ext cx="365760" cy="365760"/>
          </a:xfrm>
          <a:prstGeom prst="rect">
            <a:avLst/>
          </a:prstGeom>
        </p:spPr>
      </p:pic>
      <p:sp>
        <p:nvSpPr>
          <p:cNvPr id="18" name="AI reviewer label"/>
          <p:cNvSpPr txBox="1"/>
          <p:nvPr/>
        </p:nvSpPr>
        <p:spPr>
          <a:xfrm>
            <a:off x="10634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AI reviewer</a:t>
            </a:r>
            <a:endParaRPr lang="en-GB"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Can an AI reviewer catch what scanners miss?</a:t>
            </a:r>
            <a:endParaRPr lang="en-GB" sz="3600" dirty="0"/>
          </a:p>
        </p:txBody>
      </p:sp>
      <p:sp>
        <p:nvSpPr>
          <p:cNvPr id="3" name="Infrastructure is now code circle"/>
          <p:cNvSpPr/>
          <p:nvPr/>
        </p:nvSpPr>
        <p:spPr>
          <a:xfrm>
            <a:off x="548640" y="1389888"/>
            <a:ext cx="566928" cy="566928"/>
          </a:xfrm>
          <a:prstGeom prst="ellipse">
            <a:avLst/>
          </a:prstGeom>
          <a:solidFill>
            <a:schemeClr val="accent2"/>
          </a:solidFill>
          <a:ln w="12700">
            <a:solidFill>
              <a:schemeClr val="accent2"/>
            </a:solidFill>
            <a:prstDash val="solid"/>
          </a:ln>
        </p:spPr>
      </p:sp>
      <p:pic>
        <p:nvPicPr>
          <p:cNvPr id="4" name="Infrastructure is now code icon" descr="preencoded.png">    </p:cNvPr>
          <p:cNvPicPr>
            <a:picLocks noChangeAspect="1"/>
          </p:cNvPicPr>
          <p:nvPr/>
        </p:nvPicPr>
        <p:blipFill>
          <a:blip r:embed="rId1"/>
          <a:stretch>
            <a:fillRect/>
          </a:stretch>
        </p:blipFill>
        <p:spPr>
          <a:xfrm>
            <a:off x="690372" y="1531620"/>
            <a:ext cx="283464" cy="283464"/>
          </a:xfrm>
          <a:prstGeom prst="rect">
            <a:avLst/>
          </a:prstGeom>
        </p:spPr>
      </p:pic>
      <p:sp>
        <p:nvSpPr>
          <p:cNvPr id="5" name="Problem 1"/>
          <p:cNvSpPr txBox="1"/>
          <p:nvPr/>
        </p:nvSpPr>
        <p:spPr>
          <a:xfrm>
            <a:off x="1325880" y="137160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Infrastructure is now code</a:t>
            </a:r>
            <a:endParaRPr lang="en-GB" sz="1400" dirty="0"/>
          </a:p>
          <a:p>
            <a:pPr indent="0" marL="0">
              <a:spcAft>
                <a:spcPts val="300"/>
              </a:spcAft>
              <a:buNone/>
            </a:pPr>
            <a:r>
              <a:rPr lang="en-GB" altLang="en-US" sz="1400" dirty="0">
                <a:solidFill>
                  <a:schemeClr val="tx1"/>
                </a:solidFill>
              </a:rPr>
              <a:t>Terraform defines cloud resources as code (Morris, 2020), so one insecure line is copied to every environment.</a:t>
            </a:r>
            <a:endParaRPr lang="en-GB" sz="1400" dirty="0"/>
          </a:p>
        </p:txBody>
      </p:sp>
      <p:sp>
        <p:nvSpPr>
          <p:cNvPr id="6" name="Configuration is the customer’s job circle"/>
          <p:cNvSpPr/>
          <p:nvPr/>
        </p:nvSpPr>
        <p:spPr>
          <a:xfrm>
            <a:off x="548640" y="2578608"/>
            <a:ext cx="566928" cy="566928"/>
          </a:xfrm>
          <a:prstGeom prst="ellipse">
            <a:avLst/>
          </a:prstGeom>
          <a:solidFill>
            <a:schemeClr val="accent2"/>
          </a:solidFill>
          <a:ln w="12700">
            <a:solidFill>
              <a:schemeClr val="accent2"/>
            </a:solidFill>
            <a:prstDash val="solid"/>
          </a:ln>
        </p:spPr>
      </p:sp>
      <p:pic>
        <p:nvPicPr>
          <p:cNvPr id="7" name="Configuration is the customer’s job icon" descr="preencoded.png">    </p:cNvPr>
          <p:cNvPicPr>
            <a:picLocks noChangeAspect="1"/>
          </p:cNvPicPr>
          <p:nvPr/>
        </p:nvPicPr>
        <p:blipFill>
          <a:blip r:embed="rId2"/>
          <a:stretch>
            <a:fillRect/>
          </a:stretch>
        </p:blipFill>
        <p:spPr>
          <a:xfrm>
            <a:off x="690372" y="2720340"/>
            <a:ext cx="283464" cy="283464"/>
          </a:xfrm>
          <a:prstGeom prst="rect">
            <a:avLst/>
          </a:prstGeom>
        </p:spPr>
      </p:pic>
      <p:sp>
        <p:nvSpPr>
          <p:cNvPr id="8" name="Problem 2"/>
          <p:cNvSpPr txBox="1"/>
          <p:nvPr/>
        </p:nvSpPr>
        <p:spPr>
          <a:xfrm>
            <a:off x="1325880" y="256032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Configuration is the customer’s job</a:t>
            </a:r>
            <a:endParaRPr lang="en-GB" sz="1400" dirty="0"/>
          </a:p>
          <a:p>
            <a:pPr indent="0" marL="0">
              <a:spcAft>
                <a:spcPts val="300"/>
              </a:spcAft>
              <a:buNone/>
            </a:pPr>
            <a:r>
              <a:rPr lang="en-GB" altLang="en-US" sz="1400" dirty="0">
                <a:solidFill>
                  <a:schemeClr val="tx1"/>
                </a:solidFill>
              </a:rPr>
              <a:t>Under shared responsibility, securing cloud configuration falls to the customer (Microsoft, 2024).</a:t>
            </a:r>
            <a:endParaRPr lang="en-GB" sz="1400" dirty="0"/>
          </a:p>
        </p:txBody>
      </p:sp>
      <p:sp>
        <p:nvSpPr>
          <p:cNvPr id="9" name="Scanners only see their rules circle"/>
          <p:cNvSpPr/>
          <p:nvPr/>
        </p:nvSpPr>
        <p:spPr>
          <a:xfrm>
            <a:off x="548640" y="3767328"/>
            <a:ext cx="566928" cy="566928"/>
          </a:xfrm>
          <a:prstGeom prst="ellipse">
            <a:avLst/>
          </a:prstGeom>
          <a:solidFill>
            <a:schemeClr val="accent2"/>
          </a:solidFill>
          <a:ln w="12700">
            <a:solidFill>
              <a:schemeClr val="accent2"/>
            </a:solidFill>
            <a:prstDash val="solid"/>
          </a:ln>
        </p:spPr>
      </p:sp>
      <p:pic>
        <p:nvPicPr>
          <p:cNvPr id="10" name="Scanners only see their rules icon" descr="preencoded.png">    </p:cNvPr>
          <p:cNvPicPr>
            <a:picLocks noChangeAspect="1"/>
          </p:cNvPicPr>
          <p:nvPr/>
        </p:nvPicPr>
        <p:blipFill>
          <a:blip r:embed="rId3"/>
          <a:stretch>
            <a:fillRect/>
          </a:stretch>
        </p:blipFill>
        <p:spPr>
          <a:xfrm>
            <a:off x="690372" y="3909060"/>
            <a:ext cx="283464" cy="283464"/>
          </a:xfrm>
          <a:prstGeom prst="rect">
            <a:avLst/>
          </a:prstGeom>
        </p:spPr>
      </p:pic>
      <p:sp>
        <p:nvSpPr>
          <p:cNvPr id="11" name="Problem 3"/>
          <p:cNvSpPr txBox="1"/>
          <p:nvPr/>
        </p:nvSpPr>
        <p:spPr>
          <a:xfrm>
            <a:off x="1325880" y="374904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Scanners only see their rules</a:t>
            </a:r>
            <a:endParaRPr lang="en-GB" sz="1400" dirty="0"/>
          </a:p>
          <a:p>
            <a:pPr indent="0" marL="0">
              <a:spcAft>
                <a:spcPts val="300"/>
              </a:spcAft>
              <a:buNone/>
            </a:pPr>
            <a:r>
              <a:rPr lang="en-GB" altLang="en-US" sz="1400" dirty="0">
                <a:solidFill>
                  <a:schemeClr val="tx1"/>
                </a:solidFill>
              </a:rPr>
              <a:t>Checkov and tfsec are fast and consistent, but noisy, terse warnings get ignored (Johnson et al., 2013).</a:t>
            </a:r>
            <a:endParaRPr lang="en-GB" sz="1400" dirty="0"/>
          </a:p>
        </p:txBody>
      </p:sp>
      <p:sp>
        <p:nvSpPr>
          <p:cNvPr id="12" name="AI reads context, but can be wrong circle"/>
          <p:cNvSpPr/>
          <p:nvPr/>
        </p:nvSpPr>
        <p:spPr>
          <a:xfrm>
            <a:off x="548640" y="4956048"/>
            <a:ext cx="566928" cy="566928"/>
          </a:xfrm>
          <a:prstGeom prst="ellipse">
            <a:avLst/>
          </a:prstGeom>
          <a:solidFill>
            <a:schemeClr val="accent1"/>
          </a:solidFill>
          <a:ln w="12700">
            <a:solidFill>
              <a:schemeClr val="accent1"/>
            </a:solidFill>
            <a:prstDash val="solid"/>
          </a:ln>
        </p:spPr>
      </p:sp>
      <p:pic>
        <p:nvPicPr>
          <p:cNvPr id="13" name="AI reads context, but can be wrong icon" descr="preencoded.png">    </p:cNvPr>
          <p:cNvPicPr>
            <a:picLocks noChangeAspect="1"/>
          </p:cNvPicPr>
          <p:nvPr/>
        </p:nvPicPr>
        <p:blipFill>
          <a:blip r:embed="rId4"/>
          <a:stretch>
            <a:fillRect/>
          </a:stretch>
        </p:blipFill>
        <p:spPr>
          <a:xfrm>
            <a:off x="690372" y="5097780"/>
            <a:ext cx="283464" cy="283464"/>
          </a:xfrm>
          <a:prstGeom prst="rect">
            <a:avLst/>
          </a:prstGeom>
        </p:spPr>
      </p:pic>
      <p:sp>
        <p:nvSpPr>
          <p:cNvPr id="14" name="Problem 4"/>
          <p:cNvSpPr txBox="1"/>
          <p:nvPr/>
        </p:nvSpPr>
        <p:spPr>
          <a:xfrm>
            <a:off x="1325880" y="493776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AI reads context, but can be wrong</a:t>
            </a:r>
            <a:endParaRPr lang="en-GB" sz="1400" dirty="0"/>
          </a:p>
          <a:p>
            <a:pPr indent="0" marL="0">
              <a:spcAft>
                <a:spcPts val="300"/>
              </a:spcAft>
              <a:buNone/>
            </a:pPr>
            <a:r>
              <a:rPr lang="en-GB" altLang="en-US" sz="1400" dirty="0">
                <a:solidFill>
                  <a:schemeClr val="tx1"/>
                </a:solidFill>
              </a:rPr>
              <a:t>LLMs explain in plain language, yet hallucinate and vary between runs (Ji et al., 2023; Ouyang et al., 2025).</a:t>
            </a:r>
            <a:endParaRPr lang="en-GB" sz="1400" dirty="0"/>
          </a:p>
        </p:txBody>
      </p:sp>
      <p:sp>
        <p:nvSpPr>
          <p:cNvPr id="15" name="Aim and questions card"/>
          <p:cNvSpPr/>
          <p:nvPr/>
        </p:nvSpPr>
        <p:spPr>
          <a:xfrm>
            <a:off x="6537960" y="1325880"/>
            <a:ext cx="5105095" cy="4754880"/>
          </a:xfrm>
          <a:prstGeom prst="roundRect">
            <a:avLst>
              <a:gd name="adj" fmla="val 1538"/>
            </a:avLst>
          </a:prstGeom>
          <a:solidFill>
            <a:schemeClr val="bg2"/>
          </a:solidFill>
          <a:ln w="12700">
            <a:solidFill>
              <a:schemeClr val="bg2"/>
            </a:solidFill>
            <a:prstDash val="solid"/>
          </a:ln>
        </p:spPr>
      </p:sp>
      <p:sp>
        <p:nvSpPr>
          <p:cNvPr id="16" name="Label Aim"/>
          <p:cNvSpPr txBox="1"/>
          <p:nvPr/>
        </p:nvSpPr>
        <p:spPr>
          <a:xfrm>
            <a:off x="6812280" y="1499616"/>
            <a:ext cx="27432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AIM</a:t>
            </a:r>
            <a:endParaRPr lang="en-GB" sz="1200" dirty="0"/>
          </a:p>
        </p:txBody>
      </p:sp>
      <p:sp>
        <p:nvSpPr>
          <p:cNvPr id="17" name="Aim"/>
          <p:cNvSpPr txBox="1"/>
          <p:nvPr/>
        </p:nvSpPr>
        <p:spPr>
          <a:xfrm>
            <a:off x="6812280" y="1764792"/>
            <a:ext cx="4556455" cy="685800"/>
          </a:xfrm>
          <a:prstGeom prst="rect">
            <a:avLst/>
          </a:prstGeom>
          <a:noFill/>
          <a:ln/>
        </p:spPr>
        <p:txBody>
          <a:bodyPr wrap="square" lIns="0" tIns="0" rIns="0" bIns="0" rtlCol="0" anchor="t"/>
          <a:lstStyle/>
          <a:p>
            <a:pPr indent="0" marL="0">
              <a:buNone/>
            </a:pPr>
            <a:r>
              <a:rPr lang="en-GB" altLang="en-US" sz="1400" dirty="0">
                <a:solidFill>
                  <a:schemeClr val="tx1"/>
                </a:solidFill>
              </a:rPr>
              <a:t>Evaluate how effective an AI security reviewer is in a DevSecOps pipeline for Terraform, compared with Checkov and tfsec.</a:t>
            </a:r>
            <a:endParaRPr lang="en-GB" sz="1400" dirty="0"/>
          </a:p>
        </p:txBody>
      </p:sp>
      <p:sp>
        <p:nvSpPr>
          <p:cNvPr id="18" name="Label Research questions"/>
          <p:cNvSpPr txBox="1"/>
          <p:nvPr/>
        </p:nvSpPr>
        <p:spPr>
          <a:xfrm>
            <a:off x="6812280" y="256032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RESEARCH QUESTIONS</a:t>
            </a:r>
            <a:endParaRPr lang="en-GB" sz="1200" dirty="0"/>
          </a:p>
        </p:txBody>
      </p:sp>
      <p:sp>
        <p:nvSpPr>
          <p:cNvPr id="19" name="Research questions"/>
          <p:cNvSpPr txBox="1"/>
          <p:nvPr/>
        </p:nvSpPr>
        <p:spPr>
          <a:xfrm>
            <a:off x="6812280" y="2825496"/>
            <a:ext cx="4556455" cy="2011680"/>
          </a:xfrm>
          <a:prstGeom prst="rect">
            <a:avLst/>
          </a:prstGeom>
          <a:noFill/>
          <a:ln/>
        </p:spPr>
        <p:txBody>
          <a:bodyPr wrap="square" lIns="0" tIns="0" rIns="0" bIns="0" rtlCol="0" anchor="t"/>
          <a:lstStyle/>
          <a:p>
            <a:pPr indent="0" marL="0">
              <a:spcAft>
                <a:spcPts val="500"/>
              </a:spcAft>
              <a:buNone/>
            </a:pPr>
            <a:r>
              <a:rPr lang="en-GB" altLang="en-US" sz="1400" b="1" dirty="0">
                <a:solidFill>
                  <a:schemeClr val="accent1"/>
                </a:solidFill>
              </a:rPr>
              <a:t>RQ1  </a:t>
            </a:r>
            <a:pPr indent="0" marL="0">
              <a:spcAft>
                <a:spcPts val="500"/>
              </a:spcAft>
              <a:buNone/>
            </a:pPr>
            <a:r>
              <a:rPr lang="en-GB" altLang="en-US" sz="1400" dirty="0">
                <a:solidFill>
                  <a:schemeClr val="tx1"/>
                </a:solidFill>
              </a:rPr>
              <a:t>How accurately does the AI reviewer detect IaC vulnerabilities compared with Checkov and tfsec?</a:t>
            </a:r>
            <a:endParaRPr lang="en-GB" sz="1400" dirty="0"/>
          </a:p>
          <a:p>
            <a:pPr indent="0" marL="0">
              <a:spcAft>
                <a:spcPts val="500"/>
              </a:spcAft>
              <a:buNone/>
            </a:pPr>
            <a:r>
              <a:rPr lang="en-GB" altLang="en-US" sz="1400" b="1" dirty="0">
                <a:solidFill>
                  <a:schemeClr val="accent1"/>
                </a:solidFill>
              </a:rPr>
              <a:t>RQ2  </a:t>
            </a:r>
            <a:pPr indent="0" marL="0">
              <a:spcAft>
                <a:spcPts val="500"/>
              </a:spcAft>
              <a:buNone/>
            </a:pPr>
            <a:r>
              <a:rPr lang="en-GB" altLang="en-US" sz="1400" dirty="0">
                <a:solidFill>
                  <a:schemeClr val="tx1"/>
                </a:solidFill>
              </a:rPr>
              <a:t>What is the quality of the AI’s remediation guidance?</a:t>
            </a:r>
            <a:endParaRPr lang="en-GB" sz="1400" dirty="0"/>
          </a:p>
          <a:p>
            <a:pPr indent="0" marL="0">
              <a:spcAft>
                <a:spcPts val="500"/>
              </a:spcAft>
              <a:buNone/>
            </a:pPr>
            <a:r>
              <a:rPr lang="en-GB" altLang="en-US" sz="1400" b="1" dirty="0">
                <a:solidFill>
                  <a:schemeClr val="accent1"/>
                </a:solidFill>
              </a:rPr>
              <a:t>RQ3  </a:t>
            </a:r>
            <a:pPr indent="0" marL="0">
              <a:spcAft>
                <a:spcPts val="500"/>
              </a:spcAft>
              <a:buNone/>
            </a:pPr>
            <a:r>
              <a:rPr lang="en-GB" altLang="en-US" sz="1400" dirty="0">
                <a:solidFill>
                  <a:schemeClr val="tx1"/>
                </a:solidFill>
              </a:rPr>
              <a:t>What is the likely impact of AI feedback on developer understanding?</a:t>
            </a:r>
            <a:endParaRPr lang="en-GB" sz="1400" dirty="0"/>
          </a:p>
          <a:p>
            <a:pPr indent="0" marL="0">
              <a:spcAft>
                <a:spcPts val="500"/>
              </a:spcAft>
              <a:buNone/>
            </a:pPr>
            <a:r>
              <a:rPr lang="en-GB" altLang="en-US" sz="1400" b="1" dirty="0">
                <a:solidFill>
                  <a:schemeClr val="accent1"/>
                </a:solidFill>
              </a:rPr>
              <a:t>RQ4  </a:t>
            </a:r>
            <a:pPr indent="0" marL="0">
              <a:spcAft>
                <a:spcPts val="500"/>
              </a:spcAft>
              <a:buNone/>
            </a:pPr>
            <a:r>
              <a:rPr lang="en-GB" altLang="en-US" sz="1400" dirty="0">
                <a:solidFill>
                  <a:schemeClr val="tx1"/>
                </a:solidFill>
              </a:rPr>
              <a:t>What practical challenges arise in integrating AI review into a secure development workflow?</a:t>
            </a:r>
            <a:endParaRPr lang="en-GB" sz="1400" dirty="0"/>
          </a:p>
        </p:txBody>
      </p:sp>
      <p:sp>
        <p:nvSpPr>
          <p:cNvPr id="20" name="Label Objectives"/>
          <p:cNvSpPr txBox="1"/>
          <p:nvPr/>
        </p:nvSpPr>
        <p:spPr>
          <a:xfrm>
            <a:off x="6812280" y="484632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OBJECTIVES</a:t>
            </a:r>
            <a:endParaRPr lang="en-GB" sz="1200" dirty="0"/>
          </a:p>
        </p:txBody>
      </p:sp>
      <p:sp>
        <p:nvSpPr>
          <p:cNvPr id="21" name="Objectives"/>
          <p:cNvSpPr txBox="1"/>
          <p:nvPr/>
        </p:nvSpPr>
        <p:spPr>
          <a:xfrm>
            <a:off x="6812280" y="5111496"/>
            <a:ext cx="4556455" cy="896112"/>
          </a:xfrm>
          <a:prstGeom prst="rect">
            <a:avLst/>
          </a:prstGeom>
          <a:noFill/>
          <a:ln/>
        </p:spPr>
        <p:txBody>
          <a:bodyPr wrap="square" lIns="0" tIns="0" rIns="0" bIns="0" rtlCol="0" anchor="t"/>
          <a:lstStyle/>
          <a:p>
            <a:pPr indent="0" marL="0">
              <a:buNone/>
            </a:pPr>
            <a:r>
              <a:rPr lang="en-GB" altLang="en-US" sz="1400" b="1" dirty="0">
                <a:solidFill>
                  <a:schemeClr val="accent1"/>
                </a:solidFill>
              </a:rPr>
              <a:t>O1  </a:t>
            </a:r>
            <a:pPr indent="0" marL="0">
              <a:buNone/>
            </a:pPr>
            <a:r>
              <a:rPr lang="en-GB" altLang="en-US" sz="1400" dirty="0">
                <a:solidFill>
                  <a:schemeClr val="tx1"/>
                </a:solidFill>
              </a:rPr>
              <a:t>Review the literature</a:t>
            </a:r>
            <a:endParaRPr lang="en-GB" sz="1400" dirty="0"/>
          </a:p>
          <a:p>
            <a:pPr indent="0" marL="0">
              <a:buNone/>
            </a:pPr>
            <a:r>
              <a:rPr lang="en-GB" altLang="en-US" sz="1400" b="1" dirty="0">
                <a:solidFill>
                  <a:schemeClr val="accent1"/>
                </a:solidFill>
              </a:rPr>
              <a:t>O2  </a:t>
            </a:r>
            <a:pPr indent="0" marL="0">
              <a:buNone/>
            </a:pPr>
            <a:r>
              <a:rPr lang="en-GB" altLang="en-US" sz="1400" dirty="0">
                <a:solidFill>
                  <a:schemeClr val="tx1"/>
                </a:solidFill>
              </a:rPr>
              <a:t>Design and build an AI review pipeline</a:t>
            </a:r>
            <a:endParaRPr lang="en-GB" sz="1400" dirty="0"/>
          </a:p>
          <a:p>
            <a:pPr indent="0" marL="0">
              <a:buNone/>
            </a:pPr>
            <a:r>
              <a:rPr lang="en-GB" altLang="en-US" sz="1400" b="1" dirty="0">
                <a:solidFill>
                  <a:schemeClr val="accent1"/>
                </a:solidFill>
              </a:rPr>
              <a:t>O3  </a:t>
            </a:r>
            <a:pPr indent="0" marL="0">
              <a:buNone/>
            </a:pPr>
            <a:r>
              <a:rPr lang="en-GB" altLang="en-US" sz="1400" dirty="0">
                <a:solidFill>
                  <a:schemeClr val="tx1"/>
                </a:solidFill>
              </a:rPr>
              <a:t>Evaluate it against scanners and fixed ground truth</a:t>
            </a:r>
            <a:endParaRPr lang="en-GB" sz="1400" dirty="0"/>
          </a:p>
          <a:p>
            <a:pPr indent="0" marL="0">
              <a:buNone/>
            </a:pPr>
            <a:r>
              <a:rPr lang="en-GB" altLang="en-US" sz="1400" b="1" dirty="0">
                <a:solidFill>
                  <a:schemeClr val="accent1"/>
                </a:solidFill>
              </a:rPr>
              <a:t>O4  </a:t>
            </a:r>
            <a:pPr indent="0" marL="0">
              <a:buNone/>
            </a:pPr>
            <a:r>
              <a:rPr lang="en-GB" altLang="en-US" sz="1400" dirty="0">
                <a:solidFill>
                  <a:schemeClr val="tx1"/>
                </a:solidFill>
              </a:rPr>
              <a:t>Investigate the benefits and limits of AI feedback</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2</a:t>
            </a:fld>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How the literature shaped the study</a:t>
            </a:r>
            <a:endParaRPr lang="en-GB" sz="3600" dirty="0"/>
          </a:p>
        </p:txBody>
      </p:sp>
      <p:graphicFrame>
        <p:nvGraphicFramePr>
          <p:cNvPr id="4" name="Literature to desig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806440"/>
                <a:gridCol w="5287975"/>
              </a:tblGrid>
              <a:tr h="384048">
                <a:tc>
                  <a:txBody>
                    <a:bodyPr/>
                    <a:lstStyle/>
                    <a:p>
                      <a:pPr indent="0" marL="0">
                        <a:buNone/>
                      </a:pPr>
                      <a:r>
                        <a:rPr lang="en-GB" altLang="en-US" sz="1400" b="1" dirty="0">
                          <a:solidFill>
                            <a:schemeClr val="bg1"/>
                          </a:solidFill>
                        </a:rPr>
                        <a:t>What the literature shows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c>
                  <a:txBody>
                    <a:bodyPr/>
                    <a:lstStyle/>
                    <a:p>
                      <a:pPr indent="0" marL="0">
                        <a:buNone/>
                      </a:pPr>
                      <a:r>
                        <a:rPr lang="en-GB" altLang="en-US" sz="1400" b="1" dirty="0">
                          <a:solidFill>
                            <a:schemeClr val="bg1"/>
                          </a:solidFill>
                        </a:rPr>
                        <a:t>How I applied it</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r>
              <a:tr h="548640">
                <a:tc>
                  <a:txBody>
                    <a:bodyPr/>
                    <a:lstStyle/>
                    <a:p>
                      <a:pPr indent="0" marL="0">
                        <a:buNone/>
                      </a:pPr>
                      <a:r>
                        <a:rPr lang="en-GB" altLang="en-US" sz="1400" dirty="0">
                          <a:solidFill>
                            <a:schemeClr val="tx1"/>
                          </a:solidFill>
                        </a:rPr>
                        <a:t>Developers ignore noisy, poorly explained warnings (Johnson et al., 2013)</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Measured false alarms and scored the explanations, not only detections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548640">
                <a:tc>
                  <a:txBody>
                    <a:bodyPr/>
                    <a:lstStyle/>
                    <a:p>
                      <a:pPr indent="0" marL="0">
                        <a:buNone/>
                      </a:pPr>
                      <a:r>
                        <a:rPr lang="en-GB" altLang="en-US" sz="1400" dirty="0">
                          <a:solidFill>
                            <a:schemeClr val="tx1"/>
                          </a:solidFill>
                        </a:rPr>
                        <a:t>IaC “security smells”, such as open addresses and hard-coded secrets, recur in real scripts (Rahman et al., 2019)</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400" dirty="0">
                          <a:solidFill>
                            <a:schemeClr val="tx1"/>
                          </a:solidFill>
                        </a:rPr>
                        <a:t>Linked the test cases to documented smells: TC02–TC04 (open addresses), TC09 and TC15 (secrets)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548640">
                <a:tc>
                  <a:txBody>
                    <a:bodyPr/>
                    <a:lstStyle/>
                    <a:p>
                      <a:pPr indent="0" marL="0">
                        <a:buNone/>
                      </a:pPr>
                      <a:r>
                        <a:rPr lang="en-GB" altLang="en-US" sz="1400" dirty="0">
                          <a:solidFill>
                            <a:schemeClr val="tx1"/>
                          </a:solidFill>
                        </a:rPr>
                        <a:t>Hybrid designs feed static-analysis output to the LLM (Li et al., 2024), so the AI’s own share is hidden</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Kept the AI independent of the scanners and reran every case that way</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548640">
                <a:tc>
                  <a:txBody>
                    <a:bodyPr/>
                    <a:lstStyle/>
                    <a:p>
                      <a:pPr indent="0" marL="0">
                        <a:buNone/>
                      </a:pPr>
                      <a:r>
                        <a:rPr lang="en-GB" altLang="en-US" sz="1400" dirty="0">
                          <a:solidFill>
                            <a:schemeClr val="tx1"/>
                          </a:solidFill>
                        </a:rPr>
                        <a:t>LLMs give different answers to the same request (Ouyang et al., 2025)</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400" dirty="0">
                          <a:solidFill>
                            <a:schemeClr val="tx1"/>
                          </a:solidFill>
                        </a:rPr>
                        <a:t>Repeated every AI review three times on identical input</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548640">
                <a:tc>
                  <a:txBody>
                    <a:bodyPr/>
                    <a:lstStyle/>
                    <a:p>
                      <a:pPr indent="0" marL="0">
                        <a:buNone/>
                      </a:pPr>
                      <a:r>
                        <a:rPr lang="en-GB" altLang="en-US" sz="1400" dirty="0">
                          <a:solidFill>
                            <a:schemeClr val="tx1"/>
                          </a:solidFill>
                        </a:rPr>
                        <a:t>LLM claims and fixes can be wrong (Ji et al., 2023; Pearce et al., 2023)</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Applied every AI fix and re-tested it with validate, both scanners and the AI</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bl>
          </a:graphicData>
        </a:graphic>
      </p:graphicFrame>
      <p:sp>
        <p:nvSpPr>
          <p:cNvPr id="4" name="Also used to interpret the results card"/>
          <p:cNvSpPr/>
          <p:nvPr/>
        </p:nvSpPr>
        <p:spPr>
          <a:xfrm>
            <a:off x="548640" y="4709160"/>
            <a:ext cx="5410048" cy="1371600"/>
          </a:xfrm>
          <a:prstGeom prst="roundRect">
            <a:avLst>
              <a:gd name="adj" fmla="val 5333"/>
            </a:avLst>
          </a:prstGeom>
          <a:solidFill>
            <a:schemeClr val="bg2"/>
          </a:solidFill>
          <a:ln w="12700">
            <a:solidFill>
              <a:schemeClr val="bg2"/>
            </a:solidFill>
            <a:prstDash val="solid"/>
          </a:ln>
        </p:spPr>
      </p:sp>
      <p:sp>
        <p:nvSpPr>
          <p:cNvPr id="5" name="Also used to interpret the results circle"/>
          <p:cNvSpPr/>
          <p:nvPr/>
        </p:nvSpPr>
        <p:spPr>
          <a:xfrm>
            <a:off x="749808" y="4910328"/>
            <a:ext cx="502920" cy="502920"/>
          </a:xfrm>
          <a:prstGeom prst="ellipse">
            <a:avLst/>
          </a:prstGeom>
          <a:solidFill>
            <a:schemeClr val="accent2"/>
          </a:solidFill>
          <a:ln w="12700">
            <a:solidFill>
              <a:schemeClr val="accent2"/>
            </a:solidFill>
            <a:prstDash val="solid"/>
          </a:ln>
        </p:spPr>
      </p:sp>
      <p:pic>
        <p:nvPicPr>
          <p:cNvPr id="6" name="Also used to interpret the results icon" descr="preencoded.png">    </p:cNvPr>
          <p:cNvPicPr>
            <a:picLocks noChangeAspect="1"/>
          </p:cNvPicPr>
          <p:nvPr/>
        </p:nvPicPr>
        <p:blipFill>
          <a:blip r:embed="rId1"/>
          <a:stretch>
            <a:fillRect/>
          </a:stretch>
        </p:blipFill>
        <p:spPr>
          <a:xfrm>
            <a:off x="875538" y="5036058"/>
            <a:ext cx="251460" cy="251460"/>
          </a:xfrm>
          <a:prstGeom prst="rect">
            <a:avLst/>
          </a:prstGeom>
        </p:spPr>
      </p:pic>
      <p:sp>
        <p:nvSpPr>
          <p:cNvPr id="7" name="Also used to interpret the results text"/>
          <p:cNvSpPr txBox="1"/>
          <p:nvPr/>
        </p:nvSpPr>
        <p:spPr>
          <a:xfrm>
            <a:off x="1435608" y="4873752"/>
            <a:ext cx="435848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Also used to interpret the results</a:t>
            </a:r>
            <a:endParaRPr lang="en-GB" sz="1400" dirty="0"/>
          </a:p>
          <a:p>
            <a:pPr indent="0" marL="0">
              <a:spcAft>
                <a:spcPts val="300"/>
              </a:spcAft>
              <a:buNone/>
            </a:pPr>
            <a:r>
              <a:rPr lang="en-GB" altLang="en-US" sz="1400" dirty="0">
                <a:solidFill>
                  <a:schemeClr val="tx1"/>
                </a:solidFill>
              </a:rPr>
              <a:t>Indirect prompt injection helps explain why code comments changed verdicts (Greshake et al., 2023); constructed test sets can flatter AI, so my results are descriptive (Ding et al., 2025).</a:t>
            </a:r>
            <a:endParaRPr lang="en-GB" sz="1400" dirty="0"/>
          </a:p>
        </p:txBody>
      </p:sp>
      <p:sp>
        <p:nvSpPr>
          <p:cNvPr id="8" name="The gap card"/>
          <p:cNvSpPr/>
          <p:nvPr/>
        </p:nvSpPr>
        <p:spPr>
          <a:xfrm>
            <a:off x="6233008" y="4709160"/>
            <a:ext cx="5410048" cy="1371600"/>
          </a:xfrm>
          <a:prstGeom prst="roundRect">
            <a:avLst>
              <a:gd name="adj" fmla="val 5333"/>
            </a:avLst>
          </a:prstGeom>
          <a:solidFill>
            <a:schemeClr val="tx2"/>
          </a:solidFill>
          <a:ln w="12700">
            <a:solidFill>
              <a:schemeClr val="tx2"/>
            </a:solidFill>
            <a:prstDash val="solid"/>
          </a:ln>
        </p:spPr>
      </p:sp>
      <p:sp>
        <p:nvSpPr>
          <p:cNvPr id="9" name="The gap circle"/>
          <p:cNvSpPr/>
          <p:nvPr/>
        </p:nvSpPr>
        <p:spPr>
          <a:xfrm>
            <a:off x="6434176" y="4910328"/>
            <a:ext cx="502920" cy="502920"/>
          </a:xfrm>
          <a:prstGeom prst="ellipse">
            <a:avLst/>
          </a:prstGeom>
          <a:solidFill>
            <a:schemeClr val="accent1"/>
          </a:solidFill>
          <a:ln w="12700">
            <a:solidFill>
              <a:schemeClr val="accent1"/>
            </a:solidFill>
            <a:prstDash val="solid"/>
          </a:ln>
        </p:spPr>
      </p:sp>
      <p:pic>
        <p:nvPicPr>
          <p:cNvPr id="10" name="The gap icon" descr="preencoded.png">    </p:cNvPr>
          <p:cNvPicPr>
            <a:picLocks noChangeAspect="1"/>
          </p:cNvPicPr>
          <p:nvPr/>
        </p:nvPicPr>
        <p:blipFill>
          <a:blip r:embed="rId2"/>
          <a:stretch>
            <a:fillRect/>
          </a:stretch>
        </p:blipFill>
        <p:spPr>
          <a:xfrm>
            <a:off x="6559906" y="5036058"/>
            <a:ext cx="251460" cy="251460"/>
          </a:xfrm>
          <a:prstGeom prst="rect">
            <a:avLst/>
          </a:prstGeom>
        </p:spPr>
      </p:pic>
      <p:sp>
        <p:nvSpPr>
          <p:cNvPr id="11" name="The gap text"/>
          <p:cNvSpPr txBox="1"/>
          <p:nvPr/>
        </p:nvSpPr>
        <p:spPr>
          <a:xfrm>
            <a:off x="7119976" y="4873752"/>
            <a:ext cx="435848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bg1"/>
                </a:solidFill>
              </a:rPr>
              <a:t>The gap</a:t>
            </a:r>
            <a:endParaRPr lang="en-GB" sz="1400" dirty="0"/>
          </a:p>
          <a:p>
            <a:pPr indent="0" marL="0">
              <a:spcAft>
                <a:spcPts val="300"/>
              </a:spcAft>
              <a:buNone/>
            </a:pPr>
            <a:r>
              <a:rPr lang="en-GB" altLang="en-US" sz="1400" dirty="0">
                <a:solidFill>
                  <a:schemeClr val="bg1"/>
                </a:solidFill>
              </a:rPr>
              <a:t>Little head-to-head evidence of an AI reviewer against Terraform scanners on the same changes and a fixed ground truth, with independence, repeatability and fixes tested together.</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3</a:t>
            </a:fld>
            <a:endParaRPr lang="en-GB"/>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What I built: three independent reviewers</a:t>
            </a:r>
            <a:endParaRPr lang="en-GB" sz="3600" dirty="0"/>
          </a:p>
        </p:txBody>
      </p:sp>
      <p:sp>
        <p:nvSpPr>
          <p:cNvPr id="3" name="Step PR"/>
          <p:cNvSpPr/>
          <p:nvPr/>
        </p:nvSpPr>
        <p:spPr>
          <a:xfrm>
            <a:off x="548640" y="1325880"/>
            <a:ext cx="5760720" cy="457200"/>
          </a:xfrm>
          <a:prstGeom prst="roundRect">
            <a:avLst>
              <a:gd name="adj" fmla="val 16000"/>
            </a:avLst>
          </a:prstGeom>
          <a:solidFill>
            <a:schemeClr val="bg2"/>
          </a:solidFill>
          <a:ln w="12700">
            <a:solidFill>
              <a:schemeClr val="bg2"/>
            </a:solidFill>
            <a:prstDash val="solid"/>
          </a:ln>
        </p:spPr>
      </p:sp>
      <p:sp>
        <p:nvSpPr>
          <p:cNvPr id="4" name="Step PR icon circle"/>
          <p:cNvSpPr/>
          <p:nvPr/>
        </p:nvSpPr>
        <p:spPr>
          <a:xfrm>
            <a:off x="676656" y="1362456"/>
            <a:ext cx="384048" cy="384048"/>
          </a:xfrm>
          <a:prstGeom prst="ellipse">
            <a:avLst/>
          </a:prstGeom>
          <a:solidFill>
            <a:schemeClr val="tx2"/>
          </a:solidFill>
          <a:ln w="12700">
            <a:solidFill>
              <a:schemeClr val="tx2"/>
            </a:solidFill>
            <a:prstDash val="solid"/>
          </a:ln>
        </p:spPr>
      </p:sp>
      <p:pic>
        <p:nvPicPr>
          <p:cNvPr id="5" name="Step PR icon icon" descr="preencoded.png">    </p:cNvPr>
          <p:cNvPicPr>
            <a:picLocks noChangeAspect="1"/>
          </p:cNvPicPr>
          <p:nvPr/>
        </p:nvPicPr>
        <p:blipFill>
          <a:blip r:embed="rId1"/>
          <a:stretch>
            <a:fillRect/>
          </a:stretch>
        </p:blipFill>
        <p:spPr>
          <a:xfrm>
            <a:off x="772668" y="1458468"/>
            <a:ext cx="192024" cy="192024"/>
          </a:xfrm>
          <a:prstGeom prst="rect">
            <a:avLst/>
          </a:prstGeom>
        </p:spPr>
      </p:pic>
      <p:sp>
        <p:nvSpPr>
          <p:cNvPr id="6" name="Step PR text"/>
          <p:cNvSpPr txBox="1"/>
          <p:nvPr/>
        </p:nvSpPr>
        <p:spPr>
          <a:xfrm>
            <a:off x="1188720" y="132588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Developer opens a Terraform pull request</a:t>
            </a:r>
            <a:endParaRPr lang="en-GB" sz="1400" dirty="0"/>
          </a:p>
        </p:txBody>
      </p:sp>
      <p:sp>
        <p:nvSpPr>
          <p:cNvPr id="7" name="Arrow to validate"/>
          <p:cNvSpPr/>
          <p:nvPr/>
        </p:nvSpPr>
        <p:spPr>
          <a:xfrm>
            <a:off x="3429000" y="1783080"/>
            <a:ext cx="0" cy="182880"/>
          </a:xfrm>
          <a:prstGeom prst="line">
            <a:avLst/>
          </a:prstGeom>
          <a:noFill/>
          <a:ln w="19050">
            <a:solidFill>
              <a:srgbClr val="7A8794"/>
            </a:solidFill>
            <a:prstDash val="solid"/>
            <a:tailEnd type="triangle"/>
          </a:ln>
        </p:spPr>
      </p:sp>
      <p:sp>
        <p:nvSpPr>
          <p:cNvPr id="8" name="Step validate"/>
          <p:cNvSpPr/>
          <p:nvPr/>
        </p:nvSpPr>
        <p:spPr>
          <a:xfrm>
            <a:off x="548640" y="1965960"/>
            <a:ext cx="5760720" cy="457200"/>
          </a:xfrm>
          <a:prstGeom prst="roundRect">
            <a:avLst>
              <a:gd name="adj" fmla="val 16000"/>
            </a:avLst>
          </a:prstGeom>
          <a:solidFill>
            <a:schemeClr val="bg2"/>
          </a:solidFill>
          <a:ln w="12700">
            <a:solidFill>
              <a:schemeClr val="bg2"/>
            </a:solidFill>
            <a:prstDash val="solid"/>
          </a:ln>
        </p:spPr>
      </p:sp>
      <p:sp>
        <p:nvSpPr>
          <p:cNvPr id="9" name="Step validate icon circle"/>
          <p:cNvSpPr/>
          <p:nvPr/>
        </p:nvSpPr>
        <p:spPr>
          <a:xfrm>
            <a:off x="676656" y="2002536"/>
            <a:ext cx="384048" cy="384048"/>
          </a:xfrm>
          <a:prstGeom prst="ellipse">
            <a:avLst/>
          </a:prstGeom>
          <a:solidFill>
            <a:schemeClr val="tx2"/>
          </a:solidFill>
          <a:ln w="12700">
            <a:solidFill>
              <a:schemeClr val="tx2"/>
            </a:solidFill>
            <a:prstDash val="solid"/>
          </a:ln>
        </p:spPr>
      </p:sp>
      <p:pic>
        <p:nvPicPr>
          <p:cNvPr id="10" name="Step validate icon icon" descr="preencoded.png">    </p:cNvPr>
          <p:cNvPicPr>
            <a:picLocks noChangeAspect="1"/>
          </p:cNvPicPr>
          <p:nvPr/>
        </p:nvPicPr>
        <p:blipFill>
          <a:blip r:embed="rId2"/>
          <a:stretch>
            <a:fillRect/>
          </a:stretch>
        </p:blipFill>
        <p:spPr>
          <a:xfrm>
            <a:off x="772668" y="2098548"/>
            <a:ext cx="192024" cy="192024"/>
          </a:xfrm>
          <a:prstGeom prst="rect">
            <a:avLst/>
          </a:prstGeom>
        </p:spPr>
      </p:pic>
      <p:sp>
        <p:nvSpPr>
          <p:cNvPr id="11" name="Step validate text"/>
          <p:cNvSpPr txBox="1"/>
          <p:nvPr/>
        </p:nvSpPr>
        <p:spPr>
          <a:xfrm>
            <a:off x="1188720" y="196596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Validate: </a:t>
            </a:r>
            <a:pPr indent="0" marL="0">
              <a:buNone/>
            </a:pPr>
            <a:r>
              <a:rPr lang="en-GB" altLang="en-US" sz="1400" dirty="0">
                <a:solidFill>
                  <a:schemeClr val="tx1"/>
                </a:solidFill>
              </a:rPr>
              <a:t>terraform fmt and validate (never plan or apply)</a:t>
            </a:r>
            <a:endParaRPr lang="en-GB" sz="1400" dirty="0"/>
          </a:p>
        </p:txBody>
      </p:sp>
      <p:sp>
        <p:nvSpPr>
          <p:cNvPr id="12" name="Fan-out stem"/>
          <p:cNvSpPr/>
          <p:nvPr/>
        </p:nvSpPr>
        <p:spPr>
          <a:xfrm>
            <a:off x="3429000" y="2423160"/>
            <a:ext cx="0" cy="137160"/>
          </a:xfrm>
          <a:prstGeom prst="line">
            <a:avLst/>
          </a:prstGeom>
          <a:noFill/>
          <a:ln w="19050">
            <a:solidFill>
              <a:srgbClr val="7A8794"/>
            </a:solidFill>
            <a:prstDash val="solid"/>
          </a:ln>
        </p:spPr>
      </p:sp>
      <p:sp>
        <p:nvSpPr>
          <p:cNvPr id="13" name="Fan-out bar"/>
          <p:cNvSpPr/>
          <p:nvPr/>
        </p:nvSpPr>
        <p:spPr>
          <a:xfrm>
            <a:off x="1447800" y="2560320"/>
            <a:ext cx="3962400" cy="0"/>
          </a:xfrm>
          <a:prstGeom prst="line">
            <a:avLst/>
          </a:prstGeom>
          <a:noFill/>
          <a:ln w="19050">
            <a:solidFill>
              <a:srgbClr val="7A8794"/>
            </a:solidFill>
            <a:prstDash val="solid"/>
          </a:ln>
        </p:spPr>
      </p:sp>
      <p:sp>
        <p:nvSpPr>
          <p:cNvPr id="14" name="Fan-out arrow 1"/>
          <p:cNvSpPr/>
          <p:nvPr/>
        </p:nvSpPr>
        <p:spPr>
          <a:xfrm>
            <a:off x="1447800" y="2560320"/>
            <a:ext cx="0" cy="137160"/>
          </a:xfrm>
          <a:prstGeom prst="line">
            <a:avLst/>
          </a:prstGeom>
          <a:noFill/>
          <a:ln w="19050">
            <a:solidFill>
              <a:srgbClr val="7A8794"/>
            </a:solidFill>
            <a:prstDash val="solid"/>
            <a:tailEnd type="triangle"/>
          </a:ln>
        </p:spPr>
      </p:sp>
      <p:sp>
        <p:nvSpPr>
          <p:cNvPr id="15" name="Fan-out arrow 2"/>
          <p:cNvSpPr/>
          <p:nvPr/>
        </p:nvSpPr>
        <p:spPr>
          <a:xfrm>
            <a:off x="3429000" y="2560320"/>
            <a:ext cx="0" cy="137160"/>
          </a:xfrm>
          <a:prstGeom prst="line">
            <a:avLst/>
          </a:prstGeom>
          <a:noFill/>
          <a:ln w="19050">
            <a:solidFill>
              <a:srgbClr val="7A8794"/>
            </a:solidFill>
            <a:prstDash val="solid"/>
            <a:tailEnd type="triangle"/>
          </a:ln>
        </p:spPr>
      </p:sp>
      <p:sp>
        <p:nvSpPr>
          <p:cNvPr id="16" name="Fan-out arrow 3"/>
          <p:cNvSpPr/>
          <p:nvPr/>
        </p:nvSpPr>
        <p:spPr>
          <a:xfrm>
            <a:off x="5410200" y="2560320"/>
            <a:ext cx="0" cy="137160"/>
          </a:xfrm>
          <a:prstGeom prst="line">
            <a:avLst/>
          </a:prstGeom>
          <a:noFill/>
          <a:ln w="19050">
            <a:solidFill>
              <a:srgbClr val="7A8794"/>
            </a:solidFill>
            <a:prstDash val="solid"/>
            <a:tailEnd type="triangle"/>
          </a:ln>
        </p:spPr>
      </p:sp>
      <p:sp>
        <p:nvSpPr>
          <p:cNvPr id="17" name="Checkov 3.3.1 box"/>
          <p:cNvSpPr/>
          <p:nvPr/>
        </p:nvSpPr>
        <p:spPr>
          <a:xfrm>
            <a:off x="548640" y="2697480"/>
            <a:ext cx="1798320" cy="1691640"/>
          </a:xfrm>
          <a:prstGeom prst="roundRect">
            <a:avLst>
              <a:gd name="adj" fmla="val 4324"/>
            </a:avLst>
          </a:prstGeom>
          <a:solidFill>
            <a:schemeClr val="bg1"/>
          </a:solidFill>
          <a:ln w="15875">
            <a:solidFill>
              <a:schemeClr val="accent2"/>
            </a:solidFill>
            <a:prstDash val="solid"/>
          </a:ln>
        </p:spPr>
      </p:sp>
      <p:sp>
        <p:nvSpPr>
          <p:cNvPr id="18" name="Checkov 3.3.1 circle"/>
          <p:cNvSpPr/>
          <p:nvPr/>
        </p:nvSpPr>
        <p:spPr>
          <a:xfrm>
            <a:off x="1219200" y="2807208"/>
            <a:ext cx="457200" cy="457200"/>
          </a:xfrm>
          <a:prstGeom prst="ellipse">
            <a:avLst/>
          </a:prstGeom>
          <a:solidFill>
            <a:schemeClr val="accent2"/>
          </a:solidFill>
          <a:ln w="12700">
            <a:solidFill>
              <a:schemeClr val="accent2"/>
            </a:solidFill>
            <a:prstDash val="solid"/>
          </a:ln>
        </p:spPr>
      </p:sp>
      <p:pic>
        <p:nvPicPr>
          <p:cNvPr id="19" name="Checkov 3.3.1 icon" descr="preencoded.png">    </p:cNvPr>
          <p:cNvPicPr>
            <a:picLocks noChangeAspect="1"/>
          </p:cNvPicPr>
          <p:nvPr/>
        </p:nvPicPr>
        <p:blipFill>
          <a:blip r:embed="rId3"/>
          <a:stretch>
            <a:fillRect/>
          </a:stretch>
        </p:blipFill>
        <p:spPr>
          <a:xfrm>
            <a:off x="1333500" y="2921508"/>
            <a:ext cx="228600" cy="228600"/>
          </a:xfrm>
          <a:prstGeom prst="rect">
            <a:avLst/>
          </a:prstGeom>
        </p:spPr>
      </p:pic>
      <p:sp>
        <p:nvSpPr>
          <p:cNvPr id="20" name="Checkov 3.3.1 text"/>
          <p:cNvSpPr txBox="1"/>
          <p:nvPr/>
        </p:nvSpPr>
        <p:spPr>
          <a:xfrm>
            <a:off x="6400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Checkov 3.3.1</a:t>
            </a:r>
            <a:endParaRPr lang="en-GB" sz="1400" dirty="0"/>
          </a:p>
          <a:p>
            <a:pPr algn="ctr" indent="0" marL="0">
              <a:spcAft>
                <a:spcPts val="200"/>
              </a:spcAft>
              <a:buNone/>
            </a:pPr>
            <a:r>
              <a:rPr lang="en-GB" altLang="en-US" sz="1200" dirty="0">
                <a:solidFill>
                  <a:schemeClr val="tx1"/>
                </a:solidFill>
              </a:rPr>
              <a:t>Rule-based policy checks</a:t>
            </a:r>
            <a:endParaRPr lang="en-GB" sz="1400" dirty="0"/>
          </a:p>
        </p:txBody>
      </p:sp>
      <p:sp>
        <p:nvSpPr>
          <p:cNvPr id="21" name="tfsec 1.28.14 box"/>
          <p:cNvSpPr/>
          <p:nvPr/>
        </p:nvSpPr>
        <p:spPr>
          <a:xfrm>
            <a:off x="2529840" y="2697480"/>
            <a:ext cx="1798320" cy="1691640"/>
          </a:xfrm>
          <a:prstGeom prst="roundRect">
            <a:avLst>
              <a:gd name="adj" fmla="val 4324"/>
            </a:avLst>
          </a:prstGeom>
          <a:solidFill>
            <a:schemeClr val="bg1"/>
          </a:solidFill>
          <a:ln w="15875">
            <a:solidFill>
              <a:schemeClr val="accent2"/>
            </a:solidFill>
            <a:prstDash val="solid"/>
          </a:ln>
        </p:spPr>
      </p:sp>
      <p:sp>
        <p:nvSpPr>
          <p:cNvPr id="22" name="tfsec 1.28.14 circle"/>
          <p:cNvSpPr/>
          <p:nvPr/>
        </p:nvSpPr>
        <p:spPr>
          <a:xfrm>
            <a:off x="3200400" y="2807208"/>
            <a:ext cx="457200" cy="457200"/>
          </a:xfrm>
          <a:prstGeom prst="ellipse">
            <a:avLst/>
          </a:prstGeom>
          <a:solidFill>
            <a:schemeClr val="accent2"/>
          </a:solidFill>
          <a:ln w="12700">
            <a:solidFill>
              <a:schemeClr val="accent2"/>
            </a:solidFill>
            <a:prstDash val="solid"/>
          </a:ln>
        </p:spPr>
      </p:sp>
      <p:pic>
        <p:nvPicPr>
          <p:cNvPr id="23" name="tfsec 1.28.14 icon" descr="preencoded.png">    </p:cNvPr>
          <p:cNvPicPr>
            <a:picLocks noChangeAspect="1"/>
          </p:cNvPicPr>
          <p:nvPr/>
        </p:nvPicPr>
        <p:blipFill>
          <a:blip r:embed="rId4"/>
          <a:stretch>
            <a:fillRect/>
          </a:stretch>
        </p:blipFill>
        <p:spPr>
          <a:xfrm>
            <a:off x="3314700" y="2921508"/>
            <a:ext cx="228600" cy="228600"/>
          </a:xfrm>
          <a:prstGeom prst="rect">
            <a:avLst/>
          </a:prstGeom>
        </p:spPr>
      </p:pic>
      <p:sp>
        <p:nvSpPr>
          <p:cNvPr id="24" name="tfsec 1.28.14 text"/>
          <p:cNvSpPr txBox="1"/>
          <p:nvPr/>
        </p:nvSpPr>
        <p:spPr>
          <a:xfrm>
            <a:off x="26212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tfsec 1.28.14</a:t>
            </a:r>
            <a:endParaRPr lang="en-GB" sz="1400" dirty="0"/>
          </a:p>
          <a:p>
            <a:pPr algn="ctr" indent="0" marL="0">
              <a:spcAft>
                <a:spcPts val="200"/>
              </a:spcAft>
              <a:buNone/>
            </a:pPr>
            <a:r>
              <a:rPr lang="en-GB" altLang="en-US" sz="1200" dirty="0">
                <a:solidFill>
                  <a:schemeClr val="tx1"/>
                </a:solidFill>
              </a:rPr>
              <a:t>Rule-based checks</a:t>
            </a:r>
            <a:endParaRPr lang="en-GB" sz="1400" dirty="0"/>
          </a:p>
        </p:txBody>
      </p:sp>
      <p:sp>
        <p:nvSpPr>
          <p:cNvPr id="25" name="AI reviewer box"/>
          <p:cNvSpPr/>
          <p:nvPr/>
        </p:nvSpPr>
        <p:spPr>
          <a:xfrm>
            <a:off x="4511040" y="2697480"/>
            <a:ext cx="1798320" cy="1691640"/>
          </a:xfrm>
          <a:prstGeom prst="roundRect">
            <a:avLst>
              <a:gd name="adj" fmla="val 4324"/>
            </a:avLst>
          </a:prstGeom>
          <a:solidFill>
            <a:schemeClr val="bg1"/>
          </a:solidFill>
          <a:ln w="15875">
            <a:solidFill>
              <a:schemeClr val="accent1"/>
            </a:solidFill>
            <a:prstDash val="solid"/>
          </a:ln>
        </p:spPr>
      </p:sp>
      <p:sp>
        <p:nvSpPr>
          <p:cNvPr id="26" name="AI reviewer circle"/>
          <p:cNvSpPr/>
          <p:nvPr/>
        </p:nvSpPr>
        <p:spPr>
          <a:xfrm>
            <a:off x="5181600" y="2807208"/>
            <a:ext cx="457200" cy="457200"/>
          </a:xfrm>
          <a:prstGeom prst="ellipse">
            <a:avLst/>
          </a:prstGeom>
          <a:solidFill>
            <a:schemeClr val="accent1"/>
          </a:solidFill>
          <a:ln w="12700">
            <a:solidFill>
              <a:schemeClr val="accent1"/>
            </a:solidFill>
            <a:prstDash val="solid"/>
          </a:ln>
        </p:spPr>
      </p:sp>
      <p:pic>
        <p:nvPicPr>
          <p:cNvPr id="27" name="AI reviewer icon" descr="preencoded.png">    </p:cNvPr>
          <p:cNvPicPr>
            <a:picLocks noChangeAspect="1"/>
          </p:cNvPicPr>
          <p:nvPr/>
        </p:nvPicPr>
        <p:blipFill>
          <a:blip r:embed="rId5"/>
          <a:stretch>
            <a:fillRect/>
          </a:stretch>
        </p:blipFill>
        <p:spPr>
          <a:xfrm>
            <a:off x="5295900" y="2921508"/>
            <a:ext cx="228600" cy="228600"/>
          </a:xfrm>
          <a:prstGeom prst="rect">
            <a:avLst/>
          </a:prstGeom>
        </p:spPr>
      </p:pic>
      <p:sp>
        <p:nvSpPr>
          <p:cNvPr id="28" name="AI reviewer text"/>
          <p:cNvSpPr txBox="1"/>
          <p:nvPr/>
        </p:nvSpPr>
        <p:spPr>
          <a:xfrm>
            <a:off x="46024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AI reviewer</a:t>
            </a:r>
            <a:endParaRPr lang="en-GB" sz="1400" dirty="0"/>
          </a:p>
          <a:p>
            <a:pPr algn="ctr" indent="0" marL="0">
              <a:spcAft>
                <a:spcPts val="200"/>
              </a:spcAft>
              <a:buNone/>
            </a:pPr>
            <a:r>
              <a:rPr lang="en-GB" altLang="en-US" sz="1200" dirty="0">
                <a:solidFill>
                  <a:schemeClr val="tx1"/>
                </a:solidFill>
              </a:rPr>
              <a:t>Claude reads all .tf files, policy and README; JSON, max 3 findings</a:t>
            </a:r>
            <a:endParaRPr lang="en-GB" sz="1400" dirty="0"/>
          </a:p>
        </p:txBody>
      </p:sp>
      <p:sp>
        <p:nvSpPr>
          <p:cNvPr id="29" name="Fan-in stem 1"/>
          <p:cNvSpPr/>
          <p:nvPr/>
        </p:nvSpPr>
        <p:spPr>
          <a:xfrm>
            <a:off x="1447800" y="4389120"/>
            <a:ext cx="0" cy="137160"/>
          </a:xfrm>
          <a:prstGeom prst="line">
            <a:avLst/>
          </a:prstGeom>
          <a:noFill/>
          <a:ln w="19050">
            <a:solidFill>
              <a:srgbClr val="7A8794"/>
            </a:solidFill>
            <a:prstDash val="solid"/>
          </a:ln>
        </p:spPr>
      </p:sp>
      <p:sp>
        <p:nvSpPr>
          <p:cNvPr id="30" name="Fan-in stem 2"/>
          <p:cNvSpPr/>
          <p:nvPr/>
        </p:nvSpPr>
        <p:spPr>
          <a:xfrm>
            <a:off x="3429000" y="4389120"/>
            <a:ext cx="0" cy="137160"/>
          </a:xfrm>
          <a:prstGeom prst="line">
            <a:avLst/>
          </a:prstGeom>
          <a:noFill/>
          <a:ln w="19050">
            <a:solidFill>
              <a:srgbClr val="7A8794"/>
            </a:solidFill>
            <a:prstDash val="solid"/>
          </a:ln>
        </p:spPr>
      </p:sp>
      <p:sp>
        <p:nvSpPr>
          <p:cNvPr id="31" name="Fan-in stem 3"/>
          <p:cNvSpPr/>
          <p:nvPr/>
        </p:nvSpPr>
        <p:spPr>
          <a:xfrm>
            <a:off x="5410200" y="4389120"/>
            <a:ext cx="0" cy="137160"/>
          </a:xfrm>
          <a:prstGeom prst="line">
            <a:avLst/>
          </a:prstGeom>
          <a:noFill/>
          <a:ln w="19050">
            <a:solidFill>
              <a:srgbClr val="7A8794"/>
            </a:solidFill>
            <a:prstDash val="solid"/>
          </a:ln>
        </p:spPr>
      </p:sp>
      <p:sp>
        <p:nvSpPr>
          <p:cNvPr id="32" name="Fan-in bar"/>
          <p:cNvSpPr/>
          <p:nvPr/>
        </p:nvSpPr>
        <p:spPr>
          <a:xfrm>
            <a:off x="1447800" y="4526280"/>
            <a:ext cx="3962400" cy="0"/>
          </a:xfrm>
          <a:prstGeom prst="line">
            <a:avLst/>
          </a:prstGeom>
          <a:noFill/>
          <a:ln w="19050">
            <a:solidFill>
              <a:srgbClr val="7A8794"/>
            </a:solidFill>
            <a:prstDash val="solid"/>
          </a:ln>
        </p:spPr>
      </p:sp>
      <p:sp>
        <p:nvSpPr>
          <p:cNvPr id="33" name="Arrow to comments"/>
          <p:cNvSpPr/>
          <p:nvPr/>
        </p:nvSpPr>
        <p:spPr>
          <a:xfrm>
            <a:off x="3429000" y="4526280"/>
            <a:ext cx="0" cy="137160"/>
          </a:xfrm>
          <a:prstGeom prst="line">
            <a:avLst/>
          </a:prstGeom>
          <a:noFill/>
          <a:ln w="19050">
            <a:solidFill>
              <a:srgbClr val="7A8794"/>
            </a:solidFill>
            <a:prstDash val="solid"/>
            <a:tailEnd type="triangle"/>
          </a:ln>
        </p:spPr>
      </p:sp>
      <p:sp>
        <p:nvSpPr>
          <p:cNvPr id="34" name="Step comments"/>
          <p:cNvSpPr/>
          <p:nvPr/>
        </p:nvSpPr>
        <p:spPr>
          <a:xfrm>
            <a:off x="548640" y="4663440"/>
            <a:ext cx="5760720" cy="457200"/>
          </a:xfrm>
          <a:prstGeom prst="roundRect">
            <a:avLst>
              <a:gd name="adj" fmla="val 16000"/>
            </a:avLst>
          </a:prstGeom>
          <a:solidFill>
            <a:schemeClr val="bg2"/>
          </a:solidFill>
          <a:ln w="12700">
            <a:solidFill>
              <a:schemeClr val="bg2"/>
            </a:solidFill>
            <a:prstDash val="solid"/>
          </a:ln>
        </p:spPr>
      </p:sp>
      <p:sp>
        <p:nvSpPr>
          <p:cNvPr id="35" name="Step comments icon circle"/>
          <p:cNvSpPr/>
          <p:nvPr/>
        </p:nvSpPr>
        <p:spPr>
          <a:xfrm>
            <a:off x="676656" y="4700016"/>
            <a:ext cx="384048" cy="384048"/>
          </a:xfrm>
          <a:prstGeom prst="ellipse">
            <a:avLst/>
          </a:prstGeom>
          <a:solidFill>
            <a:schemeClr val="tx2"/>
          </a:solidFill>
          <a:ln w="12700">
            <a:solidFill>
              <a:schemeClr val="tx2"/>
            </a:solidFill>
            <a:prstDash val="solid"/>
          </a:ln>
        </p:spPr>
      </p:sp>
      <p:pic>
        <p:nvPicPr>
          <p:cNvPr id="36" name="Step comments icon icon" descr="preencoded.png">    </p:cNvPr>
          <p:cNvPicPr>
            <a:picLocks noChangeAspect="1"/>
          </p:cNvPicPr>
          <p:nvPr/>
        </p:nvPicPr>
        <p:blipFill>
          <a:blip r:embed="rId6"/>
          <a:stretch>
            <a:fillRect/>
          </a:stretch>
        </p:blipFill>
        <p:spPr>
          <a:xfrm>
            <a:off x="772668" y="4796028"/>
            <a:ext cx="192024" cy="192024"/>
          </a:xfrm>
          <a:prstGeom prst="rect">
            <a:avLst/>
          </a:prstGeom>
        </p:spPr>
      </p:pic>
      <p:sp>
        <p:nvSpPr>
          <p:cNvPr id="37" name="Step comments text"/>
          <p:cNvSpPr txBox="1"/>
          <p:nvPr/>
        </p:nvSpPr>
        <p:spPr>
          <a:xfrm>
            <a:off x="1188720" y="466344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Three separate PR comments; </a:t>
            </a:r>
            <a:pPr indent="0" marL="0">
              <a:buNone/>
            </a:pPr>
            <a:r>
              <a:rPr lang="en-GB" altLang="en-US" sz="1400" dirty="0">
                <a:solidFill>
                  <a:schemeClr val="tx1"/>
                </a:solidFill>
              </a:rPr>
              <a:t>all raw outputs saved per run</a:t>
            </a:r>
            <a:endParaRPr lang="en-GB" sz="1400" dirty="0"/>
          </a:p>
        </p:txBody>
      </p:sp>
      <p:sp>
        <p:nvSpPr>
          <p:cNvPr id="38" name="Arrow to classify"/>
          <p:cNvSpPr/>
          <p:nvPr/>
        </p:nvSpPr>
        <p:spPr>
          <a:xfrm>
            <a:off x="3429000" y="5120640"/>
            <a:ext cx="0" cy="182880"/>
          </a:xfrm>
          <a:prstGeom prst="line">
            <a:avLst/>
          </a:prstGeom>
          <a:noFill/>
          <a:ln w="19050">
            <a:solidFill>
              <a:srgbClr val="7A8794"/>
            </a:solidFill>
            <a:prstDash val="solid"/>
            <a:tailEnd type="triangle"/>
          </a:ln>
        </p:spPr>
      </p:sp>
      <p:sp>
        <p:nvSpPr>
          <p:cNvPr id="39" name="Step classify"/>
          <p:cNvSpPr/>
          <p:nvPr/>
        </p:nvSpPr>
        <p:spPr>
          <a:xfrm>
            <a:off x="548640" y="5303520"/>
            <a:ext cx="5760720" cy="457200"/>
          </a:xfrm>
          <a:prstGeom prst="roundRect">
            <a:avLst>
              <a:gd name="adj" fmla="val 16000"/>
            </a:avLst>
          </a:prstGeom>
          <a:solidFill>
            <a:schemeClr val="bg2"/>
          </a:solidFill>
          <a:ln w="12700">
            <a:solidFill>
              <a:schemeClr val="bg2"/>
            </a:solidFill>
            <a:prstDash val="solid"/>
          </a:ln>
        </p:spPr>
      </p:sp>
      <p:sp>
        <p:nvSpPr>
          <p:cNvPr id="40" name="Step classify icon circle"/>
          <p:cNvSpPr/>
          <p:nvPr/>
        </p:nvSpPr>
        <p:spPr>
          <a:xfrm>
            <a:off x="676656" y="5340096"/>
            <a:ext cx="384048" cy="384048"/>
          </a:xfrm>
          <a:prstGeom prst="ellipse">
            <a:avLst/>
          </a:prstGeom>
          <a:solidFill>
            <a:schemeClr val="tx2"/>
          </a:solidFill>
          <a:ln w="12700">
            <a:solidFill>
              <a:schemeClr val="tx2"/>
            </a:solidFill>
            <a:prstDash val="solid"/>
          </a:ln>
        </p:spPr>
      </p:sp>
      <p:pic>
        <p:nvPicPr>
          <p:cNvPr id="41" name="Step classify icon icon" descr="preencoded.png">    </p:cNvPr>
          <p:cNvPicPr>
            <a:picLocks noChangeAspect="1"/>
          </p:cNvPicPr>
          <p:nvPr/>
        </p:nvPicPr>
        <p:blipFill>
          <a:blip r:embed="rId7"/>
          <a:stretch>
            <a:fillRect/>
          </a:stretch>
        </p:blipFill>
        <p:spPr>
          <a:xfrm>
            <a:off x="772668" y="5436108"/>
            <a:ext cx="192024" cy="192024"/>
          </a:xfrm>
          <a:prstGeom prst="rect">
            <a:avLst/>
          </a:prstGeom>
        </p:spPr>
      </p:pic>
      <p:sp>
        <p:nvSpPr>
          <p:cNvPr id="42" name="Step classify text"/>
          <p:cNvSpPr txBox="1"/>
          <p:nvPr/>
        </p:nvSpPr>
        <p:spPr>
          <a:xfrm>
            <a:off x="1188720" y="530352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I classify every output against the ground truth</a:t>
            </a:r>
            <a:endParaRPr lang="en-GB" sz="1400" dirty="0"/>
          </a:p>
        </p:txBody>
      </p:sp>
      <p:sp>
        <p:nvSpPr>
          <p:cNvPr id="43" name="Evidence heading"/>
          <p:cNvSpPr txBox="1"/>
          <p:nvPr/>
        </p:nvSpPr>
        <p:spPr>
          <a:xfrm>
            <a:off x="6675120" y="1325880"/>
            <a:ext cx="4967935" cy="566928"/>
          </a:xfrm>
          <a:prstGeom prst="rect">
            <a:avLst/>
          </a:prstGeom>
          <a:noFill/>
          <a:ln/>
        </p:spPr>
        <p:txBody>
          <a:bodyPr wrap="square" lIns="0" tIns="0" rIns="0" bIns="0" rtlCol="0" anchor="t"/>
          <a:lstStyle/>
          <a:p>
            <a:pPr indent="0" marL="0">
              <a:buNone/>
            </a:pPr>
            <a:r>
              <a:rPr lang="en-GB" altLang="en-US" sz="1600" b="1" dirty="0">
                <a:solidFill>
                  <a:schemeClr val="tx2"/>
                </a:solidFill>
              </a:rPr>
              <a:t>Evidence: pull request #71</a:t>
            </a:r>
            <a:endParaRPr lang="en-GB" sz="1400" dirty="0"/>
          </a:p>
          <a:p>
            <a:pPr indent="0" marL="0">
              <a:buNone/>
            </a:pPr>
            <a:r>
              <a:rPr lang="en-GB" altLang="en-US" sz="1200" dirty="0">
                <a:solidFill>
                  <a:schemeClr val="accent6"/>
                </a:solidFill>
              </a:rPr>
              <a:t>TC02 · inbound SSH open to 0.0.0.0/0 · copied verbatim from the PR</a:t>
            </a:r>
            <a:endParaRPr lang="en-GB" sz="1400" dirty="0"/>
          </a:p>
        </p:txBody>
      </p:sp>
      <p:sp>
        <p:nvSpPr>
          <p:cNvPr id="44" name="Checkov evidence card"/>
          <p:cNvSpPr/>
          <p:nvPr/>
        </p:nvSpPr>
        <p:spPr>
          <a:xfrm>
            <a:off x="6675120" y="1984248"/>
            <a:ext cx="4967935" cy="1060704"/>
          </a:xfrm>
          <a:prstGeom prst="roundRect">
            <a:avLst>
              <a:gd name="adj" fmla="val 6897"/>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45" name="Checkov evidence circle"/>
          <p:cNvSpPr/>
          <p:nvPr/>
        </p:nvSpPr>
        <p:spPr>
          <a:xfrm>
            <a:off x="6839712" y="2130552"/>
            <a:ext cx="384048" cy="384048"/>
          </a:xfrm>
          <a:prstGeom prst="ellipse">
            <a:avLst/>
          </a:prstGeom>
          <a:solidFill>
            <a:schemeClr val="accent6"/>
          </a:solidFill>
          <a:ln w="12700">
            <a:solidFill>
              <a:schemeClr val="accent6"/>
            </a:solidFill>
            <a:prstDash val="solid"/>
          </a:ln>
        </p:spPr>
      </p:sp>
      <p:pic>
        <p:nvPicPr>
          <p:cNvPr id="46" name="Checkov evidence icon" descr="preencoded.png">    </p:cNvPr>
          <p:cNvPicPr>
            <a:picLocks noChangeAspect="1"/>
          </p:cNvPicPr>
          <p:nvPr/>
        </p:nvPicPr>
        <p:blipFill>
          <a:blip r:embed="rId8"/>
          <a:stretch>
            <a:fillRect/>
          </a:stretch>
        </p:blipFill>
        <p:spPr>
          <a:xfrm>
            <a:off x="6935724" y="2226564"/>
            <a:ext cx="192024" cy="192024"/>
          </a:xfrm>
          <a:prstGeom prst="rect">
            <a:avLst/>
          </a:prstGeom>
        </p:spPr>
      </p:pic>
      <p:sp>
        <p:nvSpPr>
          <p:cNvPr id="47" name="Checkov name"/>
          <p:cNvSpPr txBox="1"/>
          <p:nvPr/>
        </p:nvSpPr>
        <p:spPr>
          <a:xfrm>
            <a:off x="7360920" y="213055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Checkov</a:t>
            </a:r>
            <a:endParaRPr lang="en-GB" sz="1400" dirty="0"/>
          </a:p>
        </p:txBody>
      </p:sp>
      <p:sp>
        <p:nvSpPr>
          <p:cNvPr id="48" name="Checkov tag"/>
          <p:cNvSpPr/>
          <p:nvPr/>
        </p:nvSpPr>
        <p:spPr>
          <a:xfrm>
            <a:off x="10381183" y="2167128"/>
            <a:ext cx="1097280" cy="310896"/>
          </a:xfrm>
          <a:prstGeom prst="roundRect">
            <a:avLst>
              <a:gd name="adj" fmla="val 50000"/>
            </a:avLst>
          </a:prstGeom>
          <a:solidFill>
            <a:schemeClr val="accent6"/>
          </a:solidFill>
          <a:ln w="12700">
            <a:solidFill>
              <a:schemeClr val="accent6"/>
            </a:solidFill>
            <a:prstDash val="solid"/>
          </a:ln>
        </p:spPr>
      </p:sp>
      <p:sp>
        <p:nvSpPr>
          <p:cNvPr id="49" name="Checkov tag text"/>
          <p:cNvSpPr txBox="1"/>
          <p:nvPr/>
        </p:nvSpPr>
        <p:spPr>
          <a:xfrm>
            <a:off x="10381183" y="216712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MISSED</a:t>
            </a:r>
            <a:endParaRPr lang="en-GB" sz="1100" dirty="0"/>
          </a:p>
        </p:txBody>
      </p:sp>
      <p:sp>
        <p:nvSpPr>
          <p:cNvPr id="50" name="Checkov output"/>
          <p:cNvSpPr txBox="1"/>
          <p:nvPr/>
        </p:nvSpPr>
        <p:spPr>
          <a:xfrm>
            <a:off x="7360920" y="2587752"/>
            <a:ext cx="4099255" cy="384048"/>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Passed: 7 · Failed: 0 · Skipped: 0</a:t>
            </a:r>
            <a:endParaRPr lang="en-GB" sz="1200" dirty="0"/>
          </a:p>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No failed checks were reported.</a:t>
            </a:r>
            <a:endParaRPr lang="en-GB" sz="1200" dirty="0"/>
          </a:p>
        </p:txBody>
      </p:sp>
      <p:sp>
        <p:nvSpPr>
          <p:cNvPr id="51" name="tfsec evidence card"/>
          <p:cNvSpPr/>
          <p:nvPr/>
        </p:nvSpPr>
        <p:spPr>
          <a:xfrm>
            <a:off x="6675120" y="3172968"/>
            <a:ext cx="4967935" cy="1060704"/>
          </a:xfrm>
          <a:prstGeom prst="roundRect">
            <a:avLst>
              <a:gd name="adj" fmla="val 6897"/>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52" name="tfsec evidence circle"/>
          <p:cNvSpPr/>
          <p:nvPr/>
        </p:nvSpPr>
        <p:spPr>
          <a:xfrm>
            <a:off x="6839712" y="3319272"/>
            <a:ext cx="384048" cy="384048"/>
          </a:xfrm>
          <a:prstGeom prst="ellipse">
            <a:avLst/>
          </a:prstGeom>
          <a:solidFill>
            <a:schemeClr val="accent2"/>
          </a:solidFill>
          <a:ln w="12700">
            <a:solidFill>
              <a:schemeClr val="accent2"/>
            </a:solidFill>
            <a:prstDash val="solid"/>
          </a:ln>
        </p:spPr>
      </p:sp>
      <p:pic>
        <p:nvPicPr>
          <p:cNvPr id="53" name="tfsec evidence icon" descr="preencoded.png">    </p:cNvPr>
          <p:cNvPicPr>
            <a:picLocks noChangeAspect="1"/>
          </p:cNvPicPr>
          <p:nvPr/>
        </p:nvPicPr>
        <p:blipFill>
          <a:blip r:embed="rId9"/>
          <a:stretch>
            <a:fillRect/>
          </a:stretch>
        </p:blipFill>
        <p:spPr>
          <a:xfrm>
            <a:off x="6935724" y="3415284"/>
            <a:ext cx="192024" cy="192024"/>
          </a:xfrm>
          <a:prstGeom prst="rect">
            <a:avLst/>
          </a:prstGeom>
        </p:spPr>
      </p:pic>
      <p:sp>
        <p:nvSpPr>
          <p:cNvPr id="54" name="tfsec name"/>
          <p:cNvSpPr txBox="1"/>
          <p:nvPr/>
        </p:nvSpPr>
        <p:spPr>
          <a:xfrm>
            <a:off x="7360920" y="331927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tfsec</a:t>
            </a:r>
            <a:endParaRPr lang="en-GB" sz="1400" dirty="0"/>
          </a:p>
        </p:txBody>
      </p:sp>
      <p:sp>
        <p:nvSpPr>
          <p:cNvPr id="55" name="tfsec tag"/>
          <p:cNvSpPr/>
          <p:nvPr/>
        </p:nvSpPr>
        <p:spPr>
          <a:xfrm>
            <a:off x="10381183" y="3355848"/>
            <a:ext cx="1097280" cy="310896"/>
          </a:xfrm>
          <a:prstGeom prst="roundRect">
            <a:avLst>
              <a:gd name="adj" fmla="val 50000"/>
            </a:avLst>
          </a:prstGeom>
          <a:solidFill>
            <a:schemeClr val="accent4"/>
          </a:solidFill>
          <a:ln w="12700">
            <a:solidFill>
              <a:schemeClr val="accent4"/>
            </a:solidFill>
            <a:prstDash val="solid"/>
          </a:ln>
        </p:spPr>
      </p:sp>
      <p:sp>
        <p:nvSpPr>
          <p:cNvPr id="56" name="tfsec tag text"/>
          <p:cNvSpPr txBox="1"/>
          <p:nvPr/>
        </p:nvSpPr>
        <p:spPr>
          <a:xfrm>
            <a:off x="10381183" y="335584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DETECTED</a:t>
            </a:r>
            <a:endParaRPr lang="en-GB" sz="1100" dirty="0"/>
          </a:p>
        </p:txBody>
      </p:sp>
      <p:sp>
        <p:nvSpPr>
          <p:cNvPr id="57" name="tfsec output"/>
          <p:cNvSpPr txBox="1"/>
          <p:nvPr/>
        </p:nvSpPr>
        <p:spPr>
          <a:xfrm>
            <a:off x="7360920" y="3776472"/>
            <a:ext cx="4099255" cy="384048"/>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CRITICAL · AVD-AZU-0047 — Security group rule allows ingress from public internet.</a:t>
            </a:r>
            <a:endParaRPr lang="en-GB" sz="1200" dirty="0"/>
          </a:p>
        </p:txBody>
      </p:sp>
      <p:sp>
        <p:nvSpPr>
          <p:cNvPr id="58" name="AI reviewer evidence card"/>
          <p:cNvSpPr/>
          <p:nvPr/>
        </p:nvSpPr>
        <p:spPr>
          <a:xfrm>
            <a:off x="6675120" y="4361688"/>
            <a:ext cx="4967935" cy="1463040"/>
          </a:xfrm>
          <a:prstGeom prst="roundRect">
            <a:avLst>
              <a:gd name="adj" fmla="val 5000"/>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59" name="AI reviewer evidence circle"/>
          <p:cNvSpPr/>
          <p:nvPr/>
        </p:nvSpPr>
        <p:spPr>
          <a:xfrm>
            <a:off x="6839712" y="4507992"/>
            <a:ext cx="384048" cy="384048"/>
          </a:xfrm>
          <a:prstGeom prst="ellipse">
            <a:avLst/>
          </a:prstGeom>
          <a:solidFill>
            <a:schemeClr val="accent1"/>
          </a:solidFill>
          <a:ln w="12700">
            <a:solidFill>
              <a:schemeClr val="accent1"/>
            </a:solidFill>
            <a:prstDash val="solid"/>
          </a:ln>
        </p:spPr>
      </p:sp>
      <p:pic>
        <p:nvPicPr>
          <p:cNvPr id="60" name="AI reviewer evidence icon" descr="preencoded.png">    </p:cNvPr>
          <p:cNvPicPr>
            <a:picLocks noChangeAspect="1"/>
          </p:cNvPicPr>
          <p:nvPr/>
        </p:nvPicPr>
        <p:blipFill>
          <a:blip r:embed="rId10"/>
          <a:stretch>
            <a:fillRect/>
          </a:stretch>
        </p:blipFill>
        <p:spPr>
          <a:xfrm>
            <a:off x="6935724" y="4604004"/>
            <a:ext cx="192024" cy="192024"/>
          </a:xfrm>
          <a:prstGeom prst="rect">
            <a:avLst/>
          </a:prstGeom>
        </p:spPr>
      </p:pic>
      <p:sp>
        <p:nvSpPr>
          <p:cNvPr id="61" name="AI reviewer name"/>
          <p:cNvSpPr txBox="1"/>
          <p:nvPr/>
        </p:nvSpPr>
        <p:spPr>
          <a:xfrm>
            <a:off x="7360920" y="450799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AI reviewer</a:t>
            </a:r>
            <a:endParaRPr lang="en-GB" sz="1400" dirty="0"/>
          </a:p>
        </p:txBody>
      </p:sp>
      <p:sp>
        <p:nvSpPr>
          <p:cNvPr id="62" name="AI reviewer tag"/>
          <p:cNvSpPr/>
          <p:nvPr/>
        </p:nvSpPr>
        <p:spPr>
          <a:xfrm>
            <a:off x="10381183" y="4544568"/>
            <a:ext cx="1097280" cy="310896"/>
          </a:xfrm>
          <a:prstGeom prst="roundRect">
            <a:avLst>
              <a:gd name="adj" fmla="val 50000"/>
            </a:avLst>
          </a:prstGeom>
          <a:solidFill>
            <a:schemeClr val="accent4"/>
          </a:solidFill>
          <a:ln w="12700">
            <a:solidFill>
              <a:schemeClr val="accent4"/>
            </a:solidFill>
            <a:prstDash val="solid"/>
          </a:ln>
        </p:spPr>
      </p:sp>
      <p:sp>
        <p:nvSpPr>
          <p:cNvPr id="63" name="AI reviewer tag text"/>
          <p:cNvSpPr txBox="1"/>
          <p:nvPr/>
        </p:nvSpPr>
        <p:spPr>
          <a:xfrm>
            <a:off x="10381183" y="454456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DETECTED</a:t>
            </a:r>
            <a:endParaRPr lang="en-GB" sz="1100" dirty="0"/>
          </a:p>
        </p:txBody>
      </p:sp>
      <p:sp>
        <p:nvSpPr>
          <p:cNvPr id="64" name="AI reviewer output"/>
          <p:cNvSpPr txBox="1"/>
          <p:nvPr/>
        </p:nvSpPr>
        <p:spPr>
          <a:xfrm>
            <a:off x="7360920" y="4965192"/>
            <a:ext cx="4099255" cy="786384"/>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HIGH · SECURITY_VULNERABILITY · Unrestricted inbound SSH access permitted from any source address</a:t>
            </a:r>
            <a:endParaRPr lang="en-GB" sz="1200" dirty="0"/>
          </a:p>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70/100 — MEDIUM — APPROVE_WITH_COMMENTS</a:t>
            </a:r>
            <a:endParaRPr lang="en-GB" sz="1200" dirty="0"/>
          </a:p>
        </p:txBody>
      </p:sp>
      <p:sp>
        <p:nvSpPr>
          <p:cNvPr id="65" name="Evidence source"/>
          <p:cNvSpPr txBox="1"/>
          <p:nvPr/>
        </p:nvSpPr>
        <p:spPr>
          <a:xfrm>
            <a:off x="6675120" y="5971032"/>
            <a:ext cx="4967935" cy="274320"/>
          </a:xfrm>
          <a:prstGeom prst="rect">
            <a:avLst/>
          </a:prstGeom>
          <a:noFill/>
          <a:ln/>
        </p:spPr>
        <p:txBody>
          <a:bodyPr wrap="square" lIns="0" tIns="0" rIns="0" bIns="0" rtlCol="0" anchor="t"/>
          <a:lstStyle/>
          <a:p>
            <a:pPr indent="0" marL="0">
              <a:buNone/>
            </a:pPr>
            <a:r>
              <a:rPr lang="en-GB" altLang="en-US" sz="1100" dirty="0">
                <a:solidFill>
                  <a:schemeClr val="accent6"/>
                </a:solidFill>
              </a:rPr>
              <a:t>Dissertation Figure 4.2 · github.com/abdulwaheed384/ai-pr-review</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4</a:t>
            </a:fld>
            <a:endParaRPr lang="en-GB"/>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How I tested it: fixed ground truth, repeated runs</a:t>
            </a:r>
            <a:endParaRPr lang="en-GB" sz="3600" dirty="0"/>
          </a:p>
        </p:txBody>
      </p:sp>
      <p:sp>
        <p:nvSpPr>
          <p:cNvPr id="3" name="Step 1"/>
          <p:cNvSpPr/>
          <p:nvPr/>
        </p:nvSpPr>
        <p:spPr>
          <a:xfrm>
            <a:off x="548640" y="1325880"/>
            <a:ext cx="2072579" cy="1783080"/>
          </a:xfrm>
          <a:prstGeom prst="roundRect">
            <a:avLst>
              <a:gd name="adj" fmla="val 4103"/>
            </a:avLst>
          </a:prstGeom>
          <a:solidFill>
            <a:schemeClr val="bg2"/>
          </a:solidFill>
          <a:ln w="12700">
            <a:solidFill>
              <a:schemeClr val="bg2"/>
            </a:solidFill>
            <a:prstDash val="solid"/>
          </a:ln>
        </p:spPr>
      </p:sp>
      <p:sp>
        <p:nvSpPr>
          <p:cNvPr id="4" name="Define circle"/>
          <p:cNvSpPr/>
          <p:nvPr/>
        </p:nvSpPr>
        <p:spPr>
          <a:xfrm>
            <a:off x="731520" y="1481328"/>
            <a:ext cx="457200" cy="457200"/>
          </a:xfrm>
          <a:prstGeom prst="ellipse">
            <a:avLst/>
          </a:prstGeom>
          <a:solidFill>
            <a:schemeClr val="accent2"/>
          </a:solidFill>
          <a:ln w="12700">
            <a:solidFill>
              <a:schemeClr val="accent2"/>
            </a:solidFill>
            <a:prstDash val="solid"/>
          </a:ln>
        </p:spPr>
      </p:sp>
      <p:pic>
        <p:nvPicPr>
          <p:cNvPr id="5" name="Define icon" descr="preencoded.png">    </p:cNvPr>
          <p:cNvPicPr>
            <a:picLocks noChangeAspect="1"/>
          </p:cNvPicPr>
          <p:nvPr/>
        </p:nvPicPr>
        <p:blipFill>
          <a:blip r:embed="rId1"/>
          <a:stretch>
            <a:fillRect/>
          </a:stretch>
        </p:blipFill>
        <p:spPr>
          <a:xfrm>
            <a:off x="845820" y="1595628"/>
            <a:ext cx="228600" cy="228600"/>
          </a:xfrm>
          <a:prstGeom prst="rect">
            <a:avLst/>
          </a:prstGeom>
        </p:spPr>
      </p:pic>
      <p:sp>
        <p:nvSpPr>
          <p:cNvPr id="6" name="Step number 1"/>
          <p:cNvSpPr txBox="1"/>
          <p:nvPr/>
        </p:nvSpPr>
        <p:spPr>
          <a:xfrm>
            <a:off x="2118299"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1</a:t>
            </a:r>
            <a:endParaRPr lang="en-GB" sz="2600" dirty="0"/>
          </a:p>
        </p:txBody>
      </p:sp>
      <p:sp>
        <p:nvSpPr>
          <p:cNvPr id="7" name="Step text 1"/>
          <p:cNvSpPr txBox="1"/>
          <p:nvPr/>
        </p:nvSpPr>
        <p:spPr>
          <a:xfrm>
            <a:off x="731520"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Define</a:t>
            </a:r>
            <a:endParaRPr lang="en-GB" sz="1400" dirty="0"/>
          </a:p>
          <a:p>
            <a:pPr indent="0" marL="0">
              <a:spcAft>
                <a:spcPts val="200"/>
              </a:spcAft>
              <a:buNone/>
            </a:pPr>
            <a:r>
              <a:rPr lang="en-GB" altLang="en-US" sz="1400" dirty="0">
                <a:solidFill>
                  <a:schemeClr val="tx1"/>
                </a:solidFill>
              </a:rPr>
              <a:t>15 Terraform cases; ground truth fixed before any run</a:t>
            </a:r>
            <a:endParaRPr lang="en-GB" sz="1400" dirty="0"/>
          </a:p>
        </p:txBody>
      </p:sp>
      <p:sp>
        <p:nvSpPr>
          <p:cNvPr id="8" name="Step 2"/>
          <p:cNvSpPr/>
          <p:nvPr/>
        </p:nvSpPr>
        <p:spPr>
          <a:xfrm>
            <a:off x="2804099" y="1325880"/>
            <a:ext cx="2072579" cy="1783080"/>
          </a:xfrm>
          <a:prstGeom prst="roundRect">
            <a:avLst>
              <a:gd name="adj" fmla="val 4103"/>
            </a:avLst>
          </a:prstGeom>
          <a:solidFill>
            <a:schemeClr val="bg2"/>
          </a:solidFill>
          <a:ln w="12700">
            <a:solidFill>
              <a:schemeClr val="bg2"/>
            </a:solidFill>
            <a:prstDash val="solid"/>
          </a:ln>
        </p:spPr>
      </p:sp>
      <p:sp>
        <p:nvSpPr>
          <p:cNvPr id="9" name="Run circle"/>
          <p:cNvSpPr/>
          <p:nvPr/>
        </p:nvSpPr>
        <p:spPr>
          <a:xfrm>
            <a:off x="2986979" y="1481328"/>
            <a:ext cx="457200" cy="457200"/>
          </a:xfrm>
          <a:prstGeom prst="ellipse">
            <a:avLst/>
          </a:prstGeom>
          <a:solidFill>
            <a:schemeClr val="accent2"/>
          </a:solidFill>
          <a:ln w="12700">
            <a:solidFill>
              <a:schemeClr val="accent2"/>
            </a:solidFill>
            <a:prstDash val="solid"/>
          </a:ln>
        </p:spPr>
      </p:sp>
      <p:pic>
        <p:nvPicPr>
          <p:cNvPr id="10" name="Run icon" descr="preencoded.png">    </p:cNvPr>
          <p:cNvPicPr>
            <a:picLocks noChangeAspect="1"/>
          </p:cNvPicPr>
          <p:nvPr/>
        </p:nvPicPr>
        <p:blipFill>
          <a:blip r:embed="rId2"/>
          <a:stretch>
            <a:fillRect/>
          </a:stretch>
        </p:blipFill>
        <p:spPr>
          <a:xfrm>
            <a:off x="3101279" y="1595628"/>
            <a:ext cx="228600" cy="228600"/>
          </a:xfrm>
          <a:prstGeom prst="rect">
            <a:avLst/>
          </a:prstGeom>
        </p:spPr>
      </p:pic>
      <p:sp>
        <p:nvSpPr>
          <p:cNvPr id="11" name="Step number 2"/>
          <p:cNvSpPr txBox="1"/>
          <p:nvPr/>
        </p:nvSpPr>
        <p:spPr>
          <a:xfrm>
            <a:off x="4373758"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2</a:t>
            </a:r>
            <a:endParaRPr lang="en-GB" sz="2600" dirty="0"/>
          </a:p>
        </p:txBody>
      </p:sp>
      <p:sp>
        <p:nvSpPr>
          <p:cNvPr id="12" name="Step text 2"/>
          <p:cNvSpPr txBox="1"/>
          <p:nvPr/>
        </p:nvSpPr>
        <p:spPr>
          <a:xfrm>
            <a:off x="2986979"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Run</a:t>
            </a:r>
            <a:endParaRPr lang="en-GB" sz="1400" dirty="0"/>
          </a:p>
          <a:p>
            <a:pPr indent="0" marL="0">
              <a:spcAft>
                <a:spcPts val="200"/>
              </a:spcAft>
              <a:buNone/>
            </a:pPr>
            <a:r>
              <a:rPr lang="en-GB" altLang="en-US" sz="1400" dirty="0">
                <a:solidFill>
                  <a:schemeClr val="tx1"/>
                </a:solidFill>
              </a:rPr>
              <a:t>Each case as a pull request, then twice more: 46 runs</a:t>
            </a:r>
            <a:endParaRPr lang="en-GB" sz="1400" dirty="0"/>
          </a:p>
        </p:txBody>
      </p:sp>
      <p:sp>
        <p:nvSpPr>
          <p:cNvPr id="13" name="Step 3"/>
          <p:cNvSpPr/>
          <p:nvPr/>
        </p:nvSpPr>
        <p:spPr>
          <a:xfrm>
            <a:off x="5059558" y="1325880"/>
            <a:ext cx="2072579" cy="1783080"/>
          </a:xfrm>
          <a:prstGeom prst="roundRect">
            <a:avLst>
              <a:gd name="adj" fmla="val 4103"/>
            </a:avLst>
          </a:prstGeom>
          <a:solidFill>
            <a:schemeClr val="bg2"/>
          </a:solidFill>
          <a:ln w="12700">
            <a:solidFill>
              <a:schemeClr val="bg2"/>
            </a:solidFill>
            <a:prstDash val="solid"/>
          </a:ln>
        </p:spPr>
      </p:sp>
      <p:sp>
        <p:nvSpPr>
          <p:cNvPr id="14" name="Classify circle"/>
          <p:cNvSpPr/>
          <p:nvPr/>
        </p:nvSpPr>
        <p:spPr>
          <a:xfrm>
            <a:off x="5242438" y="1481328"/>
            <a:ext cx="457200" cy="457200"/>
          </a:xfrm>
          <a:prstGeom prst="ellipse">
            <a:avLst/>
          </a:prstGeom>
          <a:solidFill>
            <a:schemeClr val="accent2"/>
          </a:solidFill>
          <a:ln w="12700">
            <a:solidFill>
              <a:schemeClr val="accent2"/>
            </a:solidFill>
            <a:prstDash val="solid"/>
          </a:ln>
        </p:spPr>
      </p:sp>
      <p:pic>
        <p:nvPicPr>
          <p:cNvPr id="15" name="Classify icon" descr="preencoded.png">    </p:cNvPr>
          <p:cNvPicPr>
            <a:picLocks noChangeAspect="1"/>
          </p:cNvPicPr>
          <p:nvPr/>
        </p:nvPicPr>
        <p:blipFill>
          <a:blip r:embed="rId3"/>
          <a:stretch>
            <a:fillRect/>
          </a:stretch>
        </p:blipFill>
        <p:spPr>
          <a:xfrm>
            <a:off x="5356738" y="1595628"/>
            <a:ext cx="228600" cy="228600"/>
          </a:xfrm>
          <a:prstGeom prst="rect">
            <a:avLst/>
          </a:prstGeom>
        </p:spPr>
      </p:pic>
      <p:sp>
        <p:nvSpPr>
          <p:cNvPr id="16" name="Step number 3"/>
          <p:cNvSpPr txBox="1"/>
          <p:nvPr/>
        </p:nvSpPr>
        <p:spPr>
          <a:xfrm>
            <a:off x="6629217"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3</a:t>
            </a:r>
            <a:endParaRPr lang="en-GB" sz="2600" dirty="0"/>
          </a:p>
        </p:txBody>
      </p:sp>
      <p:sp>
        <p:nvSpPr>
          <p:cNvPr id="17" name="Step text 3"/>
          <p:cNvSpPr txBox="1"/>
          <p:nvPr/>
        </p:nvSpPr>
        <p:spPr>
          <a:xfrm>
            <a:off x="5242438"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Classify</a:t>
            </a:r>
            <a:endParaRPr lang="en-GB" sz="1400" dirty="0"/>
          </a:p>
          <a:p>
            <a:pPr indent="0" marL="0">
              <a:spcAft>
                <a:spcPts val="200"/>
              </a:spcAft>
              <a:buNone/>
            </a:pPr>
            <a:r>
              <a:rPr lang="en-GB" altLang="en-US" sz="1400" dirty="0">
                <a:solidFill>
                  <a:schemeClr val="tx1"/>
                </a:solidFill>
              </a:rPr>
              <a:t>Every output checked against the ground truth</a:t>
            </a:r>
            <a:endParaRPr lang="en-GB" sz="1400" dirty="0"/>
          </a:p>
        </p:txBody>
      </p:sp>
      <p:sp>
        <p:nvSpPr>
          <p:cNvPr id="18" name="Step 4"/>
          <p:cNvSpPr/>
          <p:nvPr/>
        </p:nvSpPr>
        <p:spPr>
          <a:xfrm>
            <a:off x="7315017" y="1325880"/>
            <a:ext cx="2072579" cy="1783080"/>
          </a:xfrm>
          <a:prstGeom prst="roundRect">
            <a:avLst>
              <a:gd name="adj" fmla="val 4103"/>
            </a:avLst>
          </a:prstGeom>
          <a:solidFill>
            <a:schemeClr val="bg2"/>
          </a:solidFill>
          <a:ln w="12700">
            <a:solidFill>
              <a:schemeClr val="bg2"/>
            </a:solidFill>
            <a:prstDash val="solid"/>
          </a:ln>
        </p:spPr>
      </p:sp>
      <p:sp>
        <p:nvSpPr>
          <p:cNvPr id="19" name="Score circle"/>
          <p:cNvSpPr/>
          <p:nvPr/>
        </p:nvSpPr>
        <p:spPr>
          <a:xfrm>
            <a:off x="7497897" y="1481328"/>
            <a:ext cx="457200" cy="457200"/>
          </a:xfrm>
          <a:prstGeom prst="ellipse">
            <a:avLst/>
          </a:prstGeom>
          <a:solidFill>
            <a:schemeClr val="accent2"/>
          </a:solidFill>
          <a:ln w="12700">
            <a:solidFill>
              <a:schemeClr val="accent2"/>
            </a:solidFill>
            <a:prstDash val="solid"/>
          </a:ln>
        </p:spPr>
      </p:sp>
      <p:pic>
        <p:nvPicPr>
          <p:cNvPr id="20" name="Score icon" descr="preencoded.png">    </p:cNvPr>
          <p:cNvPicPr>
            <a:picLocks noChangeAspect="1"/>
          </p:cNvPicPr>
          <p:nvPr/>
        </p:nvPicPr>
        <p:blipFill>
          <a:blip r:embed="rId4"/>
          <a:stretch>
            <a:fillRect/>
          </a:stretch>
        </p:blipFill>
        <p:spPr>
          <a:xfrm>
            <a:off x="7612197" y="1595628"/>
            <a:ext cx="228600" cy="228600"/>
          </a:xfrm>
          <a:prstGeom prst="rect">
            <a:avLst/>
          </a:prstGeom>
        </p:spPr>
      </p:pic>
      <p:sp>
        <p:nvSpPr>
          <p:cNvPr id="21" name="Step number 4"/>
          <p:cNvSpPr txBox="1"/>
          <p:nvPr/>
        </p:nvSpPr>
        <p:spPr>
          <a:xfrm>
            <a:off x="8884676"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4</a:t>
            </a:r>
            <a:endParaRPr lang="en-GB" sz="2600" dirty="0"/>
          </a:p>
        </p:txBody>
      </p:sp>
      <p:sp>
        <p:nvSpPr>
          <p:cNvPr id="22" name="Step text 4"/>
          <p:cNvSpPr txBox="1"/>
          <p:nvPr/>
        </p:nvSpPr>
        <p:spPr>
          <a:xfrm>
            <a:off x="7497897"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Score</a:t>
            </a:r>
            <a:endParaRPr lang="en-GB" sz="1400" dirty="0"/>
          </a:p>
          <a:p>
            <a:pPr indent="0" marL="0">
              <a:spcAft>
                <a:spcPts val="200"/>
              </a:spcAft>
              <a:buNone/>
            </a:pPr>
            <a:r>
              <a:rPr lang="en-GB" altLang="en-US" sz="1400" dirty="0">
                <a:solidFill>
                  <a:schemeClr val="tx1"/>
                </a:solidFill>
              </a:rPr>
              <a:t>AI output scored 0–2 on six dimensions fixed in advance</a:t>
            </a:r>
            <a:endParaRPr lang="en-GB" sz="1400" dirty="0"/>
          </a:p>
        </p:txBody>
      </p:sp>
      <p:sp>
        <p:nvSpPr>
          <p:cNvPr id="23" name="Step 5"/>
          <p:cNvSpPr/>
          <p:nvPr/>
        </p:nvSpPr>
        <p:spPr>
          <a:xfrm>
            <a:off x="9570476" y="1325880"/>
            <a:ext cx="2072579" cy="1783080"/>
          </a:xfrm>
          <a:prstGeom prst="roundRect">
            <a:avLst>
              <a:gd name="adj" fmla="val 4103"/>
            </a:avLst>
          </a:prstGeom>
          <a:solidFill>
            <a:schemeClr val="bg2"/>
          </a:solidFill>
          <a:ln w="12700">
            <a:solidFill>
              <a:schemeClr val="bg2"/>
            </a:solidFill>
            <a:prstDash val="solid"/>
          </a:ln>
        </p:spPr>
      </p:sp>
      <p:sp>
        <p:nvSpPr>
          <p:cNvPr id="24" name="Re-test circle"/>
          <p:cNvSpPr/>
          <p:nvPr/>
        </p:nvSpPr>
        <p:spPr>
          <a:xfrm>
            <a:off x="9753356" y="1481328"/>
            <a:ext cx="457200" cy="457200"/>
          </a:xfrm>
          <a:prstGeom prst="ellipse">
            <a:avLst/>
          </a:prstGeom>
          <a:solidFill>
            <a:schemeClr val="accent1"/>
          </a:solidFill>
          <a:ln w="12700">
            <a:solidFill>
              <a:schemeClr val="accent1"/>
            </a:solidFill>
            <a:prstDash val="solid"/>
          </a:ln>
        </p:spPr>
      </p:sp>
      <p:pic>
        <p:nvPicPr>
          <p:cNvPr id="25" name="Re-test icon" descr="preencoded.png">    </p:cNvPr>
          <p:cNvPicPr>
            <a:picLocks noChangeAspect="1"/>
          </p:cNvPicPr>
          <p:nvPr/>
        </p:nvPicPr>
        <p:blipFill>
          <a:blip r:embed="rId5"/>
          <a:stretch>
            <a:fillRect/>
          </a:stretch>
        </p:blipFill>
        <p:spPr>
          <a:xfrm>
            <a:off x="9867656" y="1595628"/>
            <a:ext cx="228600" cy="228600"/>
          </a:xfrm>
          <a:prstGeom prst="rect">
            <a:avLst/>
          </a:prstGeom>
        </p:spPr>
      </p:pic>
      <p:sp>
        <p:nvSpPr>
          <p:cNvPr id="26" name="Step number 5"/>
          <p:cNvSpPr txBox="1"/>
          <p:nvPr/>
        </p:nvSpPr>
        <p:spPr>
          <a:xfrm>
            <a:off x="11140135"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5</a:t>
            </a:r>
            <a:endParaRPr lang="en-GB" sz="2600" dirty="0"/>
          </a:p>
        </p:txBody>
      </p:sp>
      <p:sp>
        <p:nvSpPr>
          <p:cNvPr id="27" name="Step text 5"/>
          <p:cNvSpPr txBox="1"/>
          <p:nvPr/>
        </p:nvSpPr>
        <p:spPr>
          <a:xfrm>
            <a:off x="9753356"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Re-test</a:t>
            </a:r>
            <a:endParaRPr lang="en-GB" sz="1400" dirty="0"/>
          </a:p>
          <a:p>
            <a:pPr indent="0" marL="0">
              <a:spcAft>
                <a:spcPts val="200"/>
              </a:spcAft>
              <a:buNone/>
            </a:pPr>
            <a:r>
              <a:rPr lang="en-GB" altLang="en-US" sz="1400" dirty="0">
                <a:solidFill>
                  <a:schemeClr val="tx1"/>
                </a:solidFill>
              </a:rPr>
              <a:t>AI’s 12 fixes applied; validate, scanners and AI re-run</a:t>
            </a:r>
            <a:endParaRPr lang="en-GB" sz="1400" dirty="0"/>
          </a:p>
        </p:txBody>
      </p:sp>
      <p:graphicFrame>
        <p:nvGraphicFramePr>
          <p:cNvPr id="6" name="Test case table"/>
          <p:cNvGraphicFramePr>
            <a:graphicFrameLocks noGrp="1"/>
          </p:cNvGraphicFramePr>
          <p:nvPr>
            <p:extLst>
              <p:ext uri="{D42A27DB-BD31-4B8C-83A1-F6EECF244321}">
                <p14:modId xmlns:p14="http://schemas.microsoft.com/office/powerpoint/2010/main" val="1579011935"/>
              </p:ext>
            </p:extLst>
          </p:nvPr>
        </p:nvGraphicFramePr>
        <p:xfrm>
          <a:off x="548640" y="3337560"/>
          <a:ext cx="6812280" cy="914400"/>
        </p:xfrm>
        <a:graphic>
          <a:graphicData uri="http://schemas.openxmlformats.org/drawingml/2006/table">
            <a:tbl>
              <a:tblPr/>
              <a:tblGrid>
                <a:gridCol w="1691640"/>
                <a:gridCol w="5120640"/>
              </a:tblGrid>
              <a:tr h="329184">
                <a:tc>
                  <a:txBody>
                    <a:bodyPr/>
                    <a:lstStyle/>
                    <a:p>
                      <a:pPr indent="0" marL="0">
                        <a:buNone/>
                      </a:pPr>
                      <a:r>
                        <a:rPr lang="en-GB" altLang="en-US" sz="1300" b="1" dirty="0">
                          <a:solidFill>
                            <a:schemeClr val="bg1"/>
                          </a:solidFill>
                        </a:rPr>
                        <a:t>Category</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c>
                  <a:txBody>
                    <a:bodyPr/>
                    <a:lstStyle/>
                    <a:p>
                      <a:pPr indent="0" marL="0">
                        <a:buNone/>
                      </a:pPr>
                      <a:r>
                        <a:rPr lang="en-GB" altLang="en-US" sz="1300" b="1" dirty="0">
                          <a:solidFill>
                            <a:schemeClr val="bg1"/>
                          </a:solidFill>
                        </a:rPr>
                        <a:t>15 test cases: 12 vulnerable, 3 acceptable</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r>
              <a:tr h="475488">
                <a:tc>
                  <a:txBody>
                    <a:bodyPr/>
                    <a:lstStyle/>
                    <a:p>
                      <a:pPr indent="0" marL="0">
                        <a:buNone/>
                      </a:pPr>
                      <a:r>
                        <a:rPr lang="en-GB" altLang="en-US" sz="1300" b="1" dirty="0">
                          <a:solidFill>
                            <a:schemeClr val="tx2"/>
                          </a:solidFill>
                        </a:rPr>
                        <a:t>Network</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TC02–TC04 SSH, RDP, HTTP open to the internet · TC05 NSG not attached · TC06 public DNS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329184">
                <a:tc>
                  <a:txBody>
                    <a:bodyPr/>
                    <a:lstStyle/>
                    <a:p>
                      <a:pPr indent="0" marL="0">
                        <a:buNone/>
                      </a:pPr>
                      <a:r>
                        <a:rPr lang="en-GB" altLang="en-US" sz="1300" b="1" dirty="0">
                          <a:solidFill>
                            <a:schemeClr val="tx2"/>
                          </a:solidFill>
                        </a:rPr>
                        <a:t>Encryption, logging</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300" dirty="0">
                          <a:solidFill>
                            <a:schemeClr val="tx1"/>
                          </a:solidFill>
                        </a:rPr>
                        <a:t>TC07 TLS 1.0 storage · TC08 NSG diagnostics removed</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329184">
                <a:tc>
                  <a:txBody>
                    <a:bodyPr/>
                    <a:lstStyle/>
                    <a:p>
                      <a:pPr indent="0" marL="0">
                        <a:buNone/>
                      </a:pPr>
                      <a:r>
                        <a:rPr lang="en-GB" altLang="en-US" sz="1300" b="1" dirty="0">
                          <a:solidFill>
                            <a:schemeClr val="tx2"/>
                          </a:solidFill>
                        </a:rPr>
                        <a:t>Secrets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TC09 credential in an unused local · TC15 password default</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475488">
                <a:tc>
                  <a:txBody>
                    <a:bodyPr/>
                    <a:lstStyle/>
                    <a:p>
                      <a:pPr indent="0" marL="0">
                        <a:buNone/>
                      </a:pPr>
                      <a:r>
                        <a:rPr lang="en-GB" altLang="en-US" sz="1300" b="1" dirty="0">
                          <a:solidFill>
                            <a:schemeClr val="tx2"/>
                          </a:solidFill>
                        </a:rPr>
                        <a:t>Identity</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300" dirty="0">
                          <a:solidFill>
                            <a:schemeClr val="tx1"/>
                          </a:solidFill>
                        </a:rPr>
                        <a:t>TC10 wildcard role · TC11 wildcard vs documented needs · TC13 Contributor vs Reader</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475488">
                <a:tc>
                  <a:txBody>
                    <a:bodyPr/>
                    <a:lstStyle/>
                    <a:p>
                      <a:pPr indent="0" marL="0">
                        <a:buNone/>
                      </a:pPr>
                      <a:r>
                        <a:rPr lang="en-GB" altLang="en-US" sz="1300" b="1" dirty="0">
                          <a:solidFill>
                            <a:schemeClr val="accent4"/>
                          </a:solidFill>
                        </a:rPr>
                        <a:t>Acceptable</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TC01 secure baseline · TC12 intended public HTTPS · TC14 SSH from one address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bl>
          </a:graphicData>
        </a:graphic>
      </p:graphicFrame>
      <p:sp>
        <p:nvSpPr>
          <p:cNvPr id="29" name="Independence check card"/>
          <p:cNvSpPr/>
          <p:nvPr/>
        </p:nvSpPr>
        <p:spPr>
          <a:xfrm>
            <a:off x="7635240" y="3337560"/>
            <a:ext cx="4007815" cy="1481328"/>
          </a:xfrm>
          <a:prstGeom prst="roundRect">
            <a:avLst>
              <a:gd name="adj" fmla="val 4938"/>
            </a:avLst>
          </a:prstGeom>
          <a:solidFill>
            <a:schemeClr val="tx2"/>
          </a:solidFill>
          <a:ln w="12700">
            <a:solidFill>
              <a:schemeClr val="tx2"/>
            </a:solidFill>
            <a:prstDash val="solid"/>
          </a:ln>
        </p:spPr>
      </p:sp>
      <p:sp>
        <p:nvSpPr>
          <p:cNvPr id="30" name="Independence check circle"/>
          <p:cNvSpPr/>
          <p:nvPr/>
        </p:nvSpPr>
        <p:spPr>
          <a:xfrm>
            <a:off x="7836408" y="3538728"/>
            <a:ext cx="457200" cy="457200"/>
          </a:xfrm>
          <a:prstGeom prst="ellipse">
            <a:avLst/>
          </a:prstGeom>
          <a:solidFill>
            <a:schemeClr val="accent1"/>
          </a:solidFill>
          <a:ln w="12700">
            <a:solidFill>
              <a:schemeClr val="accent1"/>
            </a:solidFill>
            <a:prstDash val="solid"/>
          </a:ln>
        </p:spPr>
      </p:sp>
      <p:pic>
        <p:nvPicPr>
          <p:cNvPr id="31" name="Independence check icon" descr="preencoded.png">    </p:cNvPr>
          <p:cNvPicPr>
            <a:picLocks noChangeAspect="1"/>
          </p:cNvPicPr>
          <p:nvPr/>
        </p:nvPicPr>
        <p:blipFill>
          <a:blip r:embed="rId6"/>
          <a:stretch>
            <a:fillRect/>
          </a:stretch>
        </p:blipFill>
        <p:spPr>
          <a:xfrm>
            <a:off x="7950708" y="3653028"/>
            <a:ext cx="228600" cy="228600"/>
          </a:xfrm>
          <a:prstGeom prst="rect">
            <a:avLst/>
          </a:prstGeom>
        </p:spPr>
      </p:pic>
      <p:sp>
        <p:nvSpPr>
          <p:cNvPr id="32" name="Independence check text"/>
          <p:cNvSpPr txBox="1"/>
          <p:nvPr/>
        </p:nvSpPr>
        <p:spPr>
          <a:xfrm>
            <a:off x="8476488" y="3502152"/>
            <a:ext cx="3001975" cy="1207008"/>
          </a:xfrm>
          <a:prstGeom prst="rect">
            <a:avLst/>
          </a:prstGeom>
          <a:noFill/>
          <a:ln/>
        </p:spPr>
        <p:txBody>
          <a:bodyPr wrap="square" lIns="0" tIns="0" rIns="0" bIns="0" rtlCol="0" anchor="t"/>
          <a:lstStyle/>
          <a:p>
            <a:pPr indent="0" marL="0">
              <a:spcAft>
                <a:spcPts val="300"/>
              </a:spcAft>
              <a:buNone/>
            </a:pPr>
            <a:r>
              <a:rPr lang="en-GB" altLang="en-US" sz="1600" b="1" dirty="0">
                <a:solidFill>
                  <a:schemeClr val="bg1"/>
                </a:solidFill>
              </a:rPr>
              <a:t>Independence check</a:t>
            </a:r>
            <a:endParaRPr lang="en-GB" sz="1400" dirty="0"/>
          </a:p>
          <a:p>
            <a:pPr indent="0" marL="0">
              <a:spcAft>
                <a:spcPts val="300"/>
              </a:spcAft>
              <a:buNone/>
            </a:pPr>
            <a:r>
              <a:rPr lang="en-GB" altLang="en-US" sz="1400" dirty="0">
                <a:solidFill>
                  <a:schemeClr val="bg1"/>
                </a:solidFill>
              </a:rPr>
              <a:t>Early AI runs saw scanner findings in their prompt. I fixed the workflow (PR #69), reran every case and checked all 46 runs’ metadata.</a:t>
            </a:r>
            <a:endParaRPr lang="en-GB" sz="1400" dirty="0"/>
          </a:p>
        </p:txBody>
      </p:sp>
      <p:sp>
        <p:nvSpPr>
          <p:cNvPr id="33" name="Ethics card"/>
          <p:cNvSpPr/>
          <p:nvPr/>
        </p:nvSpPr>
        <p:spPr>
          <a:xfrm>
            <a:off x="7635240" y="4983480"/>
            <a:ext cx="4007815" cy="1051560"/>
          </a:xfrm>
          <a:prstGeom prst="roundRect">
            <a:avLst>
              <a:gd name="adj" fmla="val 6957"/>
            </a:avLst>
          </a:prstGeom>
          <a:solidFill>
            <a:schemeClr val="bg2"/>
          </a:solidFill>
          <a:ln w="12700">
            <a:solidFill>
              <a:schemeClr val="bg2"/>
            </a:solidFill>
            <a:prstDash val="solid"/>
          </a:ln>
        </p:spPr>
      </p:sp>
      <p:sp>
        <p:nvSpPr>
          <p:cNvPr id="34" name="Ethics circle"/>
          <p:cNvSpPr/>
          <p:nvPr/>
        </p:nvSpPr>
        <p:spPr>
          <a:xfrm>
            <a:off x="7836408" y="5184648"/>
            <a:ext cx="457200" cy="457200"/>
          </a:xfrm>
          <a:prstGeom prst="ellipse">
            <a:avLst/>
          </a:prstGeom>
          <a:solidFill>
            <a:schemeClr val="accent4"/>
          </a:solidFill>
          <a:ln w="12700">
            <a:solidFill>
              <a:schemeClr val="accent4"/>
            </a:solidFill>
            <a:prstDash val="solid"/>
          </a:ln>
        </p:spPr>
      </p:sp>
      <p:pic>
        <p:nvPicPr>
          <p:cNvPr id="35" name="Ethics icon" descr="preencoded.png">    </p:cNvPr>
          <p:cNvPicPr>
            <a:picLocks noChangeAspect="1"/>
          </p:cNvPicPr>
          <p:nvPr/>
        </p:nvPicPr>
        <p:blipFill>
          <a:blip r:embed="rId7"/>
          <a:stretch>
            <a:fillRect/>
          </a:stretch>
        </p:blipFill>
        <p:spPr>
          <a:xfrm>
            <a:off x="7950708" y="5298948"/>
            <a:ext cx="228600" cy="228600"/>
          </a:xfrm>
          <a:prstGeom prst="rect">
            <a:avLst/>
          </a:prstGeom>
        </p:spPr>
      </p:pic>
      <p:sp>
        <p:nvSpPr>
          <p:cNvPr id="36" name="Ethics text"/>
          <p:cNvSpPr txBox="1"/>
          <p:nvPr/>
        </p:nvSpPr>
        <p:spPr>
          <a:xfrm>
            <a:off x="8476488" y="5148072"/>
            <a:ext cx="3001975" cy="777240"/>
          </a:xfrm>
          <a:prstGeom prst="rect">
            <a:avLst/>
          </a:prstGeom>
          <a:noFill/>
          <a:ln/>
        </p:spPr>
        <p:txBody>
          <a:bodyPr wrap="square" lIns="0" tIns="0" rIns="0" bIns="0" rtlCol="0" anchor="t"/>
          <a:lstStyle/>
          <a:p>
            <a:pPr indent="0" marL="0">
              <a:spcAft>
                <a:spcPts val="300"/>
              </a:spcAft>
              <a:buNone/>
            </a:pPr>
            <a:r>
              <a:rPr lang="en-GB" altLang="en-US" sz="1400" b="1" dirty="0">
                <a:solidFill>
                  <a:schemeClr val="tx2"/>
                </a:solidFill>
              </a:rPr>
              <a:t>Ethics</a:t>
            </a:r>
            <a:endParaRPr lang="en-GB" sz="1400" dirty="0"/>
          </a:p>
          <a:p>
            <a:pPr indent="0" marL="0">
              <a:spcAft>
                <a:spcPts val="300"/>
              </a:spcAft>
              <a:buNone/>
            </a:pPr>
            <a:r>
              <a:rPr lang="en-GB" altLang="en-US" sz="1300" dirty="0">
                <a:solidFill>
                  <a:schemeClr val="tx1"/>
                </a:solidFill>
              </a:rPr>
              <a:t>Synthetic code, dummy secrets, documentation IPs; nothing deployed; no personal data.</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5</a:t>
            </a:fld>
            <a:endParaRPr lang="en-GB"/>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RQ1: the AI detected more than both scanners</a:t>
            </a:r>
            <a:endParaRPr lang="en-GB" sz="3600" dirty="0"/>
          </a:p>
        </p:txBody>
      </p:sp>
      <p:graphicFrame>
        <p:nvGraphicFramePr>
          <p:cNvPr id="3" name="Detection chart" descr=""/>
          <p:cNvGraphicFramePr/>
          <p:nvPr/>
        </p:nvGraphicFramePr>
        <p:xfrm>
          <a:off x="548640" y="1280160"/>
          <a:ext cx="5760720" cy="4434840"/>
        </p:xfrm>
        <a:graphic xmlns:a="http://schemas.openxmlformats.org/drawingml/2006/main">
          <a:graphicData uri="http://schemas.openxmlformats.org/drawingml/2006/chart">
            <c:chart xmlns:c="http://schemas.openxmlformats.org/drawingml/2006/chart" r:id="rId1"/>
          </a:graphicData>
        </a:graphic>
      </p:graphicFrame>
      <p:sp>
        <p:nvSpPr>
          <p:cNvPr id="4" name="Found only by the AI card"/>
          <p:cNvSpPr/>
          <p:nvPr/>
        </p:nvSpPr>
        <p:spPr>
          <a:xfrm>
            <a:off x="6629400" y="1325880"/>
            <a:ext cx="5013655" cy="1325880"/>
          </a:xfrm>
          <a:prstGeom prst="roundRect">
            <a:avLst>
              <a:gd name="adj" fmla="val 5517"/>
            </a:avLst>
          </a:prstGeom>
          <a:solidFill>
            <a:schemeClr val="bg2"/>
          </a:solidFill>
          <a:ln w="12700">
            <a:solidFill>
              <a:schemeClr val="bg2"/>
            </a:solidFill>
            <a:prstDash val="solid"/>
          </a:ln>
        </p:spPr>
      </p:sp>
      <p:sp>
        <p:nvSpPr>
          <p:cNvPr id="5" name="Found only by the AI circle"/>
          <p:cNvSpPr/>
          <p:nvPr/>
        </p:nvSpPr>
        <p:spPr>
          <a:xfrm>
            <a:off x="6830568" y="1527048"/>
            <a:ext cx="502920" cy="502920"/>
          </a:xfrm>
          <a:prstGeom prst="ellipse">
            <a:avLst/>
          </a:prstGeom>
          <a:solidFill>
            <a:schemeClr val="accent1"/>
          </a:solidFill>
          <a:ln w="12700">
            <a:solidFill>
              <a:schemeClr val="accent1"/>
            </a:solidFill>
            <a:prstDash val="solid"/>
          </a:ln>
        </p:spPr>
      </p:sp>
      <p:pic>
        <p:nvPicPr>
          <p:cNvPr id="6" name="Found only by the AI icon" descr="preencoded.png">    </p:cNvPr>
          <p:cNvPicPr>
            <a:picLocks noChangeAspect="1"/>
          </p:cNvPicPr>
          <p:nvPr/>
        </p:nvPicPr>
        <p:blipFill>
          <a:blip r:embed="rId2"/>
          <a:stretch>
            <a:fillRect/>
          </a:stretch>
        </p:blipFill>
        <p:spPr>
          <a:xfrm>
            <a:off x="6956298" y="1652778"/>
            <a:ext cx="251460" cy="251460"/>
          </a:xfrm>
          <a:prstGeom prst="rect">
            <a:avLst/>
          </a:prstGeom>
        </p:spPr>
      </p:pic>
      <p:sp>
        <p:nvSpPr>
          <p:cNvPr id="7" name="Found only by the AI text"/>
          <p:cNvSpPr txBox="1"/>
          <p:nvPr/>
        </p:nvSpPr>
        <p:spPr>
          <a:xfrm>
            <a:off x="7516368" y="149047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Found only by the AI</a:t>
            </a:r>
            <a:endParaRPr lang="en-GB" sz="1400" dirty="0"/>
          </a:p>
          <a:p>
            <a:pPr indent="0" marL="0">
              <a:spcAft>
                <a:spcPts val="300"/>
              </a:spcAft>
              <a:buNone/>
            </a:pPr>
            <a:r>
              <a:rPr lang="en-GB" altLang="en-US" sz="1400" dirty="0">
                <a:solidFill>
                  <a:schemeClr val="tx1"/>
                </a:solidFill>
              </a:rPr>
              <a:t>TC09 and TC15 (hard-coded secrets) and TC13 (a role judged against a separate requirements file).</a:t>
            </a:r>
            <a:endParaRPr lang="en-GB" sz="1400" dirty="0"/>
          </a:p>
        </p:txBody>
      </p:sp>
      <p:sp>
        <p:nvSpPr>
          <p:cNvPr id="8" name="The scanners barely overlapped card"/>
          <p:cNvSpPr/>
          <p:nvPr/>
        </p:nvSpPr>
        <p:spPr>
          <a:xfrm>
            <a:off x="6629400" y="2788920"/>
            <a:ext cx="5013655" cy="1325880"/>
          </a:xfrm>
          <a:prstGeom prst="roundRect">
            <a:avLst>
              <a:gd name="adj" fmla="val 5517"/>
            </a:avLst>
          </a:prstGeom>
          <a:solidFill>
            <a:schemeClr val="bg2"/>
          </a:solidFill>
          <a:ln w="12700">
            <a:solidFill>
              <a:schemeClr val="bg2"/>
            </a:solidFill>
            <a:prstDash val="solid"/>
          </a:ln>
        </p:spPr>
      </p:sp>
      <p:sp>
        <p:nvSpPr>
          <p:cNvPr id="9" name="The scanners barely overlapped circle"/>
          <p:cNvSpPr/>
          <p:nvPr/>
        </p:nvSpPr>
        <p:spPr>
          <a:xfrm>
            <a:off x="6830568" y="2990088"/>
            <a:ext cx="502920" cy="502920"/>
          </a:xfrm>
          <a:prstGeom prst="ellipse">
            <a:avLst/>
          </a:prstGeom>
          <a:solidFill>
            <a:schemeClr val="accent2"/>
          </a:solidFill>
          <a:ln w="12700">
            <a:solidFill>
              <a:schemeClr val="accent2"/>
            </a:solidFill>
            <a:prstDash val="solid"/>
          </a:ln>
        </p:spPr>
      </p:sp>
      <p:pic>
        <p:nvPicPr>
          <p:cNvPr id="10" name="The scanners barely overlapped icon" descr="preencoded.png">    </p:cNvPr>
          <p:cNvPicPr>
            <a:picLocks noChangeAspect="1"/>
          </p:cNvPicPr>
          <p:nvPr/>
        </p:nvPicPr>
        <p:blipFill>
          <a:blip r:embed="rId3"/>
          <a:stretch>
            <a:fillRect/>
          </a:stretch>
        </p:blipFill>
        <p:spPr>
          <a:xfrm>
            <a:off x="6956298" y="3115818"/>
            <a:ext cx="251460" cy="251460"/>
          </a:xfrm>
          <a:prstGeom prst="rect">
            <a:avLst/>
          </a:prstGeom>
        </p:spPr>
      </p:pic>
      <p:sp>
        <p:nvSpPr>
          <p:cNvPr id="11" name="The scanners barely overlapped text"/>
          <p:cNvSpPr txBox="1"/>
          <p:nvPr/>
        </p:nvSpPr>
        <p:spPr>
          <a:xfrm>
            <a:off x="7516368" y="295351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The scanners barely overlapped</a:t>
            </a:r>
            <a:endParaRPr lang="en-GB" sz="1400" dirty="0"/>
          </a:p>
          <a:p>
            <a:pPr indent="0" marL="0">
              <a:spcAft>
                <a:spcPts val="300"/>
              </a:spcAft>
              <a:buNone/>
            </a:pPr>
            <a:r>
              <a:rPr lang="en-GB" altLang="en-US" sz="1400" dirty="0">
                <a:solidFill>
                  <a:schemeClr val="tx1"/>
                </a:solidFill>
              </a:rPr>
              <a:t>Only TC07 was caught by both. Checkov passed rules open to 0.0.0.0/0 but failed the same rule written as *.</a:t>
            </a:r>
            <a:endParaRPr lang="en-GB" sz="1400" dirty="0"/>
          </a:p>
        </p:txBody>
      </p:sp>
      <p:sp>
        <p:nvSpPr>
          <p:cNvPr id="12" name="But the AI over-reported card"/>
          <p:cNvSpPr/>
          <p:nvPr/>
        </p:nvSpPr>
        <p:spPr>
          <a:xfrm>
            <a:off x="6629400" y="4251960"/>
            <a:ext cx="5013655" cy="1325880"/>
          </a:xfrm>
          <a:prstGeom prst="roundRect">
            <a:avLst>
              <a:gd name="adj" fmla="val 5517"/>
            </a:avLst>
          </a:prstGeom>
          <a:solidFill>
            <a:schemeClr val="bg2"/>
          </a:solidFill>
          <a:ln w="12700">
            <a:solidFill>
              <a:schemeClr val="bg2"/>
            </a:solidFill>
            <a:prstDash val="solid"/>
          </a:ln>
        </p:spPr>
      </p:sp>
      <p:sp>
        <p:nvSpPr>
          <p:cNvPr id="13" name="But the AI over-reported circle"/>
          <p:cNvSpPr/>
          <p:nvPr/>
        </p:nvSpPr>
        <p:spPr>
          <a:xfrm>
            <a:off x="6830568" y="4453128"/>
            <a:ext cx="502920" cy="502920"/>
          </a:xfrm>
          <a:prstGeom prst="ellipse">
            <a:avLst/>
          </a:prstGeom>
          <a:solidFill>
            <a:schemeClr val="accent5"/>
          </a:solidFill>
          <a:ln w="12700">
            <a:solidFill>
              <a:schemeClr val="accent5"/>
            </a:solidFill>
            <a:prstDash val="solid"/>
          </a:ln>
        </p:spPr>
      </p:sp>
      <p:pic>
        <p:nvPicPr>
          <p:cNvPr id="14" name="But the AI over-reported icon" descr="preencoded.png">    </p:cNvPr>
          <p:cNvPicPr>
            <a:picLocks noChangeAspect="1"/>
          </p:cNvPicPr>
          <p:nvPr/>
        </p:nvPicPr>
        <p:blipFill>
          <a:blip r:embed="rId4"/>
          <a:stretch>
            <a:fillRect/>
          </a:stretch>
        </p:blipFill>
        <p:spPr>
          <a:xfrm>
            <a:off x="6956298" y="4578858"/>
            <a:ext cx="251460" cy="251460"/>
          </a:xfrm>
          <a:prstGeom prst="rect">
            <a:avLst/>
          </a:prstGeom>
        </p:spPr>
      </p:pic>
      <p:sp>
        <p:nvSpPr>
          <p:cNvPr id="15" name="But the AI over-reported text"/>
          <p:cNvSpPr txBox="1"/>
          <p:nvPr/>
        </p:nvSpPr>
        <p:spPr>
          <a:xfrm>
            <a:off x="7516368" y="441655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But the AI over-reported</a:t>
            </a:r>
            <a:endParaRPr lang="en-GB" sz="1400" dirty="0"/>
          </a:p>
          <a:p>
            <a:pPr indent="0" marL="0">
              <a:spcAft>
                <a:spcPts val="300"/>
              </a:spcAft>
              <a:buNone/>
            </a:pPr>
            <a:r>
              <a:rPr lang="en-GB" altLang="en-US" sz="1400" dirty="0">
                <a:solidFill>
                  <a:schemeClr val="tx1"/>
                </a:solidFill>
              </a:rPr>
              <a:t>3 of 9 runs on acceptable cases raised a finding. 82% of its 45 confirmed findings were correct (89% if three fixture issues count).</a:t>
            </a:r>
            <a:endParaRPr lang="en-GB" sz="1400" dirty="0"/>
          </a:p>
        </p:txBody>
      </p:sp>
      <p:sp>
        <p:nvSpPr>
          <p:cNvPr id="16" name="Caveat"/>
          <p:cNvSpPr txBox="1"/>
          <p:nvPr/>
        </p:nvSpPr>
        <p:spPr>
          <a:xfrm>
            <a:off x="548640" y="5788152"/>
            <a:ext cx="11094415" cy="457200"/>
          </a:xfrm>
          <a:prstGeom prst="rect">
            <a:avLst/>
          </a:prstGeom>
          <a:noFill/>
          <a:ln/>
        </p:spPr>
        <p:txBody>
          <a:bodyPr wrap="square" lIns="0" tIns="0" rIns="0" bIns="0" rtlCol="0" anchor="t"/>
          <a:lstStyle/>
          <a:p>
            <a:pPr indent="0" marL="0">
              <a:buNone/>
            </a:pPr>
            <a:r>
              <a:rPr lang="en-GB" altLang="en-US" sz="1100" i="1" dirty="0">
                <a:solidFill>
                  <a:schemeClr val="accent6"/>
                </a:solidFill>
              </a:rPr>
              <a:t>Descriptive results for 15 constructed cases; the whole gap comes from TC09, TC13 and TC15, which no scanner rule covers. AI detection = target confirmed in every run (34 of 37 runs); TC08 partial = raised in all 4 runs, shown in 1.</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6</a:t>
            </a:fld>
            <a:endParaRPr 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RQ2 and RQ3: useful advice, but some false claims</a:t>
            </a:r>
            <a:endParaRPr lang="en-GB" sz="3600" dirty="0"/>
          </a:p>
        </p:txBody>
      </p:sp>
      <p:sp>
        <p:nvSpPr>
          <p:cNvPr id="3" name="Label RQ2 · Did the AI’s fixes work?"/>
          <p:cNvSpPr txBox="1"/>
          <p:nvPr/>
        </p:nvSpPr>
        <p:spPr>
          <a:xfrm>
            <a:off x="548640" y="1325880"/>
            <a:ext cx="516636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RQ2 · DID THE AI’S FIXES WORK?</a:t>
            </a:r>
            <a:endParaRPr lang="en-GB" sz="1200" dirty="0"/>
          </a:p>
        </p:txBody>
      </p:sp>
      <p:sp>
        <p:nvSpPr>
          <p:cNvPr id="4" name="Stat 12 / 12"/>
          <p:cNvSpPr txBox="1"/>
          <p:nvPr/>
        </p:nvSpPr>
        <p:spPr>
          <a:xfrm>
            <a:off x="548640" y="1691640"/>
            <a:ext cx="1691640" cy="777240"/>
          </a:xfrm>
          <a:prstGeom prst="rect">
            <a:avLst/>
          </a:prstGeom>
          <a:noFill/>
          <a:ln/>
        </p:spPr>
        <p:txBody>
          <a:bodyPr wrap="square" lIns="0" tIns="0" rIns="0" bIns="0" rtlCol="0" anchor="ctr"/>
          <a:lstStyle/>
          <a:p>
            <a:pPr indent="0" marL="0">
              <a:buNone/>
            </a:pPr>
            <a:r>
              <a:rPr lang="en-GB" altLang="en-US" sz="4000" b="1" dirty="0">
                <a:solidFill>
                  <a:schemeClr val="accent4"/>
                </a:solidFill>
              </a:rPr>
              <a:t>12 / 12</a:t>
            </a:r>
            <a:endParaRPr lang="en-GB" sz="4000" dirty="0"/>
          </a:p>
        </p:txBody>
      </p:sp>
      <p:sp>
        <p:nvSpPr>
          <p:cNvPr id="5" name="Stat label 1"/>
          <p:cNvSpPr txBox="1"/>
          <p:nvPr/>
        </p:nvSpPr>
        <p:spPr>
          <a:xfrm>
            <a:off x="2331720" y="1691640"/>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fixes resolved the target and passed validation; 8 also confirmed by a scanner</a:t>
            </a:r>
            <a:endParaRPr lang="en-GB" sz="1400" dirty="0"/>
          </a:p>
        </p:txBody>
      </p:sp>
      <p:sp>
        <p:nvSpPr>
          <p:cNvPr id="6" name="Stat 9 / 12"/>
          <p:cNvSpPr txBox="1"/>
          <p:nvPr/>
        </p:nvSpPr>
        <p:spPr>
          <a:xfrm>
            <a:off x="548640" y="2770632"/>
            <a:ext cx="1691640" cy="777240"/>
          </a:xfrm>
          <a:prstGeom prst="rect">
            <a:avLst/>
          </a:prstGeom>
          <a:noFill/>
          <a:ln/>
        </p:spPr>
        <p:txBody>
          <a:bodyPr wrap="square" lIns="0" tIns="0" rIns="0" bIns="0" rtlCol="0" anchor="ctr"/>
          <a:lstStyle/>
          <a:p>
            <a:pPr indent="0" marL="0">
              <a:buNone/>
            </a:pPr>
            <a:r>
              <a:rPr lang="en-GB" altLang="en-US" sz="4000" b="1" dirty="0">
                <a:solidFill>
                  <a:schemeClr val="accent2"/>
                </a:solidFill>
              </a:rPr>
              <a:t>9 / 12</a:t>
            </a:r>
            <a:endParaRPr lang="en-GB" sz="4000" dirty="0"/>
          </a:p>
        </p:txBody>
      </p:sp>
      <p:sp>
        <p:nvSpPr>
          <p:cNvPr id="7" name="Stat label 2"/>
          <p:cNvSpPr txBox="1"/>
          <p:nvPr/>
        </p:nvSpPr>
        <p:spPr>
          <a:xfrm>
            <a:off x="2331720" y="2770632"/>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fixes where a fresh AI review no longer raised the problem (a stale comment tripped two of the rest)</a:t>
            </a:r>
            <a:endParaRPr lang="en-GB" sz="1400" dirty="0"/>
          </a:p>
        </p:txBody>
      </p:sp>
      <p:sp>
        <p:nvSpPr>
          <p:cNvPr id="8" name="Stat 1"/>
          <p:cNvSpPr txBox="1"/>
          <p:nvPr/>
        </p:nvSpPr>
        <p:spPr>
          <a:xfrm>
            <a:off x="548640" y="3849624"/>
            <a:ext cx="1691640" cy="777240"/>
          </a:xfrm>
          <a:prstGeom prst="rect">
            <a:avLst/>
          </a:prstGeom>
          <a:noFill/>
          <a:ln/>
        </p:spPr>
        <p:txBody>
          <a:bodyPr wrap="square" lIns="0" tIns="0" rIns="0" bIns="0" rtlCol="0" anchor="ctr"/>
          <a:lstStyle/>
          <a:p>
            <a:pPr indent="0" marL="0">
              <a:buNone/>
            </a:pPr>
            <a:r>
              <a:rPr lang="en-GB" altLang="en-US" sz="4000" b="1" dirty="0">
                <a:solidFill>
                  <a:schemeClr val="accent1"/>
                </a:solidFill>
              </a:rPr>
              <a:t>1</a:t>
            </a:r>
            <a:endParaRPr lang="en-GB" sz="4000" dirty="0"/>
          </a:p>
        </p:txBody>
      </p:sp>
      <p:sp>
        <p:nvSpPr>
          <p:cNvPr id="9" name="Stat label 3"/>
          <p:cNvSpPr txBox="1"/>
          <p:nvPr/>
        </p:nvSpPr>
        <p:spPr>
          <a:xfrm>
            <a:off x="2331720" y="3849624"/>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 for a false finding, made the Terraform invalid (TC10)</a:t>
            </a:r>
            <a:endParaRPr lang="en-GB" sz="1400" dirty="0"/>
          </a:p>
        </p:txBody>
      </p:sp>
      <p:sp>
        <p:nvSpPr>
          <p:cNvPr id="10" name="Validate error card"/>
          <p:cNvSpPr/>
          <p:nvPr/>
        </p:nvSpPr>
        <p:spPr>
          <a:xfrm>
            <a:off x="548640" y="5029200"/>
            <a:ext cx="5166360" cy="868680"/>
          </a:xfrm>
          <a:prstGeom prst="roundRect">
            <a:avLst>
              <a:gd name="adj" fmla="val 8421"/>
            </a:avLst>
          </a:prstGeom>
          <a:solidFill>
            <a:schemeClr val="bg2"/>
          </a:solidFill>
          <a:ln w="12700">
            <a:solidFill>
              <a:schemeClr val="bg2"/>
            </a:solidFill>
            <a:prstDash val="solid"/>
          </a:ln>
        </p:spPr>
      </p:sp>
      <p:sp>
        <p:nvSpPr>
          <p:cNvPr id="11" name="Validate error"/>
          <p:cNvSpPr txBox="1"/>
          <p:nvPr/>
        </p:nvSpPr>
        <p:spPr>
          <a:xfrm>
            <a:off x="731520" y="5029200"/>
            <a:ext cx="4800600" cy="868680"/>
          </a:xfrm>
          <a:prstGeom prst="rect">
            <a:avLst/>
          </a:prstGeom>
          <a:noFill/>
          <a:ln/>
        </p:spPr>
        <p:txBody>
          <a:bodyPr wrap="square" lIns="0" tIns="0" rIns="0" bIns="0" rtlCol="0" anchor="ctr"/>
          <a:lstStyle/>
          <a:p>
            <a:pPr indent="0" marL="0">
              <a:spcAft>
                <a:spcPts val="300"/>
              </a:spcAft>
              <a:buNone/>
            </a:pPr>
            <a:r>
              <a:rPr lang="en-GB" altLang="en-US" sz="1100" dirty="0">
                <a:solidFill>
                  <a:schemeClr val="accent6"/>
                </a:solidFill>
              </a:rPr>
              <a:t>terraform validate, after applying the AI’s tag fix to TC10</a:t>
            </a:r>
            <a:endParaRPr lang="en-GB" sz="1400" dirty="0"/>
          </a:p>
          <a:p>
            <a:pPr indent="0" marL="0">
              <a:spcAft>
                <a:spcPts val="300"/>
              </a:spcAft>
              <a:buNone/>
            </a:pPr>
            <a:r>
              <a:rPr lang="en-GB" altLang="en-US" sz="1300" b="1" dirty="0">
                <a:solidFill>
                  <a:schemeClr val="accent1"/>
                </a:solidFill>
                <a:latin typeface="Courier New" pitchFamily="34" charset="0"/>
                <a:ea typeface="Courier New" pitchFamily="34" charset="-122"/>
                <a:cs typeface="Courier New" pitchFamily="34" charset="-120"/>
              </a:rPr>
              <a:t>An argument named "tags" is not expected here</a:t>
            </a:r>
            <a:endParaRPr lang="en-GB" sz="1400" dirty="0"/>
          </a:p>
        </p:txBody>
      </p:sp>
      <p:sp>
        <p:nvSpPr>
          <p:cNvPr id="12" name="Label RQ3 · Likely impact on understanding"/>
          <p:cNvSpPr txBox="1"/>
          <p:nvPr/>
        </p:nvSpPr>
        <p:spPr>
          <a:xfrm>
            <a:off x="6172200" y="1325880"/>
            <a:ext cx="5470855"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RQ3 · LIKELY IMPACT ON UNDERSTANDING</a:t>
            </a:r>
            <a:endParaRPr lang="en-GB" sz="1200" dirty="0"/>
          </a:p>
        </p:txBody>
      </p:sp>
      <p:graphicFrame>
        <p:nvGraphicFramePr>
          <p:cNvPr id="13" name="Rubric chart" descr=""/>
          <p:cNvGraphicFramePr/>
          <p:nvPr/>
        </p:nvGraphicFramePr>
        <p:xfrm>
          <a:off x="6172200" y="1600200"/>
          <a:ext cx="5470855" cy="2788920"/>
        </p:xfrm>
        <a:graphic xmlns:a="http://schemas.openxmlformats.org/drawingml/2006/main">
          <a:graphicData uri="http://schemas.openxmlformats.org/drawingml/2006/chart">
            <c:chart xmlns:c="http://schemas.openxmlformats.org/drawingml/2006/chart" r:id="rId1"/>
          </a:graphicData>
        </a:graphic>
      </p:graphicFrame>
      <p:sp>
        <p:nvSpPr>
          <p:cNvPr id="14" name="RQ3 takeaway"/>
          <p:cNvSpPr txBox="1"/>
          <p:nvPr/>
        </p:nvSpPr>
        <p:spPr>
          <a:xfrm>
            <a:off x="6172200" y="4526280"/>
            <a:ext cx="5470855" cy="1097280"/>
          </a:xfrm>
          <a:prstGeom prst="rect">
            <a:avLst/>
          </a:prstGeom>
          <a:noFill/>
          <a:ln/>
        </p:spPr>
        <p:txBody>
          <a:bodyPr wrap="square" lIns="0" tIns="0" rIns="0" bIns="0" rtlCol="0" anchor="t"/>
          <a:lstStyle/>
          <a:p>
            <a:pPr indent="0" marL="0">
              <a:buNone/>
            </a:pPr>
            <a:r>
              <a:rPr lang="en-GB" altLang="en-US" sz="1400" dirty="0">
                <a:solidFill>
                  <a:schemeClr val="tx1"/>
                </a:solidFill>
              </a:rPr>
              <a:t>Plain-language, code-specific explanations of what, why and how to fix, versus a rule ID and one generic line from the scanners: a likely positive effect. </a:t>
            </a:r>
            <a:pPr indent="0" marL="0">
              <a:buNone/>
            </a:pPr>
            <a:r>
              <a:rPr lang="en-GB" altLang="en-US" sz="1400" b="1" dirty="0">
                <a:solidFill>
                  <a:schemeClr val="accent1"/>
                </a:solidFill>
              </a:rPr>
              <a:t>Risk: </a:t>
            </a:r>
            <a:pPr indent="0" marL="0">
              <a:buNone/>
            </a:pPr>
            <a:r>
              <a:rPr lang="en-GB" altLang="en-US" sz="1400" dirty="0">
                <a:solidFill>
                  <a:schemeClr val="tx1"/>
                </a:solidFill>
              </a:rPr>
              <a:t>accuracy scored lowest, as confident false platform claims could be learned as fact (Ji et al., 2023).</a:t>
            </a:r>
            <a:endParaRPr lang="en-GB" sz="1400" dirty="0"/>
          </a:p>
        </p:txBody>
      </p:sp>
      <p:sp>
        <p:nvSpPr>
          <p:cNvPr id="15" name="Scoring caveat"/>
          <p:cNvSpPr txBox="1"/>
          <p:nvPr/>
        </p:nvSpPr>
        <p:spPr>
          <a:xfrm>
            <a:off x="6172200" y="5687568"/>
            <a:ext cx="5470855" cy="274320"/>
          </a:xfrm>
          <a:prstGeom prst="rect">
            <a:avLst/>
          </a:prstGeom>
          <a:noFill/>
          <a:ln/>
        </p:spPr>
        <p:txBody>
          <a:bodyPr wrap="square" lIns="0" tIns="0" rIns="0" bIns="0" rtlCol="0" anchor="t"/>
          <a:lstStyle/>
          <a:p>
            <a:pPr indent="0" marL="0">
              <a:buNone/>
            </a:pPr>
            <a:r>
              <a:rPr lang="en-GB" altLang="en-US" sz="1100" i="1" dirty="0">
                <a:solidFill>
                  <a:schemeClr val="accent6"/>
                </a:solidFill>
              </a:rPr>
              <a:t>Scores: single rater with AI assistance; every score’s justification is recorded.</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7</a:t>
            </a:fld>
            <a:endParaRPr 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RQ4: code comments changed the AI’s verdict</a:t>
            </a:r>
            <a:endParaRPr lang="en-GB" sz="3600" dirty="0"/>
          </a:p>
        </p:txBody>
      </p:sp>
      <p:sp>
        <p:nvSpPr>
          <p:cNvPr id="3" name="(a) card"/>
          <p:cNvSpPr/>
          <p:nvPr/>
        </p:nvSpPr>
        <p:spPr>
          <a:xfrm>
            <a:off x="548640" y="1325880"/>
            <a:ext cx="6446520" cy="1965960"/>
          </a:xfrm>
          <a:prstGeom prst="roundRect">
            <a:avLst>
              <a:gd name="adj" fmla="val 3721"/>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4" name="(a) heading"/>
          <p:cNvSpPr txBox="1"/>
          <p:nvPr/>
        </p:nvSpPr>
        <p:spPr>
          <a:xfrm>
            <a:off x="777240" y="1453896"/>
            <a:ext cx="5989320" cy="292608"/>
          </a:xfrm>
          <a:prstGeom prst="rect">
            <a:avLst/>
          </a:prstGeom>
          <a:noFill/>
          <a:ln/>
        </p:spPr>
        <p:txBody>
          <a:bodyPr wrap="square" lIns="0" tIns="0" rIns="0" bIns="0" rtlCol="0" anchor="t"/>
          <a:lstStyle/>
          <a:p>
            <a:pPr indent="0" marL="0">
              <a:buNone/>
            </a:pPr>
            <a:r>
              <a:rPr lang="en-GB" altLang="en-US" sz="1500" b="1" dirty="0">
                <a:solidFill>
                  <a:schemeClr val="accent1"/>
                </a:solidFill>
              </a:rPr>
              <a:t>(a)  </a:t>
            </a:r>
            <a:pPr indent="0" marL="0">
              <a:buNone/>
            </a:pPr>
            <a:r>
              <a:rPr lang="en-GB" altLang="en-US" sz="1500" b="1" dirty="0">
                <a:solidFill>
                  <a:schemeClr val="tx2"/>
                </a:solidFill>
              </a:rPr>
              <a:t>AI’s own fix, old comment left in place · PR #85</a:t>
            </a:r>
            <a:endParaRPr lang="en-GB" sz="1500" dirty="0"/>
          </a:p>
        </p:txBody>
      </p:sp>
      <p:sp>
        <p:nvSpPr>
          <p:cNvPr id="5" name="(a) code box"/>
          <p:cNvSpPr/>
          <p:nvPr/>
        </p:nvSpPr>
        <p:spPr>
          <a:xfrm>
            <a:off x="777240" y="1801368"/>
            <a:ext cx="5989320" cy="502920"/>
          </a:xfrm>
          <a:prstGeom prst="roundRect">
            <a:avLst>
              <a:gd name="adj" fmla="val 7273"/>
            </a:avLst>
          </a:prstGeom>
          <a:solidFill>
            <a:schemeClr val="bg2"/>
          </a:solidFill>
          <a:ln w="12700">
            <a:solidFill>
              <a:schemeClr val="bg2"/>
            </a:solidFill>
            <a:prstDash val="solid"/>
          </a:ln>
        </p:spPr>
      </p:sp>
      <p:sp>
        <p:nvSpPr>
          <p:cNvPr id="6" name="(a) code"/>
          <p:cNvSpPr txBox="1"/>
          <p:nvPr/>
        </p:nvSpPr>
        <p:spPr>
          <a:xfrm>
            <a:off x="914400" y="1801368"/>
            <a:ext cx="5715000" cy="502920"/>
          </a:xfrm>
          <a:prstGeom prst="rect">
            <a:avLst/>
          </a:prstGeom>
          <a:noFill/>
          <a:ln/>
        </p:spPr>
        <p:txBody>
          <a:bodyPr wrap="square" lIns="0" tIns="0" rIns="0" bIns="0" rtlCol="0" anchor="ctr"/>
          <a:lstStyle/>
          <a:p>
            <a:pPr indent="0" marL="0">
              <a:buNone/>
            </a:pPr>
            <a:r>
              <a:rPr lang="en-GB" altLang="en-US" sz="1100" dirty="0">
                <a:solidFill>
                  <a:schemeClr val="accent4"/>
                </a:solidFill>
                <a:latin typeface="Courier New" pitchFamily="34" charset="0"/>
                <a:ea typeface="Courier New" pitchFamily="34" charset="-122"/>
                <a:cs typeface="Courier New" pitchFamily="34" charset="-120"/>
              </a:rPr>
              <a:t># TC02: Deliberately unrestricted SSH access</a:t>
            </a:r>
            <a:endParaRPr lang="en-GB" sz="1100" dirty="0"/>
          </a:p>
          <a:p>
            <a:pPr indent="0" marL="0">
              <a:buNone/>
            </a:pPr>
            <a:r>
              <a:rPr lang="en-GB" altLang="en-US" sz="1100" dirty="0">
                <a:solidFill>
                  <a:schemeClr val="tx1"/>
                </a:solidFill>
                <a:latin typeface="Courier New" pitchFamily="34" charset="0"/>
                <a:ea typeface="Courier New" pitchFamily="34" charset="-122"/>
                <a:cs typeface="Courier New" pitchFamily="34" charset="-120"/>
              </a:rPr>
              <a:t>source_address_prefix = "203.0.113.10/32"</a:t>
            </a:r>
            <a:endParaRPr lang="en-GB" sz="1100" dirty="0"/>
          </a:p>
        </p:txBody>
      </p:sp>
      <p:sp>
        <p:nvSpPr>
          <p:cNvPr id="7" name="(a) verdict pill"/>
          <p:cNvSpPr/>
          <p:nvPr/>
        </p:nvSpPr>
        <p:spPr>
          <a:xfrm>
            <a:off x="777240" y="2487168"/>
            <a:ext cx="1417320" cy="329184"/>
          </a:xfrm>
          <a:prstGeom prst="roundRect">
            <a:avLst>
              <a:gd name="adj" fmla="val 50000"/>
            </a:avLst>
          </a:prstGeom>
          <a:solidFill>
            <a:schemeClr val="accent1"/>
          </a:solidFill>
          <a:ln w="12700">
            <a:solidFill>
              <a:schemeClr val="accent1"/>
            </a:solidFill>
            <a:prstDash val="solid"/>
          </a:ln>
        </p:spPr>
      </p:sp>
      <p:sp>
        <p:nvSpPr>
          <p:cNvPr id="8" name="(a) verdict"/>
          <p:cNvSpPr txBox="1"/>
          <p:nvPr/>
        </p:nvSpPr>
        <p:spPr>
          <a:xfrm>
            <a:off x="777240" y="2487168"/>
            <a:ext cx="1417320"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HIGH · 70/100</a:t>
            </a:r>
            <a:endParaRPr lang="en-GB" sz="1200" dirty="0"/>
          </a:p>
        </p:txBody>
      </p:sp>
      <p:sp>
        <p:nvSpPr>
          <p:cNvPr id="9" name="(a) finding"/>
          <p:cNvSpPr txBox="1"/>
          <p:nvPr/>
        </p:nvSpPr>
        <p:spPr>
          <a:xfrm>
            <a:off x="2377440" y="2450592"/>
            <a:ext cx="4389120" cy="749808"/>
          </a:xfrm>
          <a:prstGeom prst="rect">
            <a:avLst/>
          </a:prstGeom>
          <a:noFill/>
          <a:ln/>
        </p:spPr>
        <p:txBody>
          <a:bodyPr wrap="square" lIns="0" tIns="0" rIns="0" bIns="0" rtlCol="0" anchor="t"/>
          <a:lstStyle/>
          <a:p>
            <a:pPr indent="0" marL="0">
              <a:buNone/>
            </a:pPr>
            <a:r>
              <a:rPr lang="en-GB" altLang="en-US" sz="1300" dirty="0">
                <a:solidFill>
                  <a:schemeClr val="tx1"/>
                </a:solidFill>
              </a:rPr>
              <a:t>“SSH allow rule references a documentation-reserved (RFC 5737 TEST-NET-3) source address”</a:t>
            </a:r>
            <a:endParaRPr lang="en-GB" sz="1300" dirty="0"/>
          </a:p>
          <a:p>
            <a:pPr indent="0" marL="0">
              <a:buNone/>
            </a:pPr>
            <a:r>
              <a:rPr lang="en-GB" altLang="en-US" sz="1200" i="1" dirty="0">
                <a:solidFill>
                  <a:schemeClr val="accent6"/>
                </a:solidFill>
              </a:rPr>
              <a:t>…and it quoted the stale comment as evidence</a:t>
            </a:r>
            <a:endParaRPr lang="en-GB" sz="1300" dirty="0"/>
          </a:p>
        </p:txBody>
      </p:sp>
      <p:sp>
        <p:nvSpPr>
          <p:cNvPr id="10" name="(b) card"/>
          <p:cNvSpPr/>
          <p:nvPr/>
        </p:nvSpPr>
        <p:spPr>
          <a:xfrm>
            <a:off x="548640" y="3429000"/>
            <a:ext cx="6446520" cy="2240280"/>
          </a:xfrm>
          <a:prstGeom prst="roundRect">
            <a:avLst>
              <a:gd name="adj" fmla="val 3265"/>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11" name="(b) heading"/>
          <p:cNvSpPr txBox="1"/>
          <p:nvPr/>
        </p:nvSpPr>
        <p:spPr>
          <a:xfrm>
            <a:off x="777240" y="3557016"/>
            <a:ext cx="5989320" cy="292608"/>
          </a:xfrm>
          <a:prstGeom prst="rect">
            <a:avLst/>
          </a:prstGeom>
          <a:noFill/>
          <a:ln/>
        </p:spPr>
        <p:txBody>
          <a:bodyPr wrap="square" lIns="0" tIns="0" rIns="0" bIns="0" rtlCol="0" anchor="t"/>
          <a:lstStyle/>
          <a:p>
            <a:pPr indent="0" marL="0">
              <a:buNone/>
            </a:pPr>
            <a:r>
              <a:rPr lang="en-GB" altLang="en-US" sz="1500" b="1" dirty="0">
                <a:solidFill>
                  <a:schemeClr val="accent1"/>
                </a:solidFill>
              </a:rPr>
              <a:t>(b)  </a:t>
            </a:r>
            <a:pPr indent="0" marL="0">
              <a:buNone/>
            </a:pPr>
            <a:r>
              <a:rPr lang="en-GB" altLang="en-US" sz="1500" b="1" dirty="0">
                <a:solidFill>
                  <a:schemeClr val="tx2"/>
                </a:solidFill>
              </a:rPr>
              <a:t>Same fix, only the comment corrected · PR #98</a:t>
            </a:r>
            <a:endParaRPr lang="en-GB" sz="1500" dirty="0"/>
          </a:p>
        </p:txBody>
      </p:sp>
      <p:sp>
        <p:nvSpPr>
          <p:cNvPr id="12" name="(b) code box"/>
          <p:cNvSpPr/>
          <p:nvPr/>
        </p:nvSpPr>
        <p:spPr>
          <a:xfrm>
            <a:off x="777240" y="3904488"/>
            <a:ext cx="5989320" cy="713232"/>
          </a:xfrm>
          <a:prstGeom prst="roundRect">
            <a:avLst>
              <a:gd name="adj" fmla="val 5128"/>
            </a:avLst>
          </a:prstGeom>
          <a:solidFill>
            <a:schemeClr val="bg2"/>
          </a:solidFill>
          <a:ln w="12700">
            <a:solidFill>
              <a:schemeClr val="bg2"/>
            </a:solidFill>
            <a:prstDash val="solid"/>
          </a:ln>
        </p:spPr>
      </p:sp>
      <p:sp>
        <p:nvSpPr>
          <p:cNvPr id="13" name="(b) code"/>
          <p:cNvSpPr txBox="1"/>
          <p:nvPr/>
        </p:nvSpPr>
        <p:spPr>
          <a:xfrm>
            <a:off x="914400" y="3904488"/>
            <a:ext cx="5715000" cy="713232"/>
          </a:xfrm>
          <a:prstGeom prst="rect">
            <a:avLst/>
          </a:prstGeom>
          <a:noFill/>
          <a:ln/>
        </p:spPr>
        <p:txBody>
          <a:bodyPr wrap="square" lIns="0" tIns="0" rIns="0" bIns="0" rtlCol="0" anchor="ctr"/>
          <a:lstStyle/>
          <a:p>
            <a:pPr indent="0" marL="0">
              <a:buNone/>
            </a:pPr>
            <a:r>
              <a:rPr lang="en-GB" altLang="en-US" sz="1100" dirty="0">
                <a:solidFill>
                  <a:schemeClr val="accent4"/>
                </a:solidFill>
                <a:latin typeface="Courier New" pitchFamily="34" charset="0"/>
                <a:ea typeface="Courier New" pitchFamily="34" charset="-122"/>
                <a:cs typeface="Courier New" pitchFamily="34" charset="-120"/>
              </a:rPr>
              <a:t># TC02 remediated: SSH restricted to the approved administration address.</a:t>
            </a:r>
            <a:endParaRPr lang="en-GB" sz="1100" dirty="0"/>
          </a:p>
          <a:p>
            <a:pPr indent="0" marL="0">
              <a:buNone/>
            </a:pPr>
            <a:r>
              <a:rPr lang="en-GB" altLang="en-US" sz="1100" dirty="0">
                <a:solidFill>
                  <a:schemeClr val="tx1"/>
                </a:solidFill>
                <a:latin typeface="Courier New" pitchFamily="34" charset="0"/>
                <a:ea typeface="Courier New" pitchFamily="34" charset="-122"/>
                <a:cs typeface="Courier New" pitchFamily="34" charset="-120"/>
              </a:rPr>
              <a:t>source_address_prefix = "203.0.113.10/32"</a:t>
            </a:r>
            <a:endParaRPr lang="en-GB" sz="1100" dirty="0"/>
          </a:p>
        </p:txBody>
      </p:sp>
      <p:sp>
        <p:nvSpPr>
          <p:cNvPr id="14" name="(b) verdict pill"/>
          <p:cNvSpPr/>
          <p:nvPr/>
        </p:nvSpPr>
        <p:spPr>
          <a:xfrm>
            <a:off x="777240" y="4800600"/>
            <a:ext cx="1417320" cy="329184"/>
          </a:xfrm>
          <a:prstGeom prst="roundRect">
            <a:avLst>
              <a:gd name="adj" fmla="val 50000"/>
            </a:avLst>
          </a:prstGeom>
          <a:solidFill>
            <a:schemeClr val="accent4"/>
          </a:solidFill>
          <a:ln w="12700">
            <a:solidFill>
              <a:schemeClr val="accent4"/>
            </a:solidFill>
            <a:prstDash val="solid"/>
          </a:ln>
        </p:spPr>
      </p:sp>
      <p:sp>
        <p:nvSpPr>
          <p:cNvPr id="15" name="(b) verdict"/>
          <p:cNvSpPr txBox="1"/>
          <p:nvPr/>
        </p:nvSpPr>
        <p:spPr>
          <a:xfrm>
            <a:off x="777240" y="4800600"/>
            <a:ext cx="1417320"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LOW · 95/100</a:t>
            </a:r>
            <a:endParaRPr lang="en-GB" sz="1200" dirty="0"/>
          </a:p>
        </p:txBody>
      </p:sp>
      <p:sp>
        <p:nvSpPr>
          <p:cNvPr id="16" name="(b) finding"/>
          <p:cNvSpPr txBox="1"/>
          <p:nvPr/>
        </p:nvSpPr>
        <p:spPr>
          <a:xfrm>
            <a:off x="2377440" y="4764024"/>
            <a:ext cx="4389120" cy="813816"/>
          </a:xfrm>
          <a:prstGeom prst="rect">
            <a:avLst/>
          </a:prstGeom>
          <a:noFill/>
          <a:ln/>
        </p:spPr>
        <p:txBody>
          <a:bodyPr wrap="square" lIns="0" tIns="0" rIns="0" bIns="0" rtlCol="0" anchor="t"/>
          <a:lstStyle/>
          <a:p>
            <a:pPr indent="0" marL="0">
              <a:buNone/>
            </a:pPr>
            <a:r>
              <a:rPr lang="en-GB" altLang="en-US" sz="1300" dirty="0">
                <a:solidFill>
                  <a:schemeClr val="tx1"/>
                </a:solidFill>
              </a:rPr>
              <a:t>“SSH allow rule applies to all subnet destinations rather than a specific target resource”</a:t>
            </a:r>
            <a:endParaRPr lang="en-GB" sz="1300" dirty="0"/>
          </a:p>
          <a:p>
            <a:pPr indent="0" marL="0">
              <a:buNone/>
            </a:pPr>
            <a:r>
              <a:rPr lang="en-GB" altLang="en-US" sz="1200" i="1" dirty="0">
                <a:solidFill>
                  <a:schemeClr val="accent6"/>
                </a:solidFill>
              </a:rPr>
              <a:t>Verdict: APPROVE</a:t>
            </a:r>
            <a:endParaRPr lang="en-GB" sz="1300" dirty="0"/>
          </a:p>
        </p:txBody>
      </p:sp>
      <p:sp>
        <p:nvSpPr>
          <p:cNvPr id="17" name="Comment caption"/>
          <p:cNvSpPr txBox="1"/>
          <p:nvPr/>
        </p:nvSpPr>
        <p:spPr>
          <a:xfrm>
            <a:off x="548640" y="5742432"/>
            <a:ext cx="6446520" cy="411480"/>
          </a:xfrm>
          <a:prstGeom prst="rect">
            <a:avLst/>
          </a:prstGeom>
          <a:noFill/>
          <a:ln/>
        </p:spPr>
        <p:txBody>
          <a:bodyPr wrap="square" lIns="0" tIns="0" rIns="0" bIns="0" rtlCol="0" anchor="t"/>
          <a:lstStyle/>
          <a:p>
            <a:pPr indent="0" marL="0">
              <a:buNone/>
            </a:pPr>
            <a:r>
              <a:rPr lang="en-GB" altLang="en-US" sz="1100" i="1" dirty="0">
                <a:solidFill>
                  <a:schemeClr val="accent6"/>
                </a:solidFill>
              </a:rPr>
              <a:t>Same Terraform, different comment, different verdict (one review each; TC03 behaved the same way). Comments are untrusted input (Greshake et al., 2023). Figure 4.6.</a:t>
            </a:r>
            <a:endParaRPr lang="en-GB" sz="1100" dirty="0"/>
          </a:p>
        </p:txBody>
      </p:sp>
      <p:sp>
        <p:nvSpPr>
          <p:cNvPr id="18" name="Same input, different answers card"/>
          <p:cNvSpPr/>
          <p:nvPr/>
        </p:nvSpPr>
        <p:spPr>
          <a:xfrm>
            <a:off x="7269480" y="1325880"/>
            <a:ext cx="4373575" cy="1325880"/>
          </a:xfrm>
          <a:prstGeom prst="roundRect">
            <a:avLst>
              <a:gd name="adj" fmla="val 5517"/>
            </a:avLst>
          </a:prstGeom>
          <a:solidFill>
            <a:schemeClr val="bg2"/>
          </a:solidFill>
          <a:ln w="12700">
            <a:solidFill>
              <a:schemeClr val="bg2"/>
            </a:solidFill>
            <a:prstDash val="solid"/>
          </a:ln>
        </p:spPr>
      </p:sp>
      <p:sp>
        <p:nvSpPr>
          <p:cNvPr id="19" name="Same input, different answers circle"/>
          <p:cNvSpPr/>
          <p:nvPr/>
        </p:nvSpPr>
        <p:spPr>
          <a:xfrm>
            <a:off x="7470648" y="1527048"/>
            <a:ext cx="475488" cy="475488"/>
          </a:xfrm>
          <a:prstGeom prst="ellipse">
            <a:avLst/>
          </a:prstGeom>
          <a:solidFill>
            <a:schemeClr val="accent5"/>
          </a:solidFill>
          <a:ln w="12700">
            <a:solidFill>
              <a:schemeClr val="accent5"/>
            </a:solidFill>
            <a:prstDash val="solid"/>
          </a:ln>
        </p:spPr>
      </p:sp>
      <p:pic>
        <p:nvPicPr>
          <p:cNvPr id="20" name="Same input, different answers icon" descr="preencoded.png">    </p:cNvPr>
          <p:cNvPicPr>
            <a:picLocks noChangeAspect="1"/>
          </p:cNvPicPr>
          <p:nvPr/>
        </p:nvPicPr>
        <p:blipFill>
          <a:blip r:embed="rId1"/>
          <a:stretch>
            <a:fillRect/>
          </a:stretch>
        </p:blipFill>
        <p:spPr>
          <a:xfrm>
            <a:off x="7589520" y="1645920"/>
            <a:ext cx="237744" cy="237744"/>
          </a:xfrm>
          <a:prstGeom prst="rect">
            <a:avLst/>
          </a:prstGeom>
        </p:spPr>
      </p:pic>
      <p:sp>
        <p:nvSpPr>
          <p:cNvPr id="21" name="Same input, different answers text"/>
          <p:cNvSpPr txBox="1"/>
          <p:nvPr/>
        </p:nvSpPr>
        <p:spPr>
          <a:xfrm>
            <a:off x="8129016" y="149047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Same input, different answers</a:t>
            </a:r>
            <a:endParaRPr lang="en-GB" sz="1400" dirty="0"/>
          </a:p>
          <a:p>
            <a:pPr indent="0" marL="0">
              <a:spcAft>
                <a:spcPts val="300"/>
              </a:spcAft>
              <a:buNone/>
            </a:pPr>
            <a:r>
              <a:rPr lang="en-GB" altLang="en-US" sz="1400" dirty="0">
                <a:solidFill>
                  <a:schemeClr val="tx1"/>
                </a:solidFill>
              </a:rPr>
              <a:t>TC08 classified three ways in four runs; TC05 rated HIGH, HIGH, MEDIUM (Ouyang et al., 2025).</a:t>
            </a:r>
            <a:endParaRPr lang="en-GB" sz="1400" dirty="0"/>
          </a:p>
        </p:txBody>
      </p:sp>
      <p:sp>
        <p:nvSpPr>
          <p:cNvPr id="22" name="Findings hidden or skipped card"/>
          <p:cNvSpPr/>
          <p:nvPr/>
        </p:nvSpPr>
        <p:spPr>
          <a:xfrm>
            <a:off x="7269480" y="2788920"/>
            <a:ext cx="4373575" cy="1325880"/>
          </a:xfrm>
          <a:prstGeom prst="roundRect">
            <a:avLst>
              <a:gd name="adj" fmla="val 5517"/>
            </a:avLst>
          </a:prstGeom>
          <a:solidFill>
            <a:schemeClr val="bg2"/>
          </a:solidFill>
          <a:ln w="12700">
            <a:solidFill>
              <a:schemeClr val="bg2"/>
            </a:solidFill>
            <a:prstDash val="solid"/>
          </a:ln>
        </p:spPr>
      </p:sp>
      <p:sp>
        <p:nvSpPr>
          <p:cNvPr id="23" name="Findings hidden or skipped circle"/>
          <p:cNvSpPr/>
          <p:nvPr/>
        </p:nvSpPr>
        <p:spPr>
          <a:xfrm>
            <a:off x="7470648" y="2990088"/>
            <a:ext cx="475488" cy="475488"/>
          </a:xfrm>
          <a:prstGeom prst="ellipse">
            <a:avLst/>
          </a:prstGeom>
          <a:solidFill>
            <a:schemeClr val="accent1"/>
          </a:solidFill>
          <a:ln w="12700">
            <a:solidFill>
              <a:schemeClr val="accent1"/>
            </a:solidFill>
            <a:prstDash val="solid"/>
          </a:ln>
        </p:spPr>
      </p:sp>
      <p:pic>
        <p:nvPicPr>
          <p:cNvPr id="24" name="Findings hidden or skipped icon" descr="preencoded.png">    </p:cNvPr>
          <p:cNvPicPr>
            <a:picLocks noChangeAspect="1"/>
          </p:cNvPicPr>
          <p:nvPr/>
        </p:nvPicPr>
        <p:blipFill>
          <a:blip r:embed="rId2"/>
          <a:stretch>
            <a:fillRect/>
          </a:stretch>
        </p:blipFill>
        <p:spPr>
          <a:xfrm>
            <a:off x="7589520" y="3108960"/>
            <a:ext cx="237744" cy="237744"/>
          </a:xfrm>
          <a:prstGeom prst="rect">
            <a:avLst/>
          </a:prstGeom>
        </p:spPr>
      </p:pic>
      <p:sp>
        <p:nvSpPr>
          <p:cNvPr id="25" name="Findings hidden or skipped text"/>
          <p:cNvSpPr txBox="1"/>
          <p:nvPr/>
        </p:nvSpPr>
        <p:spPr>
          <a:xfrm>
            <a:off x="8129016" y="295351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Findings hidden or skipped</a:t>
            </a:r>
            <a:endParaRPr lang="en-GB" sz="1400" dirty="0"/>
          </a:p>
          <a:p>
            <a:pPr indent="0" marL="0">
              <a:spcAft>
                <a:spcPts val="300"/>
              </a:spcAft>
              <a:buNone/>
            </a:pPr>
            <a:r>
              <a:rPr lang="en-GB" altLang="en-US" sz="1400" dirty="0">
                <a:solidFill>
                  <a:schemeClr val="tx1"/>
                </a:solidFill>
              </a:rPr>
              <a:t>NEEDS_CONTEXT findings never reach the comment; deletion-only PRs skip the AI step.</a:t>
            </a:r>
            <a:endParaRPr lang="en-GB" sz="1400" dirty="0"/>
          </a:p>
        </p:txBody>
      </p:sp>
      <p:sp>
        <p:nvSpPr>
          <p:cNvPr id="26" name="Small time cost card"/>
          <p:cNvSpPr/>
          <p:nvPr/>
        </p:nvSpPr>
        <p:spPr>
          <a:xfrm>
            <a:off x="7269480" y="4251960"/>
            <a:ext cx="4373575" cy="1325880"/>
          </a:xfrm>
          <a:prstGeom prst="roundRect">
            <a:avLst>
              <a:gd name="adj" fmla="val 5517"/>
            </a:avLst>
          </a:prstGeom>
          <a:solidFill>
            <a:schemeClr val="bg2"/>
          </a:solidFill>
          <a:ln w="12700">
            <a:solidFill>
              <a:schemeClr val="bg2"/>
            </a:solidFill>
            <a:prstDash val="solid"/>
          </a:ln>
        </p:spPr>
      </p:sp>
      <p:sp>
        <p:nvSpPr>
          <p:cNvPr id="27" name="Small time cost circle"/>
          <p:cNvSpPr/>
          <p:nvPr/>
        </p:nvSpPr>
        <p:spPr>
          <a:xfrm>
            <a:off x="7470648" y="4453128"/>
            <a:ext cx="475488" cy="475488"/>
          </a:xfrm>
          <a:prstGeom prst="ellipse">
            <a:avLst/>
          </a:prstGeom>
          <a:solidFill>
            <a:schemeClr val="accent2"/>
          </a:solidFill>
          <a:ln w="12700">
            <a:solidFill>
              <a:schemeClr val="accent2"/>
            </a:solidFill>
            <a:prstDash val="solid"/>
          </a:ln>
        </p:spPr>
      </p:sp>
      <p:pic>
        <p:nvPicPr>
          <p:cNvPr id="28" name="Small time cost icon" descr="preencoded.png">    </p:cNvPr>
          <p:cNvPicPr>
            <a:picLocks noChangeAspect="1"/>
          </p:cNvPicPr>
          <p:nvPr/>
        </p:nvPicPr>
        <p:blipFill>
          <a:blip r:embed="rId3"/>
          <a:stretch>
            <a:fillRect/>
          </a:stretch>
        </p:blipFill>
        <p:spPr>
          <a:xfrm>
            <a:off x="7589520" y="4572000"/>
            <a:ext cx="237744" cy="237744"/>
          </a:xfrm>
          <a:prstGeom prst="rect">
            <a:avLst/>
          </a:prstGeom>
        </p:spPr>
      </p:pic>
      <p:sp>
        <p:nvSpPr>
          <p:cNvPr id="29" name="Small time cost text"/>
          <p:cNvSpPr txBox="1"/>
          <p:nvPr/>
        </p:nvSpPr>
        <p:spPr>
          <a:xfrm>
            <a:off x="8129016" y="441655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Small time cost</a:t>
            </a:r>
            <a:endParaRPr lang="en-GB" sz="1400" dirty="0"/>
          </a:p>
          <a:p>
            <a:pPr indent="0" marL="0">
              <a:spcAft>
                <a:spcPts val="300"/>
              </a:spcAft>
              <a:buNone/>
            </a:pPr>
            <a:r>
              <a:rPr lang="en-GB" altLang="en-US" sz="1400" dirty="0">
                <a:solidFill>
                  <a:schemeClr val="tx1"/>
                </a:solidFill>
              </a:rPr>
              <a:t>AI median 31.5 s of a 77 s job; comments posted in under two minutes.</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8</a:t>
            </a:fld>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Evaluation: what holds up, and its limits</a:t>
            </a:r>
            <a:endParaRPr lang="en-GB" sz="3600" dirty="0"/>
          </a:p>
        </p:txBody>
      </p:sp>
      <p:sp>
        <p:nvSpPr>
          <p:cNvPr id="3" name="What holds up column"/>
          <p:cNvSpPr/>
          <p:nvPr/>
        </p:nvSpPr>
        <p:spPr>
          <a:xfrm>
            <a:off x="548640" y="1325880"/>
            <a:ext cx="3515258" cy="3977640"/>
          </a:xfrm>
          <a:prstGeom prst="roundRect">
            <a:avLst>
              <a:gd name="adj" fmla="val 2081"/>
            </a:avLst>
          </a:prstGeom>
          <a:solidFill>
            <a:schemeClr val="bg2"/>
          </a:solidFill>
          <a:ln w="12700">
            <a:solidFill>
              <a:schemeClr val="bg2"/>
            </a:solidFill>
            <a:prstDash val="solid"/>
          </a:ln>
        </p:spPr>
      </p:sp>
      <p:sp>
        <p:nvSpPr>
          <p:cNvPr id="4" name="What holds up circle"/>
          <p:cNvSpPr/>
          <p:nvPr/>
        </p:nvSpPr>
        <p:spPr>
          <a:xfrm>
            <a:off x="777240" y="1508760"/>
            <a:ext cx="530352" cy="530352"/>
          </a:xfrm>
          <a:prstGeom prst="ellipse">
            <a:avLst/>
          </a:prstGeom>
          <a:solidFill>
            <a:schemeClr val="accent4"/>
          </a:solidFill>
          <a:ln w="12700">
            <a:solidFill>
              <a:schemeClr val="accent4"/>
            </a:solidFill>
            <a:prstDash val="solid"/>
          </a:ln>
        </p:spPr>
      </p:sp>
      <p:pic>
        <p:nvPicPr>
          <p:cNvPr id="5" name="What holds up icon" descr="preencoded.png">    </p:cNvPr>
          <p:cNvPicPr>
            <a:picLocks noChangeAspect="1"/>
          </p:cNvPicPr>
          <p:nvPr/>
        </p:nvPicPr>
        <p:blipFill>
          <a:blip r:embed="rId1"/>
          <a:stretch>
            <a:fillRect/>
          </a:stretch>
        </p:blipFill>
        <p:spPr>
          <a:xfrm>
            <a:off x="909828" y="1641348"/>
            <a:ext cx="265176" cy="265176"/>
          </a:xfrm>
          <a:prstGeom prst="rect">
            <a:avLst/>
          </a:prstGeom>
        </p:spPr>
      </p:pic>
      <p:sp>
        <p:nvSpPr>
          <p:cNvPr id="6" name="What holds up heading"/>
          <p:cNvSpPr txBox="1"/>
          <p:nvPr/>
        </p:nvSpPr>
        <p:spPr>
          <a:xfrm>
            <a:off x="1463040"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What holds up</a:t>
            </a:r>
            <a:endParaRPr lang="en-GB" sz="1800" dirty="0"/>
          </a:p>
        </p:txBody>
      </p:sp>
      <p:sp>
        <p:nvSpPr>
          <p:cNvPr id="7" name="What holds up points"/>
          <p:cNvSpPr txBox="1"/>
          <p:nvPr/>
        </p:nvSpPr>
        <p:spPr>
          <a:xfrm>
            <a:off x="777240"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Scanner coverage depends on rules; Checkov and tfsec complemented each other</a:t>
            </a:r>
            <a:endParaRPr lang="en-GB" sz="1400" dirty="0"/>
          </a:p>
          <a:p>
            <a:pPr marL="177800" indent="-177800">
              <a:spcAft>
                <a:spcPts val="900"/>
              </a:spcAft>
              <a:buSzPct val="100000"/>
              <a:buChar char="•"/>
            </a:pPr>
            <a:r>
              <a:rPr lang="en-GB" altLang="en-US" sz="1400" dirty="0">
                <a:solidFill>
                  <a:schemeClr val="tx1"/>
                </a:solidFill>
              </a:rPr>
              <a:t>The AI found context-dependent and semantic problems the scanners could not</a:t>
            </a:r>
            <a:endParaRPr lang="en-GB" sz="1400" dirty="0"/>
          </a:p>
          <a:p>
            <a:pPr marL="177800" indent="-177800">
              <a:spcAft>
                <a:spcPts val="900"/>
              </a:spcAft>
              <a:buSzPct val="100000"/>
              <a:buChar char="•"/>
            </a:pPr>
            <a:r>
              <a:rPr lang="en-GB" altLang="en-US" sz="1400" dirty="0">
                <a:solidFill>
                  <a:schemeClr val="tx1"/>
                </a:solidFill>
              </a:rPr>
              <a:t>Its errors were less predictable: it varied between identical runs and was steered by comments</a:t>
            </a:r>
            <a:endParaRPr lang="en-GB" sz="1400" dirty="0"/>
          </a:p>
        </p:txBody>
      </p:sp>
      <p:sp>
        <p:nvSpPr>
          <p:cNvPr id="8" name="Limits column"/>
          <p:cNvSpPr/>
          <p:nvPr/>
        </p:nvSpPr>
        <p:spPr>
          <a:xfrm>
            <a:off x="4338218" y="1325880"/>
            <a:ext cx="3515258" cy="3977640"/>
          </a:xfrm>
          <a:prstGeom prst="roundRect">
            <a:avLst>
              <a:gd name="adj" fmla="val 2081"/>
            </a:avLst>
          </a:prstGeom>
          <a:solidFill>
            <a:schemeClr val="bg2"/>
          </a:solidFill>
          <a:ln w="12700">
            <a:solidFill>
              <a:schemeClr val="bg2"/>
            </a:solidFill>
            <a:prstDash val="solid"/>
          </a:ln>
        </p:spPr>
      </p:sp>
      <p:sp>
        <p:nvSpPr>
          <p:cNvPr id="9" name="Limits circle"/>
          <p:cNvSpPr/>
          <p:nvPr/>
        </p:nvSpPr>
        <p:spPr>
          <a:xfrm>
            <a:off x="4566818" y="1508760"/>
            <a:ext cx="530352" cy="530352"/>
          </a:xfrm>
          <a:prstGeom prst="ellipse">
            <a:avLst/>
          </a:prstGeom>
          <a:solidFill>
            <a:schemeClr val="accent5"/>
          </a:solidFill>
          <a:ln w="12700">
            <a:solidFill>
              <a:schemeClr val="accent5"/>
            </a:solidFill>
            <a:prstDash val="solid"/>
          </a:ln>
        </p:spPr>
      </p:sp>
      <p:pic>
        <p:nvPicPr>
          <p:cNvPr id="10" name="Limits icon" descr="preencoded.png">    </p:cNvPr>
          <p:cNvPicPr>
            <a:picLocks noChangeAspect="1"/>
          </p:cNvPicPr>
          <p:nvPr/>
        </p:nvPicPr>
        <p:blipFill>
          <a:blip r:embed="rId2"/>
          <a:stretch>
            <a:fillRect/>
          </a:stretch>
        </p:blipFill>
        <p:spPr>
          <a:xfrm>
            <a:off x="4699406" y="1641348"/>
            <a:ext cx="265176" cy="265176"/>
          </a:xfrm>
          <a:prstGeom prst="rect">
            <a:avLst/>
          </a:prstGeom>
        </p:spPr>
      </p:pic>
      <p:sp>
        <p:nvSpPr>
          <p:cNvPr id="11" name="Limits heading"/>
          <p:cNvSpPr txBox="1"/>
          <p:nvPr/>
        </p:nvSpPr>
        <p:spPr>
          <a:xfrm>
            <a:off x="5252618"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Limits</a:t>
            </a:r>
            <a:endParaRPr lang="en-GB" sz="1800" dirty="0"/>
          </a:p>
        </p:txBody>
      </p:sp>
      <p:sp>
        <p:nvSpPr>
          <p:cNvPr id="12" name="Limits points"/>
          <p:cNvSpPr txBox="1"/>
          <p:nvPr/>
        </p:nvSpPr>
        <p:spPr>
          <a:xfrm>
            <a:off x="4566818"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15 constructed cases, one cloud, one model, one prompt</a:t>
            </a:r>
            <a:endParaRPr lang="en-GB" sz="1400" dirty="0"/>
          </a:p>
          <a:p>
            <a:pPr marL="177800" indent="-177800">
              <a:spcAft>
                <a:spcPts val="900"/>
              </a:spcAft>
              <a:buSzPct val="100000"/>
              <a:buChar char="•"/>
            </a:pPr>
            <a:r>
              <a:rPr lang="en-GB" altLang="en-US" sz="1400" dirty="0">
                <a:solidFill>
                  <a:schemeClr val="tx1"/>
                </a:solidFill>
              </a:rPr>
              <a:t>Cases partly chosen where scanner rules were weak; such sets can flatter AI (Ding et al., 2025)</a:t>
            </a:r>
            <a:endParaRPr lang="en-GB" sz="1400" dirty="0"/>
          </a:p>
          <a:p>
            <a:pPr marL="177800" indent="-177800">
              <a:spcAft>
                <a:spcPts val="900"/>
              </a:spcAft>
              <a:buSzPct val="100000"/>
              <a:buChar char="•"/>
            </a:pPr>
            <a:r>
              <a:rPr lang="en-GB" altLang="en-US" sz="1400" dirty="0">
                <a:solidFill>
                  <a:schemeClr val="tx1"/>
                </a:solidFill>
              </a:rPr>
              <a:t>Fixture comments may have cued the AI; only the AI got the policy file</a:t>
            </a:r>
            <a:endParaRPr lang="en-GB" sz="1400" dirty="0"/>
          </a:p>
          <a:p>
            <a:pPr marL="177800" indent="-177800">
              <a:spcAft>
                <a:spcPts val="900"/>
              </a:spcAft>
              <a:buSzPct val="100000"/>
              <a:buChar char="•"/>
            </a:pPr>
            <a:r>
              <a:rPr lang="en-GB" altLang="en-US" sz="1400" dirty="0">
                <a:solidFill>
                  <a:schemeClr val="tx1"/>
                </a:solidFill>
              </a:rPr>
              <a:t>Single-rater, AI-assisted scoring; three runs show variation but cannot measure it</a:t>
            </a:r>
            <a:endParaRPr lang="en-GB" sz="1400" dirty="0"/>
          </a:p>
        </p:txBody>
      </p:sp>
      <p:sp>
        <p:nvSpPr>
          <p:cNvPr id="13" name="What I learned column"/>
          <p:cNvSpPr/>
          <p:nvPr/>
        </p:nvSpPr>
        <p:spPr>
          <a:xfrm>
            <a:off x="8127797" y="1325880"/>
            <a:ext cx="3515258" cy="3977640"/>
          </a:xfrm>
          <a:prstGeom prst="roundRect">
            <a:avLst>
              <a:gd name="adj" fmla="val 2081"/>
            </a:avLst>
          </a:prstGeom>
          <a:solidFill>
            <a:schemeClr val="bg2"/>
          </a:solidFill>
          <a:ln w="12700">
            <a:solidFill>
              <a:schemeClr val="bg2"/>
            </a:solidFill>
            <a:prstDash val="solid"/>
          </a:ln>
        </p:spPr>
      </p:sp>
      <p:sp>
        <p:nvSpPr>
          <p:cNvPr id="14" name="What I learned circle"/>
          <p:cNvSpPr/>
          <p:nvPr/>
        </p:nvSpPr>
        <p:spPr>
          <a:xfrm>
            <a:off x="8356397" y="1508760"/>
            <a:ext cx="530352" cy="530352"/>
          </a:xfrm>
          <a:prstGeom prst="ellipse">
            <a:avLst/>
          </a:prstGeom>
          <a:solidFill>
            <a:schemeClr val="accent1"/>
          </a:solidFill>
          <a:ln w="12700">
            <a:solidFill>
              <a:schemeClr val="accent1"/>
            </a:solidFill>
            <a:prstDash val="solid"/>
          </a:ln>
        </p:spPr>
      </p:sp>
      <p:pic>
        <p:nvPicPr>
          <p:cNvPr id="15" name="What I learned icon" descr="preencoded.png">    </p:cNvPr>
          <p:cNvPicPr>
            <a:picLocks noChangeAspect="1"/>
          </p:cNvPicPr>
          <p:nvPr/>
        </p:nvPicPr>
        <p:blipFill>
          <a:blip r:embed="rId3"/>
          <a:stretch>
            <a:fillRect/>
          </a:stretch>
        </p:blipFill>
        <p:spPr>
          <a:xfrm>
            <a:off x="8488985" y="1641348"/>
            <a:ext cx="265176" cy="265176"/>
          </a:xfrm>
          <a:prstGeom prst="rect">
            <a:avLst/>
          </a:prstGeom>
        </p:spPr>
      </p:pic>
      <p:sp>
        <p:nvSpPr>
          <p:cNvPr id="16" name="What I learned heading"/>
          <p:cNvSpPr txBox="1"/>
          <p:nvPr/>
        </p:nvSpPr>
        <p:spPr>
          <a:xfrm>
            <a:off x="9042197"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What I learned</a:t>
            </a:r>
            <a:endParaRPr lang="en-GB" sz="1800" dirty="0"/>
          </a:p>
        </p:txBody>
      </p:sp>
      <p:sp>
        <p:nvSpPr>
          <p:cNvPr id="17" name="What I learned points"/>
          <p:cNvSpPr txBox="1"/>
          <p:nvPr/>
        </p:nvSpPr>
        <p:spPr>
          <a:xfrm>
            <a:off x="8356397"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My first “AI-only” results were scanner-informed; I fixed the workflow and reran everything</a:t>
            </a:r>
            <a:endParaRPr lang="en-GB" sz="1400" dirty="0"/>
          </a:p>
          <a:p>
            <a:pPr marL="177800" indent="-177800">
              <a:spcAft>
                <a:spcPts val="900"/>
              </a:spcAft>
              <a:buSzPct val="100000"/>
              <a:buChar char="•"/>
            </a:pPr>
            <a:r>
              <a:rPr lang="en-GB" altLang="en-US" sz="1400" dirty="0">
                <a:solidFill>
                  <a:schemeClr val="tx1"/>
                </a:solidFill>
              </a:rPr>
              <a:t>A result counts only when tied to a run, a commit and the raw output</a:t>
            </a:r>
            <a:endParaRPr lang="en-GB" sz="1400" dirty="0"/>
          </a:p>
          <a:p>
            <a:pPr marL="177800" indent="-177800">
              <a:spcAft>
                <a:spcPts val="900"/>
              </a:spcAft>
              <a:buSzPct val="100000"/>
              <a:buChar char="•"/>
            </a:pPr>
            <a:r>
              <a:rPr lang="en-GB" altLang="en-US" sz="1400" dirty="0">
                <a:solidFill>
                  <a:schemeClr val="tx1"/>
                </a:solidFill>
              </a:rPr>
              <a:t>Next time: prove independence first, strip comments, pin every version, add a second scorer</a:t>
            </a:r>
            <a:endParaRPr lang="en-GB" sz="1400" dirty="0"/>
          </a:p>
        </p:txBody>
      </p:sp>
      <p:sp>
        <p:nvSpPr>
          <p:cNvPr id="18" name="O1 objective"/>
          <p:cNvSpPr/>
          <p:nvPr/>
        </p:nvSpPr>
        <p:spPr>
          <a:xfrm>
            <a:off x="548640" y="5486400"/>
            <a:ext cx="2636444" cy="502920"/>
          </a:xfrm>
          <a:prstGeom prst="roundRect">
            <a:avLst>
              <a:gd name="adj" fmla="val 14545"/>
            </a:avLst>
          </a:prstGeom>
          <a:solidFill>
            <a:schemeClr val="bg1"/>
          </a:solidFill>
          <a:ln w="15875">
            <a:solidFill>
              <a:srgbClr val="2E7D4F"/>
            </a:solidFill>
            <a:prstDash val="solid"/>
          </a:ln>
        </p:spPr>
      </p:sp>
      <p:sp>
        <p:nvSpPr>
          <p:cNvPr id="19" name="O1 check circle"/>
          <p:cNvSpPr/>
          <p:nvPr/>
        </p:nvSpPr>
        <p:spPr>
          <a:xfrm>
            <a:off x="649224" y="5564124"/>
            <a:ext cx="347472" cy="347472"/>
          </a:xfrm>
          <a:prstGeom prst="ellipse">
            <a:avLst/>
          </a:prstGeom>
          <a:solidFill>
            <a:schemeClr val="accent4"/>
          </a:solidFill>
          <a:ln w="12700">
            <a:solidFill>
              <a:schemeClr val="accent4"/>
            </a:solidFill>
            <a:prstDash val="solid"/>
          </a:ln>
        </p:spPr>
      </p:sp>
      <p:pic>
        <p:nvPicPr>
          <p:cNvPr id="20" name="O1 check icon" descr="preencoded.png">    </p:cNvPr>
          <p:cNvPicPr>
            <a:picLocks noChangeAspect="1"/>
          </p:cNvPicPr>
          <p:nvPr/>
        </p:nvPicPr>
        <p:blipFill>
          <a:blip r:embed="rId4"/>
          <a:stretch>
            <a:fillRect/>
          </a:stretch>
        </p:blipFill>
        <p:spPr>
          <a:xfrm>
            <a:off x="732617" y="5647517"/>
            <a:ext cx="180685" cy="180685"/>
          </a:xfrm>
          <a:prstGeom prst="rect">
            <a:avLst/>
          </a:prstGeom>
        </p:spPr>
      </p:pic>
      <p:sp>
        <p:nvSpPr>
          <p:cNvPr id="21" name="O1 text"/>
          <p:cNvSpPr txBox="1"/>
          <p:nvPr/>
        </p:nvSpPr>
        <p:spPr>
          <a:xfrm>
            <a:off x="1078992"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O1  </a:t>
            </a:r>
            <a:pPr indent="0" marL="0">
              <a:buNone/>
            </a:pPr>
            <a:r>
              <a:rPr lang="en-GB" altLang="en-US" sz="1300" dirty="0">
                <a:solidFill>
                  <a:schemeClr val="tx1"/>
                </a:solidFill>
              </a:rPr>
              <a:t>Literature reviewed</a:t>
            </a:r>
            <a:endParaRPr lang="en-GB" sz="1300" dirty="0"/>
          </a:p>
        </p:txBody>
      </p:sp>
      <p:sp>
        <p:nvSpPr>
          <p:cNvPr id="22" name="O2 objective"/>
          <p:cNvSpPr/>
          <p:nvPr/>
        </p:nvSpPr>
        <p:spPr>
          <a:xfrm>
            <a:off x="3367964" y="5486400"/>
            <a:ext cx="2636444" cy="502920"/>
          </a:xfrm>
          <a:prstGeom prst="roundRect">
            <a:avLst>
              <a:gd name="adj" fmla="val 14545"/>
            </a:avLst>
          </a:prstGeom>
          <a:solidFill>
            <a:schemeClr val="bg1"/>
          </a:solidFill>
          <a:ln w="15875">
            <a:solidFill>
              <a:srgbClr val="2E7D4F"/>
            </a:solidFill>
            <a:prstDash val="solid"/>
          </a:ln>
        </p:spPr>
      </p:sp>
      <p:sp>
        <p:nvSpPr>
          <p:cNvPr id="23" name="O2 check circle"/>
          <p:cNvSpPr/>
          <p:nvPr/>
        </p:nvSpPr>
        <p:spPr>
          <a:xfrm>
            <a:off x="3468548" y="5564124"/>
            <a:ext cx="347472" cy="347472"/>
          </a:xfrm>
          <a:prstGeom prst="ellipse">
            <a:avLst/>
          </a:prstGeom>
          <a:solidFill>
            <a:schemeClr val="accent4"/>
          </a:solidFill>
          <a:ln w="12700">
            <a:solidFill>
              <a:schemeClr val="accent4"/>
            </a:solidFill>
            <a:prstDash val="solid"/>
          </a:ln>
        </p:spPr>
      </p:sp>
      <p:pic>
        <p:nvPicPr>
          <p:cNvPr id="24" name="O2 check icon" descr="preencoded.png">    </p:cNvPr>
          <p:cNvPicPr>
            <a:picLocks noChangeAspect="1"/>
          </p:cNvPicPr>
          <p:nvPr/>
        </p:nvPicPr>
        <p:blipFill>
          <a:blip r:embed="rId5"/>
          <a:stretch>
            <a:fillRect/>
          </a:stretch>
        </p:blipFill>
        <p:spPr>
          <a:xfrm>
            <a:off x="3551941" y="5647517"/>
            <a:ext cx="180685" cy="180685"/>
          </a:xfrm>
          <a:prstGeom prst="rect">
            <a:avLst/>
          </a:prstGeom>
        </p:spPr>
      </p:pic>
      <p:sp>
        <p:nvSpPr>
          <p:cNvPr id="25" name="O2 text"/>
          <p:cNvSpPr txBox="1"/>
          <p:nvPr/>
        </p:nvSpPr>
        <p:spPr>
          <a:xfrm>
            <a:off x="3898316"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O2  </a:t>
            </a:r>
            <a:pPr indent="0" marL="0">
              <a:buNone/>
            </a:pPr>
            <a:r>
              <a:rPr lang="en-GB" altLang="en-US" sz="1300" dirty="0">
                <a:solidFill>
                  <a:schemeClr val="tx1"/>
                </a:solidFill>
              </a:rPr>
              <a:t>Pipeline built</a:t>
            </a:r>
            <a:endParaRPr lang="en-GB" sz="1300" dirty="0"/>
          </a:p>
        </p:txBody>
      </p:sp>
      <p:sp>
        <p:nvSpPr>
          <p:cNvPr id="26" name="O3 objective"/>
          <p:cNvSpPr/>
          <p:nvPr/>
        </p:nvSpPr>
        <p:spPr>
          <a:xfrm>
            <a:off x="6187288" y="5486400"/>
            <a:ext cx="2636444" cy="502920"/>
          </a:xfrm>
          <a:prstGeom prst="roundRect">
            <a:avLst>
              <a:gd name="adj" fmla="val 14545"/>
            </a:avLst>
          </a:prstGeom>
          <a:solidFill>
            <a:schemeClr val="bg1"/>
          </a:solidFill>
          <a:ln w="15875">
            <a:solidFill>
              <a:srgbClr val="2E7D4F"/>
            </a:solidFill>
            <a:prstDash val="solid"/>
          </a:ln>
        </p:spPr>
      </p:sp>
      <p:sp>
        <p:nvSpPr>
          <p:cNvPr id="27" name="O3 check circle"/>
          <p:cNvSpPr/>
          <p:nvPr/>
        </p:nvSpPr>
        <p:spPr>
          <a:xfrm>
            <a:off x="6287872" y="5564124"/>
            <a:ext cx="347472" cy="347472"/>
          </a:xfrm>
          <a:prstGeom prst="ellipse">
            <a:avLst/>
          </a:prstGeom>
          <a:solidFill>
            <a:schemeClr val="accent4"/>
          </a:solidFill>
          <a:ln w="12700">
            <a:solidFill>
              <a:schemeClr val="accent4"/>
            </a:solidFill>
            <a:prstDash val="solid"/>
          </a:ln>
        </p:spPr>
      </p:sp>
      <p:pic>
        <p:nvPicPr>
          <p:cNvPr id="28" name="O3 check icon" descr="preencoded.png">    </p:cNvPr>
          <p:cNvPicPr>
            <a:picLocks noChangeAspect="1"/>
          </p:cNvPicPr>
          <p:nvPr/>
        </p:nvPicPr>
        <p:blipFill>
          <a:blip r:embed="rId6"/>
          <a:stretch>
            <a:fillRect/>
          </a:stretch>
        </p:blipFill>
        <p:spPr>
          <a:xfrm>
            <a:off x="6371265" y="5647517"/>
            <a:ext cx="180685" cy="180685"/>
          </a:xfrm>
          <a:prstGeom prst="rect">
            <a:avLst/>
          </a:prstGeom>
        </p:spPr>
      </p:pic>
      <p:sp>
        <p:nvSpPr>
          <p:cNvPr id="29" name="O3 text"/>
          <p:cNvSpPr txBox="1"/>
          <p:nvPr/>
        </p:nvSpPr>
        <p:spPr>
          <a:xfrm>
            <a:off x="6717640"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O3  </a:t>
            </a:r>
            <a:pPr indent="0" marL="0">
              <a:buNone/>
            </a:pPr>
            <a:r>
              <a:rPr lang="en-GB" altLang="en-US" sz="1300" dirty="0">
                <a:solidFill>
                  <a:schemeClr val="tx1"/>
                </a:solidFill>
              </a:rPr>
              <a:t>Evaluated, within sample limits</a:t>
            </a:r>
            <a:endParaRPr lang="en-GB" sz="1300" dirty="0"/>
          </a:p>
        </p:txBody>
      </p:sp>
      <p:sp>
        <p:nvSpPr>
          <p:cNvPr id="30" name="O4 objective"/>
          <p:cNvSpPr/>
          <p:nvPr/>
        </p:nvSpPr>
        <p:spPr>
          <a:xfrm>
            <a:off x="9006611" y="5486400"/>
            <a:ext cx="2636444" cy="502920"/>
          </a:xfrm>
          <a:prstGeom prst="roundRect">
            <a:avLst>
              <a:gd name="adj" fmla="val 14545"/>
            </a:avLst>
          </a:prstGeom>
          <a:solidFill>
            <a:schemeClr val="bg1"/>
          </a:solidFill>
          <a:ln w="15875">
            <a:solidFill>
              <a:srgbClr val="2E7D4F"/>
            </a:solidFill>
            <a:prstDash val="solid"/>
          </a:ln>
        </p:spPr>
      </p:sp>
      <p:sp>
        <p:nvSpPr>
          <p:cNvPr id="31" name="O4 check circle"/>
          <p:cNvSpPr/>
          <p:nvPr/>
        </p:nvSpPr>
        <p:spPr>
          <a:xfrm>
            <a:off x="9107195" y="5564124"/>
            <a:ext cx="347472" cy="347472"/>
          </a:xfrm>
          <a:prstGeom prst="ellipse">
            <a:avLst/>
          </a:prstGeom>
          <a:solidFill>
            <a:schemeClr val="accent4"/>
          </a:solidFill>
          <a:ln w="12700">
            <a:solidFill>
              <a:schemeClr val="accent4"/>
            </a:solidFill>
            <a:prstDash val="solid"/>
          </a:ln>
        </p:spPr>
      </p:sp>
      <p:pic>
        <p:nvPicPr>
          <p:cNvPr id="32" name="O4 check icon" descr="preencoded.png">    </p:cNvPr>
          <p:cNvPicPr>
            <a:picLocks noChangeAspect="1"/>
          </p:cNvPicPr>
          <p:nvPr/>
        </p:nvPicPr>
        <p:blipFill>
          <a:blip r:embed="rId7"/>
          <a:stretch>
            <a:fillRect/>
          </a:stretch>
        </p:blipFill>
        <p:spPr>
          <a:xfrm>
            <a:off x="9190589" y="5647517"/>
            <a:ext cx="180685" cy="180685"/>
          </a:xfrm>
          <a:prstGeom prst="rect">
            <a:avLst/>
          </a:prstGeom>
        </p:spPr>
      </p:pic>
      <p:sp>
        <p:nvSpPr>
          <p:cNvPr id="33" name="O4 text"/>
          <p:cNvSpPr txBox="1"/>
          <p:nvPr/>
        </p:nvSpPr>
        <p:spPr>
          <a:xfrm>
            <a:off x="9536963"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O4  </a:t>
            </a:r>
            <a:pPr indent="0" marL="0">
              <a:buNone/>
            </a:pPr>
            <a:r>
              <a:rPr lang="en-GB" altLang="en-US" sz="1300" dirty="0">
                <a:solidFill>
                  <a:schemeClr val="tx1"/>
                </a:solidFill>
              </a:rPr>
              <a:t>Benefits and limits found</a:t>
            </a:r>
            <a:endParaRPr lang="en-GB" sz="13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9</a:t>
            </a:fld>
            <a:endParaRPr lang="en-GB"/>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Conclusion: an advisor beside scanners, not a gate</a:t>
            </a:r>
            <a:endParaRPr lang="en-GB" sz="3600" dirty="0"/>
          </a:p>
        </p:txBody>
      </p:sp>
      <p:sp>
        <p:nvSpPr>
          <p:cNvPr id="3" name="Answer card"/>
          <p:cNvSpPr/>
          <p:nvPr/>
        </p:nvSpPr>
        <p:spPr>
          <a:xfrm>
            <a:off x="548640" y="1325880"/>
            <a:ext cx="6446520" cy="1298448"/>
          </a:xfrm>
          <a:prstGeom prst="roundRect">
            <a:avLst>
              <a:gd name="adj" fmla="val 5634"/>
            </a:avLst>
          </a:prstGeom>
          <a:solidFill>
            <a:schemeClr val="tx2"/>
          </a:solidFill>
          <a:ln w="12700">
            <a:solidFill>
              <a:schemeClr val="tx2"/>
            </a:solidFill>
            <a:prstDash val="solid"/>
          </a:ln>
        </p:spPr>
      </p:sp>
      <p:sp>
        <p:nvSpPr>
          <p:cNvPr id="4" name="Answer"/>
          <p:cNvSpPr txBox="1"/>
          <p:nvPr/>
        </p:nvSpPr>
        <p:spPr>
          <a:xfrm>
            <a:off x="822960" y="1325880"/>
            <a:ext cx="5897880" cy="1298448"/>
          </a:xfrm>
          <a:prstGeom prst="rect">
            <a:avLst/>
          </a:prstGeom>
          <a:noFill/>
          <a:ln/>
        </p:spPr>
        <p:txBody>
          <a:bodyPr wrap="square" lIns="0" tIns="0" rIns="0" bIns="0" rtlCol="0" anchor="ctr"/>
          <a:lstStyle/>
          <a:p>
            <a:pPr indent="0" marL="0">
              <a:buNone/>
            </a:pPr>
            <a:r>
              <a:rPr lang="en-GB" altLang="en-US" sz="1500" b="1" dirty="0">
                <a:solidFill>
                  <a:schemeClr val="bg1"/>
                </a:solidFill>
              </a:rPr>
              <a:t>A qualified yes. </a:t>
            </a:r>
            <a:pPr indent="0" marL="0">
              <a:buNone/>
            </a:pPr>
            <a:r>
              <a:rPr lang="en-GB" altLang="en-US" sz="1500" dirty="0">
                <a:solidFill>
                  <a:schemeClr val="bg1"/>
                </a:solidFill>
              </a:rPr>
              <a:t>On 15 controlled cases the AI improved coverage (11 of 12 plus 1 partial, against 8 for both scanners), but its errors were less predictable. It should advise beside the scanners, not decide merges.</a:t>
            </a:r>
            <a:endParaRPr lang="en-GB" sz="1500" dirty="0"/>
          </a:p>
        </p:txBody>
      </p:sp>
      <p:sp>
        <p:nvSpPr>
          <p:cNvPr id="5" name="Label Recommendations"/>
          <p:cNvSpPr txBox="1"/>
          <p:nvPr/>
        </p:nvSpPr>
        <p:spPr>
          <a:xfrm>
            <a:off x="548640" y="283464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RECOMMENDATIONS</a:t>
            </a:r>
            <a:endParaRPr lang="en-GB" sz="1200" dirty="0"/>
          </a:p>
        </p:txBody>
      </p:sp>
      <p:sp>
        <p:nvSpPr>
          <p:cNvPr id="6" name="Recommendations"/>
          <p:cNvSpPr txBox="1"/>
          <p:nvPr/>
        </p:nvSpPr>
        <p:spPr>
          <a:xfrm>
            <a:off x="548640" y="3127248"/>
            <a:ext cx="6446520" cy="192024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GB" altLang="en-US" sz="1400" dirty="0">
                <a:solidFill>
                  <a:schemeClr val="tx1"/>
                </a:solidFill>
              </a:rPr>
              <a:t>Scanners enforce; the AI advises and never blocks or approves</a:t>
            </a:r>
            <a:endParaRPr lang="en-GB" sz="1400" dirty="0"/>
          </a:p>
          <a:p>
            <a:pPr marL="342900" indent="-342900">
              <a:spcAft>
                <a:spcPts val="400"/>
              </a:spcAft>
              <a:buSzPct val="100000"/>
              <a:buFont typeface="+mj-lt"/>
              <a:buAutoNum type="arabicPeriod" startAt="1"/>
            </a:pPr>
            <a:r>
              <a:rPr lang="en-GB" altLang="en-US" sz="1400" dirty="0">
                <a:solidFill>
                  <a:schemeClr val="tx1"/>
                </a:solidFill>
              </a:rPr>
              <a:t>Run more than one scanner, or check rule coverage</a:t>
            </a:r>
            <a:endParaRPr lang="en-GB" sz="1400" dirty="0"/>
          </a:p>
          <a:p>
            <a:pPr marL="342900" indent="-342900">
              <a:spcAft>
                <a:spcPts val="400"/>
              </a:spcAft>
              <a:buSzPct val="100000"/>
              <a:buFont typeface="+mj-lt"/>
              <a:buAutoNum type="arabicPeriod" startAt="1"/>
            </a:pPr>
            <a:r>
              <a:rPr lang="en-GB" altLang="en-US" sz="1400" dirty="0">
                <a:solidFill>
                  <a:schemeClr val="tx1"/>
                </a:solidFill>
              </a:rPr>
              <a:t>Treat comments and pull-request text as untrusted input</a:t>
            </a:r>
            <a:endParaRPr lang="en-GB" sz="1400" dirty="0"/>
          </a:p>
          <a:p>
            <a:pPr marL="342900" indent="-342900">
              <a:spcAft>
                <a:spcPts val="400"/>
              </a:spcAft>
              <a:buSzPct val="100000"/>
              <a:buFont typeface="+mj-lt"/>
              <a:buAutoNum type="arabicPeriod" startAt="1"/>
            </a:pPr>
            <a:r>
              <a:rPr lang="en-GB" altLang="en-US" sz="1400" dirty="0">
                <a:solidFill>
                  <a:schemeClr val="tx1"/>
                </a:solidFill>
              </a:rPr>
              <a:t>Show uncertain AI findings instead of hiding them</a:t>
            </a:r>
            <a:endParaRPr lang="en-GB" sz="1400" dirty="0"/>
          </a:p>
          <a:p>
            <a:pPr marL="342900" indent="-342900">
              <a:spcAft>
                <a:spcPts val="400"/>
              </a:spcAft>
              <a:buSzPct val="100000"/>
              <a:buFont typeface="+mj-lt"/>
              <a:buAutoNum type="arabicPeriod" startAt="1"/>
            </a:pPr>
            <a:r>
              <a:rPr lang="en-GB" altLang="en-US" sz="1400" dirty="0">
                <a:solidFill>
                  <a:schemeClr val="tx1"/>
                </a:solidFill>
              </a:rPr>
              <a:t>Validate AI fixes automatically before suggesting them</a:t>
            </a:r>
            <a:endParaRPr lang="en-GB" sz="1400" dirty="0"/>
          </a:p>
          <a:p>
            <a:pPr marL="342900" indent="-342900">
              <a:spcAft>
                <a:spcPts val="400"/>
              </a:spcAft>
              <a:buSzPct val="100000"/>
              <a:buFont typeface="+mj-lt"/>
              <a:buAutoNum type="arabicPeriod" startAt="1"/>
            </a:pPr>
            <a:r>
              <a:rPr lang="en-GB" altLang="en-US" sz="1400" dirty="0">
                <a:solidFill>
                  <a:schemeClr val="tx1"/>
                </a:solidFill>
              </a:rPr>
              <a:t>Review deletion-only changes; log model version and settings</a:t>
            </a:r>
            <a:endParaRPr lang="en-GB" sz="1400" dirty="0"/>
          </a:p>
        </p:txBody>
      </p:sp>
      <p:sp>
        <p:nvSpPr>
          <p:cNvPr id="7" name="Further research card"/>
          <p:cNvSpPr/>
          <p:nvPr/>
        </p:nvSpPr>
        <p:spPr>
          <a:xfrm>
            <a:off x="548640" y="5166360"/>
            <a:ext cx="6446520" cy="822960"/>
          </a:xfrm>
          <a:prstGeom prst="roundRect">
            <a:avLst>
              <a:gd name="adj" fmla="val 8889"/>
            </a:avLst>
          </a:prstGeom>
          <a:solidFill>
            <a:schemeClr val="bg2"/>
          </a:solidFill>
          <a:ln w="12700">
            <a:solidFill>
              <a:schemeClr val="bg2"/>
            </a:solidFill>
            <a:prstDash val="solid"/>
          </a:ln>
        </p:spPr>
      </p:sp>
      <p:sp>
        <p:nvSpPr>
          <p:cNvPr id="8" name="Further research circle"/>
          <p:cNvSpPr/>
          <p:nvPr/>
        </p:nvSpPr>
        <p:spPr>
          <a:xfrm>
            <a:off x="713232" y="5340096"/>
            <a:ext cx="475488" cy="475488"/>
          </a:xfrm>
          <a:prstGeom prst="ellipse">
            <a:avLst/>
          </a:prstGeom>
          <a:solidFill>
            <a:schemeClr val="accent2"/>
          </a:solidFill>
          <a:ln w="12700">
            <a:solidFill>
              <a:schemeClr val="accent2"/>
            </a:solidFill>
            <a:prstDash val="solid"/>
          </a:ln>
        </p:spPr>
      </p:sp>
      <p:pic>
        <p:nvPicPr>
          <p:cNvPr id="9" name="Further research icon" descr="preencoded.png">    </p:cNvPr>
          <p:cNvPicPr>
            <a:picLocks noChangeAspect="1"/>
          </p:cNvPicPr>
          <p:nvPr/>
        </p:nvPicPr>
        <p:blipFill>
          <a:blip r:embed="rId1"/>
          <a:stretch>
            <a:fillRect/>
          </a:stretch>
        </p:blipFill>
        <p:spPr>
          <a:xfrm>
            <a:off x="832104" y="5458968"/>
            <a:ext cx="237744" cy="237744"/>
          </a:xfrm>
          <a:prstGeom prst="rect">
            <a:avLst/>
          </a:prstGeom>
        </p:spPr>
      </p:pic>
      <p:sp>
        <p:nvSpPr>
          <p:cNvPr id="10" name="Further research text"/>
          <p:cNvSpPr txBox="1"/>
          <p:nvPr/>
        </p:nvSpPr>
        <p:spPr>
          <a:xfrm>
            <a:off x="1325880" y="5166360"/>
            <a:ext cx="5532120" cy="822960"/>
          </a:xfrm>
          <a:prstGeom prst="rect">
            <a:avLst/>
          </a:prstGeom>
          <a:noFill/>
          <a:ln/>
        </p:spPr>
        <p:txBody>
          <a:bodyPr wrap="square" lIns="0" tIns="0" rIns="0" bIns="0" rtlCol="0" anchor="ctr"/>
          <a:lstStyle/>
          <a:p>
            <a:pPr indent="0" marL="0">
              <a:buNone/>
            </a:pPr>
            <a:r>
              <a:rPr lang="en-GB" altLang="en-US" sz="1300" b="1" dirty="0">
                <a:solidFill>
                  <a:schemeClr val="tx2"/>
                </a:solidFill>
              </a:rPr>
              <a:t>Further research: </a:t>
            </a:r>
            <a:pPr indent="0" marL="0">
              <a:buNone/>
            </a:pPr>
            <a:r>
              <a:rPr lang="en-GB" altLang="en-US" sz="1300" dirty="0">
                <a:solidFill>
                  <a:schemeClr val="tx1"/>
                </a:solidFill>
              </a:rPr>
              <a:t>real Terraform changes mined from public repositories; many runs across models; a comment-manipulation study; a study with developers</a:t>
            </a:r>
            <a:endParaRPr lang="en-GB" sz="1300" dirty="0"/>
          </a:p>
        </p:txBody>
      </p:sp>
      <p:sp>
        <p:nvSpPr>
          <p:cNvPr id="11" name="Label References"/>
          <p:cNvSpPr txBox="1"/>
          <p:nvPr/>
        </p:nvSpPr>
        <p:spPr>
          <a:xfrm>
            <a:off x="7315200" y="1325880"/>
            <a:ext cx="4327855"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REFERENCES</a:t>
            </a:r>
            <a:endParaRPr lang="en-GB" sz="1200" dirty="0"/>
          </a:p>
        </p:txBody>
      </p:sp>
      <p:sp>
        <p:nvSpPr>
          <p:cNvPr id="12" name="Reference list"/>
          <p:cNvSpPr txBox="1"/>
          <p:nvPr/>
        </p:nvSpPr>
        <p:spPr>
          <a:xfrm>
            <a:off x="7315200" y="1609344"/>
            <a:ext cx="4327855" cy="4434840"/>
          </a:xfrm>
          <a:prstGeom prst="rect">
            <a:avLst/>
          </a:prstGeom>
          <a:noFill/>
          <a:ln/>
        </p:spPr>
        <p:txBody>
          <a:bodyPr wrap="square" lIns="0" tIns="0" rIns="0" bIns="0" rtlCol="0" anchor="t"/>
          <a:lstStyle/>
          <a:p>
            <a:pPr indent="0" marL="0">
              <a:spcAft>
                <a:spcPts val="300"/>
              </a:spcAft>
              <a:buNone/>
            </a:pPr>
            <a:r>
              <a:rPr lang="en-GB" altLang="en-US" sz="1000" dirty="0">
                <a:solidFill>
                  <a:schemeClr val="tx1"/>
                </a:solidFill>
              </a:rPr>
              <a:t>Ding, Y. et al. (2025) ‘Vulnerability detection with code language models: How far are we?’, </a:t>
            </a:r>
            <a:pPr indent="0" marL="0">
              <a:spcAft>
                <a:spcPts val="300"/>
              </a:spcAft>
              <a:buNone/>
            </a:pPr>
            <a:r>
              <a:rPr lang="en-GB" altLang="en-US" sz="1000" i="1" dirty="0">
                <a:solidFill>
                  <a:schemeClr val="tx1"/>
                </a:solidFill>
              </a:rPr>
              <a:t>Proceedings of the 47th IEEE/ACM ICSE</a:t>
            </a:r>
            <a:pPr indent="0" marL="0">
              <a:spcAft>
                <a:spcPts val="300"/>
              </a:spcAft>
              <a:buNone/>
            </a:pPr>
            <a:r>
              <a:rPr lang="en-GB" altLang="en-US" sz="1000" dirty="0">
                <a:solidFill>
                  <a:schemeClr val="tx1"/>
                </a:solidFill>
              </a:rPr>
              <a:t>.</a:t>
            </a:r>
            <a:endParaRPr lang="en-GB" sz="1000" dirty="0"/>
          </a:p>
          <a:p>
            <a:pPr indent="0" marL="0">
              <a:spcAft>
                <a:spcPts val="300"/>
              </a:spcAft>
              <a:buNone/>
            </a:pPr>
            <a:r>
              <a:rPr lang="en-GB" altLang="en-US" sz="1000" dirty="0">
                <a:solidFill>
                  <a:schemeClr val="tx1"/>
                </a:solidFill>
              </a:rPr>
              <a:t>Greshake, K. et al. (2023) ‘Not what you’ve signed up for: Compromising real-world LLM-integrated applications with indirect prompt injection’, </a:t>
            </a:r>
            <a:pPr indent="0" marL="0">
              <a:spcAft>
                <a:spcPts val="300"/>
              </a:spcAft>
              <a:buNone/>
            </a:pPr>
            <a:r>
              <a:rPr lang="en-GB" altLang="en-US" sz="1000" i="1" dirty="0">
                <a:solidFill>
                  <a:schemeClr val="tx1"/>
                </a:solidFill>
              </a:rPr>
              <a:t>Proceedings of AISec ’23</a:t>
            </a:r>
            <a:pPr indent="0" marL="0">
              <a:spcAft>
                <a:spcPts val="300"/>
              </a:spcAft>
              <a:buNone/>
            </a:pPr>
            <a:r>
              <a:rPr lang="en-GB" altLang="en-US" sz="1000" dirty="0">
                <a:solidFill>
                  <a:schemeClr val="tx1"/>
                </a:solidFill>
              </a:rPr>
              <a:t>, pp. 79–90.</a:t>
            </a:r>
            <a:endParaRPr lang="en-GB" sz="1000" dirty="0"/>
          </a:p>
          <a:p>
            <a:pPr indent="0" marL="0">
              <a:spcAft>
                <a:spcPts val="300"/>
              </a:spcAft>
              <a:buNone/>
            </a:pPr>
            <a:r>
              <a:rPr lang="en-GB" altLang="en-US" sz="1000" dirty="0">
                <a:solidFill>
                  <a:schemeClr val="tx1"/>
                </a:solidFill>
              </a:rPr>
              <a:t>Ji, Z. et al. (2023) ‘Survey of hallucination in natural language generation’, </a:t>
            </a:r>
            <a:pPr indent="0" marL="0">
              <a:spcAft>
                <a:spcPts val="300"/>
              </a:spcAft>
              <a:buNone/>
            </a:pPr>
            <a:r>
              <a:rPr lang="en-GB" altLang="en-US" sz="1000" i="1" dirty="0">
                <a:solidFill>
                  <a:schemeClr val="tx1"/>
                </a:solidFill>
              </a:rPr>
              <a:t>ACM Computing Surveys</a:t>
            </a:r>
            <a:pPr indent="0" marL="0">
              <a:spcAft>
                <a:spcPts val="300"/>
              </a:spcAft>
              <a:buNone/>
            </a:pPr>
            <a:r>
              <a:rPr lang="en-GB" altLang="en-US" sz="1000" dirty="0">
                <a:solidFill>
                  <a:schemeClr val="tx1"/>
                </a:solidFill>
              </a:rPr>
              <a:t>, 55(12), pp. 1–38.</a:t>
            </a:r>
            <a:endParaRPr lang="en-GB" sz="1000" dirty="0"/>
          </a:p>
          <a:p>
            <a:pPr indent="0" marL="0">
              <a:spcAft>
                <a:spcPts val="300"/>
              </a:spcAft>
              <a:buNone/>
            </a:pPr>
            <a:r>
              <a:rPr lang="en-GB" altLang="en-US" sz="1000" dirty="0">
                <a:solidFill>
                  <a:schemeClr val="tx1"/>
                </a:solidFill>
              </a:rPr>
              <a:t>Johnson, B. et al. (2013) ‘Why don’t software developers use static analysis tools to find bugs?’, </a:t>
            </a:r>
            <a:pPr indent="0" marL="0">
              <a:spcAft>
                <a:spcPts val="300"/>
              </a:spcAft>
              <a:buNone/>
            </a:pPr>
            <a:r>
              <a:rPr lang="en-GB" altLang="en-US" sz="1000" i="1" dirty="0">
                <a:solidFill>
                  <a:schemeClr val="tx1"/>
                </a:solidFill>
              </a:rPr>
              <a:t>Proceedings of the 35th ICSE</a:t>
            </a:r>
            <a:pPr indent="0" marL="0">
              <a:spcAft>
                <a:spcPts val="300"/>
              </a:spcAft>
              <a:buNone/>
            </a:pPr>
            <a:r>
              <a:rPr lang="en-GB" altLang="en-US" sz="1000" dirty="0">
                <a:solidFill>
                  <a:schemeClr val="tx1"/>
                </a:solidFill>
              </a:rPr>
              <a:t>, pp. 672–681.</a:t>
            </a:r>
            <a:endParaRPr lang="en-GB" sz="1000" dirty="0"/>
          </a:p>
          <a:p>
            <a:pPr indent="0" marL="0">
              <a:spcAft>
                <a:spcPts val="300"/>
              </a:spcAft>
              <a:buNone/>
            </a:pPr>
            <a:r>
              <a:rPr lang="en-GB" altLang="en-US" sz="1000" dirty="0">
                <a:solidFill>
                  <a:schemeClr val="tx1"/>
                </a:solidFill>
              </a:rPr>
              <a:t>Li, H. et al. (2024) ‘Enhancing static analysis for practical bug detection: An LLM-integrated approach’, </a:t>
            </a:r>
            <a:pPr indent="0" marL="0">
              <a:spcAft>
                <a:spcPts val="300"/>
              </a:spcAft>
              <a:buNone/>
            </a:pPr>
            <a:r>
              <a:rPr lang="en-GB" altLang="en-US" sz="1000" i="1" dirty="0">
                <a:solidFill>
                  <a:schemeClr val="tx1"/>
                </a:solidFill>
              </a:rPr>
              <a:t>Proceedings of the ACM on Programming Languages</a:t>
            </a:r>
            <a:pPr indent="0" marL="0">
              <a:spcAft>
                <a:spcPts val="300"/>
              </a:spcAft>
              <a:buNone/>
            </a:pPr>
            <a:r>
              <a:rPr lang="en-GB" altLang="en-US" sz="1000" dirty="0">
                <a:solidFill>
                  <a:schemeClr val="tx1"/>
                </a:solidFill>
              </a:rPr>
              <a:t>, 8(OOPSLA1), Article 111.</a:t>
            </a:r>
            <a:endParaRPr lang="en-GB" sz="1000" dirty="0"/>
          </a:p>
          <a:p>
            <a:pPr indent="0" marL="0">
              <a:spcAft>
                <a:spcPts val="300"/>
              </a:spcAft>
              <a:buNone/>
            </a:pPr>
            <a:r>
              <a:rPr lang="en-GB" altLang="en-US" sz="1000" dirty="0">
                <a:solidFill>
                  <a:schemeClr val="tx1"/>
                </a:solidFill>
              </a:rPr>
              <a:t>Microsoft (2024) </a:t>
            </a:r>
            <a:pPr indent="0" marL="0">
              <a:spcAft>
                <a:spcPts val="300"/>
              </a:spcAft>
              <a:buNone/>
            </a:pPr>
            <a:r>
              <a:rPr lang="en-GB" altLang="en-US" sz="1000" i="1" dirty="0">
                <a:solidFill>
                  <a:schemeClr val="tx1"/>
                </a:solidFill>
              </a:rPr>
              <a:t>Shared responsibility in the cloud</a:t>
            </a:r>
            <a:pPr indent="0" marL="0">
              <a:spcAft>
                <a:spcPts val="300"/>
              </a:spcAft>
              <a:buNone/>
            </a:pPr>
            <a:r>
              <a:rPr lang="en-GB" altLang="en-US" sz="1000" dirty="0">
                <a:solidFill>
                  <a:schemeClr val="tx1"/>
                </a:solidFill>
              </a:rPr>
              <a:t>. Available at: https://learn.microsoft.com/azure/security/fundamentals/shared-responsibility (Accessed: 23 July 2026).</a:t>
            </a:r>
            <a:endParaRPr lang="en-GB" sz="1000" dirty="0"/>
          </a:p>
          <a:p>
            <a:pPr indent="0" marL="0">
              <a:spcAft>
                <a:spcPts val="300"/>
              </a:spcAft>
              <a:buNone/>
            </a:pPr>
            <a:r>
              <a:rPr lang="en-GB" altLang="en-US" sz="1000" dirty="0">
                <a:solidFill>
                  <a:schemeClr val="tx1"/>
                </a:solidFill>
              </a:rPr>
              <a:t>Morris, K. (2020) </a:t>
            </a:r>
            <a:pPr indent="0" marL="0">
              <a:spcAft>
                <a:spcPts val="300"/>
              </a:spcAft>
              <a:buNone/>
            </a:pPr>
            <a:r>
              <a:rPr lang="en-GB" altLang="en-US" sz="1000" i="1" dirty="0">
                <a:solidFill>
                  <a:schemeClr val="tx1"/>
                </a:solidFill>
              </a:rPr>
              <a:t>Infrastructure as Code: Dynamic Systems for the Cloud Age</a:t>
            </a:r>
            <a:pPr indent="0" marL="0">
              <a:spcAft>
                <a:spcPts val="300"/>
              </a:spcAft>
              <a:buNone/>
            </a:pPr>
            <a:r>
              <a:rPr lang="en-GB" altLang="en-US" sz="1000" dirty="0">
                <a:solidFill>
                  <a:schemeClr val="tx1"/>
                </a:solidFill>
              </a:rPr>
              <a:t>. 2nd edn. Sebastopol, CA: O’Reilly Media.</a:t>
            </a:r>
            <a:endParaRPr lang="en-GB" sz="1000" dirty="0"/>
          </a:p>
          <a:p>
            <a:pPr indent="0" marL="0">
              <a:spcAft>
                <a:spcPts val="300"/>
              </a:spcAft>
              <a:buNone/>
            </a:pPr>
            <a:r>
              <a:rPr lang="en-GB" altLang="en-US" sz="1000" dirty="0">
                <a:solidFill>
                  <a:schemeClr val="tx1"/>
                </a:solidFill>
              </a:rPr>
              <a:t>Ouyang, S. et al. (2025) ‘An empirical study of the non-determinism of ChatGPT in code generation’, </a:t>
            </a:r>
            <a:pPr indent="0" marL="0">
              <a:spcAft>
                <a:spcPts val="300"/>
              </a:spcAft>
              <a:buNone/>
            </a:pPr>
            <a:r>
              <a:rPr lang="en-GB" altLang="en-US" sz="1000" i="1" dirty="0">
                <a:solidFill>
                  <a:schemeClr val="tx1"/>
                </a:solidFill>
              </a:rPr>
              <a:t>ACM Transactions on Software Engineering and Methodology</a:t>
            </a:r>
            <a:pPr indent="0" marL="0">
              <a:spcAft>
                <a:spcPts val="300"/>
              </a:spcAft>
              <a:buNone/>
            </a:pPr>
            <a:r>
              <a:rPr lang="en-GB" altLang="en-US" sz="1000" dirty="0">
                <a:solidFill>
                  <a:schemeClr val="tx1"/>
                </a:solidFill>
              </a:rPr>
              <a:t>, 34(2), pp. 1–28.</a:t>
            </a:r>
            <a:endParaRPr lang="en-GB" sz="1000" dirty="0"/>
          </a:p>
          <a:p>
            <a:pPr indent="0" marL="0">
              <a:spcAft>
                <a:spcPts val="300"/>
              </a:spcAft>
              <a:buNone/>
            </a:pPr>
            <a:r>
              <a:rPr lang="en-GB" altLang="en-US" sz="1000" dirty="0">
                <a:solidFill>
                  <a:schemeClr val="tx1"/>
                </a:solidFill>
              </a:rPr>
              <a:t>Pearce, H. et al. (2023) ‘Examining zero-shot vulnerability repair with large language models’, </a:t>
            </a:r>
            <a:pPr indent="0" marL="0">
              <a:spcAft>
                <a:spcPts val="300"/>
              </a:spcAft>
              <a:buNone/>
            </a:pPr>
            <a:r>
              <a:rPr lang="en-GB" altLang="en-US" sz="1000" i="1" dirty="0">
                <a:solidFill>
                  <a:schemeClr val="tx1"/>
                </a:solidFill>
              </a:rPr>
              <a:t>2023 IEEE Symposium on Security and Privacy</a:t>
            </a:r>
            <a:pPr indent="0" marL="0">
              <a:spcAft>
                <a:spcPts val="300"/>
              </a:spcAft>
              <a:buNone/>
            </a:pPr>
            <a:r>
              <a:rPr lang="en-GB" altLang="en-US" sz="1000" dirty="0">
                <a:solidFill>
                  <a:schemeClr val="tx1"/>
                </a:solidFill>
              </a:rPr>
              <a:t>, pp. 2339–2356.</a:t>
            </a:r>
            <a:endParaRPr lang="en-GB" sz="1000" dirty="0"/>
          </a:p>
          <a:p>
            <a:pPr indent="0" marL="0">
              <a:spcAft>
                <a:spcPts val="300"/>
              </a:spcAft>
              <a:buNone/>
            </a:pPr>
            <a:r>
              <a:rPr lang="en-GB" altLang="en-US" sz="1000" dirty="0">
                <a:solidFill>
                  <a:schemeClr val="tx1"/>
                </a:solidFill>
              </a:rPr>
              <a:t>Rahman, A., Parnin, C. and Williams, L. (2019) ‘The seven sins: Security smells in infrastructure as code scripts’, </a:t>
            </a:r>
            <a:pPr indent="0" marL="0">
              <a:spcAft>
                <a:spcPts val="300"/>
              </a:spcAft>
              <a:buNone/>
            </a:pPr>
            <a:r>
              <a:rPr lang="en-GB" altLang="en-US" sz="1000" i="1" dirty="0">
                <a:solidFill>
                  <a:schemeClr val="tx1"/>
                </a:solidFill>
              </a:rPr>
              <a:t>Proceedings of the 41st ICSE</a:t>
            </a:r>
            <a:pPr indent="0" marL="0">
              <a:spcAft>
                <a:spcPts val="300"/>
              </a:spcAft>
              <a:buNone/>
            </a:pPr>
            <a:r>
              <a:rPr lang="en-GB" altLang="en-US" sz="1000" dirty="0">
                <a:solidFill>
                  <a:schemeClr val="tx1"/>
                </a:solidFill>
              </a:rPr>
              <a:t>, pp. 164–175.</a:t>
            </a:r>
            <a:endParaRPr lang="en-GB" sz="10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10</a:t>
            </a:fld>
            <a:endParaRPr lang="en-GB"/>
          </a:p>
        </p:txBody>
      </p:sp>
    </p:spTree>
  </p:cSld>
  <p:clrMapOvr>
    <a:masterClrMapping/>
  </p:clrMapOvr>
</p:sld>
</file>

<file path=ppt/theme/theme1.xml><?xml version="1.0" encoding="utf-8"?>
<a:theme xmlns:a="http://schemas.openxmlformats.org/drawingml/2006/main" name="Sunderland Research">
  <a:themeElements>
    <a:clrScheme name="Sunderland Research">
      <a:dk1>
        <a:srgbClr val="1A1F26"/>
      </a:dk1>
      <a:lt1>
        <a:srgbClr val="FFFFFF"/>
      </a:lt1>
      <a:dk2>
        <a:srgbClr val="08233E"/>
      </a:dk2>
      <a:lt2>
        <a:srgbClr val="EEF2F6"/>
      </a:lt2>
      <a:accent1>
        <a:srgbClr val="C73D1A"/>
      </a:accent1>
      <a:accent2>
        <a:srgbClr val="156082"/>
      </a:accent2>
      <a:accent3>
        <a:srgbClr val="6C93B8"/>
      </a:accent3>
      <a:accent4>
        <a:srgbClr val="2E7D4F"/>
      </a:accent4>
      <a:accent5>
        <a:srgbClr val="B7791F"/>
      </a:accent5>
      <a:accent6>
        <a:srgbClr val="7A8794"/>
      </a:accent6>
      <a:hlink>
        <a:srgbClr val="156082"/>
      </a:hlink>
      <a:folHlink>
        <a:srgbClr val="6C93B8"/>
      </a:folHlink>
    </a:clrScheme>
    <a:fontScheme name="Sunderland Resear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Sunderland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AI-Driven Security Review in Modern DevSecOps Pipelines</dc:title>
  <dc:subject>PROM06 Research Project: recorded presentation</dc:subject>
  <dc:creator>Abdul Waheed</dc:creator>
  <cp:lastModifiedBy>Abdul Waheed</cp:lastModifiedBy>
  <cp:revision>1</cp:revision>
  <dcterms:created xsi:type="dcterms:W3CDTF">2026-10-14T16:53:01Z</dcterms:created>
  <dcterms:modified xsi:type="dcterms:W3CDTF">2026-10-14T16:53:01Z</dcterms:modified>
</cp:coreProperties>
</file>