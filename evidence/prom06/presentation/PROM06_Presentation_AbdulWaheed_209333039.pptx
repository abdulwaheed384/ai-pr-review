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f255e44-b933-239a-1fdb-c6bff3d29164}">
          <p14:sldIdLst>
            <p14:sldId id="256"/>
            <p14:sldId id="257"/>
          </p14:sldIdLst>
        </p14:section>
        <p14:section name="Research context" id="{52a673a4-d124-54ad-6c84-3c8b9f67e443}">
          <p14:sldIdLst>
            <p14:sldId id="258"/>
          </p14:sldIdLst>
        </p14:section>
        <p14:section name="Practical work" id="{e9950f67-a82c-5374-b3d0-6fce15c5f904}">
          <p14:sldIdLst>
            <p14:sldId id="259"/>
            <p14:sldId id="260"/>
          </p14:sldIdLst>
        </p14:section>
        <p14:section name="Results" id="{150e78ab-bc60-8d99-3900-514f83f32e3a}">
          <p14:sldIdLst>
            <p14:sldId id="261"/>
            <p14:sldId id="262"/>
            <p14:sldId id="263"/>
          </p14:sldIdLst>
        </p14:section>
        <p14:section name="Evaluation and conclusion" id="{bd13c086-3a47-51ec-fc45-b19ad4263e7c}">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8233E"/>
                </a:solidFill>
                <a:latin typeface="+mn-lt"/>
              </a:defRPr>
            </a:pPr>
            <a:r>
              <a:rPr sz="1300" b="0" i="0" u="none" strike="noStrike">
                <a:solidFill>
                  <a:srgbClr val="08233E"/>
                </a:solidFill>
                <a:latin typeface="+mn-lt"/>
              </a:rPr>
              <a:t>Vulnerable cases detected (of 12)</a:t>
            </a:r>
          </a:p>
        </c:rich>
      </c:tx>
      <c:layout/>
      <c:overlay val="0"/>
    </c:title>
    <c:autoTitleDeleted val="0"/>
    <c:plotArea>
      <c:layout/>
      <c:barChart>
        <c:barDir val="col"/>
        <c:grouping val="clustered"/>
        <c:varyColors val="0"/>
        <c:ser>
          <c:idx val="0"/>
          <c:order val="0"/>
          <c:tx>
            <c:strRef>
              <c:f>Sheet1!$B$1</c:f>
              <c:strCache>
                <c:ptCount val="1"/>
                <c:pt idx="0">
                  <c:v>Vulnerable cases detected</c:v>
                </c:pt>
              </c:strCache>
            </c:strRef>
          </c:tx>
          <c:spPr>
            <a:solidFill>
              <a:srgbClr val="156082"/>
            </a:solidFill>
            <a:effectLst/>
          </c:spPr>
          <c:invertIfNegative val="0"/>
          <c:dLbls>
            <c:numFmt formatCode="#,##0" sourceLinked="0"/>
            <c:txPr>
              <a:bodyPr/>
              <a:lstStyle/>
              <a:p>
                <a:pPr>
                  <a:defRPr b="1" i="0" strike="noStrike" sz="1400" u="none">
                    <a:solidFill>
                      <a:srgbClr val="1A1F26"/>
                    </a:solidFill>
                    <a:latin typeface="+mn-lt"/>
                  </a:defRPr>
                </a:pPr>
              </a:p>
            </c:txPr>
            <c:showLegendKey val="0"/>
            <c:showVal val="1"/>
            <c:showCatName val="0"/>
            <c:showSerName val="0"/>
            <c:showPercent val="0"/>
            <c:showBubbleSize val="0"/>
            <c:showLeaderLines val="0"/>
          </c:dLbls>
          <c:dPt>
            <c:idx val="0"/>
            <c:invertIfNegative val="0"/>
            <c:bubble3D val="0"/>
            <c:spPr>
              <a:solidFill>
                <a:srgbClr val="156082"/>
              </a:solidFill>
              <a:effectLst/>
            </c:spPr>
          </c:dPt>
          <c:dPt>
            <c:idx val="1"/>
            <c:invertIfNegative val="0"/>
            <c:bubble3D val="0"/>
            <c:spPr>
              <a:solidFill>
                <a:srgbClr val="156082"/>
              </a:solidFill>
              <a:effectLst/>
            </c:spPr>
          </c:dPt>
          <c:dPt>
            <c:idx val="2"/>
            <c:invertIfNegative val="0"/>
            <c:bubble3D val="0"/>
            <c:spPr>
              <a:solidFill>
                <a:srgbClr val="08233E"/>
              </a:solidFill>
              <a:effectLst/>
            </c:spPr>
          </c:dPt>
          <c:dPt>
            <c:idx val="3"/>
            <c:invertIfNegative val="0"/>
            <c:bubble3D val="0"/>
            <c:spPr>
              <a:solidFill>
                <a:srgbClr val="C73D1A"/>
              </a:solidFill>
              <a:effectLst/>
            </c:spPr>
          </c:dPt>
          <c:cat>
            <c:multiLvlStrRef>
              <c:f>Sheet1!$A$2:$A$5</c:f>
              <c:multiLvlStrCache>
                <c:ptCount val="4"/>
                <c:lvl>
                  <c:pt idx="0">
                    <c:v>Checkov</c:v>
                  </c:pt>
                  <c:pt idx="1">
                    <c:v>tfsec</c:v>
                  </c:pt>
                  <c:pt idx="2">
                    <c:v>Scanners combined</c:v>
                  </c:pt>
                  <c:pt idx="3">
                    <c:v>AI reviewer
(+1 partial)</c:v>
                  </c:pt>
                </c:lvl>
              </c:multiLvlStrCache>
            </c:multiLvlStrRef>
          </c:cat>
          <c:val>
            <c:numRef>
              <c:f>Sheet1!$B$2:$B$5</c:f>
              <c:numCache>
                <c:formatCode>General</c:formatCode>
                <c:ptCount val="4"/>
                <c:pt idx="0">
                  <c:v>5</c:v>
                </c:pt>
                <c:pt idx="1">
                  <c:v>4</c:v>
                </c:pt>
                <c:pt idx="2">
                  <c:v>8</c:v>
                </c:pt>
                <c:pt idx="3">
                  <c:v>11</c:v>
                </c:pt>
              </c:numCache>
            </c:numRef>
          </c:val>
        </c:ser>
        <c:dLbls>
          <c:numFmt formatCode="#,##0" sourceLinked="0"/>
          <c:txPr>
            <a:bodyPr/>
            <a:lstStyle/>
            <a:p>
              <a:pPr>
                <a:defRPr b="1" i="0" strike="noStrike" sz="1400" u="none">
                  <a:solidFill>
                    <a:srgbClr val="1A1F26"/>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A1F26"/>
                </a:solidFill>
                <a:latin typeface="+mn-lt"/>
              </a:defRPr>
            </a:pPr>
            <a:endParaRPr lang="en-GB"/>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E1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670"/>
                </a:solidFill>
                <a:latin typeface="+mn-lt"/>
              </a:defRPr>
            </a:pPr>
            <a:endParaRPr lang="en-GB"/>
          </a:p>
        </c:txPr>
        <c:crossAx val="2094734554"/>
        <c:crosses val="autoZero"/>
        <c:crossBetween val="between"/>
        <c:majorUnit val="3"/>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8233E"/>
                </a:solidFill>
                <a:latin typeface="+mn-lt"/>
              </a:defRPr>
            </a:pPr>
            <a:r>
              <a:rPr sz="1300" b="0" i="0" u="none" strike="noStrike">
                <a:solidFill>
                  <a:srgbClr val="08233E"/>
                </a:solidFill>
                <a:latin typeface="+mn-lt"/>
              </a:rPr>
              <a:t>Mean rubric score, 37 vulnerable-case runs (0–2)</a:t>
            </a:r>
          </a:p>
        </c:rich>
      </c:tx>
      <c:layout/>
      <c:overlay val="0"/>
    </c:title>
    <c:autoTitleDeleted val="0"/>
    <c:plotArea>
      <c:layout/>
      <c:barChart>
        <c:barDir val="bar"/>
        <c:grouping val="clustered"/>
        <c:varyColors val="0"/>
        <c:ser>
          <c:idx val="0"/>
          <c:order val="0"/>
          <c:tx>
            <c:strRef>
              <c:f>Sheet1!$B$1</c:f>
              <c:strCache>
                <c:ptCount val="1"/>
                <c:pt idx="0">
                  <c:v>Mean score (0–2)</c:v>
                </c:pt>
              </c:strCache>
            </c:strRef>
          </c:tx>
          <c:spPr>
            <a:solidFill>
              <a:srgbClr val="C73D1A"/>
            </a:solidFill>
            <a:effectLst/>
          </c:spPr>
          <c:invertIfNegative val="0"/>
          <c:dLbls>
            <c:numFmt formatCode="0.00" sourceLinked="0"/>
            <c:txPr>
              <a:bodyPr/>
              <a:lstStyle/>
              <a:p>
                <a:pPr>
                  <a:defRPr b="1" i="0" strike="noStrike" sz="1400" u="none">
                    <a:solidFill>
                      <a:srgbClr val="1A1F26"/>
                    </a:solidFill>
                    <a:latin typeface="+mn-lt"/>
                  </a:defRPr>
                </a:pPr>
              </a:p>
            </c:txPr>
            <c:showLegendKey val="0"/>
            <c:showVal val="1"/>
            <c:showCatName val="0"/>
            <c:showSerName val="0"/>
            <c:showPercent val="0"/>
            <c:showBubbleSize val="0"/>
            <c:showLeaderLines val="0"/>
          </c:dLbls>
          <c:dPt>
            <c:idx val="0"/>
            <c:invertIfNegative val="0"/>
            <c:bubble3D val="0"/>
            <c:spPr>
              <a:solidFill>
                <a:srgbClr val="C73D1A"/>
              </a:solidFill>
              <a:effectLst/>
            </c:spPr>
          </c:dPt>
          <c:dPt>
            <c:idx val="1"/>
            <c:invertIfNegative val="0"/>
            <c:bubble3D val="0"/>
            <c:spPr>
              <a:solidFill>
                <a:srgbClr val="156082"/>
              </a:solidFill>
              <a:effectLst/>
            </c:spPr>
          </c:dPt>
          <c:dPt>
            <c:idx val="2"/>
            <c:invertIfNegative val="0"/>
            <c:bubble3D val="0"/>
            <c:spPr>
              <a:solidFill>
                <a:srgbClr val="156082"/>
              </a:solidFill>
              <a:effectLst/>
            </c:spPr>
          </c:dPt>
          <c:dPt>
            <c:idx val="3"/>
            <c:invertIfNegative val="0"/>
            <c:bubble3D val="0"/>
            <c:spPr>
              <a:solidFill>
                <a:srgbClr val="156082"/>
              </a:solidFill>
              <a:effectLst/>
            </c:spPr>
          </c:dPt>
          <c:dPt>
            <c:idx val="4"/>
            <c:invertIfNegative val="0"/>
            <c:bubble3D val="0"/>
            <c:spPr>
              <a:solidFill>
                <a:srgbClr val="156082"/>
              </a:solidFill>
              <a:effectLst/>
            </c:spPr>
          </c:dPt>
          <c:dPt>
            <c:idx val="5"/>
            <c:invertIfNegative val="0"/>
            <c:bubble3D val="0"/>
            <c:spPr>
              <a:solidFill>
                <a:srgbClr val="156082"/>
              </a:solidFill>
              <a:effectLst/>
            </c:spPr>
          </c:dPt>
          <c:cat>
            <c:multiLvlStrRef>
              <c:f>Sheet1!$A$2:$A$7</c:f>
              <c:multiLvlStrCache>
                <c:ptCount val="6"/>
                <c:lvl>
                  <c:pt idx="0">
                    <c:v>Explanation accuracy</c:v>
                  </c:pt>
                  <c:pt idx="1">
                    <c:v>Developer usefulness</c:v>
                  </c:pt>
                  <c:pt idx="2">
                    <c:v>Remediation</c:v>
                  </c:pt>
                  <c:pt idx="3">
                    <c:v>Impact</c:v>
                  </c:pt>
                  <c:pt idx="4">
                    <c:v>Detection</c:v>
                  </c:pt>
                  <c:pt idx="5">
                    <c:v>Context awareness</c:v>
                  </c:pt>
                </c:lvl>
              </c:multiLvlStrCache>
            </c:multiLvlStrRef>
          </c:cat>
          <c:val>
            <c:numRef>
              <c:f>Sheet1!$B$2:$B$7</c:f>
              <c:numCache>
                <c:formatCode>General</c:formatCode>
                <c:ptCount val="6"/>
                <c:pt idx="0">
                  <c:v>1.65</c:v>
                </c:pt>
                <c:pt idx="1">
                  <c:v>1.76</c:v>
                </c:pt>
                <c:pt idx="2">
                  <c:v>1.89</c:v>
                </c:pt>
                <c:pt idx="3">
                  <c:v>1.89</c:v>
                </c:pt>
                <c:pt idx="4">
                  <c:v>1.89</c:v>
                </c:pt>
                <c:pt idx="5">
                  <c:v>1.97</c:v>
                </c:pt>
              </c:numCache>
            </c:numRef>
          </c:val>
        </c:ser>
        <c:dLbls>
          <c:numFmt formatCode="0.00" sourceLinked="0"/>
          <c:txPr>
            <a:bodyPr/>
            <a:lstStyle/>
            <a:p>
              <a:pPr>
                <a:defRPr b="1" i="0" strike="noStrike" sz="1400" u="none">
                  <a:solidFill>
                    <a:srgbClr val="1A1F2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A1F26"/>
                </a:solidFill>
                <a:latin typeface="+mn-lt"/>
              </a:defRPr>
            </a:pPr>
            <a:endParaRPr lang="en-GB"/>
          </a:p>
        </c:txPr>
        <c:crossAx val="2094734552"/>
        <c:crosses val="autoZero"/>
        <c:auto val="1"/>
        <c:lblAlgn val="ctr"/>
        <c:noMultiLvlLbl val="1"/>
      </c:catAx>
      <c:valAx>
        <c:axId val="2094734552"/>
        <c:scaling>
          <c:orientation val="minMax"/>
          <c:max val="2"/>
          <c:min val="0"/>
        </c:scaling>
        <c:delete val="0"/>
        <c:axPos val="b"/>
        <c:majorGridlines>
          <c:spPr>
            <a:ln w="9525" cap="flat">
              <a:solidFill>
                <a:srgbClr val="E1E6EC"/>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670"/>
                </a:solidFill>
                <a:latin typeface="+mn-lt"/>
              </a:defRPr>
            </a:pPr>
            <a:endParaRPr lang="en-GB"/>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GB"/>
              <a:t>7/23/19</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GB"/>
              <a:t>‹#›</a:t>
            </a:fld>
            <a:endParaRPr lang="en-GB"/>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[Slide 1 · about 0:45 · 0:45 in total]
Hello, my name is Abdul Waheed. This is my PROM06 research project for the MSc in Computer Science with Cybersecurity at the University of Sunderland. My supervisor is Liz Gandy.
My project evaluates AI-driven security review in a DevSecOps pipeline. In simple terms, I built a pipeline where three reviewers check the same Terraform code: two well-known scanners, Checkov and tfsec, and an AI reviewer. Then I compared their results.
I’ll explain why this matters, what I built, how I tested it, what I found and what it means.</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1</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[Slide 2 · about 1:25 · 2:10 in total]
Today, cloud infrastructure is written as code. With Terraform, one insecure line, such as a firewall rule open to the whole internet, is copied into every environment that uses it. And in the cloud, setting things up securely is the customer’s job, not the provider’s.
Most teams catch these mistakes with rule-based scanners. They are fast and consistent, but they only find what their rules describe. And developers often ignore warnings that are noisy or hard to understand.
AI reviewers work differently. They read the whole configuration and explain problems in plain language. But they can also be confidently wrong, and give different answers to the same question.
So my aim was to evaluate how well an AI security reviewer works in a DevSecOps pipeline, compared with Checkov and tfsec. I asked four questions: how accurate it is, how good its fixes are, how it is likely to affect developer understanding, and what problems come up in practice. My objectives were to review the literature, build the pipeline, test it against fixed answers, and find its benefits and limits.</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2</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[Slide 3 · about 1:20 · 3:30 in total]
The research I read shaped how I designed this study.
Johnson and colleagues found that developers stop using tools with noisy, unclear warnings. So I didn’t only count what each tool found. I also counted false alarms and scored the explanations.
Rahman and colleagues listed common security mistakes in infrastructure code, such as open network rules and secrets written into the code. Several of my test cases are exactly these mistakes.
Some tools, like the one by Li and colleagues, give the scanner’s results to the AI. Then you can’t tell what the AI found by itself. So I kept my AI reviewer separate.
I added two more ideas once my early results showed they mattered. AI can answer the same question differently, so I ran every review three times. And AI fixes can be wrong, so I applied every fix and tested it again.
The gap is simple: there are very few fair, direct comparisons of an AI reviewer with Terraform scanners.</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3</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[Slide 4 · about 1:10 · 4:40 in total]
This is what I built. When a developer opens a pull request with Terraform code, GitHub Actions starts one job.
First, it checks that the code is valid. It never deploys anything.
Then three reviewers check the same code. Checkov and tfsec use fixed rules. My AI reviewer sends all the Terraform files, a short security policy and the README to Claude, and asks for a structured answer with at most three findings. Each tool posts its own comment on the pull request, and no tool sees another tool’s results.
On the right are real results from pull request 71. In this test, SSH is open to the whole internet. Checkov passed seven checks and found nothing, so it missed the problem. tfsec flagged it as critical. The AI reviewer flagged it as high, and explained the risk and the fix.
[Optional demo, about 30 seconds: open pull request 71 on GitHub and scroll through the three comments.]
All the code and evidence are public on my GitHub.</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4</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[Slide 5 · about 1:25 · 6:05 in total]
Here is how I tested it.
I wrote fifteen Terraform test cases. For each one, I wrote down the correct answer before running any tool. I call this the ground truth. Twelve cases have a security problem. Three are safe, including a web server that is meant to be public. These check for false alarms.
I opened each case as a pull request and ran it twice more. With one extra run after a failed one, that gave forty-six runs. I checked every result against the ground truth and scored the AI on six criteria I fixed in advance. Finally, I applied the AI’s own fixes and tested them again.
One discovery changed the study. When I traced my early results back, I found the AI had been given the scanners’ findings, so those results were not independent. I fixed the workflow in pull request 69, ran every case with the AI working on its own, and checked all forty-six runs to prove it.
Everything was synthetic: fake secrets, nothing deployed and no personal data.</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5</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[Slide 6 · about 1:25 · 7:30 in total]
Now the results. My first question was about detection.
Out of twelve cases with a problem, Checkov found five and tfsec found four. Together, they found eight. The AI reviewer found eleven, and part of a twelfth. In that case, it noticed the problem every time but showed it to the developer only once.
Three things stand out. First, three problems were found only by the AI: two secrets written into the code, and a role with too much access, which it spotted by comparing it with a separate requirements file.
Second, the scanners barely overlapped. Only one case was caught by both. And Checkov missed rules open to 0.0.0.0/0, but caught the same rule written as a star.
Third, the AI made a different kind of mistake. Three of nine runs on safe cases raised a finding. Of the forty-five findings it posted, 82 per cent were correct, or 89 per cent if three findings about weaknesses in my own test files count as valid.
These numbers describe my fifteen cases only, not the real world.</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6</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[Slide 7 · about 1:30 · 9:00 in total]
My second question was about the quality of the AI’s fixes. I didn’t just read them. I applied them.
All twelve fixes solved the problem and passed Terraform’s checks. For eight of them, a scanner also confirmed the fix. When the AI reviewed its own fixes, nine of the twelve no longer raised the problem.
But one piece of advice was simply wrong. The AI said a role definition needs tags. When I applied that, Terraform failed with the error you can see here.
My third question was about the likely effect on developers’ understanding. I judged this from the feedback itself. The chart shows the average scores out of two. The AI explained what was wrong, why it mattered and how to fix it, in plain language. The scanners only gave a rule ID and one short line. So the likely effect is positive.
The lowest score was for the accuracy of explanations. Sometimes the AI stated something false with confidence, and a developer could learn it as fact. These scores come from one scoring pass with AI help, and no second rater.</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7</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[Slide 8 · about 1:30 · 10:30 in total]
My fourth question was about practical challenges, and this was my most surprising finding.
On the left is the same fix, reviewed twice. The only difference is a comment in the code.
In version A, an old comment still said “Deliberately unrestricted SSH access”. The AI gave its own fix a high-severity finding and quoted that comment. In version B, I only corrected the comment, and the AI approved the change with just a low note. Another test case behaved the same way.
So text in the code can change the AI’s verdict, even when the code is the same. This is a form of what Greshake and colleagues call indirect prompt injection. In a real team, anyone who can write a comment could influence the AI.
I found three more challenges. The same input gave different answers: one case was classified three different ways in four runs. Some real findings were hidden from the developer, and pull requests that only delete files skipped the AI completely. Time was not a problem: the AI took about thirty seconds, and feedback arrived in under two minutes.</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8</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[Slide 9 · about 1:20 · 11:50 in total]
So, how far can we trust these results?
Some findings are strong. Scanners only cover what their rules describe. The two scanners complemented each other. The AI found problems that need context, and its mistakes were less predictable.
But there are real limits. I used fifteen test cases that I built myself, one cloud, one AI model and one prompt. I also chose some cases where scanner rules were weak, which makes the AI look better. As Ding and colleagues warn, test sets like this can flatter AI. Comments in my test files may have given the AI hints. And the scoring was done once, without a second person.
My biggest lesson came from my own mistake. Results I first thought were independent were not. Fixing that cost time, but it saved the study. Now I only trust a result when I can link it to a run, a commit and the raw output.
Overall, all four objectives were met, within the limits of this sample.</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9</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[Slide 10 · about 1:10 · 13:00 in total]
So, can AI improve the security review of infrastructure code? On these fifteen cases, my answer is a qualified yes. The AI found everything the scanners found, plus three problems they missed. But its mistakes were less predictable. So it should support the scanners, not replace them, and it should not decide which changes get merged.
My recommendations are on the left: let the scanners enforce and the AI advise, use more than one scanner, treat comments as untrusted, show uncertain findings, test every AI fix automatically, and review changes that only delete files.
For future work, I would test real-world Terraform changes, run many more reviews across different AI models, study comment manipulation on purpose, and test the feedback with real developers.
The references are on this slide, and the code and evidence are on GitHub. Thank you for listening.</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10</a:t>
            </a:fld>
            <a:endParaRPr lang="en-GB"/>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NAVY">
    <p:bg>
      <p:bgPr>
        <a:solidFill>
          <a:srgbClr val="08233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w="12700">
            <a:solidFill>
              <a:schemeClr val="tx2"/>
            </a:solidFill>
            <a:prstDash val="solid"/>
          </a:ln>
        </p:spPr>
      </p:sp>
      <p:sp>
        <p:nvSpPr>
          <p:cNvPr id="3" name="Shape 1"/>
          <p:cNvSpPr/>
          <p:nvPr/>
        </p:nvSpPr>
        <p:spPr>
          <a:xfrm>
            <a:off x="548640" y="502920"/>
            <a:ext cx="2514600" cy="1097280"/>
          </a:xfrm>
          <a:prstGeom prst="rect">
            <a:avLst/>
          </a:prstGeom>
          <a:solidFill>
            <a:schemeClr val="bg1"/>
          </a:solidFill>
          <a:ln w="12700">
            <a:solidFill>
              <a:schemeClr val="bg1"/>
            </a:solidFill>
            <a:prstDash val="solid"/>
          </a:ln>
        </p:spPr>
      </p:sp>
      <p:pic>
        <p:nvPicPr>
          <p:cNvPr id="4" name="Image 0" descr="/tmp/claude-0/-home-claude-ai-pr-review/8123617a-09e1-5f82-8592-b520c5c856e4/scratchpad/ppt/uos_logo.png">    </p:cNvPr>
          <p:cNvPicPr>
            <a:picLocks noChangeAspect="1"/>
          </p:cNvPicPr>
          <p:nvPr/>
        </p:nvPicPr>
        <p:blipFill>
          <a:blip r:embed="rId1"/>
          <a:stretch>
            <a:fillRect/>
          </a:stretch>
        </p:blipFill>
        <p:spPr>
          <a:xfrm>
            <a:off x="704088" y="548640"/>
            <a:ext cx="2194560" cy="1024128"/>
          </a:xfrm>
          <a:prstGeom prst="rect">
            <a:avLst/>
          </a:prstGeom>
        </p:spPr>
      </p:pic>
      <p:sp>
        <p:nvSpPr>
          <p:cNvPr id="5" name="Text 2"/>
          <p:cNvSpPr/>
          <p:nvPr>
            <p:ph type="title" hasCustomPrompt="1"/>
          </p:nvPr>
        </p:nvSpPr>
        <p:spPr>
          <a:xfrm>
            <a:off x="548640" y="1874520"/>
            <a:ext cx="11094415" cy="1325880"/>
          </a:xfrm>
          <a:prstGeom prst="rect">
            <a:avLst/>
          </a:prstGeom>
          <a:noFill/>
          <a:ln/>
        </p:spPr>
        <p:txBody>
          <a:bodyPr wrap="square" rtlCol="0"/>
          <a:lstStyle>
            <a:lvl1pPr algn="l" indent="0" marL="0">
              <a:buNone/>
              <a:defRPr lang="en-GB" altLang="en-US" sz="4000" b="1" dirty="0">
                <a:solidFill>
                  <a:schemeClr val="bg1"/>
                </a:solidFill>
              </a:defRPr>
            </a:lvl1pPr>
          </a:lstStyle>
          <a:p>
            <a:pPr algn="l" indent="0" marL="0">
              <a:buNone/>
            </a:pPr>
            <a:endParaRPr lang="en-GB" sz="4000" dirty="0"/>
          </a:p>
        </p:txBody>
      </p:sp>
      <p:sp>
        <p:nvSpPr>
          <p:cNvPr id="6" name="Text 2"/>
          <p:cNvSpPr/>
          <p:nvPr>
            <p:ph idx="104" type="body" hasCustomPrompt="1"/>
          </p:nvPr>
        </p:nvSpPr>
        <p:spPr>
          <a:xfrm>
            <a:off x="548640" y="3310128"/>
            <a:ext cx="11094415" cy="457200"/>
          </a:xfrm>
          <a:prstGeom prst="rect">
            <a:avLst/>
          </a:prstGeom>
          <a:noFill/>
          <a:ln/>
        </p:spPr>
        <p:txBody>
          <a:bodyPr wrap="square" rtlCol="0"/>
          <a:lstStyle>
            <a:lvl1pPr algn="l" indent="0" marL="0">
              <a:buNone/>
              <a:defRPr lang="en-GB" altLang="en-US" sz="2000" dirty="0">
                <a:solidFill>
                  <a:schemeClr val="bg2"/>
                </a:solidFill>
              </a:defRPr>
            </a:lvl1pPr>
          </a:lstStyle>
          <a:p>
            <a:pPr algn="l" indent="0" marL="0">
              <a:buNone/>
            </a:pPr>
            <a:endParaRPr lang="en-GB"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type="title" hasCustomPrompt="1"/>
          </p:nvPr>
        </p:nvSpPr>
        <p:spPr>
          <a:xfrm>
            <a:off x="548640" y="384048"/>
            <a:ext cx="11094415" cy="658368"/>
          </a:xfrm>
          <a:prstGeom prst="rect">
            <a:avLst/>
          </a:prstGeom>
          <a:noFill/>
          <a:ln/>
        </p:spPr>
        <p:txBody>
          <a:bodyPr wrap="square" rtlCol="0"/>
          <a:lstStyle>
            <a:lvl1pPr algn="l" indent="0" marL="0">
              <a:buNone/>
              <a:defRPr lang="en-GB" altLang="en-US" sz="3600" b="1" dirty="0">
                <a:solidFill>
                  <a:schemeClr val="tx2"/>
                </a:solidFill>
              </a:defRPr>
            </a:lvl1pPr>
          </a:lstStyle>
          <a:p>
            <a:pPr algn="l" indent="0" marL="0">
              <a:buNone/>
            </a:pPr>
            <a:endParaRPr lang="en-GB" sz="3600" dirty="0"/>
          </a:p>
        </p:txBody>
      </p:sp>
      <p:sp>
        <p:nvSpPr>
          <p:cNvPr id="3" name="Text 0"/>
          <p:cNvSpPr/>
          <p:nvPr/>
        </p:nvSpPr>
        <p:spPr>
          <a:xfrm>
            <a:off x="548640" y="6382512"/>
            <a:ext cx="6858000" cy="274320"/>
          </a:xfrm>
          <a:prstGeom prst="rect">
            <a:avLst/>
          </a:prstGeom>
          <a:noFill/>
          <a:ln/>
        </p:spPr>
        <p:txBody>
          <a:bodyPr wrap="square" lIns="0" tIns="0" rIns="0" bIns="0" rtlCol="0" anchor="ctr"/>
          <a:lstStyle/>
          <a:p>
            <a:pPr indent="0" marL="0">
              <a:buNone/>
            </a:pPr>
            <a:r>
              <a:rPr lang="en-GB" altLang="en-US" sz="1000" dirty="0">
                <a:solidFill>
                  <a:schemeClr val="accent6"/>
                </a:solidFill>
              </a:rPr>
              <a:t>Abdul Waheed · PROM06 Research Project · University of Sunderland</a:t>
            </a:r>
            <a:endParaRPr lang="en-GB" sz="1000" dirty="0"/>
          </a:p>
        </p:txBody>
      </p:sp>
      <p:pic>
        <p:nvPicPr>
          <p:cNvPr id="4" name="Image 0" descr="/tmp/claude-0/-home-claude-ai-pr-review/8123617a-09e1-5f82-8592-b520c5c856e4/scratchpad/ppt/uos_logo.png">    </p:cNvPr>
          <p:cNvPicPr>
            <a:picLocks noChangeAspect="1"/>
          </p:cNvPicPr>
          <p:nvPr/>
        </p:nvPicPr>
        <p:blipFill>
          <a:blip r:embed="rId1"/>
          <a:stretch>
            <a:fillRect/>
          </a:stretch>
        </p:blipFill>
        <p:spPr>
          <a:xfrm>
            <a:off x="10920679" y="6327648"/>
            <a:ext cx="722376" cy="338328"/>
          </a:xfrm>
          <a:prstGeom prst="rect">
            <a:avLst/>
          </a:prstGeom>
        </p:spPr>
      </p:pic>
      <p:sp>
        <p:nvSpPr>
          <p:cNvPr id="25" name="Slide Number Placeholder 0"/>
          <p:cNvSpPr>
            <a:spLocks noGrp="1"/>
          </p:cNvSpPr>
          <p:nvPr>
            <p:ph type="sldNum" sz="quarter" idx="4294967295"/>
          </p:nvPr>
        </p:nvSpPr>
        <p:spPr>
          <a:xfrm>
            <a:off x="10104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defRPr>
            </a:lvl1pPr>
          </a:lstStyle>
          <a:p>
            <a:pPr algn="r"/>
            <a:fld id="{F7021451-1387-4CA6-816F-3879F97B5CBC}" type="slidenum">
              <a:rPr b="0" lang="en-GB"/>
              <a:t>1003</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104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defRPr>
            </a:lvl1pPr>
          </a:lstStyle>
          <a:p>
            <a:pPr algn="r"/>
            <a:fld id="{F7021451-1387-4CA6-816F-3879F97B5CBC}" type="slidenum">
              <a:rPr b="0" lang="en-GB"/>
              <a:t>null</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type="title" hasCustomPrompt="1"/>
          </p:nvPr>
        </p:nvSpPr>
        <p:spPr>
          <a:xfrm>
            <a:off x="548640" y="1874520"/>
            <a:ext cx="11094415" cy="1325880"/>
          </a:xfrm>
          <a:prstGeom prst="rect">
            <a:avLst/>
          </a:prstGeom>
          <a:noFill/>
          <a:ln/>
        </p:spPr>
        <p:txBody>
          <a:bodyPr wrap="square" lIns="0" tIns="0" rIns="0" bIns="0" rtlCol="0" anchor="t"/>
          <a:lstStyle/>
          <a:p>
            <a:pPr algn="l" indent="0" marL="0">
              <a:buNone/>
            </a:pPr>
            <a:r>
              <a:rPr lang="en-GB" altLang="en-US" sz="4000" b="1" dirty="0">
                <a:solidFill>
                  <a:schemeClr val="bg1"/>
                </a:solidFill>
              </a:rPr>
              <a:t>Evaluating AI-Driven Security Review</a:t>
            </a:r>
            <a:endParaRPr lang="en-GB" sz="4000" dirty="0"/>
          </a:p>
          <a:p>
            <a:pPr algn="l" indent="0" marL="0">
              <a:buNone/>
            </a:pPr>
            <a:r>
              <a:rPr lang="en-GB" altLang="en-US" sz="4000" b="1" dirty="0">
                <a:solidFill>
                  <a:schemeClr val="bg1"/>
                </a:solidFill>
              </a:rPr>
              <a:t>in Modern DevSecOps Pipelines</a:t>
            </a:r>
            <a:endParaRPr lang="en-GB" sz="4000" dirty="0"/>
          </a:p>
        </p:txBody>
      </p:sp>
      <p:sp>
        <p:nvSpPr>
          <p:cNvPr id="3" name="Text 2"/>
          <p:cNvSpPr/>
          <p:nvPr>
            <p:ph idx="104" type="body" hasCustomPrompt="1"/>
          </p:nvPr>
        </p:nvSpPr>
        <p:spPr>
          <a:xfrm>
            <a:off x="548640" y="3310128"/>
            <a:ext cx="11094415" cy="457200"/>
          </a:xfrm>
          <a:prstGeom prst="rect">
            <a:avLst/>
          </a:prstGeom>
          <a:noFill/>
          <a:ln/>
        </p:spPr>
        <p:txBody>
          <a:bodyPr wrap="square" lIns="0" tIns="0" rIns="0" bIns="0" rtlCol="0" anchor="t"/>
          <a:lstStyle/>
          <a:p>
            <a:pPr algn="l" indent="0" marL="0">
              <a:buNone/>
            </a:pPr>
            <a:r>
              <a:rPr lang="en-GB" altLang="en-US" sz="2000" dirty="0">
                <a:solidFill>
                  <a:schemeClr val="bg2"/>
                </a:solidFill>
              </a:rPr>
              <a:t>An empirical comparison of an AI reviewer with Checkov and tfsec for Terraform pull requests</a:t>
            </a:r>
            <a:endParaRPr lang="en-GB" sz="2000" dirty="0"/>
          </a:p>
        </p:txBody>
      </p:sp>
      <p:sp>
        <p:nvSpPr>
          <p:cNvPr id="4" name="Presenter details"/>
          <p:cNvSpPr txBox="1"/>
          <p:nvPr/>
        </p:nvSpPr>
        <p:spPr>
          <a:xfrm>
            <a:off x="548640" y="4160520"/>
            <a:ext cx="6949440" cy="1737360"/>
          </a:xfrm>
          <a:prstGeom prst="rect">
            <a:avLst/>
          </a:prstGeom>
          <a:noFill/>
          <a:ln/>
        </p:spPr>
        <p:txBody>
          <a:bodyPr wrap="square" lIns="0" tIns="0" rIns="0" bIns="0" rtlCol="0" anchor="t"/>
          <a:lstStyle/>
          <a:p>
            <a:pPr indent="0" marL="0">
              <a:spcAft>
                <a:spcPts val="400"/>
              </a:spcAft>
              <a:buNone/>
            </a:pPr>
            <a:r>
              <a:rPr lang="en-GB" altLang="en-US" sz="1800" b="1" dirty="0">
                <a:solidFill>
                  <a:schemeClr val="bg1"/>
                </a:solidFill>
              </a:rPr>
              <a:t>Abdul Waheed</a:t>
            </a:r>
            <a:endParaRPr lang="en-GB" sz="1400" dirty="0"/>
          </a:p>
          <a:p>
            <a:pPr indent="0" marL="0">
              <a:spcAft>
                <a:spcPts val="400"/>
              </a:spcAft>
              <a:buNone/>
            </a:pPr>
            <a:r>
              <a:rPr lang="en-GB" altLang="en-US" sz="1400" dirty="0">
                <a:solidFill>
                  <a:schemeClr val="bg2"/>
                </a:solidFill>
              </a:rPr>
              <a:t>Student number 209333039</a:t>
            </a:r>
            <a:endParaRPr lang="en-GB" sz="1400" dirty="0"/>
          </a:p>
          <a:p>
            <a:pPr indent="0" marL="0">
              <a:spcAft>
                <a:spcPts val="400"/>
              </a:spcAft>
              <a:buNone/>
            </a:pPr>
            <a:r>
              <a:rPr lang="en-GB" altLang="en-US" sz="1400" dirty="0">
                <a:solidFill>
                  <a:schemeClr val="bg2"/>
                </a:solidFill>
              </a:rPr>
              <a:t>MSc Computer Science with Cybersecurity · PROM06 Research Project</a:t>
            </a:r>
            <a:endParaRPr lang="en-GB" sz="1400" dirty="0"/>
          </a:p>
          <a:p>
            <a:pPr indent="0" marL="0">
              <a:spcAft>
                <a:spcPts val="400"/>
              </a:spcAft>
              <a:buNone/>
            </a:pPr>
            <a:r>
              <a:rPr lang="en-GB" altLang="en-US" sz="1400" dirty="0">
                <a:solidFill>
                  <a:schemeClr val="bg2"/>
                </a:solidFill>
              </a:rPr>
              <a:t>Supervisor: Liz Gandy</a:t>
            </a:r>
            <a:endParaRPr lang="en-GB" sz="1400" dirty="0"/>
          </a:p>
          <a:p>
            <a:pPr indent="0" marL="0">
              <a:spcAft>
                <a:spcPts val="400"/>
              </a:spcAft>
              <a:buNone/>
            </a:pPr>
            <a:r>
              <a:rPr lang="en-GB" altLang="en-US" sz="1400" dirty="0">
                <a:solidFill>
                  <a:schemeClr val="bg2"/>
                </a:solidFill>
              </a:rPr>
              <a:t>Faculty of Technology · School of Computer Science · October 2026</a:t>
            </a:r>
            <a:endParaRPr lang="en-GB" sz="1400" dirty="0"/>
          </a:p>
        </p:txBody>
      </p:sp>
      <p:sp>
        <p:nvSpPr>
          <p:cNvPr id="5" name="Pull request circle"/>
          <p:cNvSpPr/>
          <p:nvPr/>
        </p:nvSpPr>
        <p:spPr>
          <a:xfrm>
            <a:off x="9692640" y="4069080"/>
            <a:ext cx="731520" cy="731520"/>
          </a:xfrm>
          <a:prstGeom prst="ellipse">
            <a:avLst/>
          </a:prstGeom>
          <a:solidFill>
            <a:schemeClr val="bg1"/>
          </a:solidFill>
          <a:ln w="12700">
            <a:solidFill>
              <a:schemeClr val="bg1"/>
            </a:solidFill>
            <a:prstDash val="solid"/>
          </a:ln>
        </p:spPr>
      </p:sp>
      <p:pic>
        <p:nvPicPr>
          <p:cNvPr id="6" name="Pull request icon" descr="preencoded.png">    </p:cNvPr>
          <p:cNvPicPr>
            <a:picLocks noChangeAspect="1"/>
          </p:cNvPicPr>
          <p:nvPr/>
        </p:nvPicPr>
        <p:blipFill>
          <a:blip r:embed="rId1"/>
          <a:stretch>
            <a:fillRect/>
          </a:stretch>
        </p:blipFill>
        <p:spPr>
          <a:xfrm>
            <a:off x="9868205" y="4244645"/>
            <a:ext cx="380390" cy="380390"/>
          </a:xfrm>
          <a:prstGeom prst="rect">
            <a:avLst/>
          </a:prstGeom>
        </p:spPr>
      </p:pic>
      <p:sp>
        <p:nvSpPr>
          <p:cNvPr id="7" name="Connector left"/>
          <p:cNvSpPr/>
          <p:nvPr/>
        </p:nvSpPr>
        <p:spPr>
          <a:xfrm flipH="1">
            <a:off x="8915400" y="4800600"/>
            <a:ext cx="1143000" cy="320040"/>
          </a:xfrm>
          <a:prstGeom prst="line">
            <a:avLst/>
          </a:prstGeom>
          <a:noFill/>
          <a:ln w="15875">
            <a:solidFill>
              <a:schemeClr val="accent3"/>
            </a:solidFill>
            <a:prstDash val="solid"/>
          </a:ln>
        </p:spPr>
      </p:sp>
      <p:sp>
        <p:nvSpPr>
          <p:cNvPr id="8" name="Connector middle"/>
          <p:cNvSpPr/>
          <p:nvPr/>
        </p:nvSpPr>
        <p:spPr>
          <a:xfrm>
            <a:off x="10058400" y="4800600"/>
            <a:ext cx="0" cy="320040"/>
          </a:xfrm>
          <a:prstGeom prst="line">
            <a:avLst/>
          </a:prstGeom>
          <a:noFill/>
          <a:ln w="15875">
            <a:solidFill>
              <a:schemeClr val="accent3"/>
            </a:solidFill>
            <a:prstDash val="solid"/>
          </a:ln>
        </p:spPr>
      </p:sp>
      <p:sp>
        <p:nvSpPr>
          <p:cNvPr id="9" name="Connector right"/>
          <p:cNvSpPr/>
          <p:nvPr/>
        </p:nvSpPr>
        <p:spPr>
          <a:xfrm>
            <a:off x="10058400" y="4800600"/>
            <a:ext cx="1143000" cy="320040"/>
          </a:xfrm>
          <a:prstGeom prst="line">
            <a:avLst/>
          </a:prstGeom>
          <a:noFill/>
          <a:ln w="15875">
            <a:solidFill>
              <a:schemeClr val="accent3"/>
            </a:solidFill>
            <a:prstDash val="solid"/>
          </a:ln>
        </p:spPr>
      </p:sp>
      <p:sp>
        <p:nvSpPr>
          <p:cNvPr id="10" name="Checkov circle"/>
          <p:cNvSpPr/>
          <p:nvPr/>
        </p:nvSpPr>
        <p:spPr>
          <a:xfrm>
            <a:off x="8549640" y="5120640"/>
            <a:ext cx="731520" cy="731520"/>
          </a:xfrm>
          <a:prstGeom prst="ellipse">
            <a:avLst/>
          </a:prstGeom>
          <a:solidFill>
            <a:schemeClr val="accent3"/>
          </a:solidFill>
          <a:ln w="19050">
            <a:solidFill>
              <a:schemeClr val="bg1"/>
            </a:solidFill>
            <a:prstDash val="solid"/>
          </a:ln>
        </p:spPr>
      </p:sp>
      <p:pic>
        <p:nvPicPr>
          <p:cNvPr id="11" name="Checkov icon" descr="preencoded.png">    </p:cNvPr>
          <p:cNvPicPr>
            <a:picLocks noChangeAspect="1"/>
          </p:cNvPicPr>
          <p:nvPr/>
        </p:nvPicPr>
        <p:blipFill>
          <a:blip r:embed="rId2"/>
          <a:stretch>
            <a:fillRect/>
          </a:stretch>
        </p:blipFill>
        <p:spPr>
          <a:xfrm>
            <a:off x="8732520" y="5303520"/>
            <a:ext cx="365760" cy="365760"/>
          </a:xfrm>
          <a:prstGeom prst="rect">
            <a:avLst/>
          </a:prstGeom>
        </p:spPr>
      </p:pic>
      <p:sp>
        <p:nvSpPr>
          <p:cNvPr id="12" name="Checkov label"/>
          <p:cNvSpPr txBox="1"/>
          <p:nvPr/>
        </p:nvSpPr>
        <p:spPr>
          <a:xfrm>
            <a:off x="8348472" y="5925312"/>
            <a:ext cx="1133856" cy="274320"/>
          </a:xfrm>
          <a:prstGeom prst="rect">
            <a:avLst/>
          </a:prstGeom>
          <a:noFill/>
          <a:ln/>
        </p:spPr>
        <p:txBody>
          <a:bodyPr wrap="square" lIns="0" tIns="0" rIns="0" bIns="0" rtlCol="0" anchor="t"/>
          <a:lstStyle/>
          <a:p>
            <a:pPr algn="ctr" indent="0" marL="0">
              <a:buNone/>
            </a:pPr>
            <a:r>
              <a:rPr lang="en-GB" altLang="en-US" sz="1300" dirty="0">
                <a:solidFill>
                  <a:schemeClr val="bg1"/>
                </a:solidFill>
              </a:rPr>
              <a:t>Checkov</a:t>
            </a:r>
            <a:endParaRPr lang="en-GB" sz="1300" dirty="0"/>
          </a:p>
        </p:txBody>
      </p:sp>
      <p:sp>
        <p:nvSpPr>
          <p:cNvPr id="13" name="tfsec circle"/>
          <p:cNvSpPr/>
          <p:nvPr/>
        </p:nvSpPr>
        <p:spPr>
          <a:xfrm>
            <a:off x="9692640" y="5120640"/>
            <a:ext cx="731520" cy="731520"/>
          </a:xfrm>
          <a:prstGeom prst="ellipse">
            <a:avLst/>
          </a:prstGeom>
          <a:solidFill>
            <a:schemeClr val="accent3"/>
          </a:solidFill>
          <a:ln w="19050">
            <a:solidFill>
              <a:schemeClr val="bg1"/>
            </a:solidFill>
            <a:prstDash val="solid"/>
          </a:ln>
        </p:spPr>
      </p:sp>
      <p:pic>
        <p:nvPicPr>
          <p:cNvPr id="14" name="tfsec icon" descr="preencoded.png">    </p:cNvPr>
          <p:cNvPicPr>
            <a:picLocks noChangeAspect="1"/>
          </p:cNvPicPr>
          <p:nvPr/>
        </p:nvPicPr>
        <p:blipFill>
          <a:blip r:embed="rId3"/>
          <a:stretch>
            <a:fillRect/>
          </a:stretch>
        </p:blipFill>
        <p:spPr>
          <a:xfrm>
            <a:off x="9875520" y="5303520"/>
            <a:ext cx="365760" cy="365760"/>
          </a:xfrm>
          <a:prstGeom prst="rect">
            <a:avLst/>
          </a:prstGeom>
        </p:spPr>
      </p:pic>
      <p:sp>
        <p:nvSpPr>
          <p:cNvPr id="15" name="tfsec label"/>
          <p:cNvSpPr txBox="1"/>
          <p:nvPr/>
        </p:nvSpPr>
        <p:spPr>
          <a:xfrm>
            <a:off x="9491472" y="5925312"/>
            <a:ext cx="1133856" cy="274320"/>
          </a:xfrm>
          <a:prstGeom prst="rect">
            <a:avLst/>
          </a:prstGeom>
          <a:noFill/>
          <a:ln/>
        </p:spPr>
        <p:txBody>
          <a:bodyPr wrap="square" lIns="0" tIns="0" rIns="0" bIns="0" rtlCol="0" anchor="t"/>
          <a:lstStyle/>
          <a:p>
            <a:pPr algn="ctr" indent="0" marL="0">
              <a:buNone/>
            </a:pPr>
            <a:r>
              <a:rPr lang="en-GB" altLang="en-US" sz="1300" dirty="0">
                <a:solidFill>
                  <a:schemeClr val="bg1"/>
                </a:solidFill>
              </a:rPr>
              <a:t>tfsec</a:t>
            </a:r>
            <a:endParaRPr lang="en-GB" sz="1300" dirty="0"/>
          </a:p>
        </p:txBody>
      </p:sp>
      <p:sp>
        <p:nvSpPr>
          <p:cNvPr id="16" name="AI reviewer circle"/>
          <p:cNvSpPr/>
          <p:nvPr/>
        </p:nvSpPr>
        <p:spPr>
          <a:xfrm>
            <a:off x="10835640" y="5120640"/>
            <a:ext cx="731520" cy="731520"/>
          </a:xfrm>
          <a:prstGeom prst="ellipse">
            <a:avLst/>
          </a:prstGeom>
          <a:solidFill>
            <a:schemeClr val="accent1"/>
          </a:solidFill>
          <a:ln w="19050">
            <a:solidFill>
              <a:schemeClr val="bg1"/>
            </a:solidFill>
            <a:prstDash val="solid"/>
          </a:ln>
        </p:spPr>
      </p:sp>
      <p:pic>
        <p:nvPicPr>
          <p:cNvPr id="17" name="AI reviewer icon" descr="preencoded.png">    </p:cNvPr>
          <p:cNvPicPr>
            <a:picLocks noChangeAspect="1"/>
          </p:cNvPicPr>
          <p:nvPr/>
        </p:nvPicPr>
        <p:blipFill>
          <a:blip r:embed="rId4"/>
          <a:stretch>
            <a:fillRect/>
          </a:stretch>
        </p:blipFill>
        <p:spPr>
          <a:xfrm>
            <a:off x="11018520" y="5303520"/>
            <a:ext cx="365760" cy="365760"/>
          </a:xfrm>
          <a:prstGeom prst="rect">
            <a:avLst/>
          </a:prstGeom>
        </p:spPr>
      </p:pic>
      <p:sp>
        <p:nvSpPr>
          <p:cNvPr id="18" name="AI reviewer label"/>
          <p:cNvSpPr txBox="1"/>
          <p:nvPr/>
        </p:nvSpPr>
        <p:spPr>
          <a:xfrm>
            <a:off x="10634472" y="5925312"/>
            <a:ext cx="1133856" cy="274320"/>
          </a:xfrm>
          <a:prstGeom prst="rect">
            <a:avLst/>
          </a:prstGeom>
          <a:noFill/>
          <a:ln/>
        </p:spPr>
        <p:txBody>
          <a:bodyPr wrap="square" lIns="0" tIns="0" rIns="0" bIns="0" rtlCol="0" anchor="t"/>
          <a:lstStyle/>
          <a:p>
            <a:pPr algn="ctr" indent="0" marL="0">
              <a:buNone/>
            </a:pPr>
            <a:r>
              <a:rPr lang="en-GB" altLang="en-US" sz="1300" dirty="0">
                <a:solidFill>
                  <a:schemeClr val="bg1"/>
                </a:solidFill>
              </a:rPr>
              <a:t>AI reviewer</a:t>
            </a:r>
            <a:endParaRPr lang="en-GB"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GB" altLang="en-US" sz="3600" b="1" dirty="0">
                <a:solidFill>
                  <a:schemeClr val="tx2"/>
                </a:solidFill>
              </a:rPr>
              <a:t>Can an AI reviewer catch what scanners miss?</a:t>
            </a:r>
            <a:endParaRPr lang="en-GB" sz="3600" dirty="0"/>
          </a:p>
        </p:txBody>
      </p:sp>
      <p:sp>
        <p:nvSpPr>
          <p:cNvPr id="3" name="Infrastructure is now code circle"/>
          <p:cNvSpPr/>
          <p:nvPr/>
        </p:nvSpPr>
        <p:spPr>
          <a:xfrm>
            <a:off x="548640" y="1389888"/>
            <a:ext cx="566928" cy="566928"/>
          </a:xfrm>
          <a:prstGeom prst="ellipse">
            <a:avLst/>
          </a:prstGeom>
          <a:solidFill>
            <a:schemeClr val="accent2"/>
          </a:solidFill>
          <a:ln w="12700">
            <a:solidFill>
              <a:schemeClr val="accent2"/>
            </a:solidFill>
            <a:prstDash val="solid"/>
          </a:ln>
        </p:spPr>
      </p:sp>
      <p:pic>
        <p:nvPicPr>
          <p:cNvPr id="4" name="Infrastructure is now code icon" descr="preencoded.png">    </p:cNvPr>
          <p:cNvPicPr>
            <a:picLocks noChangeAspect="1"/>
          </p:cNvPicPr>
          <p:nvPr/>
        </p:nvPicPr>
        <p:blipFill>
          <a:blip r:embed="rId1"/>
          <a:stretch>
            <a:fillRect/>
          </a:stretch>
        </p:blipFill>
        <p:spPr>
          <a:xfrm>
            <a:off x="690372" y="1531620"/>
            <a:ext cx="283464" cy="283464"/>
          </a:xfrm>
          <a:prstGeom prst="rect">
            <a:avLst/>
          </a:prstGeom>
        </p:spPr>
      </p:pic>
      <p:sp>
        <p:nvSpPr>
          <p:cNvPr id="5" name="Problem 1"/>
          <p:cNvSpPr txBox="1"/>
          <p:nvPr/>
        </p:nvSpPr>
        <p:spPr>
          <a:xfrm>
            <a:off x="1325880" y="1371600"/>
            <a:ext cx="4937760" cy="1051560"/>
          </a:xfrm>
          <a:prstGeom prst="rect">
            <a:avLst/>
          </a:prstGeom>
          <a:noFill/>
          <a:ln/>
        </p:spPr>
        <p:txBody>
          <a:bodyPr wrap="square" lIns="0" tIns="0" rIns="0" bIns="0" rtlCol="0" anchor="t"/>
          <a:lstStyle/>
          <a:p>
            <a:pPr indent="0" marL="0">
              <a:spcAft>
                <a:spcPts val="300"/>
              </a:spcAft>
              <a:buNone/>
            </a:pPr>
            <a:r>
              <a:rPr lang="en-GB" altLang="en-US" sz="1700" b="1" dirty="0">
                <a:solidFill>
                  <a:schemeClr val="tx2"/>
                </a:solidFill>
              </a:rPr>
              <a:t>Infrastructure is now code</a:t>
            </a:r>
            <a:endParaRPr lang="en-GB" sz="1400" dirty="0"/>
          </a:p>
          <a:p>
            <a:pPr indent="0" marL="0">
              <a:spcAft>
                <a:spcPts val="300"/>
              </a:spcAft>
              <a:buNone/>
            </a:pPr>
            <a:r>
              <a:rPr lang="en-GB" altLang="en-US" sz="1400" dirty="0">
                <a:solidFill>
                  <a:schemeClr val="tx1"/>
                </a:solidFill>
              </a:rPr>
              <a:t>Terraform defines cloud resources as code (Morris, 2020), so one insecure line is copied to every environment.</a:t>
            </a:r>
            <a:endParaRPr lang="en-GB" sz="1400" dirty="0"/>
          </a:p>
        </p:txBody>
      </p:sp>
      <p:sp>
        <p:nvSpPr>
          <p:cNvPr id="6" name="Configuration is the customer’s job circle"/>
          <p:cNvSpPr/>
          <p:nvPr/>
        </p:nvSpPr>
        <p:spPr>
          <a:xfrm>
            <a:off x="548640" y="2578608"/>
            <a:ext cx="566928" cy="566928"/>
          </a:xfrm>
          <a:prstGeom prst="ellipse">
            <a:avLst/>
          </a:prstGeom>
          <a:solidFill>
            <a:schemeClr val="accent2"/>
          </a:solidFill>
          <a:ln w="12700">
            <a:solidFill>
              <a:schemeClr val="accent2"/>
            </a:solidFill>
            <a:prstDash val="solid"/>
          </a:ln>
        </p:spPr>
      </p:sp>
      <p:pic>
        <p:nvPicPr>
          <p:cNvPr id="7" name="Configuration is the customer’s job icon" descr="preencoded.png">    </p:cNvPr>
          <p:cNvPicPr>
            <a:picLocks noChangeAspect="1"/>
          </p:cNvPicPr>
          <p:nvPr/>
        </p:nvPicPr>
        <p:blipFill>
          <a:blip r:embed="rId2"/>
          <a:stretch>
            <a:fillRect/>
          </a:stretch>
        </p:blipFill>
        <p:spPr>
          <a:xfrm>
            <a:off x="690372" y="2720340"/>
            <a:ext cx="283464" cy="283464"/>
          </a:xfrm>
          <a:prstGeom prst="rect">
            <a:avLst/>
          </a:prstGeom>
        </p:spPr>
      </p:pic>
      <p:sp>
        <p:nvSpPr>
          <p:cNvPr id="8" name="Problem 2"/>
          <p:cNvSpPr txBox="1"/>
          <p:nvPr/>
        </p:nvSpPr>
        <p:spPr>
          <a:xfrm>
            <a:off x="1325880" y="2560320"/>
            <a:ext cx="4937760" cy="1051560"/>
          </a:xfrm>
          <a:prstGeom prst="rect">
            <a:avLst/>
          </a:prstGeom>
          <a:noFill/>
          <a:ln/>
        </p:spPr>
        <p:txBody>
          <a:bodyPr wrap="square" lIns="0" tIns="0" rIns="0" bIns="0" rtlCol="0" anchor="t"/>
          <a:lstStyle/>
          <a:p>
            <a:pPr indent="0" marL="0">
              <a:spcAft>
                <a:spcPts val="300"/>
              </a:spcAft>
              <a:buNone/>
            </a:pPr>
            <a:r>
              <a:rPr lang="en-GB" altLang="en-US" sz="1700" b="1" dirty="0">
                <a:solidFill>
                  <a:schemeClr val="tx2"/>
                </a:solidFill>
              </a:rPr>
              <a:t>Configuration is the customer’s job</a:t>
            </a:r>
            <a:endParaRPr lang="en-GB" sz="1400" dirty="0"/>
          </a:p>
          <a:p>
            <a:pPr indent="0" marL="0">
              <a:spcAft>
                <a:spcPts val="300"/>
              </a:spcAft>
              <a:buNone/>
            </a:pPr>
            <a:r>
              <a:rPr lang="en-GB" altLang="en-US" sz="1400" dirty="0">
                <a:solidFill>
                  <a:schemeClr val="tx1"/>
                </a:solidFill>
              </a:rPr>
              <a:t>Under shared responsibility, securing cloud configuration falls to the customer (Microsoft, 2024).</a:t>
            </a:r>
            <a:endParaRPr lang="en-GB" sz="1400" dirty="0"/>
          </a:p>
        </p:txBody>
      </p:sp>
      <p:sp>
        <p:nvSpPr>
          <p:cNvPr id="9" name="Scanners only see their rules circle"/>
          <p:cNvSpPr/>
          <p:nvPr/>
        </p:nvSpPr>
        <p:spPr>
          <a:xfrm>
            <a:off x="548640" y="3767328"/>
            <a:ext cx="566928" cy="566928"/>
          </a:xfrm>
          <a:prstGeom prst="ellipse">
            <a:avLst/>
          </a:prstGeom>
          <a:solidFill>
            <a:schemeClr val="accent2"/>
          </a:solidFill>
          <a:ln w="12700">
            <a:solidFill>
              <a:schemeClr val="accent2"/>
            </a:solidFill>
            <a:prstDash val="solid"/>
          </a:ln>
        </p:spPr>
      </p:sp>
      <p:pic>
        <p:nvPicPr>
          <p:cNvPr id="10" name="Scanners only see their rules icon" descr="preencoded.png">    </p:cNvPr>
          <p:cNvPicPr>
            <a:picLocks noChangeAspect="1"/>
          </p:cNvPicPr>
          <p:nvPr/>
        </p:nvPicPr>
        <p:blipFill>
          <a:blip r:embed="rId3"/>
          <a:stretch>
            <a:fillRect/>
          </a:stretch>
        </p:blipFill>
        <p:spPr>
          <a:xfrm>
            <a:off x="690372" y="3909060"/>
            <a:ext cx="283464" cy="283464"/>
          </a:xfrm>
          <a:prstGeom prst="rect">
            <a:avLst/>
          </a:prstGeom>
        </p:spPr>
      </p:pic>
      <p:sp>
        <p:nvSpPr>
          <p:cNvPr id="11" name="Problem 3"/>
          <p:cNvSpPr txBox="1"/>
          <p:nvPr/>
        </p:nvSpPr>
        <p:spPr>
          <a:xfrm>
            <a:off x="1325880" y="3749040"/>
            <a:ext cx="4937760" cy="1051560"/>
          </a:xfrm>
          <a:prstGeom prst="rect">
            <a:avLst/>
          </a:prstGeom>
          <a:noFill/>
          <a:ln/>
        </p:spPr>
        <p:txBody>
          <a:bodyPr wrap="square" lIns="0" tIns="0" rIns="0" bIns="0" rtlCol="0" anchor="t"/>
          <a:lstStyle/>
          <a:p>
            <a:pPr indent="0" marL="0">
              <a:spcAft>
                <a:spcPts val="300"/>
              </a:spcAft>
              <a:buNone/>
            </a:pPr>
            <a:r>
              <a:rPr lang="en-GB" altLang="en-US" sz="1700" b="1" dirty="0">
                <a:solidFill>
                  <a:schemeClr val="tx2"/>
                </a:solidFill>
              </a:rPr>
              <a:t>Scanners only see their rules</a:t>
            </a:r>
            <a:endParaRPr lang="en-GB" sz="1400" dirty="0"/>
          </a:p>
          <a:p>
            <a:pPr indent="0" marL="0">
              <a:spcAft>
                <a:spcPts val="300"/>
              </a:spcAft>
              <a:buNone/>
            </a:pPr>
            <a:r>
              <a:rPr lang="en-GB" altLang="en-US" sz="1400" dirty="0">
                <a:solidFill>
                  <a:schemeClr val="tx1"/>
                </a:solidFill>
              </a:rPr>
              <a:t>Checkov and tfsec are fast and consistent, but noisy, terse warnings get ignored (Johnson et al., 2013).</a:t>
            </a:r>
            <a:endParaRPr lang="en-GB" sz="1400" dirty="0"/>
          </a:p>
        </p:txBody>
      </p:sp>
      <p:sp>
        <p:nvSpPr>
          <p:cNvPr id="12" name="AI reads context, but can be wrong circle"/>
          <p:cNvSpPr/>
          <p:nvPr/>
        </p:nvSpPr>
        <p:spPr>
          <a:xfrm>
            <a:off x="548640" y="4956048"/>
            <a:ext cx="566928" cy="566928"/>
          </a:xfrm>
          <a:prstGeom prst="ellipse">
            <a:avLst/>
          </a:prstGeom>
          <a:solidFill>
            <a:schemeClr val="accent1"/>
          </a:solidFill>
          <a:ln w="12700">
            <a:solidFill>
              <a:schemeClr val="accent1"/>
            </a:solidFill>
            <a:prstDash val="solid"/>
          </a:ln>
        </p:spPr>
      </p:sp>
      <p:pic>
        <p:nvPicPr>
          <p:cNvPr id="13" name="AI reads context, but can be wrong icon" descr="preencoded.png">    </p:cNvPr>
          <p:cNvPicPr>
            <a:picLocks noChangeAspect="1"/>
          </p:cNvPicPr>
          <p:nvPr/>
        </p:nvPicPr>
        <p:blipFill>
          <a:blip r:embed="rId4"/>
          <a:stretch>
            <a:fillRect/>
          </a:stretch>
        </p:blipFill>
        <p:spPr>
          <a:xfrm>
            <a:off x="690372" y="5097780"/>
            <a:ext cx="283464" cy="283464"/>
          </a:xfrm>
          <a:prstGeom prst="rect">
            <a:avLst/>
          </a:prstGeom>
        </p:spPr>
      </p:pic>
      <p:sp>
        <p:nvSpPr>
          <p:cNvPr id="14" name="Problem 4"/>
          <p:cNvSpPr txBox="1"/>
          <p:nvPr/>
        </p:nvSpPr>
        <p:spPr>
          <a:xfrm>
            <a:off x="1325880" y="4937760"/>
            <a:ext cx="4937760" cy="1051560"/>
          </a:xfrm>
          <a:prstGeom prst="rect">
            <a:avLst/>
          </a:prstGeom>
          <a:noFill/>
          <a:ln/>
        </p:spPr>
        <p:txBody>
          <a:bodyPr wrap="square" lIns="0" tIns="0" rIns="0" bIns="0" rtlCol="0" anchor="t"/>
          <a:lstStyle/>
          <a:p>
            <a:pPr indent="0" marL="0">
              <a:spcAft>
                <a:spcPts val="300"/>
              </a:spcAft>
              <a:buNone/>
            </a:pPr>
            <a:r>
              <a:rPr lang="en-GB" altLang="en-US" sz="1700" b="1" dirty="0">
                <a:solidFill>
                  <a:schemeClr val="tx2"/>
                </a:solidFill>
              </a:rPr>
              <a:t>AI reads context, but can be wrong</a:t>
            </a:r>
            <a:endParaRPr lang="en-GB" sz="1400" dirty="0"/>
          </a:p>
          <a:p>
            <a:pPr indent="0" marL="0">
              <a:spcAft>
                <a:spcPts val="300"/>
              </a:spcAft>
              <a:buNone/>
            </a:pPr>
            <a:r>
              <a:rPr lang="en-GB" altLang="en-US" sz="1400" dirty="0">
                <a:solidFill>
                  <a:schemeClr val="tx1"/>
                </a:solidFill>
              </a:rPr>
              <a:t>LLMs explain in plain language, yet hallucinate and vary between runs (Ji et al., 2023; Ouyang et al., 2025).</a:t>
            </a:r>
            <a:endParaRPr lang="en-GB" sz="1400" dirty="0"/>
          </a:p>
        </p:txBody>
      </p:sp>
      <p:sp>
        <p:nvSpPr>
          <p:cNvPr id="15" name="Aim and questions card"/>
          <p:cNvSpPr/>
          <p:nvPr/>
        </p:nvSpPr>
        <p:spPr>
          <a:xfrm>
            <a:off x="6537960" y="1325880"/>
            <a:ext cx="5105095" cy="4754880"/>
          </a:xfrm>
          <a:prstGeom prst="roundRect">
            <a:avLst>
              <a:gd name="adj" fmla="val 1538"/>
            </a:avLst>
          </a:prstGeom>
          <a:solidFill>
            <a:schemeClr val="bg2"/>
          </a:solidFill>
          <a:ln w="12700">
            <a:solidFill>
              <a:schemeClr val="bg2"/>
            </a:solidFill>
            <a:prstDash val="solid"/>
          </a:ln>
        </p:spPr>
      </p:sp>
      <p:sp>
        <p:nvSpPr>
          <p:cNvPr id="16" name="Label Aim"/>
          <p:cNvSpPr txBox="1"/>
          <p:nvPr/>
        </p:nvSpPr>
        <p:spPr>
          <a:xfrm>
            <a:off x="6812280" y="1499616"/>
            <a:ext cx="2743200" cy="256032"/>
          </a:xfrm>
          <a:prstGeom prst="rect">
            <a:avLst/>
          </a:prstGeom>
          <a:noFill/>
          <a:ln/>
        </p:spPr>
        <p:txBody>
          <a:bodyPr wrap="square" lIns="0" tIns="0" rIns="0" bIns="0" rtlCol="0" anchor="t"/>
          <a:lstStyle/>
          <a:p>
            <a:pPr indent="0" marL="0">
              <a:buNone/>
            </a:pPr>
            <a:r>
              <a:rPr lang="en-GB" altLang="en-US" sz="1200" b="1" spc="150" kern="0" dirty="0">
                <a:solidFill>
                  <a:schemeClr val="accent1"/>
                </a:solidFill>
              </a:rPr>
              <a:t>AIM</a:t>
            </a:r>
            <a:endParaRPr lang="en-GB" sz="1200" dirty="0"/>
          </a:p>
        </p:txBody>
      </p:sp>
      <p:sp>
        <p:nvSpPr>
          <p:cNvPr id="17" name="Aim"/>
          <p:cNvSpPr txBox="1"/>
          <p:nvPr/>
        </p:nvSpPr>
        <p:spPr>
          <a:xfrm>
            <a:off x="6812280" y="1764792"/>
            <a:ext cx="4556455" cy="685800"/>
          </a:xfrm>
          <a:prstGeom prst="rect">
            <a:avLst/>
          </a:prstGeom>
          <a:noFill/>
          <a:ln/>
        </p:spPr>
        <p:txBody>
          <a:bodyPr wrap="square" lIns="0" tIns="0" rIns="0" bIns="0" rtlCol="0" anchor="t"/>
          <a:lstStyle/>
          <a:p>
            <a:pPr indent="0" marL="0">
              <a:buNone/>
            </a:pPr>
            <a:r>
              <a:rPr lang="en-GB" altLang="en-US" sz="1400" dirty="0">
                <a:solidFill>
                  <a:schemeClr val="tx1"/>
                </a:solidFill>
              </a:rPr>
              <a:t>Evaluate how effective an AI security reviewer is in a DevSecOps pipeline for Terraform, compared with Checkov and tfsec.</a:t>
            </a:r>
            <a:endParaRPr lang="en-GB" sz="1400" dirty="0"/>
          </a:p>
        </p:txBody>
      </p:sp>
      <p:sp>
        <p:nvSpPr>
          <p:cNvPr id="18" name="Label Research questions"/>
          <p:cNvSpPr txBox="1"/>
          <p:nvPr/>
        </p:nvSpPr>
        <p:spPr>
          <a:xfrm>
            <a:off x="6812280" y="2560320"/>
            <a:ext cx="3657600" cy="256032"/>
          </a:xfrm>
          <a:prstGeom prst="rect">
            <a:avLst/>
          </a:prstGeom>
          <a:noFill/>
          <a:ln/>
        </p:spPr>
        <p:txBody>
          <a:bodyPr wrap="square" lIns="0" tIns="0" rIns="0" bIns="0" rtlCol="0" anchor="t"/>
          <a:lstStyle/>
          <a:p>
            <a:pPr indent="0" marL="0">
              <a:buNone/>
            </a:pPr>
            <a:r>
              <a:rPr lang="en-GB" altLang="en-US" sz="1200" b="1" spc="150" kern="0" dirty="0">
                <a:solidFill>
                  <a:schemeClr val="accent1"/>
                </a:solidFill>
              </a:rPr>
              <a:t>RESEARCH QUESTIONS</a:t>
            </a:r>
            <a:endParaRPr lang="en-GB" sz="1200" dirty="0"/>
          </a:p>
        </p:txBody>
      </p:sp>
      <p:sp>
        <p:nvSpPr>
          <p:cNvPr id="19" name="Research questions"/>
          <p:cNvSpPr txBox="1"/>
          <p:nvPr/>
        </p:nvSpPr>
        <p:spPr>
          <a:xfrm>
            <a:off x="6812280" y="2825496"/>
            <a:ext cx="4556455" cy="2011680"/>
          </a:xfrm>
          <a:prstGeom prst="rect">
            <a:avLst/>
          </a:prstGeom>
          <a:noFill/>
          <a:ln/>
        </p:spPr>
        <p:txBody>
          <a:bodyPr wrap="square" lIns="0" tIns="0" rIns="0" bIns="0" rtlCol="0" anchor="t"/>
          <a:lstStyle/>
          <a:p>
            <a:pPr indent="0" marL="0">
              <a:spcAft>
                <a:spcPts val="500"/>
              </a:spcAft>
              <a:buNone/>
            </a:pPr>
            <a:r>
              <a:rPr lang="en-GB" altLang="en-US" sz="1400" b="1" dirty="0">
                <a:solidFill>
                  <a:schemeClr val="accent1"/>
                </a:solidFill>
              </a:rPr>
              <a:t>RQ1  </a:t>
            </a:r>
            <a:pPr indent="0" marL="0">
              <a:spcAft>
                <a:spcPts val="500"/>
              </a:spcAft>
              <a:buNone/>
            </a:pPr>
            <a:r>
              <a:rPr lang="en-GB" altLang="en-US" sz="1400" dirty="0">
                <a:solidFill>
                  <a:schemeClr val="tx1"/>
                </a:solidFill>
              </a:rPr>
              <a:t>How accurately does the AI reviewer detect IaC vulnerabilities compared with Checkov and tfsec?</a:t>
            </a:r>
            <a:endParaRPr lang="en-GB" sz="1400" dirty="0"/>
          </a:p>
          <a:p>
            <a:pPr indent="0" marL="0">
              <a:spcAft>
                <a:spcPts val="500"/>
              </a:spcAft>
              <a:buNone/>
            </a:pPr>
            <a:r>
              <a:rPr lang="en-GB" altLang="en-US" sz="1400" b="1" dirty="0">
                <a:solidFill>
                  <a:schemeClr val="accent1"/>
                </a:solidFill>
              </a:rPr>
              <a:t>RQ2  </a:t>
            </a:r>
            <a:pPr indent="0" marL="0">
              <a:spcAft>
                <a:spcPts val="500"/>
              </a:spcAft>
              <a:buNone/>
            </a:pPr>
            <a:r>
              <a:rPr lang="en-GB" altLang="en-US" sz="1400" dirty="0">
                <a:solidFill>
                  <a:schemeClr val="tx1"/>
                </a:solidFill>
              </a:rPr>
              <a:t>What is the quality of the AI’s remediation guidance?</a:t>
            </a:r>
            <a:endParaRPr lang="en-GB" sz="1400" dirty="0"/>
          </a:p>
          <a:p>
            <a:pPr indent="0" marL="0">
              <a:spcAft>
                <a:spcPts val="500"/>
              </a:spcAft>
              <a:buNone/>
            </a:pPr>
            <a:r>
              <a:rPr lang="en-GB" altLang="en-US" sz="1400" b="1" dirty="0">
                <a:solidFill>
                  <a:schemeClr val="accent1"/>
                </a:solidFill>
              </a:rPr>
              <a:t>RQ3  </a:t>
            </a:r>
            <a:pPr indent="0" marL="0">
              <a:spcAft>
                <a:spcPts val="500"/>
              </a:spcAft>
              <a:buNone/>
            </a:pPr>
            <a:r>
              <a:rPr lang="en-GB" altLang="en-US" sz="1400" dirty="0">
                <a:solidFill>
                  <a:schemeClr val="tx1"/>
                </a:solidFill>
              </a:rPr>
              <a:t>What is the likely impact of AI feedback on developer understanding?</a:t>
            </a:r>
            <a:endParaRPr lang="en-GB" sz="1400" dirty="0"/>
          </a:p>
          <a:p>
            <a:pPr indent="0" marL="0">
              <a:spcAft>
                <a:spcPts val="500"/>
              </a:spcAft>
              <a:buNone/>
            </a:pPr>
            <a:r>
              <a:rPr lang="en-GB" altLang="en-US" sz="1400" b="1" dirty="0">
                <a:solidFill>
                  <a:schemeClr val="accent1"/>
                </a:solidFill>
              </a:rPr>
              <a:t>RQ4  </a:t>
            </a:r>
            <a:pPr indent="0" marL="0">
              <a:spcAft>
                <a:spcPts val="500"/>
              </a:spcAft>
              <a:buNone/>
            </a:pPr>
            <a:r>
              <a:rPr lang="en-GB" altLang="en-US" sz="1400" dirty="0">
                <a:solidFill>
                  <a:schemeClr val="tx1"/>
                </a:solidFill>
              </a:rPr>
              <a:t>What practical challenges arise in integrating AI review into a secure development workflow?</a:t>
            </a:r>
            <a:endParaRPr lang="en-GB" sz="1400" dirty="0"/>
          </a:p>
        </p:txBody>
      </p:sp>
      <p:sp>
        <p:nvSpPr>
          <p:cNvPr id="20" name="Label Objectives"/>
          <p:cNvSpPr txBox="1"/>
          <p:nvPr/>
        </p:nvSpPr>
        <p:spPr>
          <a:xfrm>
            <a:off x="6812280" y="4846320"/>
            <a:ext cx="3657600" cy="256032"/>
          </a:xfrm>
          <a:prstGeom prst="rect">
            <a:avLst/>
          </a:prstGeom>
          <a:noFill/>
          <a:ln/>
        </p:spPr>
        <p:txBody>
          <a:bodyPr wrap="square" lIns="0" tIns="0" rIns="0" bIns="0" rtlCol="0" anchor="t"/>
          <a:lstStyle/>
          <a:p>
            <a:pPr indent="0" marL="0">
              <a:buNone/>
            </a:pPr>
            <a:r>
              <a:rPr lang="en-GB" altLang="en-US" sz="1200" b="1" spc="150" kern="0" dirty="0">
                <a:solidFill>
                  <a:schemeClr val="accent1"/>
                </a:solidFill>
              </a:rPr>
              <a:t>OBJECTIVES</a:t>
            </a:r>
            <a:endParaRPr lang="en-GB" sz="1200" dirty="0"/>
          </a:p>
        </p:txBody>
      </p:sp>
      <p:sp>
        <p:nvSpPr>
          <p:cNvPr id="21" name="Objectives"/>
          <p:cNvSpPr txBox="1"/>
          <p:nvPr/>
        </p:nvSpPr>
        <p:spPr>
          <a:xfrm>
            <a:off x="6812280" y="5111496"/>
            <a:ext cx="4556455" cy="896112"/>
          </a:xfrm>
          <a:prstGeom prst="rect">
            <a:avLst/>
          </a:prstGeom>
          <a:noFill/>
          <a:ln/>
        </p:spPr>
        <p:txBody>
          <a:bodyPr wrap="square" lIns="0" tIns="0" rIns="0" bIns="0" rtlCol="0" anchor="t"/>
          <a:lstStyle/>
          <a:p>
            <a:pPr indent="0" marL="0">
              <a:buNone/>
            </a:pPr>
            <a:r>
              <a:rPr lang="en-GB" altLang="en-US" sz="1400" b="1" dirty="0">
                <a:solidFill>
                  <a:schemeClr val="accent1"/>
                </a:solidFill>
              </a:rPr>
              <a:t>O1  </a:t>
            </a:r>
            <a:pPr indent="0" marL="0">
              <a:buNone/>
            </a:pPr>
            <a:r>
              <a:rPr lang="en-GB" altLang="en-US" sz="1400" dirty="0">
                <a:solidFill>
                  <a:schemeClr val="tx1"/>
                </a:solidFill>
              </a:rPr>
              <a:t>Review the literature</a:t>
            </a:r>
            <a:endParaRPr lang="en-GB" sz="1400" dirty="0"/>
          </a:p>
          <a:p>
            <a:pPr indent="0" marL="0">
              <a:buNone/>
            </a:pPr>
            <a:r>
              <a:rPr lang="en-GB" altLang="en-US" sz="1400" b="1" dirty="0">
                <a:solidFill>
                  <a:schemeClr val="accent1"/>
                </a:solidFill>
              </a:rPr>
              <a:t>O2  </a:t>
            </a:r>
            <a:pPr indent="0" marL="0">
              <a:buNone/>
            </a:pPr>
            <a:r>
              <a:rPr lang="en-GB" altLang="en-US" sz="1400" dirty="0">
                <a:solidFill>
                  <a:schemeClr val="tx1"/>
                </a:solidFill>
              </a:rPr>
              <a:t>Design and build an AI review pipeline</a:t>
            </a:r>
            <a:endParaRPr lang="en-GB" sz="1400" dirty="0"/>
          </a:p>
          <a:p>
            <a:pPr indent="0" marL="0">
              <a:buNone/>
            </a:pPr>
            <a:r>
              <a:rPr lang="en-GB" altLang="en-US" sz="1400" b="1" dirty="0">
                <a:solidFill>
                  <a:schemeClr val="accent1"/>
                </a:solidFill>
              </a:rPr>
              <a:t>O3  </a:t>
            </a:r>
            <a:pPr indent="0" marL="0">
              <a:buNone/>
            </a:pPr>
            <a:r>
              <a:rPr lang="en-GB" altLang="en-US" sz="1400" dirty="0">
                <a:solidFill>
                  <a:schemeClr val="tx1"/>
                </a:solidFill>
              </a:rPr>
              <a:t>Evaluate it against scanners and fixed ground truth</a:t>
            </a:r>
            <a:endParaRPr lang="en-GB" sz="1400" dirty="0"/>
          </a:p>
          <a:p>
            <a:pPr indent="0" marL="0">
              <a:buNone/>
            </a:pPr>
            <a:r>
              <a:rPr lang="en-GB" altLang="en-US" sz="1400" b="1" dirty="0">
                <a:solidFill>
                  <a:schemeClr val="accent1"/>
                </a:solidFill>
              </a:rPr>
              <a:t>O4  </a:t>
            </a:r>
            <a:pPr indent="0" marL="0">
              <a:buNone/>
            </a:pPr>
            <a:r>
              <a:rPr lang="en-GB" altLang="en-US" sz="1400" dirty="0">
                <a:solidFill>
                  <a:schemeClr val="tx1"/>
                </a:solidFill>
              </a:rPr>
              <a:t>Investigate the benefits and limits of AI feedback</a:t>
            </a:r>
            <a:endParaRPr lang="en-GB" sz="1400" dirty="0"/>
          </a:p>
        </p:txBody>
      </p:sp>
      <p:sp>
        <p:nvSpPr>
          <p:cNvPr id="25" name="Slide Number Placeholder 0"/>
          <p:cNvSpPr>
            <a:spLocks noGrp="1"/>
          </p:cNvSpPr>
          <p:nvPr>
            <p:ph type="sldNum" sz="quarter" idx="4294967295"/>
          </p:nvPr>
        </p:nvSpPr>
        <p:spPr>
          <a:xfrm>
            <a:off x="10104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defRPr>
            </a:lvl1pPr>
          </a:lstStyle>
          <a:p>
            <a:pPr algn="r"/>
            <a:fld id="{F7021451-1387-4CA6-816F-3879F97B5CBC}" type="slidenum">
              <a:rPr b="0" lang="en-GB"/>
              <a:t>2</a:t>
            </a:fld>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GB" altLang="en-US" sz="3600" b="1" dirty="0">
                <a:solidFill>
                  <a:schemeClr val="tx2"/>
                </a:solidFill>
              </a:rPr>
              <a:t>How the literature shaped the study</a:t>
            </a:r>
            <a:endParaRPr lang="en-GB" sz="3600" dirty="0"/>
          </a:p>
        </p:txBody>
      </p:sp>
      <p:graphicFrame>
        <p:nvGraphicFramePr>
          <p:cNvPr id="4" name="Literature to desig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5806440"/>
                <a:gridCol w="5287975"/>
              </a:tblGrid>
              <a:tr h="384048">
                <a:tc>
                  <a:txBody>
                    <a:bodyPr/>
                    <a:lstStyle/>
                    <a:p>
                      <a:pPr indent="0" marL="0">
                        <a:buNone/>
                      </a:pPr>
                      <a:r>
                        <a:rPr lang="en-GB" altLang="en-US" sz="1400" b="1" dirty="0">
                          <a:solidFill>
                            <a:schemeClr val="bg1"/>
                          </a:solidFill>
                        </a:rPr>
                        <a:t>What the literature shows</a:t>
                      </a:r>
                      <a:endParaRPr lang="en-GB" sz="1400" dirty="0"/>
                    </a:p>
                  </a:txBody>
                  <a:tcPr marL="128016" marR="128016" marT="64008" marB="64008"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tx2"/>
                    </a:solidFill>
                  </a:tcPr>
                </a:tc>
                <a:tc>
                  <a:txBody>
                    <a:bodyPr/>
                    <a:lstStyle/>
                    <a:p>
                      <a:pPr indent="0" marL="0">
                        <a:buNone/>
                      </a:pPr>
                      <a:r>
                        <a:rPr lang="en-GB" altLang="en-US" sz="1400" b="1" dirty="0">
                          <a:solidFill>
                            <a:schemeClr val="bg1"/>
                          </a:solidFill>
                        </a:rPr>
                        <a:t>How I applied it</a:t>
                      </a:r>
                      <a:endParaRPr lang="en-GB" sz="1400" dirty="0"/>
                    </a:p>
                  </a:txBody>
                  <a:tcPr marL="128016" marR="128016" marT="64008" marB="64008"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tx2"/>
                    </a:solidFill>
                  </a:tcPr>
                </a:tc>
              </a:tr>
              <a:tr h="548640">
                <a:tc>
                  <a:txBody>
                    <a:bodyPr/>
                    <a:lstStyle/>
                    <a:p>
                      <a:pPr indent="0" marL="0">
                        <a:buNone/>
                      </a:pPr>
                      <a:r>
                        <a:rPr lang="en-GB" altLang="en-US" sz="1400" dirty="0">
                          <a:solidFill>
                            <a:schemeClr val="tx1"/>
                          </a:solidFill>
                        </a:rPr>
                        <a:t>Developers ignore noisy, poorly explained warnings (Johnson et al., 2013)</a:t>
                      </a:r>
                      <a:endParaRPr lang="en-GB" sz="1400" dirty="0"/>
                    </a:p>
                  </a:txBody>
                  <a:tcPr marL="128016" marR="128016" marT="64008" marB="64008"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1"/>
                    </a:solidFill>
                  </a:tcPr>
                </a:tc>
                <a:tc>
                  <a:txBody>
                    <a:bodyPr/>
                    <a:lstStyle/>
                    <a:p>
                      <a:pPr indent="0" marL="0">
                        <a:buNone/>
                      </a:pPr>
                      <a:r>
                        <a:rPr lang="en-GB" altLang="en-US" sz="1400" dirty="0">
                          <a:solidFill>
                            <a:schemeClr val="tx1"/>
                          </a:solidFill>
                        </a:rPr>
                        <a:t>Measured false alarms and scored the explanations, not only detections</a:t>
                      </a:r>
                      <a:endParaRPr lang="en-GB" sz="1400" dirty="0"/>
                    </a:p>
                  </a:txBody>
                  <a:tcPr marL="128016" marR="128016" marT="64008" marB="64008"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1"/>
                    </a:solidFill>
                  </a:tcPr>
                </a:tc>
              </a:tr>
              <a:tr h="548640">
                <a:tc>
                  <a:txBody>
                    <a:bodyPr/>
                    <a:lstStyle/>
                    <a:p>
                      <a:pPr indent="0" marL="0">
                        <a:buNone/>
                      </a:pPr>
                      <a:r>
                        <a:rPr lang="en-GB" altLang="en-US" sz="1400" dirty="0">
                          <a:solidFill>
                            <a:schemeClr val="tx1"/>
                          </a:solidFill>
                        </a:rPr>
                        <a:t>IaC “security smells”, such as open addresses and hard-coded secrets, recur in real scripts (Rahman et al., 2019)</a:t>
                      </a:r>
                      <a:endParaRPr lang="en-GB" sz="1400" dirty="0"/>
                    </a:p>
                  </a:txBody>
                  <a:tcPr marL="128016" marR="128016" marT="64008" marB="64008"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2"/>
                    </a:solidFill>
                  </a:tcPr>
                </a:tc>
                <a:tc>
                  <a:txBody>
                    <a:bodyPr/>
                    <a:lstStyle/>
                    <a:p>
                      <a:pPr indent="0" marL="0">
                        <a:buNone/>
                      </a:pPr>
                      <a:r>
                        <a:rPr lang="en-GB" altLang="en-US" sz="1400" dirty="0">
                          <a:solidFill>
                            <a:schemeClr val="tx1"/>
                          </a:solidFill>
                        </a:rPr>
                        <a:t>Linked the test cases to documented smells: TC02–TC04 (open addresses), TC09 and TC15 (secrets)</a:t>
                      </a:r>
                      <a:endParaRPr lang="en-GB" sz="1400" dirty="0"/>
                    </a:p>
                  </a:txBody>
                  <a:tcPr marL="128016" marR="128016" marT="64008" marB="64008"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2"/>
                    </a:solidFill>
                  </a:tcPr>
                </a:tc>
              </a:tr>
              <a:tr h="548640">
                <a:tc>
                  <a:txBody>
                    <a:bodyPr/>
                    <a:lstStyle/>
                    <a:p>
                      <a:pPr indent="0" marL="0">
                        <a:buNone/>
                      </a:pPr>
                      <a:r>
                        <a:rPr lang="en-GB" altLang="en-US" sz="1400" dirty="0">
                          <a:solidFill>
                            <a:schemeClr val="tx1"/>
                          </a:solidFill>
                        </a:rPr>
                        <a:t>Hybrid designs feed static-analysis output to the LLM (Li et al., 2024), so the AI’s own share is hidden</a:t>
                      </a:r>
                      <a:endParaRPr lang="en-GB" sz="1400" dirty="0"/>
                    </a:p>
                  </a:txBody>
                  <a:tcPr marL="128016" marR="128016" marT="64008" marB="64008"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1"/>
                    </a:solidFill>
                  </a:tcPr>
                </a:tc>
                <a:tc>
                  <a:txBody>
                    <a:bodyPr/>
                    <a:lstStyle/>
                    <a:p>
                      <a:pPr indent="0" marL="0">
                        <a:buNone/>
                      </a:pPr>
                      <a:r>
                        <a:rPr lang="en-GB" altLang="en-US" sz="1400" dirty="0">
                          <a:solidFill>
                            <a:schemeClr val="tx1"/>
                          </a:solidFill>
                        </a:rPr>
                        <a:t>Kept the AI independent of the scanners and ran every case that way</a:t>
                      </a:r>
                      <a:endParaRPr lang="en-GB" sz="1400" dirty="0"/>
                    </a:p>
                  </a:txBody>
                  <a:tcPr marL="128016" marR="128016" marT="64008" marB="64008"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1"/>
                    </a:solidFill>
                  </a:tcPr>
                </a:tc>
              </a:tr>
              <a:tr h="548640">
                <a:tc>
                  <a:txBody>
                    <a:bodyPr/>
                    <a:lstStyle/>
                    <a:p>
                      <a:pPr indent="0" marL="0">
                        <a:buNone/>
                      </a:pPr>
                      <a:r>
                        <a:rPr lang="en-GB" altLang="en-US" sz="1400" dirty="0">
                          <a:solidFill>
                            <a:schemeClr val="tx1"/>
                          </a:solidFill>
                        </a:rPr>
                        <a:t>LLMs give different answers to the same request (Ouyang et al., 2025)</a:t>
                      </a:r>
                      <a:endParaRPr lang="en-GB" sz="1400" dirty="0"/>
                    </a:p>
                  </a:txBody>
                  <a:tcPr marL="128016" marR="128016" marT="64008" marB="64008"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2"/>
                    </a:solidFill>
                  </a:tcPr>
                </a:tc>
                <a:tc>
                  <a:txBody>
                    <a:bodyPr/>
                    <a:lstStyle/>
                    <a:p>
                      <a:pPr indent="0" marL="0">
                        <a:buNone/>
                      </a:pPr>
                      <a:r>
                        <a:rPr lang="en-GB" altLang="en-US" sz="1400" dirty="0">
                          <a:solidFill>
                            <a:schemeClr val="tx1"/>
                          </a:solidFill>
                        </a:rPr>
                        <a:t>Repeated every AI review three times on identical input</a:t>
                      </a:r>
                      <a:endParaRPr lang="en-GB" sz="1400" dirty="0"/>
                    </a:p>
                  </a:txBody>
                  <a:tcPr marL="128016" marR="128016" marT="64008" marB="64008"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2"/>
                    </a:solidFill>
                  </a:tcPr>
                </a:tc>
              </a:tr>
              <a:tr h="548640">
                <a:tc>
                  <a:txBody>
                    <a:bodyPr/>
                    <a:lstStyle/>
                    <a:p>
                      <a:pPr indent="0" marL="0">
                        <a:buNone/>
                      </a:pPr>
                      <a:r>
                        <a:rPr lang="en-GB" altLang="en-US" sz="1400" dirty="0">
                          <a:solidFill>
                            <a:schemeClr val="tx1"/>
                          </a:solidFill>
                        </a:rPr>
                        <a:t>LLM claims and fixes can be wrong (Ji et al., 2023; Pearce et al., 2023)</a:t>
                      </a:r>
                      <a:endParaRPr lang="en-GB" sz="1400" dirty="0"/>
                    </a:p>
                  </a:txBody>
                  <a:tcPr marL="128016" marR="128016" marT="64008" marB="64008"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1"/>
                    </a:solidFill>
                  </a:tcPr>
                </a:tc>
                <a:tc>
                  <a:txBody>
                    <a:bodyPr/>
                    <a:lstStyle/>
                    <a:p>
                      <a:pPr indent="0" marL="0">
                        <a:buNone/>
                      </a:pPr>
                      <a:r>
                        <a:rPr lang="en-GB" altLang="en-US" sz="1400" dirty="0">
                          <a:solidFill>
                            <a:schemeClr val="tx1"/>
                          </a:solidFill>
                        </a:rPr>
                        <a:t>Applied every AI fix and re-tested it with validate, both scanners and the AI</a:t>
                      </a:r>
                      <a:endParaRPr lang="en-GB" sz="1400" dirty="0"/>
                    </a:p>
                  </a:txBody>
                  <a:tcPr marL="128016" marR="128016" marT="64008" marB="64008"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1"/>
                    </a:solidFill>
                  </a:tcPr>
                </a:tc>
              </a:tr>
            </a:tbl>
          </a:graphicData>
        </a:graphic>
      </p:graphicFrame>
      <p:sp>
        <p:nvSpPr>
          <p:cNvPr id="4" name="Also used to interpret the results card"/>
          <p:cNvSpPr/>
          <p:nvPr/>
        </p:nvSpPr>
        <p:spPr>
          <a:xfrm>
            <a:off x="548640" y="4709160"/>
            <a:ext cx="5410048" cy="1371600"/>
          </a:xfrm>
          <a:prstGeom prst="roundRect">
            <a:avLst>
              <a:gd name="adj" fmla="val 5333"/>
            </a:avLst>
          </a:prstGeom>
          <a:solidFill>
            <a:schemeClr val="bg2"/>
          </a:solidFill>
          <a:ln w="12700">
            <a:solidFill>
              <a:schemeClr val="bg2"/>
            </a:solidFill>
            <a:prstDash val="solid"/>
          </a:ln>
        </p:spPr>
      </p:sp>
      <p:sp>
        <p:nvSpPr>
          <p:cNvPr id="5" name="Also used to interpret the results circle"/>
          <p:cNvSpPr/>
          <p:nvPr/>
        </p:nvSpPr>
        <p:spPr>
          <a:xfrm>
            <a:off x="749808" y="4910328"/>
            <a:ext cx="502920" cy="502920"/>
          </a:xfrm>
          <a:prstGeom prst="ellipse">
            <a:avLst/>
          </a:prstGeom>
          <a:solidFill>
            <a:schemeClr val="accent2"/>
          </a:solidFill>
          <a:ln w="12700">
            <a:solidFill>
              <a:schemeClr val="accent2"/>
            </a:solidFill>
            <a:prstDash val="solid"/>
          </a:ln>
        </p:spPr>
      </p:sp>
      <p:pic>
        <p:nvPicPr>
          <p:cNvPr id="6" name="Also used to interpret the results icon" descr="preencoded.png">    </p:cNvPr>
          <p:cNvPicPr>
            <a:picLocks noChangeAspect="1"/>
          </p:cNvPicPr>
          <p:nvPr/>
        </p:nvPicPr>
        <p:blipFill>
          <a:blip r:embed="rId1"/>
          <a:stretch>
            <a:fillRect/>
          </a:stretch>
        </p:blipFill>
        <p:spPr>
          <a:xfrm>
            <a:off x="875538" y="5036058"/>
            <a:ext cx="251460" cy="251460"/>
          </a:xfrm>
          <a:prstGeom prst="rect">
            <a:avLst/>
          </a:prstGeom>
        </p:spPr>
      </p:pic>
      <p:sp>
        <p:nvSpPr>
          <p:cNvPr id="7" name="Also used to interpret the results text"/>
          <p:cNvSpPr txBox="1"/>
          <p:nvPr/>
        </p:nvSpPr>
        <p:spPr>
          <a:xfrm>
            <a:off x="1435608" y="4873752"/>
            <a:ext cx="4358488" cy="1097280"/>
          </a:xfrm>
          <a:prstGeom prst="rect">
            <a:avLst/>
          </a:prstGeom>
          <a:noFill/>
          <a:ln/>
        </p:spPr>
        <p:txBody>
          <a:bodyPr wrap="square" lIns="0" tIns="0" rIns="0" bIns="0" rtlCol="0" anchor="t"/>
          <a:lstStyle/>
          <a:p>
            <a:pPr indent="0" marL="0">
              <a:spcAft>
                <a:spcPts val="300"/>
              </a:spcAft>
              <a:buNone/>
            </a:pPr>
            <a:r>
              <a:rPr lang="en-GB" altLang="en-US" sz="1500" b="1" dirty="0">
                <a:solidFill>
                  <a:schemeClr val="tx2"/>
                </a:solidFill>
              </a:rPr>
              <a:t>Also used to interpret the results</a:t>
            </a:r>
            <a:endParaRPr lang="en-GB" sz="1400" dirty="0"/>
          </a:p>
          <a:p>
            <a:pPr indent="0" marL="0">
              <a:spcAft>
                <a:spcPts val="300"/>
              </a:spcAft>
              <a:buNone/>
            </a:pPr>
            <a:r>
              <a:rPr lang="en-GB" altLang="en-US" sz="1400" dirty="0">
                <a:solidFill>
                  <a:schemeClr val="tx1"/>
                </a:solidFill>
              </a:rPr>
              <a:t>Indirect prompt injection helps explain why code comments changed verdicts (Greshake et al., 2023); constructed test sets can flatter AI, so my results are descriptive (Ding et al., 2025).</a:t>
            </a:r>
            <a:endParaRPr lang="en-GB" sz="1400" dirty="0"/>
          </a:p>
        </p:txBody>
      </p:sp>
      <p:sp>
        <p:nvSpPr>
          <p:cNvPr id="8" name="The gap card"/>
          <p:cNvSpPr/>
          <p:nvPr/>
        </p:nvSpPr>
        <p:spPr>
          <a:xfrm>
            <a:off x="6233008" y="4709160"/>
            <a:ext cx="5410048" cy="1371600"/>
          </a:xfrm>
          <a:prstGeom prst="roundRect">
            <a:avLst>
              <a:gd name="adj" fmla="val 5333"/>
            </a:avLst>
          </a:prstGeom>
          <a:solidFill>
            <a:schemeClr val="tx2"/>
          </a:solidFill>
          <a:ln w="12700">
            <a:solidFill>
              <a:schemeClr val="tx2"/>
            </a:solidFill>
            <a:prstDash val="solid"/>
          </a:ln>
        </p:spPr>
      </p:sp>
      <p:sp>
        <p:nvSpPr>
          <p:cNvPr id="9" name="The gap circle"/>
          <p:cNvSpPr/>
          <p:nvPr/>
        </p:nvSpPr>
        <p:spPr>
          <a:xfrm>
            <a:off x="6434176" y="4910328"/>
            <a:ext cx="502920" cy="502920"/>
          </a:xfrm>
          <a:prstGeom prst="ellipse">
            <a:avLst/>
          </a:prstGeom>
          <a:solidFill>
            <a:schemeClr val="accent1"/>
          </a:solidFill>
          <a:ln w="12700">
            <a:solidFill>
              <a:schemeClr val="accent1"/>
            </a:solidFill>
            <a:prstDash val="solid"/>
          </a:ln>
        </p:spPr>
      </p:sp>
      <p:pic>
        <p:nvPicPr>
          <p:cNvPr id="10" name="The gap icon" descr="preencoded.png">    </p:cNvPr>
          <p:cNvPicPr>
            <a:picLocks noChangeAspect="1"/>
          </p:cNvPicPr>
          <p:nvPr/>
        </p:nvPicPr>
        <p:blipFill>
          <a:blip r:embed="rId2"/>
          <a:stretch>
            <a:fillRect/>
          </a:stretch>
        </p:blipFill>
        <p:spPr>
          <a:xfrm>
            <a:off x="6559906" y="5036058"/>
            <a:ext cx="251460" cy="251460"/>
          </a:xfrm>
          <a:prstGeom prst="rect">
            <a:avLst/>
          </a:prstGeom>
        </p:spPr>
      </p:pic>
      <p:sp>
        <p:nvSpPr>
          <p:cNvPr id="11" name="The gap text"/>
          <p:cNvSpPr txBox="1"/>
          <p:nvPr/>
        </p:nvSpPr>
        <p:spPr>
          <a:xfrm>
            <a:off x="7119976" y="4873752"/>
            <a:ext cx="4358488" cy="1097280"/>
          </a:xfrm>
          <a:prstGeom prst="rect">
            <a:avLst/>
          </a:prstGeom>
          <a:noFill/>
          <a:ln/>
        </p:spPr>
        <p:txBody>
          <a:bodyPr wrap="square" lIns="0" tIns="0" rIns="0" bIns="0" rtlCol="0" anchor="t"/>
          <a:lstStyle/>
          <a:p>
            <a:pPr indent="0" marL="0">
              <a:spcAft>
                <a:spcPts val="300"/>
              </a:spcAft>
              <a:buNone/>
            </a:pPr>
            <a:r>
              <a:rPr lang="en-GB" altLang="en-US" sz="1500" b="1" dirty="0">
                <a:solidFill>
                  <a:schemeClr val="bg1"/>
                </a:solidFill>
              </a:rPr>
              <a:t>The gap</a:t>
            </a:r>
            <a:endParaRPr lang="en-GB" sz="1400" dirty="0"/>
          </a:p>
          <a:p>
            <a:pPr indent="0" marL="0">
              <a:spcAft>
                <a:spcPts val="300"/>
              </a:spcAft>
              <a:buNone/>
            </a:pPr>
            <a:r>
              <a:rPr lang="en-GB" altLang="en-US" sz="1400" dirty="0">
                <a:solidFill>
                  <a:schemeClr val="bg1"/>
                </a:solidFill>
              </a:rPr>
              <a:t>Little head-to-head evidence of an AI reviewer against Terraform scanners on the same changes and a fixed ground truth, with independence, repeatability and fixes tested together.</a:t>
            </a:r>
            <a:endParaRPr lang="en-GB" sz="1400" dirty="0"/>
          </a:p>
        </p:txBody>
      </p:sp>
      <p:sp>
        <p:nvSpPr>
          <p:cNvPr id="25" name="Slide Number Placeholder 0"/>
          <p:cNvSpPr>
            <a:spLocks noGrp="1"/>
          </p:cNvSpPr>
          <p:nvPr>
            <p:ph type="sldNum" sz="quarter" idx="4294967295"/>
          </p:nvPr>
        </p:nvSpPr>
        <p:spPr>
          <a:xfrm>
            <a:off x="10104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defRPr>
            </a:lvl1pPr>
          </a:lstStyle>
          <a:p>
            <a:pPr algn="r"/>
            <a:fld id="{F7021451-1387-4CA6-816F-3879F97B5CBC}" type="slidenum">
              <a:rPr b="0" lang="en-GB"/>
              <a:t>3</a:t>
            </a:fld>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GB" altLang="en-US" sz="3600" b="1" dirty="0">
                <a:solidFill>
                  <a:schemeClr val="tx2"/>
                </a:solidFill>
              </a:rPr>
              <a:t>What I built: three independent reviewers</a:t>
            </a:r>
            <a:endParaRPr lang="en-GB" sz="3600" dirty="0"/>
          </a:p>
        </p:txBody>
      </p:sp>
      <p:sp>
        <p:nvSpPr>
          <p:cNvPr id="3" name="Step PR"/>
          <p:cNvSpPr/>
          <p:nvPr/>
        </p:nvSpPr>
        <p:spPr>
          <a:xfrm>
            <a:off x="548640" y="1325880"/>
            <a:ext cx="5760720" cy="457200"/>
          </a:xfrm>
          <a:prstGeom prst="roundRect">
            <a:avLst>
              <a:gd name="adj" fmla="val 16000"/>
            </a:avLst>
          </a:prstGeom>
          <a:solidFill>
            <a:schemeClr val="bg2"/>
          </a:solidFill>
          <a:ln w="12700">
            <a:solidFill>
              <a:schemeClr val="bg2"/>
            </a:solidFill>
            <a:prstDash val="solid"/>
          </a:ln>
        </p:spPr>
      </p:sp>
      <p:sp>
        <p:nvSpPr>
          <p:cNvPr id="4" name="Step PR icon circle"/>
          <p:cNvSpPr/>
          <p:nvPr/>
        </p:nvSpPr>
        <p:spPr>
          <a:xfrm>
            <a:off x="676656" y="1362456"/>
            <a:ext cx="384048" cy="384048"/>
          </a:xfrm>
          <a:prstGeom prst="ellipse">
            <a:avLst/>
          </a:prstGeom>
          <a:solidFill>
            <a:schemeClr val="tx2"/>
          </a:solidFill>
          <a:ln w="12700">
            <a:solidFill>
              <a:schemeClr val="tx2"/>
            </a:solidFill>
            <a:prstDash val="solid"/>
          </a:ln>
        </p:spPr>
      </p:sp>
      <p:pic>
        <p:nvPicPr>
          <p:cNvPr id="5" name="Step PR icon icon" descr="preencoded.png">    </p:cNvPr>
          <p:cNvPicPr>
            <a:picLocks noChangeAspect="1"/>
          </p:cNvPicPr>
          <p:nvPr/>
        </p:nvPicPr>
        <p:blipFill>
          <a:blip r:embed="rId1"/>
          <a:stretch>
            <a:fillRect/>
          </a:stretch>
        </p:blipFill>
        <p:spPr>
          <a:xfrm>
            <a:off x="772668" y="1458468"/>
            <a:ext cx="192024" cy="192024"/>
          </a:xfrm>
          <a:prstGeom prst="rect">
            <a:avLst/>
          </a:prstGeom>
        </p:spPr>
      </p:pic>
      <p:sp>
        <p:nvSpPr>
          <p:cNvPr id="6" name="Step PR text"/>
          <p:cNvSpPr txBox="1"/>
          <p:nvPr/>
        </p:nvSpPr>
        <p:spPr>
          <a:xfrm>
            <a:off x="1188720" y="1325880"/>
            <a:ext cx="4983480" cy="457200"/>
          </a:xfrm>
          <a:prstGeom prst="rect">
            <a:avLst/>
          </a:prstGeom>
          <a:noFill/>
          <a:ln/>
        </p:spPr>
        <p:txBody>
          <a:bodyPr wrap="square" lIns="0" tIns="0" rIns="0" bIns="0" rtlCol="0" anchor="ctr"/>
          <a:lstStyle/>
          <a:p>
            <a:pPr indent="0" marL="0">
              <a:buNone/>
            </a:pPr>
            <a:r>
              <a:rPr lang="en-GB" altLang="en-US" sz="1400" b="1" dirty="0">
                <a:solidFill>
                  <a:schemeClr val="tx1"/>
                </a:solidFill>
              </a:rPr>
              <a:t>Developer opens a Terraform pull request</a:t>
            </a:r>
            <a:endParaRPr lang="en-GB" sz="1400" dirty="0"/>
          </a:p>
        </p:txBody>
      </p:sp>
      <p:sp>
        <p:nvSpPr>
          <p:cNvPr id="7" name="Arrow to validate"/>
          <p:cNvSpPr/>
          <p:nvPr/>
        </p:nvSpPr>
        <p:spPr>
          <a:xfrm>
            <a:off x="3429000" y="1783080"/>
            <a:ext cx="0" cy="182880"/>
          </a:xfrm>
          <a:prstGeom prst="line">
            <a:avLst/>
          </a:prstGeom>
          <a:noFill/>
          <a:ln w="19050">
            <a:solidFill>
              <a:srgbClr val="7A8794"/>
            </a:solidFill>
            <a:prstDash val="solid"/>
            <a:tailEnd type="triangle"/>
          </a:ln>
        </p:spPr>
      </p:sp>
      <p:sp>
        <p:nvSpPr>
          <p:cNvPr id="8" name="Step validate"/>
          <p:cNvSpPr/>
          <p:nvPr/>
        </p:nvSpPr>
        <p:spPr>
          <a:xfrm>
            <a:off x="548640" y="1965960"/>
            <a:ext cx="5760720" cy="457200"/>
          </a:xfrm>
          <a:prstGeom prst="roundRect">
            <a:avLst>
              <a:gd name="adj" fmla="val 16000"/>
            </a:avLst>
          </a:prstGeom>
          <a:solidFill>
            <a:schemeClr val="bg2"/>
          </a:solidFill>
          <a:ln w="12700">
            <a:solidFill>
              <a:schemeClr val="bg2"/>
            </a:solidFill>
            <a:prstDash val="solid"/>
          </a:ln>
        </p:spPr>
      </p:sp>
      <p:sp>
        <p:nvSpPr>
          <p:cNvPr id="9" name="Step validate icon circle"/>
          <p:cNvSpPr/>
          <p:nvPr/>
        </p:nvSpPr>
        <p:spPr>
          <a:xfrm>
            <a:off x="676656" y="2002536"/>
            <a:ext cx="384048" cy="384048"/>
          </a:xfrm>
          <a:prstGeom prst="ellipse">
            <a:avLst/>
          </a:prstGeom>
          <a:solidFill>
            <a:schemeClr val="tx2"/>
          </a:solidFill>
          <a:ln w="12700">
            <a:solidFill>
              <a:schemeClr val="tx2"/>
            </a:solidFill>
            <a:prstDash val="solid"/>
          </a:ln>
        </p:spPr>
      </p:sp>
      <p:pic>
        <p:nvPicPr>
          <p:cNvPr id="10" name="Step validate icon icon" descr="preencoded.png">    </p:cNvPr>
          <p:cNvPicPr>
            <a:picLocks noChangeAspect="1"/>
          </p:cNvPicPr>
          <p:nvPr/>
        </p:nvPicPr>
        <p:blipFill>
          <a:blip r:embed="rId2"/>
          <a:stretch>
            <a:fillRect/>
          </a:stretch>
        </p:blipFill>
        <p:spPr>
          <a:xfrm>
            <a:off x="772668" y="2098548"/>
            <a:ext cx="192024" cy="192024"/>
          </a:xfrm>
          <a:prstGeom prst="rect">
            <a:avLst/>
          </a:prstGeom>
        </p:spPr>
      </p:pic>
      <p:sp>
        <p:nvSpPr>
          <p:cNvPr id="11" name="Step validate text"/>
          <p:cNvSpPr txBox="1"/>
          <p:nvPr/>
        </p:nvSpPr>
        <p:spPr>
          <a:xfrm>
            <a:off x="1188720" y="1965960"/>
            <a:ext cx="4983480" cy="457200"/>
          </a:xfrm>
          <a:prstGeom prst="rect">
            <a:avLst/>
          </a:prstGeom>
          <a:noFill/>
          <a:ln/>
        </p:spPr>
        <p:txBody>
          <a:bodyPr wrap="square" lIns="0" tIns="0" rIns="0" bIns="0" rtlCol="0" anchor="ctr"/>
          <a:lstStyle/>
          <a:p>
            <a:pPr indent="0" marL="0">
              <a:buNone/>
            </a:pPr>
            <a:r>
              <a:rPr lang="en-GB" altLang="en-US" sz="1400" b="1" dirty="0">
                <a:solidFill>
                  <a:schemeClr val="tx1"/>
                </a:solidFill>
              </a:rPr>
              <a:t>Validate: </a:t>
            </a:r>
            <a:pPr indent="0" marL="0">
              <a:buNone/>
            </a:pPr>
            <a:r>
              <a:rPr lang="en-GB" altLang="en-US" sz="1400" dirty="0">
                <a:solidFill>
                  <a:schemeClr val="tx1"/>
                </a:solidFill>
              </a:rPr>
              <a:t>terraform fmt and validate (never plan or apply)</a:t>
            </a:r>
            <a:endParaRPr lang="en-GB" sz="1400" dirty="0"/>
          </a:p>
        </p:txBody>
      </p:sp>
      <p:sp>
        <p:nvSpPr>
          <p:cNvPr id="12" name="Fan-out stem"/>
          <p:cNvSpPr/>
          <p:nvPr/>
        </p:nvSpPr>
        <p:spPr>
          <a:xfrm>
            <a:off x="3429000" y="2423160"/>
            <a:ext cx="0" cy="137160"/>
          </a:xfrm>
          <a:prstGeom prst="line">
            <a:avLst/>
          </a:prstGeom>
          <a:noFill/>
          <a:ln w="19050">
            <a:solidFill>
              <a:srgbClr val="7A8794"/>
            </a:solidFill>
            <a:prstDash val="solid"/>
          </a:ln>
        </p:spPr>
      </p:sp>
      <p:sp>
        <p:nvSpPr>
          <p:cNvPr id="13" name="Fan-out bar"/>
          <p:cNvSpPr/>
          <p:nvPr/>
        </p:nvSpPr>
        <p:spPr>
          <a:xfrm>
            <a:off x="1447800" y="2560320"/>
            <a:ext cx="3962400" cy="0"/>
          </a:xfrm>
          <a:prstGeom prst="line">
            <a:avLst/>
          </a:prstGeom>
          <a:noFill/>
          <a:ln w="19050">
            <a:solidFill>
              <a:srgbClr val="7A8794"/>
            </a:solidFill>
            <a:prstDash val="solid"/>
          </a:ln>
        </p:spPr>
      </p:sp>
      <p:sp>
        <p:nvSpPr>
          <p:cNvPr id="14" name="Fan-out arrow 1"/>
          <p:cNvSpPr/>
          <p:nvPr/>
        </p:nvSpPr>
        <p:spPr>
          <a:xfrm>
            <a:off x="1447800" y="2560320"/>
            <a:ext cx="0" cy="137160"/>
          </a:xfrm>
          <a:prstGeom prst="line">
            <a:avLst/>
          </a:prstGeom>
          <a:noFill/>
          <a:ln w="19050">
            <a:solidFill>
              <a:srgbClr val="7A8794"/>
            </a:solidFill>
            <a:prstDash val="solid"/>
            <a:tailEnd type="triangle"/>
          </a:ln>
        </p:spPr>
      </p:sp>
      <p:sp>
        <p:nvSpPr>
          <p:cNvPr id="15" name="Fan-out arrow 2"/>
          <p:cNvSpPr/>
          <p:nvPr/>
        </p:nvSpPr>
        <p:spPr>
          <a:xfrm>
            <a:off x="3429000" y="2560320"/>
            <a:ext cx="0" cy="137160"/>
          </a:xfrm>
          <a:prstGeom prst="line">
            <a:avLst/>
          </a:prstGeom>
          <a:noFill/>
          <a:ln w="19050">
            <a:solidFill>
              <a:srgbClr val="7A8794"/>
            </a:solidFill>
            <a:prstDash val="solid"/>
            <a:tailEnd type="triangle"/>
          </a:ln>
        </p:spPr>
      </p:sp>
      <p:sp>
        <p:nvSpPr>
          <p:cNvPr id="16" name="Fan-out arrow 3"/>
          <p:cNvSpPr/>
          <p:nvPr/>
        </p:nvSpPr>
        <p:spPr>
          <a:xfrm>
            <a:off x="5410200" y="2560320"/>
            <a:ext cx="0" cy="137160"/>
          </a:xfrm>
          <a:prstGeom prst="line">
            <a:avLst/>
          </a:prstGeom>
          <a:noFill/>
          <a:ln w="19050">
            <a:solidFill>
              <a:srgbClr val="7A8794"/>
            </a:solidFill>
            <a:prstDash val="solid"/>
            <a:tailEnd type="triangle"/>
          </a:ln>
        </p:spPr>
      </p:sp>
      <p:sp>
        <p:nvSpPr>
          <p:cNvPr id="17" name="Checkov 3.3.1 box"/>
          <p:cNvSpPr/>
          <p:nvPr/>
        </p:nvSpPr>
        <p:spPr>
          <a:xfrm>
            <a:off x="548640" y="2697480"/>
            <a:ext cx="1798320" cy="1691640"/>
          </a:xfrm>
          <a:prstGeom prst="roundRect">
            <a:avLst>
              <a:gd name="adj" fmla="val 4324"/>
            </a:avLst>
          </a:prstGeom>
          <a:solidFill>
            <a:schemeClr val="bg1"/>
          </a:solidFill>
          <a:ln w="15875">
            <a:solidFill>
              <a:schemeClr val="accent2"/>
            </a:solidFill>
            <a:prstDash val="solid"/>
          </a:ln>
        </p:spPr>
      </p:sp>
      <p:sp>
        <p:nvSpPr>
          <p:cNvPr id="18" name="Checkov 3.3.1 circle"/>
          <p:cNvSpPr/>
          <p:nvPr/>
        </p:nvSpPr>
        <p:spPr>
          <a:xfrm>
            <a:off x="1219200" y="2807208"/>
            <a:ext cx="457200" cy="457200"/>
          </a:xfrm>
          <a:prstGeom prst="ellipse">
            <a:avLst/>
          </a:prstGeom>
          <a:solidFill>
            <a:schemeClr val="accent2"/>
          </a:solidFill>
          <a:ln w="12700">
            <a:solidFill>
              <a:schemeClr val="accent2"/>
            </a:solidFill>
            <a:prstDash val="solid"/>
          </a:ln>
        </p:spPr>
      </p:sp>
      <p:pic>
        <p:nvPicPr>
          <p:cNvPr id="19" name="Checkov 3.3.1 icon" descr="preencoded.png">    </p:cNvPr>
          <p:cNvPicPr>
            <a:picLocks noChangeAspect="1"/>
          </p:cNvPicPr>
          <p:nvPr/>
        </p:nvPicPr>
        <p:blipFill>
          <a:blip r:embed="rId3"/>
          <a:stretch>
            <a:fillRect/>
          </a:stretch>
        </p:blipFill>
        <p:spPr>
          <a:xfrm>
            <a:off x="1333500" y="2921508"/>
            <a:ext cx="228600" cy="228600"/>
          </a:xfrm>
          <a:prstGeom prst="rect">
            <a:avLst/>
          </a:prstGeom>
        </p:spPr>
      </p:pic>
      <p:sp>
        <p:nvSpPr>
          <p:cNvPr id="20" name="Checkov 3.3.1 text"/>
          <p:cNvSpPr txBox="1"/>
          <p:nvPr/>
        </p:nvSpPr>
        <p:spPr>
          <a:xfrm>
            <a:off x="640080" y="3337560"/>
            <a:ext cx="1615440" cy="1005840"/>
          </a:xfrm>
          <a:prstGeom prst="rect">
            <a:avLst/>
          </a:prstGeom>
          <a:noFill/>
          <a:ln/>
        </p:spPr>
        <p:txBody>
          <a:bodyPr wrap="square" lIns="0" tIns="0" rIns="0" bIns="0" rtlCol="0" anchor="t"/>
          <a:lstStyle/>
          <a:p>
            <a:pPr algn="ctr" indent="0" marL="0">
              <a:spcAft>
                <a:spcPts val="200"/>
              </a:spcAft>
              <a:buNone/>
            </a:pPr>
            <a:r>
              <a:rPr lang="en-GB" altLang="en-US" sz="1400" b="1" dirty="0">
                <a:solidFill>
                  <a:schemeClr val="tx2"/>
                </a:solidFill>
              </a:rPr>
              <a:t>Checkov 3.3.1</a:t>
            </a:r>
            <a:endParaRPr lang="en-GB" sz="1400" dirty="0"/>
          </a:p>
          <a:p>
            <a:pPr algn="ctr" indent="0" marL="0">
              <a:spcAft>
                <a:spcPts val="200"/>
              </a:spcAft>
              <a:buNone/>
            </a:pPr>
            <a:r>
              <a:rPr lang="en-GB" altLang="en-US" sz="1200" dirty="0">
                <a:solidFill>
                  <a:schemeClr val="tx1"/>
                </a:solidFill>
              </a:rPr>
              <a:t>Rule-based policy checks</a:t>
            </a:r>
            <a:endParaRPr lang="en-GB" sz="1400" dirty="0"/>
          </a:p>
        </p:txBody>
      </p:sp>
      <p:sp>
        <p:nvSpPr>
          <p:cNvPr id="21" name="tfsec 1.28.14 box"/>
          <p:cNvSpPr/>
          <p:nvPr/>
        </p:nvSpPr>
        <p:spPr>
          <a:xfrm>
            <a:off x="2529840" y="2697480"/>
            <a:ext cx="1798320" cy="1691640"/>
          </a:xfrm>
          <a:prstGeom prst="roundRect">
            <a:avLst>
              <a:gd name="adj" fmla="val 4324"/>
            </a:avLst>
          </a:prstGeom>
          <a:solidFill>
            <a:schemeClr val="bg1"/>
          </a:solidFill>
          <a:ln w="15875">
            <a:solidFill>
              <a:schemeClr val="accent2"/>
            </a:solidFill>
            <a:prstDash val="solid"/>
          </a:ln>
        </p:spPr>
      </p:sp>
      <p:sp>
        <p:nvSpPr>
          <p:cNvPr id="22" name="tfsec 1.28.14 circle"/>
          <p:cNvSpPr/>
          <p:nvPr/>
        </p:nvSpPr>
        <p:spPr>
          <a:xfrm>
            <a:off x="3200400" y="2807208"/>
            <a:ext cx="457200" cy="457200"/>
          </a:xfrm>
          <a:prstGeom prst="ellipse">
            <a:avLst/>
          </a:prstGeom>
          <a:solidFill>
            <a:schemeClr val="accent2"/>
          </a:solidFill>
          <a:ln w="12700">
            <a:solidFill>
              <a:schemeClr val="accent2"/>
            </a:solidFill>
            <a:prstDash val="solid"/>
          </a:ln>
        </p:spPr>
      </p:sp>
      <p:pic>
        <p:nvPicPr>
          <p:cNvPr id="23" name="tfsec 1.28.14 icon" descr="preencoded.png">    </p:cNvPr>
          <p:cNvPicPr>
            <a:picLocks noChangeAspect="1"/>
          </p:cNvPicPr>
          <p:nvPr/>
        </p:nvPicPr>
        <p:blipFill>
          <a:blip r:embed="rId4"/>
          <a:stretch>
            <a:fillRect/>
          </a:stretch>
        </p:blipFill>
        <p:spPr>
          <a:xfrm>
            <a:off x="3314700" y="2921508"/>
            <a:ext cx="228600" cy="228600"/>
          </a:xfrm>
          <a:prstGeom prst="rect">
            <a:avLst/>
          </a:prstGeom>
        </p:spPr>
      </p:pic>
      <p:sp>
        <p:nvSpPr>
          <p:cNvPr id="24" name="tfsec 1.28.14 text"/>
          <p:cNvSpPr txBox="1"/>
          <p:nvPr/>
        </p:nvSpPr>
        <p:spPr>
          <a:xfrm>
            <a:off x="2621280" y="3337560"/>
            <a:ext cx="1615440" cy="1005840"/>
          </a:xfrm>
          <a:prstGeom prst="rect">
            <a:avLst/>
          </a:prstGeom>
          <a:noFill/>
          <a:ln/>
        </p:spPr>
        <p:txBody>
          <a:bodyPr wrap="square" lIns="0" tIns="0" rIns="0" bIns="0" rtlCol="0" anchor="t"/>
          <a:lstStyle/>
          <a:p>
            <a:pPr algn="ctr" indent="0" marL="0">
              <a:spcAft>
                <a:spcPts val="200"/>
              </a:spcAft>
              <a:buNone/>
            </a:pPr>
            <a:r>
              <a:rPr lang="en-GB" altLang="en-US" sz="1400" b="1" dirty="0">
                <a:solidFill>
                  <a:schemeClr val="tx2"/>
                </a:solidFill>
              </a:rPr>
              <a:t>tfsec 1.28.14</a:t>
            </a:r>
            <a:endParaRPr lang="en-GB" sz="1400" dirty="0"/>
          </a:p>
          <a:p>
            <a:pPr algn="ctr" indent="0" marL="0">
              <a:spcAft>
                <a:spcPts val="200"/>
              </a:spcAft>
              <a:buNone/>
            </a:pPr>
            <a:r>
              <a:rPr lang="en-GB" altLang="en-US" sz="1200" dirty="0">
                <a:solidFill>
                  <a:schemeClr val="tx1"/>
                </a:solidFill>
              </a:rPr>
              <a:t>Rule-based checks</a:t>
            </a:r>
            <a:endParaRPr lang="en-GB" sz="1400" dirty="0"/>
          </a:p>
        </p:txBody>
      </p:sp>
      <p:sp>
        <p:nvSpPr>
          <p:cNvPr id="25" name="AI reviewer box"/>
          <p:cNvSpPr/>
          <p:nvPr/>
        </p:nvSpPr>
        <p:spPr>
          <a:xfrm>
            <a:off x="4511040" y="2697480"/>
            <a:ext cx="1798320" cy="1691640"/>
          </a:xfrm>
          <a:prstGeom prst="roundRect">
            <a:avLst>
              <a:gd name="adj" fmla="val 4324"/>
            </a:avLst>
          </a:prstGeom>
          <a:solidFill>
            <a:schemeClr val="bg1"/>
          </a:solidFill>
          <a:ln w="15875">
            <a:solidFill>
              <a:schemeClr val="accent1"/>
            </a:solidFill>
            <a:prstDash val="solid"/>
          </a:ln>
        </p:spPr>
      </p:sp>
      <p:sp>
        <p:nvSpPr>
          <p:cNvPr id="26" name="AI reviewer circle"/>
          <p:cNvSpPr/>
          <p:nvPr/>
        </p:nvSpPr>
        <p:spPr>
          <a:xfrm>
            <a:off x="5181600" y="2807208"/>
            <a:ext cx="457200" cy="457200"/>
          </a:xfrm>
          <a:prstGeom prst="ellipse">
            <a:avLst/>
          </a:prstGeom>
          <a:solidFill>
            <a:schemeClr val="accent1"/>
          </a:solidFill>
          <a:ln w="12700">
            <a:solidFill>
              <a:schemeClr val="accent1"/>
            </a:solidFill>
            <a:prstDash val="solid"/>
          </a:ln>
        </p:spPr>
      </p:sp>
      <p:pic>
        <p:nvPicPr>
          <p:cNvPr id="27" name="AI reviewer icon" descr="preencoded.png">    </p:cNvPr>
          <p:cNvPicPr>
            <a:picLocks noChangeAspect="1"/>
          </p:cNvPicPr>
          <p:nvPr/>
        </p:nvPicPr>
        <p:blipFill>
          <a:blip r:embed="rId5"/>
          <a:stretch>
            <a:fillRect/>
          </a:stretch>
        </p:blipFill>
        <p:spPr>
          <a:xfrm>
            <a:off x="5295900" y="2921508"/>
            <a:ext cx="228600" cy="228600"/>
          </a:xfrm>
          <a:prstGeom prst="rect">
            <a:avLst/>
          </a:prstGeom>
        </p:spPr>
      </p:pic>
      <p:sp>
        <p:nvSpPr>
          <p:cNvPr id="28" name="AI reviewer text"/>
          <p:cNvSpPr txBox="1"/>
          <p:nvPr/>
        </p:nvSpPr>
        <p:spPr>
          <a:xfrm>
            <a:off x="4602480" y="3337560"/>
            <a:ext cx="1615440" cy="1005840"/>
          </a:xfrm>
          <a:prstGeom prst="rect">
            <a:avLst/>
          </a:prstGeom>
          <a:noFill/>
          <a:ln/>
        </p:spPr>
        <p:txBody>
          <a:bodyPr wrap="square" lIns="0" tIns="0" rIns="0" bIns="0" rtlCol="0" anchor="t"/>
          <a:lstStyle/>
          <a:p>
            <a:pPr algn="ctr" indent="0" marL="0">
              <a:spcAft>
                <a:spcPts val="200"/>
              </a:spcAft>
              <a:buNone/>
            </a:pPr>
            <a:r>
              <a:rPr lang="en-GB" altLang="en-US" sz="1400" b="1" dirty="0">
                <a:solidFill>
                  <a:schemeClr val="tx2"/>
                </a:solidFill>
              </a:rPr>
              <a:t>AI reviewer</a:t>
            </a:r>
            <a:endParaRPr lang="en-GB" sz="1400" dirty="0"/>
          </a:p>
          <a:p>
            <a:pPr algn="ctr" indent="0" marL="0">
              <a:spcAft>
                <a:spcPts val="200"/>
              </a:spcAft>
              <a:buNone/>
            </a:pPr>
            <a:r>
              <a:rPr lang="en-GB" altLang="en-US" sz="1200" dirty="0">
                <a:solidFill>
                  <a:schemeClr val="tx1"/>
                </a:solidFill>
              </a:rPr>
              <a:t>Claude reads all .tf files, policy and README; JSON, max 3 findings</a:t>
            </a:r>
            <a:endParaRPr lang="en-GB" sz="1400" dirty="0"/>
          </a:p>
        </p:txBody>
      </p:sp>
      <p:sp>
        <p:nvSpPr>
          <p:cNvPr id="29" name="Fan-in stem 1"/>
          <p:cNvSpPr/>
          <p:nvPr/>
        </p:nvSpPr>
        <p:spPr>
          <a:xfrm>
            <a:off x="1447800" y="4389120"/>
            <a:ext cx="0" cy="137160"/>
          </a:xfrm>
          <a:prstGeom prst="line">
            <a:avLst/>
          </a:prstGeom>
          <a:noFill/>
          <a:ln w="19050">
            <a:solidFill>
              <a:srgbClr val="7A8794"/>
            </a:solidFill>
            <a:prstDash val="solid"/>
          </a:ln>
        </p:spPr>
      </p:sp>
      <p:sp>
        <p:nvSpPr>
          <p:cNvPr id="30" name="Fan-in stem 2"/>
          <p:cNvSpPr/>
          <p:nvPr/>
        </p:nvSpPr>
        <p:spPr>
          <a:xfrm>
            <a:off x="3429000" y="4389120"/>
            <a:ext cx="0" cy="137160"/>
          </a:xfrm>
          <a:prstGeom prst="line">
            <a:avLst/>
          </a:prstGeom>
          <a:noFill/>
          <a:ln w="19050">
            <a:solidFill>
              <a:srgbClr val="7A8794"/>
            </a:solidFill>
            <a:prstDash val="solid"/>
          </a:ln>
        </p:spPr>
      </p:sp>
      <p:sp>
        <p:nvSpPr>
          <p:cNvPr id="31" name="Fan-in stem 3"/>
          <p:cNvSpPr/>
          <p:nvPr/>
        </p:nvSpPr>
        <p:spPr>
          <a:xfrm>
            <a:off x="5410200" y="4389120"/>
            <a:ext cx="0" cy="137160"/>
          </a:xfrm>
          <a:prstGeom prst="line">
            <a:avLst/>
          </a:prstGeom>
          <a:noFill/>
          <a:ln w="19050">
            <a:solidFill>
              <a:srgbClr val="7A8794"/>
            </a:solidFill>
            <a:prstDash val="solid"/>
          </a:ln>
        </p:spPr>
      </p:sp>
      <p:sp>
        <p:nvSpPr>
          <p:cNvPr id="32" name="Fan-in bar"/>
          <p:cNvSpPr/>
          <p:nvPr/>
        </p:nvSpPr>
        <p:spPr>
          <a:xfrm>
            <a:off x="1447800" y="4526280"/>
            <a:ext cx="3962400" cy="0"/>
          </a:xfrm>
          <a:prstGeom prst="line">
            <a:avLst/>
          </a:prstGeom>
          <a:noFill/>
          <a:ln w="19050">
            <a:solidFill>
              <a:srgbClr val="7A8794"/>
            </a:solidFill>
            <a:prstDash val="solid"/>
          </a:ln>
        </p:spPr>
      </p:sp>
      <p:sp>
        <p:nvSpPr>
          <p:cNvPr id="33" name="Arrow to comments"/>
          <p:cNvSpPr/>
          <p:nvPr/>
        </p:nvSpPr>
        <p:spPr>
          <a:xfrm>
            <a:off x="3429000" y="4526280"/>
            <a:ext cx="0" cy="137160"/>
          </a:xfrm>
          <a:prstGeom prst="line">
            <a:avLst/>
          </a:prstGeom>
          <a:noFill/>
          <a:ln w="19050">
            <a:solidFill>
              <a:srgbClr val="7A8794"/>
            </a:solidFill>
            <a:prstDash val="solid"/>
            <a:tailEnd type="triangle"/>
          </a:ln>
        </p:spPr>
      </p:sp>
      <p:sp>
        <p:nvSpPr>
          <p:cNvPr id="34" name="Step comments"/>
          <p:cNvSpPr/>
          <p:nvPr/>
        </p:nvSpPr>
        <p:spPr>
          <a:xfrm>
            <a:off x="548640" y="4663440"/>
            <a:ext cx="5760720" cy="457200"/>
          </a:xfrm>
          <a:prstGeom prst="roundRect">
            <a:avLst>
              <a:gd name="adj" fmla="val 16000"/>
            </a:avLst>
          </a:prstGeom>
          <a:solidFill>
            <a:schemeClr val="bg2"/>
          </a:solidFill>
          <a:ln w="12700">
            <a:solidFill>
              <a:schemeClr val="bg2"/>
            </a:solidFill>
            <a:prstDash val="solid"/>
          </a:ln>
        </p:spPr>
      </p:sp>
      <p:sp>
        <p:nvSpPr>
          <p:cNvPr id="35" name="Step comments icon circle"/>
          <p:cNvSpPr/>
          <p:nvPr/>
        </p:nvSpPr>
        <p:spPr>
          <a:xfrm>
            <a:off x="676656" y="4700016"/>
            <a:ext cx="384048" cy="384048"/>
          </a:xfrm>
          <a:prstGeom prst="ellipse">
            <a:avLst/>
          </a:prstGeom>
          <a:solidFill>
            <a:schemeClr val="tx2"/>
          </a:solidFill>
          <a:ln w="12700">
            <a:solidFill>
              <a:schemeClr val="tx2"/>
            </a:solidFill>
            <a:prstDash val="solid"/>
          </a:ln>
        </p:spPr>
      </p:sp>
      <p:pic>
        <p:nvPicPr>
          <p:cNvPr id="36" name="Step comments icon icon" descr="preencoded.png">    </p:cNvPr>
          <p:cNvPicPr>
            <a:picLocks noChangeAspect="1"/>
          </p:cNvPicPr>
          <p:nvPr/>
        </p:nvPicPr>
        <p:blipFill>
          <a:blip r:embed="rId6"/>
          <a:stretch>
            <a:fillRect/>
          </a:stretch>
        </p:blipFill>
        <p:spPr>
          <a:xfrm>
            <a:off x="772668" y="4796028"/>
            <a:ext cx="192024" cy="192024"/>
          </a:xfrm>
          <a:prstGeom prst="rect">
            <a:avLst/>
          </a:prstGeom>
        </p:spPr>
      </p:pic>
      <p:sp>
        <p:nvSpPr>
          <p:cNvPr id="37" name="Step comments text"/>
          <p:cNvSpPr txBox="1"/>
          <p:nvPr/>
        </p:nvSpPr>
        <p:spPr>
          <a:xfrm>
            <a:off x="1188720" y="4663440"/>
            <a:ext cx="4983480" cy="457200"/>
          </a:xfrm>
          <a:prstGeom prst="rect">
            <a:avLst/>
          </a:prstGeom>
          <a:noFill/>
          <a:ln/>
        </p:spPr>
        <p:txBody>
          <a:bodyPr wrap="square" lIns="0" tIns="0" rIns="0" bIns="0" rtlCol="0" anchor="ctr"/>
          <a:lstStyle/>
          <a:p>
            <a:pPr indent="0" marL="0">
              <a:buNone/>
            </a:pPr>
            <a:r>
              <a:rPr lang="en-GB" altLang="en-US" sz="1400" b="1" dirty="0">
                <a:solidFill>
                  <a:schemeClr val="tx1"/>
                </a:solidFill>
              </a:rPr>
              <a:t>Three separate PR comments; </a:t>
            </a:r>
            <a:pPr indent="0" marL="0">
              <a:buNone/>
            </a:pPr>
            <a:r>
              <a:rPr lang="en-GB" altLang="en-US" sz="1400" dirty="0">
                <a:solidFill>
                  <a:schemeClr val="tx1"/>
                </a:solidFill>
              </a:rPr>
              <a:t>all raw outputs saved per run</a:t>
            </a:r>
            <a:endParaRPr lang="en-GB" sz="1400" dirty="0"/>
          </a:p>
        </p:txBody>
      </p:sp>
      <p:sp>
        <p:nvSpPr>
          <p:cNvPr id="38" name="Arrow to classify"/>
          <p:cNvSpPr/>
          <p:nvPr/>
        </p:nvSpPr>
        <p:spPr>
          <a:xfrm>
            <a:off x="3429000" y="5120640"/>
            <a:ext cx="0" cy="182880"/>
          </a:xfrm>
          <a:prstGeom prst="line">
            <a:avLst/>
          </a:prstGeom>
          <a:noFill/>
          <a:ln w="19050">
            <a:solidFill>
              <a:srgbClr val="7A8794"/>
            </a:solidFill>
            <a:prstDash val="solid"/>
            <a:tailEnd type="triangle"/>
          </a:ln>
        </p:spPr>
      </p:sp>
      <p:sp>
        <p:nvSpPr>
          <p:cNvPr id="39" name="Step classify"/>
          <p:cNvSpPr/>
          <p:nvPr/>
        </p:nvSpPr>
        <p:spPr>
          <a:xfrm>
            <a:off x="548640" y="5303520"/>
            <a:ext cx="5760720" cy="457200"/>
          </a:xfrm>
          <a:prstGeom prst="roundRect">
            <a:avLst>
              <a:gd name="adj" fmla="val 16000"/>
            </a:avLst>
          </a:prstGeom>
          <a:solidFill>
            <a:schemeClr val="bg2"/>
          </a:solidFill>
          <a:ln w="12700">
            <a:solidFill>
              <a:schemeClr val="bg2"/>
            </a:solidFill>
            <a:prstDash val="solid"/>
          </a:ln>
        </p:spPr>
      </p:sp>
      <p:sp>
        <p:nvSpPr>
          <p:cNvPr id="40" name="Step classify icon circle"/>
          <p:cNvSpPr/>
          <p:nvPr/>
        </p:nvSpPr>
        <p:spPr>
          <a:xfrm>
            <a:off x="676656" y="5340096"/>
            <a:ext cx="384048" cy="384048"/>
          </a:xfrm>
          <a:prstGeom prst="ellipse">
            <a:avLst/>
          </a:prstGeom>
          <a:solidFill>
            <a:schemeClr val="tx2"/>
          </a:solidFill>
          <a:ln w="12700">
            <a:solidFill>
              <a:schemeClr val="tx2"/>
            </a:solidFill>
            <a:prstDash val="solid"/>
          </a:ln>
        </p:spPr>
      </p:sp>
      <p:pic>
        <p:nvPicPr>
          <p:cNvPr id="41" name="Step classify icon icon" descr="preencoded.png">    </p:cNvPr>
          <p:cNvPicPr>
            <a:picLocks noChangeAspect="1"/>
          </p:cNvPicPr>
          <p:nvPr/>
        </p:nvPicPr>
        <p:blipFill>
          <a:blip r:embed="rId7"/>
          <a:stretch>
            <a:fillRect/>
          </a:stretch>
        </p:blipFill>
        <p:spPr>
          <a:xfrm>
            <a:off x="772668" y="5436108"/>
            <a:ext cx="192024" cy="192024"/>
          </a:xfrm>
          <a:prstGeom prst="rect">
            <a:avLst/>
          </a:prstGeom>
        </p:spPr>
      </p:pic>
      <p:sp>
        <p:nvSpPr>
          <p:cNvPr id="42" name="Step classify text"/>
          <p:cNvSpPr txBox="1"/>
          <p:nvPr/>
        </p:nvSpPr>
        <p:spPr>
          <a:xfrm>
            <a:off x="1188720" y="5303520"/>
            <a:ext cx="4983480" cy="457200"/>
          </a:xfrm>
          <a:prstGeom prst="rect">
            <a:avLst/>
          </a:prstGeom>
          <a:noFill/>
          <a:ln/>
        </p:spPr>
        <p:txBody>
          <a:bodyPr wrap="square" lIns="0" tIns="0" rIns="0" bIns="0" rtlCol="0" anchor="ctr"/>
          <a:lstStyle/>
          <a:p>
            <a:pPr indent="0" marL="0">
              <a:buNone/>
            </a:pPr>
            <a:r>
              <a:rPr lang="en-GB" altLang="en-US" sz="1400" b="1" dirty="0">
                <a:solidFill>
                  <a:schemeClr val="tx1"/>
                </a:solidFill>
              </a:rPr>
              <a:t>I classify every output against the ground truth</a:t>
            </a:r>
            <a:endParaRPr lang="en-GB" sz="1400" dirty="0"/>
          </a:p>
        </p:txBody>
      </p:sp>
      <p:sp>
        <p:nvSpPr>
          <p:cNvPr id="43" name="Evidence heading"/>
          <p:cNvSpPr txBox="1"/>
          <p:nvPr/>
        </p:nvSpPr>
        <p:spPr>
          <a:xfrm>
            <a:off x="6675120" y="1325880"/>
            <a:ext cx="4967935" cy="566928"/>
          </a:xfrm>
          <a:prstGeom prst="rect">
            <a:avLst/>
          </a:prstGeom>
          <a:noFill/>
          <a:ln/>
        </p:spPr>
        <p:txBody>
          <a:bodyPr wrap="square" lIns="0" tIns="0" rIns="0" bIns="0" rtlCol="0" anchor="t"/>
          <a:lstStyle/>
          <a:p>
            <a:pPr indent="0" marL="0">
              <a:buNone/>
            </a:pPr>
            <a:r>
              <a:rPr lang="en-GB" altLang="en-US" sz="1600" b="1" dirty="0">
                <a:solidFill>
                  <a:schemeClr val="tx2"/>
                </a:solidFill>
              </a:rPr>
              <a:t>Evidence: pull request #71</a:t>
            </a:r>
            <a:endParaRPr lang="en-GB" sz="1400" dirty="0"/>
          </a:p>
          <a:p>
            <a:pPr indent="0" marL="0">
              <a:buNone/>
            </a:pPr>
            <a:r>
              <a:rPr lang="en-GB" altLang="en-US" sz="1200" dirty="0">
                <a:solidFill>
                  <a:schemeClr val="accent6"/>
                </a:solidFill>
              </a:rPr>
              <a:t>TC02 · inbound SSH open to 0.0.0.0/0 · copied verbatim from the PR</a:t>
            </a:r>
            <a:endParaRPr lang="en-GB" sz="1400" dirty="0"/>
          </a:p>
        </p:txBody>
      </p:sp>
      <p:sp>
        <p:nvSpPr>
          <p:cNvPr id="44" name="Checkov evidence card"/>
          <p:cNvSpPr/>
          <p:nvPr/>
        </p:nvSpPr>
        <p:spPr>
          <a:xfrm>
            <a:off x="6675120" y="1984248"/>
            <a:ext cx="4967935" cy="1060704"/>
          </a:xfrm>
          <a:prstGeom prst="roundRect">
            <a:avLst>
              <a:gd name="adj" fmla="val 6897"/>
            </a:avLst>
          </a:prstGeom>
          <a:solidFill>
            <a:schemeClr val="bg1"/>
          </a:solidFill>
          <a:ln w="12700">
            <a:solidFill>
              <a:srgbClr val="D3DAE2"/>
            </a:solidFill>
            <a:prstDash val="solid"/>
          </a:ln>
          <a:effectLst>
            <a:outerShdw sx="100000" sy="100000" kx="0" ky="0" algn="bl" rotWithShape="0" blurRad="88900" dist="25400" dir="5400000">
              <a:srgbClr val="000000">
                <a:alpha val="13000"/>
              </a:srgbClr>
            </a:outerShdw>
          </a:effectLst>
        </p:spPr>
      </p:sp>
      <p:sp>
        <p:nvSpPr>
          <p:cNvPr id="45" name="Checkov evidence circle"/>
          <p:cNvSpPr/>
          <p:nvPr/>
        </p:nvSpPr>
        <p:spPr>
          <a:xfrm>
            <a:off x="6839712" y="2130552"/>
            <a:ext cx="384048" cy="384048"/>
          </a:xfrm>
          <a:prstGeom prst="ellipse">
            <a:avLst/>
          </a:prstGeom>
          <a:solidFill>
            <a:schemeClr val="accent6"/>
          </a:solidFill>
          <a:ln w="12700">
            <a:solidFill>
              <a:schemeClr val="accent6"/>
            </a:solidFill>
            <a:prstDash val="solid"/>
          </a:ln>
        </p:spPr>
      </p:sp>
      <p:pic>
        <p:nvPicPr>
          <p:cNvPr id="46" name="Checkov evidence icon" descr="preencoded.png">    </p:cNvPr>
          <p:cNvPicPr>
            <a:picLocks noChangeAspect="1"/>
          </p:cNvPicPr>
          <p:nvPr/>
        </p:nvPicPr>
        <p:blipFill>
          <a:blip r:embed="rId8"/>
          <a:stretch>
            <a:fillRect/>
          </a:stretch>
        </p:blipFill>
        <p:spPr>
          <a:xfrm>
            <a:off x="6935724" y="2226564"/>
            <a:ext cx="192024" cy="192024"/>
          </a:xfrm>
          <a:prstGeom prst="rect">
            <a:avLst/>
          </a:prstGeom>
        </p:spPr>
      </p:pic>
      <p:sp>
        <p:nvSpPr>
          <p:cNvPr id="47" name="Checkov name"/>
          <p:cNvSpPr txBox="1"/>
          <p:nvPr/>
        </p:nvSpPr>
        <p:spPr>
          <a:xfrm>
            <a:off x="7360920" y="2130552"/>
            <a:ext cx="2286000" cy="384048"/>
          </a:xfrm>
          <a:prstGeom prst="rect">
            <a:avLst/>
          </a:prstGeom>
          <a:noFill/>
          <a:ln/>
        </p:spPr>
        <p:txBody>
          <a:bodyPr wrap="square" lIns="0" tIns="0" rIns="0" bIns="0" rtlCol="0" anchor="ctr"/>
          <a:lstStyle/>
          <a:p>
            <a:pPr indent="0" marL="0">
              <a:buNone/>
            </a:pPr>
            <a:r>
              <a:rPr lang="en-GB" altLang="en-US" sz="1400" b="1" dirty="0">
                <a:solidFill>
                  <a:schemeClr val="tx2"/>
                </a:solidFill>
              </a:rPr>
              <a:t>Checkov</a:t>
            </a:r>
            <a:endParaRPr lang="en-GB" sz="1400" dirty="0"/>
          </a:p>
        </p:txBody>
      </p:sp>
      <p:sp>
        <p:nvSpPr>
          <p:cNvPr id="48" name="Checkov tag"/>
          <p:cNvSpPr/>
          <p:nvPr/>
        </p:nvSpPr>
        <p:spPr>
          <a:xfrm>
            <a:off x="10381183" y="2167128"/>
            <a:ext cx="1097280" cy="310896"/>
          </a:xfrm>
          <a:prstGeom prst="roundRect">
            <a:avLst>
              <a:gd name="adj" fmla="val 50000"/>
            </a:avLst>
          </a:prstGeom>
          <a:solidFill>
            <a:schemeClr val="accent6"/>
          </a:solidFill>
          <a:ln w="12700">
            <a:solidFill>
              <a:schemeClr val="accent6"/>
            </a:solidFill>
            <a:prstDash val="solid"/>
          </a:ln>
        </p:spPr>
      </p:sp>
      <p:sp>
        <p:nvSpPr>
          <p:cNvPr id="49" name="Checkov tag text"/>
          <p:cNvSpPr txBox="1"/>
          <p:nvPr/>
        </p:nvSpPr>
        <p:spPr>
          <a:xfrm>
            <a:off x="10381183" y="2167128"/>
            <a:ext cx="1097280" cy="310896"/>
          </a:xfrm>
          <a:prstGeom prst="rect">
            <a:avLst/>
          </a:prstGeom>
          <a:noFill/>
          <a:ln/>
        </p:spPr>
        <p:txBody>
          <a:bodyPr wrap="square" lIns="0" tIns="0" rIns="0" bIns="0" rtlCol="0" anchor="ctr"/>
          <a:lstStyle/>
          <a:p>
            <a:pPr algn="ctr" indent="0" marL="0">
              <a:buNone/>
            </a:pPr>
            <a:r>
              <a:rPr lang="en-GB" altLang="en-US" sz="1100" b="1" spc="100" kern="0" dirty="0">
                <a:solidFill>
                  <a:schemeClr val="bg1"/>
                </a:solidFill>
              </a:rPr>
              <a:t>MISSED</a:t>
            </a:r>
            <a:endParaRPr lang="en-GB" sz="1100" dirty="0"/>
          </a:p>
        </p:txBody>
      </p:sp>
      <p:sp>
        <p:nvSpPr>
          <p:cNvPr id="50" name="Checkov output"/>
          <p:cNvSpPr txBox="1"/>
          <p:nvPr/>
        </p:nvSpPr>
        <p:spPr>
          <a:xfrm>
            <a:off x="7360920" y="2587752"/>
            <a:ext cx="4099255" cy="384048"/>
          </a:xfrm>
          <a:prstGeom prst="rect">
            <a:avLst/>
          </a:prstGeom>
          <a:noFill/>
          <a:ln/>
        </p:spPr>
        <p:txBody>
          <a:bodyPr wrap="square" lIns="0" tIns="0" rIns="0" bIns="0" rtlCol="0" anchor="t"/>
          <a:lstStyle/>
          <a:p>
            <a:pPr indent="0" marL="0">
              <a:spcAft>
                <a:spcPts val="200"/>
              </a:spcAft>
              <a:buNone/>
            </a:pPr>
            <a:r>
              <a:rPr lang="en-GB" altLang="en-US" sz="1200" dirty="0">
                <a:solidFill>
                  <a:schemeClr val="tx1"/>
                </a:solidFill>
                <a:latin typeface="Courier New" pitchFamily="34" charset="0"/>
                <a:ea typeface="Courier New" pitchFamily="34" charset="-122"/>
                <a:cs typeface="Courier New" pitchFamily="34" charset="-120"/>
              </a:rPr>
              <a:t>Passed: 7 · Failed: 0 · Skipped: 0</a:t>
            </a:r>
            <a:endParaRPr lang="en-GB" sz="1200" dirty="0"/>
          </a:p>
          <a:p>
            <a:pPr indent="0" marL="0">
              <a:spcAft>
                <a:spcPts val="200"/>
              </a:spcAft>
              <a:buNone/>
            </a:pPr>
            <a:r>
              <a:rPr lang="en-GB" altLang="en-US" sz="1200" dirty="0">
                <a:solidFill>
                  <a:schemeClr val="tx1"/>
                </a:solidFill>
                <a:latin typeface="Courier New" pitchFamily="34" charset="0"/>
                <a:ea typeface="Courier New" pitchFamily="34" charset="-122"/>
                <a:cs typeface="Courier New" pitchFamily="34" charset="-120"/>
              </a:rPr>
              <a:t>No failed checks were reported.</a:t>
            </a:r>
            <a:endParaRPr lang="en-GB" sz="1200" dirty="0"/>
          </a:p>
        </p:txBody>
      </p:sp>
      <p:sp>
        <p:nvSpPr>
          <p:cNvPr id="51" name="tfsec evidence card"/>
          <p:cNvSpPr/>
          <p:nvPr/>
        </p:nvSpPr>
        <p:spPr>
          <a:xfrm>
            <a:off x="6675120" y="3172968"/>
            <a:ext cx="4967935" cy="1060704"/>
          </a:xfrm>
          <a:prstGeom prst="roundRect">
            <a:avLst>
              <a:gd name="adj" fmla="val 6897"/>
            </a:avLst>
          </a:prstGeom>
          <a:solidFill>
            <a:schemeClr val="bg1"/>
          </a:solidFill>
          <a:ln w="12700">
            <a:solidFill>
              <a:srgbClr val="D3DAE2"/>
            </a:solidFill>
            <a:prstDash val="solid"/>
          </a:ln>
          <a:effectLst>
            <a:outerShdw sx="100000" sy="100000" kx="0" ky="0" algn="bl" rotWithShape="0" blurRad="88900" dist="25400" dir="5400000">
              <a:srgbClr val="000000">
                <a:alpha val="13000"/>
              </a:srgbClr>
            </a:outerShdw>
          </a:effectLst>
        </p:spPr>
      </p:sp>
      <p:sp>
        <p:nvSpPr>
          <p:cNvPr id="52" name="tfsec evidence circle"/>
          <p:cNvSpPr/>
          <p:nvPr/>
        </p:nvSpPr>
        <p:spPr>
          <a:xfrm>
            <a:off x="6839712" y="3319272"/>
            <a:ext cx="384048" cy="384048"/>
          </a:xfrm>
          <a:prstGeom prst="ellipse">
            <a:avLst/>
          </a:prstGeom>
          <a:solidFill>
            <a:schemeClr val="accent2"/>
          </a:solidFill>
          <a:ln w="12700">
            <a:solidFill>
              <a:schemeClr val="accent2"/>
            </a:solidFill>
            <a:prstDash val="solid"/>
          </a:ln>
        </p:spPr>
      </p:sp>
      <p:pic>
        <p:nvPicPr>
          <p:cNvPr id="53" name="tfsec evidence icon" descr="preencoded.png">    </p:cNvPr>
          <p:cNvPicPr>
            <a:picLocks noChangeAspect="1"/>
          </p:cNvPicPr>
          <p:nvPr/>
        </p:nvPicPr>
        <p:blipFill>
          <a:blip r:embed="rId9"/>
          <a:stretch>
            <a:fillRect/>
          </a:stretch>
        </p:blipFill>
        <p:spPr>
          <a:xfrm>
            <a:off x="6935724" y="3415284"/>
            <a:ext cx="192024" cy="192024"/>
          </a:xfrm>
          <a:prstGeom prst="rect">
            <a:avLst/>
          </a:prstGeom>
        </p:spPr>
      </p:pic>
      <p:sp>
        <p:nvSpPr>
          <p:cNvPr id="54" name="tfsec name"/>
          <p:cNvSpPr txBox="1"/>
          <p:nvPr/>
        </p:nvSpPr>
        <p:spPr>
          <a:xfrm>
            <a:off x="7360920" y="3319272"/>
            <a:ext cx="2286000" cy="384048"/>
          </a:xfrm>
          <a:prstGeom prst="rect">
            <a:avLst/>
          </a:prstGeom>
          <a:noFill/>
          <a:ln/>
        </p:spPr>
        <p:txBody>
          <a:bodyPr wrap="square" lIns="0" tIns="0" rIns="0" bIns="0" rtlCol="0" anchor="ctr"/>
          <a:lstStyle/>
          <a:p>
            <a:pPr indent="0" marL="0">
              <a:buNone/>
            </a:pPr>
            <a:r>
              <a:rPr lang="en-GB" altLang="en-US" sz="1400" b="1" dirty="0">
                <a:solidFill>
                  <a:schemeClr val="tx2"/>
                </a:solidFill>
              </a:rPr>
              <a:t>tfsec</a:t>
            </a:r>
            <a:endParaRPr lang="en-GB" sz="1400" dirty="0"/>
          </a:p>
        </p:txBody>
      </p:sp>
      <p:sp>
        <p:nvSpPr>
          <p:cNvPr id="55" name="tfsec tag"/>
          <p:cNvSpPr/>
          <p:nvPr/>
        </p:nvSpPr>
        <p:spPr>
          <a:xfrm>
            <a:off x="10381183" y="3355848"/>
            <a:ext cx="1097280" cy="310896"/>
          </a:xfrm>
          <a:prstGeom prst="roundRect">
            <a:avLst>
              <a:gd name="adj" fmla="val 50000"/>
            </a:avLst>
          </a:prstGeom>
          <a:solidFill>
            <a:schemeClr val="accent4"/>
          </a:solidFill>
          <a:ln w="12700">
            <a:solidFill>
              <a:schemeClr val="accent4"/>
            </a:solidFill>
            <a:prstDash val="solid"/>
          </a:ln>
        </p:spPr>
      </p:sp>
      <p:sp>
        <p:nvSpPr>
          <p:cNvPr id="56" name="tfsec tag text"/>
          <p:cNvSpPr txBox="1"/>
          <p:nvPr/>
        </p:nvSpPr>
        <p:spPr>
          <a:xfrm>
            <a:off x="10381183" y="3355848"/>
            <a:ext cx="1097280" cy="310896"/>
          </a:xfrm>
          <a:prstGeom prst="rect">
            <a:avLst/>
          </a:prstGeom>
          <a:noFill/>
          <a:ln/>
        </p:spPr>
        <p:txBody>
          <a:bodyPr wrap="square" lIns="0" tIns="0" rIns="0" bIns="0" rtlCol="0" anchor="ctr"/>
          <a:lstStyle/>
          <a:p>
            <a:pPr algn="ctr" indent="0" marL="0">
              <a:buNone/>
            </a:pPr>
            <a:r>
              <a:rPr lang="en-GB" altLang="en-US" sz="1100" b="1" spc="100" kern="0" dirty="0">
                <a:solidFill>
                  <a:schemeClr val="bg1"/>
                </a:solidFill>
              </a:rPr>
              <a:t>DETECTED</a:t>
            </a:r>
            <a:endParaRPr lang="en-GB" sz="1100" dirty="0"/>
          </a:p>
        </p:txBody>
      </p:sp>
      <p:sp>
        <p:nvSpPr>
          <p:cNvPr id="57" name="tfsec output"/>
          <p:cNvSpPr txBox="1"/>
          <p:nvPr/>
        </p:nvSpPr>
        <p:spPr>
          <a:xfrm>
            <a:off x="7360920" y="3776472"/>
            <a:ext cx="4099255" cy="384048"/>
          </a:xfrm>
          <a:prstGeom prst="rect">
            <a:avLst/>
          </a:prstGeom>
          <a:noFill/>
          <a:ln/>
        </p:spPr>
        <p:txBody>
          <a:bodyPr wrap="square" lIns="0" tIns="0" rIns="0" bIns="0" rtlCol="0" anchor="t"/>
          <a:lstStyle/>
          <a:p>
            <a:pPr indent="0" marL="0">
              <a:spcAft>
                <a:spcPts val="200"/>
              </a:spcAft>
              <a:buNone/>
            </a:pPr>
            <a:r>
              <a:rPr lang="en-GB" altLang="en-US" sz="1200" dirty="0">
                <a:solidFill>
                  <a:schemeClr val="tx1"/>
                </a:solidFill>
                <a:latin typeface="Courier New" pitchFamily="34" charset="0"/>
                <a:ea typeface="Courier New" pitchFamily="34" charset="-122"/>
                <a:cs typeface="Courier New" pitchFamily="34" charset="-120"/>
              </a:rPr>
              <a:t>CRITICAL · AVD-AZU-0047 — Security group rule allows ingress from public internet.</a:t>
            </a:r>
            <a:endParaRPr lang="en-GB" sz="1200" dirty="0"/>
          </a:p>
        </p:txBody>
      </p:sp>
      <p:sp>
        <p:nvSpPr>
          <p:cNvPr id="58" name="AI reviewer evidence card"/>
          <p:cNvSpPr/>
          <p:nvPr/>
        </p:nvSpPr>
        <p:spPr>
          <a:xfrm>
            <a:off x="6675120" y="4361688"/>
            <a:ext cx="4967935" cy="1463040"/>
          </a:xfrm>
          <a:prstGeom prst="roundRect">
            <a:avLst>
              <a:gd name="adj" fmla="val 5000"/>
            </a:avLst>
          </a:prstGeom>
          <a:solidFill>
            <a:schemeClr val="bg1"/>
          </a:solidFill>
          <a:ln w="12700">
            <a:solidFill>
              <a:srgbClr val="D3DAE2"/>
            </a:solidFill>
            <a:prstDash val="solid"/>
          </a:ln>
          <a:effectLst>
            <a:outerShdw sx="100000" sy="100000" kx="0" ky="0" algn="bl" rotWithShape="0" blurRad="88900" dist="25400" dir="5400000">
              <a:srgbClr val="000000">
                <a:alpha val="13000"/>
              </a:srgbClr>
            </a:outerShdw>
          </a:effectLst>
        </p:spPr>
      </p:sp>
      <p:sp>
        <p:nvSpPr>
          <p:cNvPr id="59" name="AI reviewer evidence circle"/>
          <p:cNvSpPr/>
          <p:nvPr/>
        </p:nvSpPr>
        <p:spPr>
          <a:xfrm>
            <a:off x="6839712" y="4507992"/>
            <a:ext cx="384048" cy="384048"/>
          </a:xfrm>
          <a:prstGeom prst="ellipse">
            <a:avLst/>
          </a:prstGeom>
          <a:solidFill>
            <a:schemeClr val="accent1"/>
          </a:solidFill>
          <a:ln w="12700">
            <a:solidFill>
              <a:schemeClr val="accent1"/>
            </a:solidFill>
            <a:prstDash val="solid"/>
          </a:ln>
        </p:spPr>
      </p:sp>
      <p:pic>
        <p:nvPicPr>
          <p:cNvPr id="60" name="AI reviewer evidence icon" descr="preencoded.png">    </p:cNvPr>
          <p:cNvPicPr>
            <a:picLocks noChangeAspect="1"/>
          </p:cNvPicPr>
          <p:nvPr/>
        </p:nvPicPr>
        <p:blipFill>
          <a:blip r:embed="rId10"/>
          <a:stretch>
            <a:fillRect/>
          </a:stretch>
        </p:blipFill>
        <p:spPr>
          <a:xfrm>
            <a:off x="6935724" y="4604004"/>
            <a:ext cx="192024" cy="192024"/>
          </a:xfrm>
          <a:prstGeom prst="rect">
            <a:avLst/>
          </a:prstGeom>
        </p:spPr>
      </p:pic>
      <p:sp>
        <p:nvSpPr>
          <p:cNvPr id="61" name="AI reviewer name"/>
          <p:cNvSpPr txBox="1"/>
          <p:nvPr/>
        </p:nvSpPr>
        <p:spPr>
          <a:xfrm>
            <a:off x="7360920" y="4507992"/>
            <a:ext cx="2286000" cy="384048"/>
          </a:xfrm>
          <a:prstGeom prst="rect">
            <a:avLst/>
          </a:prstGeom>
          <a:noFill/>
          <a:ln/>
        </p:spPr>
        <p:txBody>
          <a:bodyPr wrap="square" lIns="0" tIns="0" rIns="0" bIns="0" rtlCol="0" anchor="ctr"/>
          <a:lstStyle/>
          <a:p>
            <a:pPr indent="0" marL="0">
              <a:buNone/>
            </a:pPr>
            <a:r>
              <a:rPr lang="en-GB" altLang="en-US" sz="1400" b="1" dirty="0">
                <a:solidFill>
                  <a:schemeClr val="tx2"/>
                </a:solidFill>
              </a:rPr>
              <a:t>AI reviewer</a:t>
            </a:r>
            <a:endParaRPr lang="en-GB" sz="1400" dirty="0"/>
          </a:p>
        </p:txBody>
      </p:sp>
      <p:sp>
        <p:nvSpPr>
          <p:cNvPr id="62" name="AI reviewer tag"/>
          <p:cNvSpPr/>
          <p:nvPr/>
        </p:nvSpPr>
        <p:spPr>
          <a:xfrm>
            <a:off x="10381183" y="4544568"/>
            <a:ext cx="1097280" cy="310896"/>
          </a:xfrm>
          <a:prstGeom prst="roundRect">
            <a:avLst>
              <a:gd name="adj" fmla="val 50000"/>
            </a:avLst>
          </a:prstGeom>
          <a:solidFill>
            <a:schemeClr val="accent4"/>
          </a:solidFill>
          <a:ln w="12700">
            <a:solidFill>
              <a:schemeClr val="accent4"/>
            </a:solidFill>
            <a:prstDash val="solid"/>
          </a:ln>
        </p:spPr>
      </p:sp>
      <p:sp>
        <p:nvSpPr>
          <p:cNvPr id="63" name="AI reviewer tag text"/>
          <p:cNvSpPr txBox="1"/>
          <p:nvPr/>
        </p:nvSpPr>
        <p:spPr>
          <a:xfrm>
            <a:off x="10381183" y="4544568"/>
            <a:ext cx="1097280" cy="310896"/>
          </a:xfrm>
          <a:prstGeom prst="rect">
            <a:avLst/>
          </a:prstGeom>
          <a:noFill/>
          <a:ln/>
        </p:spPr>
        <p:txBody>
          <a:bodyPr wrap="square" lIns="0" tIns="0" rIns="0" bIns="0" rtlCol="0" anchor="ctr"/>
          <a:lstStyle/>
          <a:p>
            <a:pPr algn="ctr" indent="0" marL="0">
              <a:buNone/>
            </a:pPr>
            <a:r>
              <a:rPr lang="en-GB" altLang="en-US" sz="1100" b="1" spc="100" kern="0" dirty="0">
                <a:solidFill>
                  <a:schemeClr val="bg1"/>
                </a:solidFill>
              </a:rPr>
              <a:t>DETECTED</a:t>
            </a:r>
            <a:endParaRPr lang="en-GB" sz="1100" dirty="0"/>
          </a:p>
        </p:txBody>
      </p:sp>
      <p:sp>
        <p:nvSpPr>
          <p:cNvPr id="64" name="AI reviewer output"/>
          <p:cNvSpPr txBox="1"/>
          <p:nvPr/>
        </p:nvSpPr>
        <p:spPr>
          <a:xfrm>
            <a:off x="7360920" y="4965192"/>
            <a:ext cx="4099255" cy="786384"/>
          </a:xfrm>
          <a:prstGeom prst="rect">
            <a:avLst/>
          </a:prstGeom>
          <a:noFill/>
          <a:ln/>
        </p:spPr>
        <p:txBody>
          <a:bodyPr wrap="square" lIns="0" tIns="0" rIns="0" bIns="0" rtlCol="0" anchor="t"/>
          <a:lstStyle/>
          <a:p>
            <a:pPr indent="0" marL="0">
              <a:spcAft>
                <a:spcPts val="200"/>
              </a:spcAft>
              <a:buNone/>
            </a:pPr>
            <a:r>
              <a:rPr lang="en-GB" altLang="en-US" sz="1200" dirty="0">
                <a:solidFill>
                  <a:schemeClr val="tx1"/>
                </a:solidFill>
                <a:latin typeface="Courier New" pitchFamily="34" charset="0"/>
                <a:ea typeface="Courier New" pitchFamily="34" charset="-122"/>
                <a:cs typeface="Courier New" pitchFamily="34" charset="-120"/>
              </a:rPr>
              <a:t>HIGH · SECURITY_VULNERABILITY · Unrestricted inbound SSH access permitted from any source address</a:t>
            </a:r>
            <a:endParaRPr lang="en-GB" sz="1200" dirty="0"/>
          </a:p>
          <a:p>
            <a:pPr indent="0" marL="0">
              <a:spcAft>
                <a:spcPts val="200"/>
              </a:spcAft>
              <a:buNone/>
            </a:pPr>
            <a:r>
              <a:rPr lang="en-GB" altLang="en-US" sz="1200" dirty="0">
                <a:solidFill>
                  <a:schemeClr val="tx1"/>
                </a:solidFill>
                <a:latin typeface="Courier New" pitchFamily="34" charset="0"/>
                <a:ea typeface="Courier New" pitchFamily="34" charset="-122"/>
                <a:cs typeface="Courier New" pitchFamily="34" charset="-120"/>
              </a:rPr>
              <a:t>70/100 — MEDIUM — APPROVE_WITH_COMMENTS</a:t>
            </a:r>
            <a:endParaRPr lang="en-GB" sz="1200" dirty="0"/>
          </a:p>
        </p:txBody>
      </p:sp>
      <p:sp>
        <p:nvSpPr>
          <p:cNvPr id="65" name="Evidence source"/>
          <p:cNvSpPr txBox="1"/>
          <p:nvPr/>
        </p:nvSpPr>
        <p:spPr>
          <a:xfrm>
            <a:off x="6675120" y="5971032"/>
            <a:ext cx="4967935" cy="274320"/>
          </a:xfrm>
          <a:prstGeom prst="rect">
            <a:avLst/>
          </a:prstGeom>
          <a:noFill/>
          <a:ln/>
        </p:spPr>
        <p:txBody>
          <a:bodyPr wrap="square" lIns="0" tIns="0" rIns="0" bIns="0" rtlCol="0" anchor="t"/>
          <a:lstStyle/>
          <a:p>
            <a:pPr indent="0" marL="0">
              <a:buNone/>
            </a:pPr>
            <a:r>
              <a:rPr lang="en-GB" altLang="en-US" sz="1100" dirty="0">
                <a:solidFill>
                  <a:schemeClr val="accent6"/>
                </a:solidFill>
              </a:rPr>
              <a:t>Dissertation Figure 4.2 · github.com/abdulwaheed384/ai-pr-review</a:t>
            </a:r>
            <a:endParaRPr lang="en-GB" sz="1100" dirty="0"/>
          </a:p>
        </p:txBody>
      </p:sp>
      <p:sp>
        <p:nvSpPr>
          <p:cNvPr id="25" name="Slide Number Placeholder 0"/>
          <p:cNvSpPr>
            <a:spLocks noGrp="1"/>
          </p:cNvSpPr>
          <p:nvPr>
            <p:ph type="sldNum" sz="quarter" idx="4294967295"/>
          </p:nvPr>
        </p:nvSpPr>
        <p:spPr>
          <a:xfrm>
            <a:off x="10104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defRPr>
            </a:lvl1pPr>
          </a:lstStyle>
          <a:p>
            <a:pPr algn="r"/>
            <a:fld id="{F7021451-1387-4CA6-816F-3879F97B5CBC}" type="slidenum">
              <a:rPr b="0" lang="en-GB"/>
              <a:t>4</a:t>
            </a:fld>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GB" altLang="en-US" sz="3600" b="1" dirty="0">
                <a:solidFill>
                  <a:schemeClr val="tx2"/>
                </a:solidFill>
              </a:rPr>
              <a:t>How I tested it: fixed ground truth, repeated runs</a:t>
            </a:r>
            <a:endParaRPr lang="en-GB" sz="3600" dirty="0"/>
          </a:p>
        </p:txBody>
      </p:sp>
      <p:sp>
        <p:nvSpPr>
          <p:cNvPr id="3" name="Step 1"/>
          <p:cNvSpPr/>
          <p:nvPr/>
        </p:nvSpPr>
        <p:spPr>
          <a:xfrm>
            <a:off x="548640" y="1325880"/>
            <a:ext cx="2072579" cy="1783080"/>
          </a:xfrm>
          <a:prstGeom prst="roundRect">
            <a:avLst>
              <a:gd name="adj" fmla="val 4103"/>
            </a:avLst>
          </a:prstGeom>
          <a:solidFill>
            <a:schemeClr val="bg2"/>
          </a:solidFill>
          <a:ln w="12700">
            <a:solidFill>
              <a:schemeClr val="bg2"/>
            </a:solidFill>
            <a:prstDash val="solid"/>
          </a:ln>
        </p:spPr>
      </p:sp>
      <p:sp>
        <p:nvSpPr>
          <p:cNvPr id="4" name="Define circle"/>
          <p:cNvSpPr/>
          <p:nvPr/>
        </p:nvSpPr>
        <p:spPr>
          <a:xfrm>
            <a:off x="731520" y="1481328"/>
            <a:ext cx="457200" cy="457200"/>
          </a:xfrm>
          <a:prstGeom prst="ellipse">
            <a:avLst/>
          </a:prstGeom>
          <a:solidFill>
            <a:schemeClr val="accent2"/>
          </a:solidFill>
          <a:ln w="12700">
            <a:solidFill>
              <a:schemeClr val="accent2"/>
            </a:solidFill>
            <a:prstDash val="solid"/>
          </a:ln>
        </p:spPr>
      </p:sp>
      <p:pic>
        <p:nvPicPr>
          <p:cNvPr id="5" name="Define icon" descr="preencoded.png">    </p:cNvPr>
          <p:cNvPicPr>
            <a:picLocks noChangeAspect="1"/>
          </p:cNvPicPr>
          <p:nvPr/>
        </p:nvPicPr>
        <p:blipFill>
          <a:blip r:embed="rId1"/>
          <a:stretch>
            <a:fillRect/>
          </a:stretch>
        </p:blipFill>
        <p:spPr>
          <a:xfrm>
            <a:off x="845820" y="1595628"/>
            <a:ext cx="228600" cy="228600"/>
          </a:xfrm>
          <a:prstGeom prst="rect">
            <a:avLst/>
          </a:prstGeom>
        </p:spPr>
      </p:pic>
      <p:sp>
        <p:nvSpPr>
          <p:cNvPr id="6" name="Step number 1"/>
          <p:cNvSpPr txBox="1"/>
          <p:nvPr/>
        </p:nvSpPr>
        <p:spPr>
          <a:xfrm>
            <a:off x="2118299" y="1481328"/>
            <a:ext cx="320040" cy="457200"/>
          </a:xfrm>
          <a:prstGeom prst="rect">
            <a:avLst/>
          </a:prstGeom>
          <a:noFill/>
          <a:ln/>
        </p:spPr>
        <p:txBody>
          <a:bodyPr wrap="square" lIns="0" tIns="0" rIns="0" bIns="0" rtlCol="0" anchor="ctr"/>
          <a:lstStyle/>
          <a:p>
            <a:pPr algn="r" indent="0" marL="0">
              <a:buNone/>
            </a:pPr>
            <a:r>
              <a:rPr lang="en-GB" altLang="en-US" sz="2600" b="1" dirty="0">
                <a:solidFill>
                  <a:schemeClr val="accent3"/>
                </a:solidFill>
              </a:rPr>
              <a:t>1</a:t>
            </a:r>
            <a:endParaRPr lang="en-GB" sz="2600" dirty="0"/>
          </a:p>
        </p:txBody>
      </p:sp>
      <p:sp>
        <p:nvSpPr>
          <p:cNvPr id="7" name="Step text 1"/>
          <p:cNvSpPr txBox="1"/>
          <p:nvPr/>
        </p:nvSpPr>
        <p:spPr>
          <a:xfrm>
            <a:off x="731520" y="2029968"/>
            <a:ext cx="1752539" cy="1024128"/>
          </a:xfrm>
          <a:prstGeom prst="rect">
            <a:avLst/>
          </a:prstGeom>
          <a:noFill/>
          <a:ln/>
        </p:spPr>
        <p:txBody>
          <a:bodyPr wrap="square" lIns="0" tIns="0" rIns="0" bIns="0" rtlCol="0" anchor="t"/>
          <a:lstStyle/>
          <a:p>
            <a:pPr indent="0" marL="0">
              <a:spcAft>
                <a:spcPts val="200"/>
              </a:spcAft>
              <a:buNone/>
            </a:pPr>
            <a:r>
              <a:rPr lang="en-GB" altLang="en-US" sz="1600" b="1" dirty="0">
                <a:solidFill>
                  <a:schemeClr val="tx2"/>
                </a:solidFill>
              </a:rPr>
              <a:t>Define</a:t>
            </a:r>
            <a:endParaRPr lang="en-GB" sz="1400" dirty="0"/>
          </a:p>
          <a:p>
            <a:pPr indent="0" marL="0">
              <a:spcAft>
                <a:spcPts val="200"/>
              </a:spcAft>
              <a:buNone/>
            </a:pPr>
            <a:r>
              <a:rPr lang="en-GB" altLang="en-US" sz="1400" dirty="0">
                <a:solidFill>
                  <a:schemeClr val="tx1"/>
                </a:solidFill>
              </a:rPr>
              <a:t>15 Terraform cases; ground truth fixed before any run</a:t>
            </a:r>
            <a:endParaRPr lang="en-GB" sz="1400" dirty="0"/>
          </a:p>
        </p:txBody>
      </p:sp>
      <p:sp>
        <p:nvSpPr>
          <p:cNvPr id="8" name="Step 2"/>
          <p:cNvSpPr/>
          <p:nvPr/>
        </p:nvSpPr>
        <p:spPr>
          <a:xfrm>
            <a:off x="2804099" y="1325880"/>
            <a:ext cx="2072579" cy="1783080"/>
          </a:xfrm>
          <a:prstGeom prst="roundRect">
            <a:avLst>
              <a:gd name="adj" fmla="val 4103"/>
            </a:avLst>
          </a:prstGeom>
          <a:solidFill>
            <a:schemeClr val="bg2"/>
          </a:solidFill>
          <a:ln w="12700">
            <a:solidFill>
              <a:schemeClr val="bg2"/>
            </a:solidFill>
            <a:prstDash val="solid"/>
          </a:ln>
        </p:spPr>
      </p:sp>
      <p:sp>
        <p:nvSpPr>
          <p:cNvPr id="9" name="Run circle"/>
          <p:cNvSpPr/>
          <p:nvPr/>
        </p:nvSpPr>
        <p:spPr>
          <a:xfrm>
            <a:off x="2986979" y="1481328"/>
            <a:ext cx="457200" cy="457200"/>
          </a:xfrm>
          <a:prstGeom prst="ellipse">
            <a:avLst/>
          </a:prstGeom>
          <a:solidFill>
            <a:schemeClr val="accent2"/>
          </a:solidFill>
          <a:ln w="12700">
            <a:solidFill>
              <a:schemeClr val="accent2"/>
            </a:solidFill>
            <a:prstDash val="solid"/>
          </a:ln>
        </p:spPr>
      </p:sp>
      <p:pic>
        <p:nvPicPr>
          <p:cNvPr id="10" name="Run icon" descr="preencoded.png">    </p:cNvPr>
          <p:cNvPicPr>
            <a:picLocks noChangeAspect="1"/>
          </p:cNvPicPr>
          <p:nvPr/>
        </p:nvPicPr>
        <p:blipFill>
          <a:blip r:embed="rId2"/>
          <a:stretch>
            <a:fillRect/>
          </a:stretch>
        </p:blipFill>
        <p:spPr>
          <a:xfrm>
            <a:off x="3101279" y="1595628"/>
            <a:ext cx="228600" cy="228600"/>
          </a:xfrm>
          <a:prstGeom prst="rect">
            <a:avLst/>
          </a:prstGeom>
        </p:spPr>
      </p:pic>
      <p:sp>
        <p:nvSpPr>
          <p:cNvPr id="11" name="Step number 2"/>
          <p:cNvSpPr txBox="1"/>
          <p:nvPr/>
        </p:nvSpPr>
        <p:spPr>
          <a:xfrm>
            <a:off x="4373758" y="1481328"/>
            <a:ext cx="320040" cy="457200"/>
          </a:xfrm>
          <a:prstGeom prst="rect">
            <a:avLst/>
          </a:prstGeom>
          <a:noFill/>
          <a:ln/>
        </p:spPr>
        <p:txBody>
          <a:bodyPr wrap="square" lIns="0" tIns="0" rIns="0" bIns="0" rtlCol="0" anchor="ctr"/>
          <a:lstStyle/>
          <a:p>
            <a:pPr algn="r" indent="0" marL="0">
              <a:buNone/>
            </a:pPr>
            <a:r>
              <a:rPr lang="en-GB" altLang="en-US" sz="2600" b="1" dirty="0">
                <a:solidFill>
                  <a:schemeClr val="accent3"/>
                </a:solidFill>
              </a:rPr>
              <a:t>2</a:t>
            </a:r>
            <a:endParaRPr lang="en-GB" sz="2600" dirty="0"/>
          </a:p>
        </p:txBody>
      </p:sp>
      <p:sp>
        <p:nvSpPr>
          <p:cNvPr id="12" name="Step text 2"/>
          <p:cNvSpPr txBox="1"/>
          <p:nvPr/>
        </p:nvSpPr>
        <p:spPr>
          <a:xfrm>
            <a:off x="2986979" y="2029968"/>
            <a:ext cx="1752539" cy="1024128"/>
          </a:xfrm>
          <a:prstGeom prst="rect">
            <a:avLst/>
          </a:prstGeom>
          <a:noFill/>
          <a:ln/>
        </p:spPr>
        <p:txBody>
          <a:bodyPr wrap="square" lIns="0" tIns="0" rIns="0" bIns="0" rtlCol="0" anchor="t"/>
          <a:lstStyle/>
          <a:p>
            <a:pPr indent="0" marL="0">
              <a:spcAft>
                <a:spcPts val="200"/>
              </a:spcAft>
              <a:buNone/>
            </a:pPr>
            <a:r>
              <a:rPr lang="en-GB" altLang="en-US" sz="1600" b="1" dirty="0">
                <a:solidFill>
                  <a:schemeClr val="tx2"/>
                </a:solidFill>
              </a:rPr>
              <a:t>Run</a:t>
            </a:r>
            <a:endParaRPr lang="en-GB" sz="1400" dirty="0"/>
          </a:p>
          <a:p>
            <a:pPr indent="0" marL="0">
              <a:spcAft>
                <a:spcPts val="200"/>
              </a:spcAft>
              <a:buNone/>
            </a:pPr>
            <a:r>
              <a:rPr lang="en-GB" altLang="en-US" sz="1400" dirty="0">
                <a:solidFill>
                  <a:schemeClr val="tx1"/>
                </a:solidFill>
              </a:rPr>
              <a:t>Each case as a pull request, then twice more: 46 runs</a:t>
            </a:r>
            <a:endParaRPr lang="en-GB" sz="1400" dirty="0"/>
          </a:p>
        </p:txBody>
      </p:sp>
      <p:sp>
        <p:nvSpPr>
          <p:cNvPr id="13" name="Step 3"/>
          <p:cNvSpPr/>
          <p:nvPr/>
        </p:nvSpPr>
        <p:spPr>
          <a:xfrm>
            <a:off x="5059558" y="1325880"/>
            <a:ext cx="2072579" cy="1783080"/>
          </a:xfrm>
          <a:prstGeom prst="roundRect">
            <a:avLst>
              <a:gd name="adj" fmla="val 4103"/>
            </a:avLst>
          </a:prstGeom>
          <a:solidFill>
            <a:schemeClr val="bg2"/>
          </a:solidFill>
          <a:ln w="12700">
            <a:solidFill>
              <a:schemeClr val="bg2"/>
            </a:solidFill>
            <a:prstDash val="solid"/>
          </a:ln>
        </p:spPr>
      </p:sp>
      <p:sp>
        <p:nvSpPr>
          <p:cNvPr id="14" name="Classify circle"/>
          <p:cNvSpPr/>
          <p:nvPr/>
        </p:nvSpPr>
        <p:spPr>
          <a:xfrm>
            <a:off x="5242438" y="1481328"/>
            <a:ext cx="457200" cy="457200"/>
          </a:xfrm>
          <a:prstGeom prst="ellipse">
            <a:avLst/>
          </a:prstGeom>
          <a:solidFill>
            <a:schemeClr val="accent2"/>
          </a:solidFill>
          <a:ln w="12700">
            <a:solidFill>
              <a:schemeClr val="accent2"/>
            </a:solidFill>
            <a:prstDash val="solid"/>
          </a:ln>
        </p:spPr>
      </p:sp>
      <p:pic>
        <p:nvPicPr>
          <p:cNvPr id="15" name="Classify icon" descr="preencoded.png">    </p:cNvPr>
          <p:cNvPicPr>
            <a:picLocks noChangeAspect="1"/>
          </p:cNvPicPr>
          <p:nvPr/>
        </p:nvPicPr>
        <p:blipFill>
          <a:blip r:embed="rId3"/>
          <a:stretch>
            <a:fillRect/>
          </a:stretch>
        </p:blipFill>
        <p:spPr>
          <a:xfrm>
            <a:off x="5356738" y="1595628"/>
            <a:ext cx="228600" cy="228600"/>
          </a:xfrm>
          <a:prstGeom prst="rect">
            <a:avLst/>
          </a:prstGeom>
        </p:spPr>
      </p:pic>
      <p:sp>
        <p:nvSpPr>
          <p:cNvPr id="16" name="Step number 3"/>
          <p:cNvSpPr txBox="1"/>
          <p:nvPr/>
        </p:nvSpPr>
        <p:spPr>
          <a:xfrm>
            <a:off x="6629217" y="1481328"/>
            <a:ext cx="320040" cy="457200"/>
          </a:xfrm>
          <a:prstGeom prst="rect">
            <a:avLst/>
          </a:prstGeom>
          <a:noFill/>
          <a:ln/>
        </p:spPr>
        <p:txBody>
          <a:bodyPr wrap="square" lIns="0" tIns="0" rIns="0" bIns="0" rtlCol="0" anchor="ctr"/>
          <a:lstStyle/>
          <a:p>
            <a:pPr algn="r" indent="0" marL="0">
              <a:buNone/>
            </a:pPr>
            <a:r>
              <a:rPr lang="en-GB" altLang="en-US" sz="2600" b="1" dirty="0">
                <a:solidFill>
                  <a:schemeClr val="accent3"/>
                </a:solidFill>
              </a:rPr>
              <a:t>3</a:t>
            </a:r>
            <a:endParaRPr lang="en-GB" sz="2600" dirty="0"/>
          </a:p>
        </p:txBody>
      </p:sp>
      <p:sp>
        <p:nvSpPr>
          <p:cNvPr id="17" name="Step text 3"/>
          <p:cNvSpPr txBox="1"/>
          <p:nvPr/>
        </p:nvSpPr>
        <p:spPr>
          <a:xfrm>
            <a:off x="5242438" y="2029968"/>
            <a:ext cx="1752539" cy="1024128"/>
          </a:xfrm>
          <a:prstGeom prst="rect">
            <a:avLst/>
          </a:prstGeom>
          <a:noFill/>
          <a:ln/>
        </p:spPr>
        <p:txBody>
          <a:bodyPr wrap="square" lIns="0" tIns="0" rIns="0" bIns="0" rtlCol="0" anchor="t"/>
          <a:lstStyle/>
          <a:p>
            <a:pPr indent="0" marL="0">
              <a:spcAft>
                <a:spcPts val="200"/>
              </a:spcAft>
              <a:buNone/>
            </a:pPr>
            <a:r>
              <a:rPr lang="en-GB" altLang="en-US" sz="1600" b="1" dirty="0">
                <a:solidFill>
                  <a:schemeClr val="tx2"/>
                </a:solidFill>
              </a:rPr>
              <a:t>Classify</a:t>
            </a:r>
            <a:endParaRPr lang="en-GB" sz="1400" dirty="0"/>
          </a:p>
          <a:p>
            <a:pPr indent="0" marL="0">
              <a:spcAft>
                <a:spcPts val="200"/>
              </a:spcAft>
              <a:buNone/>
            </a:pPr>
            <a:r>
              <a:rPr lang="en-GB" altLang="en-US" sz="1400" dirty="0">
                <a:solidFill>
                  <a:schemeClr val="tx1"/>
                </a:solidFill>
              </a:rPr>
              <a:t>Every output checked against the ground truth</a:t>
            </a:r>
            <a:endParaRPr lang="en-GB" sz="1400" dirty="0"/>
          </a:p>
        </p:txBody>
      </p:sp>
      <p:sp>
        <p:nvSpPr>
          <p:cNvPr id="18" name="Step 4"/>
          <p:cNvSpPr/>
          <p:nvPr/>
        </p:nvSpPr>
        <p:spPr>
          <a:xfrm>
            <a:off x="7315017" y="1325880"/>
            <a:ext cx="2072579" cy="1783080"/>
          </a:xfrm>
          <a:prstGeom prst="roundRect">
            <a:avLst>
              <a:gd name="adj" fmla="val 4103"/>
            </a:avLst>
          </a:prstGeom>
          <a:solidFill>
            <a:schemeClr val="bg2"/>
          </a:solidFill>
          <a:ln w="12700">
            <a:solidFill>
              <a:schemeClr val="bg2"/>
            </a:solidFill>
            <a:prstDash val="solid"/>
          </a:ln>
        </p:spPr>
      </p:sp>
      <p:sp>
        <p:nvSpPr>
          <p:cNvPr id="19" name="Score circle"/>
          <p:cNvSpPr/>
          <p:nvPr/>
        </p:nvSpPr>
        <p:spPr>
          <a:xfrm>
            <a:off x="7497897" y="1481328"/>
            <a:ext cx="457200" cy="457200"/>
          </a:xfrm>
          <a:prstGeom prst="ellipse">
            <a:avLst/>
          </a:prstGeom>
          <a:solidFill>
            <a:schemeClr val="accent2"/>
          </a:solidFill>
          <a:ln w="12700">
            <a:solidFill>
              <a:schemeClr val="accent2"/>
            </a:solidFill>
            <a:prstDash val="solid"/>
          </a:ln>
        </p:spPr>
      </p:sp>
      <p:pic>
        <p:nvPicPr>
          <p:cNvPr id="20" name="Score icon" descr="preencoded.png">    </p:cNvPr>
          <p:cNvPicPr>
            <a:picLocks noChangeAspect="1"/>
          </p:cNvPicPr>
          <p:nvPr/>
        </p:nvPicPr>
        <p:blipFill>
          <a:blip r:embed="rId4"/>
          <a:stretch>
            <a:fillRect/>
          </a:stretch>
        </p:blipFill>
        <p:spPr>
          <a:xfrm>
            <a:off x="7612197" y="1595628"/>
            <a:ext cx="228600" cy="228600"/>
          </a:xfrm>
          <a:prstGeom prst="rect">
            <a:avLst/>
          </a:prstGeom>
        </p:spPr>
      </p:pic>
      <p:sp>
        <p:nvSpPr>
          <p:cNvPr id="21" name="Step number 4"/>
          <p:cNvSpPr txBox="1"/>
          <p:nvPr/>
        </p:nvSpPr>
        <p:spPr>
          <a:xfrm>
            <a:off x="8884676" y="1481328"/>
            <a:ext cx="320040" cy="457200"/>
          </a:xfrm>
          <a:prstGeom prst="rect">
            <a:avLst/>
          </a:prstGeom>
          <a:noFill/>
          <a:ln/>
        </p:spPr>
        <p:txBody>
          <a:bodyPr wrap="square" lIns="0" tIns="0" rIns="0" bIns="0" rtlCol="0" anchor="ctr"/>
          <a:lstStyle/>
          <a:p>
            <a:pPr algn="r" indent="0" marL="0">
              <a:buNone/>
            </a:pPr>
            <a:r>
              <a:rPr lang="en-GB" altLang="en-US" sz="2600" b="1" dirty="0">
                <a:solidFill>
                  <a:schemeClr val="accent3"/>
                </a:solidFill>
              </a:rPr>
              <a:t>4</a:t>
            </a:r>
            <a:endParaRPr lang="en-GB" sz="2600" dirty="0"/>
          </a:p>
        </p:txBody>
      </p:sp>
      <p:sp>
        <p:nvSpPr>
          <p:cNvPr id="22" name="Step text 4"/>
          <p:cNvSpPr txBox="1"/>
          <p:nvPr/>
        </p:nvSpPr>
        <p:spPr>
          <a:xfrm>
            <a:off x="7497897" y="2029968"/>
            <a:ext cx="1752539" cy="1024128"/>
          </a:xfrm>
          <a:prstGeom prst="rect">
            <a:avLst/>
          </a:prstGeom>
          <a:noFill/>
          <a:ln/>
        </p:spPr>
        <p:txBody>
          <a:bodyPr wrap="square" lIns="0" tIns="0" rIns="0" bIns="0" rtlCol="0" anchor="t"/>
          <a:lstStyle/>
          <a:p>
            <a:pPr indent="0" marL="0">
              <a:spcAft>
                <a:spcPts val="200"/>
              </a:spcAft>
              <a:buNone/>
            </a:pPr>
            <a:r>
              <a:rPr lang="en-GB" altLang="en-US" sz="1600" b="1" dirty="0">
                <a:solidFill>
                  <a:schemeClr val="tx2"/>
                </a:solidFill>
              </a:rPr>
              <a:t>Score</a:t>
            </a:r>
            <a:endParaRPr lang="en-GB" sz="1400" dirty="0"/>
          </a:p>
          <a:p>
            <a:pPr indent="0" marL="0">
              <a:spcAft>
                <a:spcPts val="200"/>
              </a:spcAft>
              <a:buNone/>
            </a:pPr>
            <a:r>
              <a:rPr lang="en-GB" altLang="en-US" sz="1400" dirty="0">
                <a:solidFill>
                  <a:schemeClr val="tx1"/>
                </a:solidFill>
              </a:rPr>
              <a:t>AI output scored 0–2 on six dimensions fixed in advance</a:t>
            </a:r>
            <a:endParaRPr lang="en-GB" sz="1400" dirty="0"/>
          </a:p>
        </p:txBody>
      </p:sp>
      <p:sp>
        <p:nvSpPr>
          <p:cNvPr id="23" name="Step 5"/>
          <p:cNvSpPr/>
          <p:nvPr/>
        </p:nvSpPr>
        <p:spPr>
          <a:xfrm>
            <a:off x="9570476" y="1325880"/>
            <a:ext cx="2072579" cy="1783080"/>
          </a:xfrm>
          <a:prstGeom prst="roundRect">
            <a:avLst>
              <a:gd name="adj" fmla="val 4103"/>
            </a:avLst>
          </a:prstGeom>
          <a:solidFill>
            <a:schemeClr val="bg2"/>
          </a:solidFill>
          <a:ln w="12700">
            <a:solidFill>
              <a:schemeClr val="bg2"/>
            </a:solidFill>
            <a:prstDash val="solid"/>
          </a:ln>
        </p:spPr>
      </p:sp>
      <p:sp>
        <p:nvSpPr>
          <p:cNvPr id="24" name="Re-test circle"/>
          <p:cNvSpPr/>
          <p:nvPr/>
        </p:nvSpPr>
        <p:spPr>
          <a:xfrm>
            <a:off x="9753356" y="1481328"/>
            <a:ext cx="457200" cy="457200"/>
          </a:xfrm>
          <a:prstGeom prst="ellipse">
            <a:avLst/>
          </a:prstGeom>
          <a:solidFill>
            <a:schemeClr val="accent1"/>
          </a:solidFill>
          <a:ln w="12700">
            <a:solidFill>
              <a:schemeClr val="accent1"/>
            </a:solidFill>
            <a:prstDash val="solid"/>
          </a:ln>
        </p:spPr>
      </p:sp>
      <p:pic>
        <p:nvPicPr>
          <p:cNvPr id="25" name="Re-test icon" descr="preencoded.png">    </p:cNvPr>
          <p:cNvPicPr>
            <a:picLocks noChangeAspect="1"/>
          </p:cNvPicPr>
          <p:nvPr/>
        </p:nvPicPr>
        <p:blipFill>
          <a:blip r:embed="rId5"/>
          <a:stretch>
            <a:fillRect/>
          </a:stretch>
        </p:blipFill>
        <p:spPr>
          <a:xfrm>
            <a:off x="9867656" y="1595628"/>
            <a:ext cx="228600" cy="228600"/>
          </a:xfrm>
          <a:prstGeom prst="rect">
            <a:avLst/>
          </a:prstGeom>
        </p:spPr>
      </p:pic>
      <p:sp>
        <p:nvSpPr>
          <p:cNvPr id="26" name="Step number 5"/>
          <p:cNvSpPr txBox="1"/>
          <p:nvPr/>
        </p:nvSpPr>
        <p:spPr>
          <a:xfrm>
            <a:off x="11140135" y="1481328"/>
            <a:ext cx="320040" cy="457200"/>
          </a:xfrm>
          <a:prstGeom prst="rect">
            <a:avLst/>
          </a:prstGeom>
          <a:noFill/>
          <a:ln/>
        </p:spPr>
        <p:txBody>
          <a:bodyPr wrap="square" lIns="0" tIns="0" rIns="0" bIns="0" rtlCol="0" anchor="ctr"/>
          <a:lstStyle/>
          <a:p>
            <a:pPr algn="r" indent="0" marL="0">
              <a:buNone/>
            </a:pPr>
            <a:r>
              <a:rPr lang="en-GB" altLang="en-US" sz="2600" b="1" dirty="0">
                <a:solidFill>
                  <a:schemeClr val="accent3"/>
                </a:solidFill>
              </a:rPr>
              <a:t>5</a:t>
            </a:r>
            <a:endParaRPr lang="en-GB" sz="2600" dirty="0"/>
          </a:p>
        </p:txBody>
      </p:sp>
      <p:sp>
        <p:nvSpPr>
          <p:cNvPr id="27" name="Step text 5"/>
          <p:cNvSpPr txBox="1"/>
          <p:nvPr/>
        </p:nvSpPr>
        <p:spPr>
          <a:xfrm>
            <a:off x="9753356" y="2029968"/>
            <a:ext cx="1752539" cy="1024128"/>
          </a:xfrm>
          <a:prstGeom prst="rect">
            <a:avLst/>
          </a:prstGeom>
          <a:noFill/>
          <a:ln/>
        </p:spPr>
        <p:txBody>
          <a:bodyPr wrap="square" lIns="0" tIns="0" rIns="0" bIns="0" rtlCol="0" anchor="t"/>
          <a:lstStyle/>
          <a:p>
            <a:pPr indent="0" marL="0">
              <a:spcAft>
                <a:spcPts val="200"/>
              </a:spcAft>
              <a:buNone/>
            </a:pPr>
            <a:r>
              <a:rPr lang="en-GB" altLang="en-US" sz="1600" b="1" dirty="0">
                <a:solidFill>
                  <a:schemeClr val="tx2"/>
                </a:solidFill>
              </a:rPr>
              <a:t>Re-test</a:t>
            </a:r>
            <a:endParaRPr lang="en-GB" sz="1400" dirty="0"/>
          </a:p>
          <a:p>
            <a:pPr indent="0" marL="0">
              <a:spcAft>
                <a:spcPts val="200"/>
              </a:spcAft>
              <a:buNone/>
            </a:pPr>
            <a:r>
              <a:rPr lang="en-GB" altLang="en-US" sz="1400" dirty="0">
                <a:solidFill>
                  <a:schemeClr val="tx1"/>
                </a:solidFill>
              </a:rPr>
              <a:t>AI’s 12 fixes applied; validate, scanners and AI re-run</a:t>
            </a:r>
            <a:endParaRPr lang="en-GB" sz="1400" dirty="0"/>
          </a:p>
        </p:txBody>
      </p:sp>
      <p:graphicFrame>
        <p:nvGraphicFramePr>
          <p:cNvPr id="6" name="Test case table"/>
          <p:cNvGraphicFramePr>
            <a:graphicFrameLocks noGrp="1"/>
          </p:cNvGraphicFramePr>
          <p:nvPr>
            <p:extLst>
              <p:ext uri="{D42A27DB-BD31-4B8C-83A1-F6EECF244321}">
                <p14:modId xmlns:p14="http://schemas.microsoft.com/office/powerpoint/2010/main" val="1579011935"/>
              </p:ext>
            </p:extLst>
          </p:nvPr>
        </p:nvGraphicFramePr>
        <p:xfrm>
          <a:off x="548640" y="3337560"/>
          <a:ext cx="6446520" cy="914400"/>
        </p:xfrm>
        <a:graphic>
          <a:graphicData uri="http://schemas.openxmlformats.org/drawingml/2006/table">
            <a:tbl>
              <a:tblPr/>
              <a:tblGrid>
                <a:gridCol w="1691640"/>
                <a:gridCol w="4754880"/>
              </a:tblGrid>
              <a:tr h="329184">
                <a:tc>
                  <a:txBody>
                    <a:bodyPr/>
                    <a:lstStyle/>
                    <a:p>
                      <a:pPr indent="0" marL="0">
                        <a:buNone/>
                      </a:pPr>
                      <a:r>
                        <a:rPr lang="en-GB" altLang="en-US" sz="1300" b="1" dirty="0">
                          <a:solidFill>
                            <a:schemeClr val="bg1"/>
                          </a:solidFill>
                        </a:rPr>
                        <a:t>Category</a:t>
                      </a:r>
                      <a:endParaRPr lang="en-GB" sz="1300" dirty="0"/>
                    </a:p>
                  </a:txBody>
                  <a:tcPr marL="91440" marR="91440" marT="36576" marB="36576"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tx2"/>
                    </a:solidFill>
                  </a:tcPr>
                </a:tc>
                <a:tc>
                  <a:txBody>
                    <a:bodyPr/>
                    <a:lstStyle/>
                    <a:p>
                      <a:pPr indent="0" marL="0">
                        <a:buNone/>
                      </a:pPr>
                      <a:r>
                        <a:rPr lang="en-GB" altLang="en-US" sz="1300" b="1" dirty="0">
                          <a:solidFill>
                            <a:schemeClr val="bg1"/>
                          </a:solidFill>
                        </a:rPr>
                        <a:t>15 test cases: 12 vulnerable, 3 acceptable</a:t>
                      </a:r>
                      <a:endParaRPr lang="en-GB" sz="1300" dirty="0"/>
                    </a:p>
                  </a:txBody>
                  <a:tcPr marL="91440" marR="91440" marT="36576" marB="36576"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tx2"/>
                    </a:solidFill>
                  </a:tcPr>
                </a:tc>
              </a:tr>
              <a:tr h="475488">
                <a:tc>
                  <a:txBody>
                    <a:bodyPr/>
                    <a:lstStyle/>
                    <a:p>
                      <a:pPr indent="0" marL="0">
                        <a:buNone/>
                      </a:pPr>
                      <a:r>
                        <a:rPr lang="en-GB" altLang="en-US" sz="1300" b="1" dirty="0">
                          <a:solidFill>
                            <a:schemeClr val="tx2"/>
                          </a:solidFill>
                        </a:rPr>
                        <a:t>Network</a:t>
                      </a:r>
                      <a:endParaRPr lang="en-GB" sz="1300" dirty="0"/>
                    </a:p>
                  </a:txBody>
                  <a:tcPr marL="91440" marR="91440" marT="36576" marB="36576"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1"/>
                    </a:solidFill>
                  </a:tcPr>
                </a:tc>
                <a:tc>
                  <a:txBody>
                    <a:bodyPr/>
                    <a:lstStyle/>
                    <a:p>
                      <a:pPr indent="0" marL="0">
                        <a:buNone/>
                      </a:pPr>
                      <a:r>
                        <a:rPr lang="en-GB" altLang="en-US" sz="1300" dirty="0">
                          <a:solidFill>
                            <a:schemeClr val="tx1"/>
                          </a:solidFill>
                        </a:rPr>
                        <a:t>TC02–TC04 SSH, RDP, HTTP open to the internet · TC05 NSG not attached · TC06 public DNS</a:t>
                      </a:r>
                      <a:endParaRPr lang="en-GB" sz="1300" dirty="0"/>
                    </a:p>
                  </a:txBody>
                  <a:tcPr marL="91440" marR="91440" marT="36576" marB="36576"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1"/>
                    </a:solidFill>
                  </a:tcPr>
                </a:tc>
              </a:tr>
              <a:tr h="329184">
                <a:tc>
                  <a:txBody>
                    <a:bodyPr/>
                    <a:lstStyle/>
                    <a:p>
                      <a:pPr indent="0" marL="0">
                        <a:buNone/>
                      </a:pPr>
                      <a:r>
                        <a:rPr lang="en-GB" altLang="en-US" sz="1300" b="1" dirty="0">
                          <a:solidFill>
                            <a:schemeClr val="tx2"/>
                          </a:solidFill>
                        </a:rPr>
                        <a:t>Encryption, logging</a:t>
                      </a:r>
                      <a:endParaRPr lang="en-GB" sz="1300" dirty="0"/>
                    </a:p>
                  </a:txBody>
                  <a:tcPr marL="91440" marR="91440" marT="36576" marB="36576"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2"/>
                    </a:solidFill>
                  </a:tcPr>
                </a:tc>
                <a:tc>
                  <a:txBody>
                    <a:bodyPr/>
                    <a:lstStyle/>
                    <a:p>
                      <a:pPr indent="0" marL="0">
                        <a:buNone/>
                      </a:pPr>
                      <a:r>
                        <a:rPr lang="en-GB" altLang="en-US" sz="1300" dirty="0">
                          <a:solidFill>
                            <a:schemeClr val="tx1"/>
                          </a:solidFill>
                        </a:rPr>
                        <a:t>TC07 TLS 1.0 storage · TC08 NSG diagnostics removed</a:t>
                      </a:r>
                      <a:endParaRPr lang="en-GB" sz="1300" dirty="0"/>
                    </a:p>
                  </a:txBody>
                  <a:tcPr marL="91440" marR="91440" marT="36576" marB="36576"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2"/>
                    </a:solidFill>
                  </a:tcPr>
                </a:tc>
              </a:tr>
              <a:tr h="329184">
                <a:tc>
                  <a:txBody>
                    <a:bodyPr/>
                    <a:lstStyle/>
                    <a:p>
                      <a:pPr indent="0" marL="0">
                        <a:buNone/>
                      </a:pPr>
                      <a:r>
                        <a:rPr lang="en-GB" altLang="en-US" sz="1300" b="1" dirty="0">
                          <a:solidFill>
                            <a:schemeClr val="tx2"/>
                          </a:solidFill>
                        </a:rPr>
                        <a:t>Secrets</a:t>
                      </a:r>
                      <a:endParaRPr lang="en-GB" sz="1300" dirty="0"/>
                    </a:p>
                  </a:txBody>
                  <a:tcPr marL="91440" marR="91440" marT="36576" marB="36576"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1"/>
                    </a:solidFill>
                  </a:tcPr>
                </a:tc>
                <a:tc>
                  <a:txBody>
                    <a:bodyPr/>
                    <a:lstStyle/>
                    <a:p>
                      <a:pPr indent="0" marL="0">
                        <a:buNone/>
                      </a:pPr>
                      <a:r>
                        <a:rPr lang="en-GB" altLang="en-US" sz="1300" dirty="0">
                          <a:solidFill>
                            <a:schemeClr val="tx1"/>
                          </a:solidFill>
                        </a:rPr>
                        <a:t>TC09 credential in an unused local · TC15 password default</a:t>
                      </a:r>
                      <a:endParaRPr lang="en-GB" sz="1300" dirty="0"/>
                    </a:p>
                  </a:txBody>
                  <a:tcPr marL="91440" marR="91440" marT="36576" marB="36576"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1"/>
                    </a:solidFill>
                  </a:tcPr>
                </a:tc>
              </a:tr>
              <a:tr h="475488">
                <a:tc>
                  <a:txBody>
                    <a:bodyPr/>
                    <a:lstStyle/>
                    <a:p>
                      <a:pPr indent="0" marL="0">
                        <a:buNone/>
                      </a:pPr>
                      <a:r>
                        <a:rPr lang="en-GB" altLang="en-US" sz="1300" b="1" dirty="0">
                          <a:solidFill>
                            <a:schemeClr val="tx2"/>
                          </a:solidFill>
                        </a:rPr>
                        <a:t>Identity</a:t>
                      </a:r>
                      <a:endParaRPr lang="en-GB" sz="1300" dirty="0"/>
                    </a:p>
                  </a:txBody>
                  <a:tcPr marL="91440" marR="91440" marT="36576" marB="36576"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2"/>
                    </a:solidFill>
                  </a:tcPr>
                </a:tc>
                <a:tc>
                  <a:txBody>
                    <a:bodyPr/>
                    <a:lstStyle/>
                    <a:p>
                      <a:pPr indent="0" marL="0">
                        <a:buNone/>
                      </a:pPr>
                      <a:r>
                        <a:rPr lang="en-GB" altLang="en-US" sz="1300" dirty="0">
                          <a:solidFill>
                            <a:schemeClr val="tx1"/>
                          </a:solidFill>
                        </a:rPr>
                        <a:t>TC10 wildcard role · TC11 wildcard vs documented needs · TC13 Contributor vs Reader</a:t>
                      </a:r>
                      <a:endParaRPr lang="en-GB" sz="1300" dirty="0"/>
                    </a:p>
                  </a:txBody>
                  <a:tcPr marL="91440" marR="91440" marT="36576" marB="36576"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2"/>
                    </a:solidFill>
                  </a:tcPr>
                </a:tc>
              </a:tr>
              <a:tr h="475488">
                <a:tc>
                  <a:txBody>
                    <a:bodyPr/>
                    <a:lstStyle/>
                    <a:p>
                      <a:pPr indent="0" marL="0">
                        <a:buNone/>
                      </a:pPr>
                      <a:r>
                        <a:rPr lang="en-GB" altLang="en-US" sz="1300" b="1" dirty="0">
                          <a:solidFill>
                            <a:schemeClr val="accent4"/>
                          </a:solidFill>
                        </a:rPr>
                        <a:t>Acceptable</a:t>
                      </a:r>
                      <a:endParaRPr lang="en-GB" sz="1300" dirty="0"/>
                    </a:p>
                  </a:txBody>
                  <a:tcPr marL="91440" marR="91440" marT="36576" marB="36576"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1"/>
                    </a:solidFill>
                  </a:tcPr>
                </a:tc>
                <a:tc>
                  <a:txBody>
                    <a:bodyPr/>
                    <a:lstStyle/>
                    <a:p>
                      <a:pPr indent="0" marL="0">
                        <a:buNone/>
                      </a:pPr>
                      <a:r>
                        <a:rPr lang="en-GB" altLang="en-US" sz="1300" dirty="0">
                          <a:solidFill>
                            <a:schemeClr val="tx1"/>
                          </a:solidFill>
                        </a:rPr>
                        <a:t>TC01 secure baseline · TC12 intended public HTTPS · TC14 SSH from one address</a:t>
                      </a:r>
                      <a:endParaRPr lang="en-GB" sz="1300" dirty="0"/>
                    </a:p>
                  </a:txBody>
                  <a:tcPr marL="91440" marR="91440" marT="36576" marB="36576" anchor="ctr">
                    <a:lnL w="9525" cap="flat" cmpd="sng" algn="ctr">
                      <a:solidFill>
                        <a:srgbClr val="D3DAE2"/>
                      </a:solidFill>
                      <a:prstDash val="solid"/>
                      <a:round/>
                      <a:headEnd type="none" w="med" len="med"/>
                      <a:tailEnd type="none" w="med" len="med"/>
                    </a:lnL>
                    <a:lnR w="9525" cap="flat" cmpd="sng" algn="ctr">
                      <a:solidFill>
                        <a:srgbClr val="D3DAE2"/>
                      </a:solidFill>
                      <a:prstDash val="solid"/>
                      <a:round/>
                      <a:headEnd type="none" w="med" len="med"/>
                      <a:tailEnd type="none" w="med" len="med"/>
                    </a:lnR>
                    <a:lnT w="9525" cap="flat" cmpd="sng" algn="ctr">
                      <a:solidFill>
                        <a:srgbClr val="D3DAE2"/>
                      </a:solidFill>
                      <a:prstDash val="solid"/>
                      <a:round/>
                      <a:headEnd type="none" w="med" len="med"/>
                      <a:tailEnd type="none" w="med" len="med"/>
                    </a:lnT>
                    <a:lnB w="9525" cap="flat" cmpd="sng" algn="ctr">
                      <a:solidFill>
                        <a:srgbClr val="D3DAE2"/>
                      </a:solidFill>
                      <a:prstDash val="solid"/>
                      <a:round/>
                      <a:headEnd type="none" w="med" len="med"/>
                      <a:tailEnd type="none" w="med" len="med"/>
                    </a:lnB>
                    <a:solidFill>
                      <a:schemeClr val="bg1"/>
                    </a:solidFill>
                  </a:tcPr>
                </a:tc>
              </a:tr>
            </a:tbl>
          </a:graphicData>
        </a:graphic>
      </p:graphicFrame>
      <p:sp>
        <p:nvSpPr>
          <p:cNvPr id="29" name="Independence check card"/>
          <p:cNvSpPr/>
          <p:nvPr/>
        </p:nvSpPr>
        <p:spPr>
          <a:xfrm>
            <a:off x="7269480" y="3337560"/>
            <a:ext cx="4373575" cy="1481328"/>
          </a:xfrm>
          <a:prstGeom prst="roundRect">
            <a:avLst>
              <a:gd name="adj" fmla="val 4938"/>
            </a:avLst>
          </a:prstGeom>
          <a:solidFill>
            <a:schemeClr val="tx2"/>
          </a:solidFill>
          <a:ln w="12700">
            <a:solidFill>
              <a:schemeClr val="tx2"/>
            </a:solidFill>
            <a:prstDash val="solid"/>
          </a:ln>
        </p:spPr>
      </p:sp>
      <p:sp>
        <p:nvSpPr>
          <p:cNvPr id="30" name="Independence check circle"/>
          <p:cNvSpPr/>
          <p:nvPr/>
        </p:nvSpPr>
        <p:spPr>
          <a:xfrm>
            <a:off x="7470648" y="3538728"/>
            <a:ext cx="457200" cy="457200"/>
          </a:xfrm>
          <a:prstGeom prst="ellipse">
            <a:avLst/>
          </a:prstGeom>
          <a:solidFill>
            <a:schemeClr val="accent1"/>
          </a:solidFill>
          <a:ln w="12700">
            <a:solidFill>
              <a:schemeClr val="accent1"/>
            </a:solidFill>
            <a:prstDash val="solid"/>
          </a:ln>
        </p:spPr>
      </p:sp>
      <p:pic>
        <p:nvPicPr>
          <p:cNvPr id="31" name="Independence check icon" descr="preencoded.png">    </p:cNvPr>
          <p:cNvPicPr>
            <a:picLocks noChangeAspect="1"/>
          </p:cNvPicPr>
          <p:nvPr/>
        </p:nvPicPr>
        <p:blipFill>
          <a:blip r:embed="rId6"/>
          <a:stretch>
            <a:fillRect/>
          </a:stretch>
        </p:blipFill>
        <p:spPr>
          <a:xfrm>
            <a:off x="7584948" y="3653028"/>
            <a:ext cx="228600" cy="228600"/>
          </a:xfrm>
          <a:prstGeom prst="rect">
            <a:avLst/>
          </a:prstGeom>
        </p:spPr>
      </p:pic>
      <p:sp>
        <p:nvSpPr>
          <p:cNvPr id="32" name="Independence check text"/>
          <p:cNvSpPr txBox="1"/>
          <p:nvPr/>
        </p:nvSpPr>
        <p:spPr>
          <a:xfrm>
            <a:off x="8110728" y="3502152"/>
            <a:ext cx="3367735" cy="1207008"/>
          </a:xfrm>
          <a:prstGeom prst="rect">
            <a:avLst/>
          </a:prstGeom>
          <a:noFill/>
          <a:ln/>
        </p:spPr>
        <p:txBody>
          <a:bodyPr wrap="square" lIns="0" tIns="0" rIns="0" bIns="0" rtlCol="0" anchor="t"/>
          <a:lstStyle/>
          <a:p>
            <a:pPr indent="0" marL="0">
              <a:spcAft>
                <a:spcPts val="300"/>
              </a:spcAft>
              <a:buNone/>
            </a:pPr>
            <a:r>
              <a:rPr lang="en-GB" altLang="en-US" sz="1600" b="1" dirty="0">
                <a:solidFill>
                  <a:schemeClr val="bg1"/>
                </a:solidFill>
              </a:rPr>
              <a:t>Independence check</a:t>
            </a:r>
            <a:endParaRPr lang="en-GB" sz="1400" dirty="0"/>
          </a:p>
          <a:p>
            <a:pPr indent="0" marL="0">
              <a:spcAft>
                <a:spcPts val="300"/>
              </a:spcAft>
              <a:buNone/>
            </a:pPr>
            <a:r>
              <a:rPr lang="en-GB" altLang="en-US" sz="1400" dirty="0">
                <a:solidFill>
                  <a:schemeClr val="bg1"/>
                </a:solidFill>
              </a:rPr>
              <a:t>Early AI runs saw scanner findings in their prompt. I fixed the workflow (PR #69), ran every case independently and checked all 46 runs’ metadata.</a:t>
            </a:r>
            <a:endParaRPr lang="en-GB" sz="1400" dirty="0"/>
          </a:p>
        </p:txBody>
      </p:sp>
      <p:sp>
        <p:nvSpPr>
          <p:cNvPr id="33" name="Ethics card"/>
          <p:cNvSpPr/>
          <p:nvPr/>
        </p:nvSpPr>
        <p:spPr>
          <a:xfrm>
            <a:off x="7269480" y="4983480"/>
            <a:ext cx="4373575" cy="1051560"/>
          </a:xfrm>
          <a:prstGeom prst="roundRect">
            <a:avLst>
              <a:gd name="adj" fmla="val 6957"/>
            </a:avLst>
          </a:prstGeom>
          <a:solidFill>
            <a:schemeClr val="bg2"/>
          </a:solidFill>
          <a:ln w="12700">
            <a:solidFill>
              <a:schemeClr val="bg2"/>
            </a:solidFill>
            <a:prstDash val="solid"/>
          </a:ln>
        </p:spPr>
      </p:sp>
      <p:sp>
        <p:nvSpPr>
          <p:cNvPr id="34" name="Ethics circle"/>
          <p:cNvSpPr/>
          <p:nvPr/>
        </p:nvSpPr>
        <p:spPr>
          <a:xfrm>
            <a:off x="7470648" y="5184648"/>
            <a:ext cx="457200" cy="457200"/>
          </a:xfrm>
          <a:prstGeom prst="ellipse">
            <a:avLst/>
          </a:prstGeom>
          <a:solidFill>
            <a:schemeClr val="accent4"/>
          </a:solidFill>
          <a:ln w="12700">
            <a:solidFill>
              <a:schemeClr val="accent4"/>
            </a:solidFill>
            <a:prstDash val="solid"/>
          </a:ln>
        </p:spPr>
      </p:sp>
      <p:pic>
        <p:nvPicPr>
          <p:cNvPr id="35" name="Ethics icon" descr="preencoded.png">    </p:cNvPr>
          <p:cNvPicPr>
            <a:picLocks noChangeAspect="1"/>
          </p:cNvPicPr>
          <p:nvPr/>
        </p:nvPicPr>
        <p:blipFill>
          <a:blip r:embed="rId7"/>
          <a:stretch>
            <a:fillRect/>
          </a:stretch>
        </p:blipFill>
        <p:spPr>
          <a:xfrm>
            <a:off x="7584948" y="5298948"/>
            <a:ext cx="228600" cy="228600"/>
          </a:xfrm>
          <a:prstGeom prst="rect">
            <a:avLst/>
          </a:prstGeom>
        </p:spPr>
      </p:pic>
      <p:sp>
        <p:nvSpPr>
          <p:cNvPr id="36" name="Ethics text"/>
          <p:cNvSpPr txBox="1"/>
          <p:nvPr/>
        </p:nvSpPr>
        <p:spPr>
          <a:xfrm>
            <a:off x="8110728" y="5148072"/>
            <a:ext cx="3367735" cy="777240"/>
          </a:xfrm>
          <a:prstGeom prst="rect">
            <a:avLst/>
          </a:prstGeom>
          <a:noFill/>
          <a:ln/>
        </p:spPr>
        <p:txBody>
          <a:bodyPr wrap="square" lIns="0" tIns="0" rIns="0" bIns="0" rtlCol="0" anchor="t"/>
          <a:lstStyle/>
          <a:p>
            <a:pPr indent="0" marL="0">
              <a:spcAft>
                <a:spcPts val="300"/>
              </a:spcAft>
              <a:buNone/>
            </a:pPr>
            <a:r>
              <a:rPr lang="en-GB" altLang="en-US" sz="1400" b="1" dirty="0">
                <a:solidFill>
                  <a:schemeClr val="tx2"/>
                </a:solidFill>
              </a:rPr>
              <a:t>Ethics</a:t>
            </a:r>
            <a:endParaRPr lang="en-GB" sz="1400" dirty="0"/>
          </a:p>
          <a:p>
            <a:pPr indent="0" marL="0">
              <a:spcAft>
                <a:spcPts val="300"/>
              </a:spcAft>
              <a:buNone/>
            </a:pPr>
            <a:r>
              <a:rPr lang="en-GB" altLang="en-US" sz="1300" dirty="0">
                <a:solidFill>
                  <a:schemeClr val="tx1"/>
                </a:solidFill>
              </a:rPr>
              <a:t>Synthetic code, dummy secrets, documentation IPs; nothing deployed; no personal data.</a:t>
            </a:r>
            <a:endParaRPr lang="en-GB" sz="1400" dirty="0"/>
          </a:p>
        </p:txBody>
      </p:sp>
      <p:sp>
        <p:nvSpPr>
          <p:cNvPr id="25" name="Slide Number Placeholder 0"/>
          <p:cNvSpPr>
            <a:spLocks noGrp="1"/>
          </p:cNvSpPr>
          <p:nvPr>
            <p:ph type="sldNum" sz="quarter" idx="4294967295"/>
          </p:nvPr>
        </p:nvSpPr>
        <p:spPr>
          <a:xfrm>
            <a:off x="10104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defRPr>
            </a:lvl1pPr>
          </a:lstStyle>
          <a:p>
            <a:pPr algn="r"/>
            <a:fld id="{F7021451-1387-4CA6-816F-3879F97B5CBC}" type="slidenum">
              <a:rPr b="0" lang="en-GB"/>
              <a:t>5</a:t>
            </a:fld>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GB" altLang="en-US" sz="3600" b="1" dirty="0">
                <a:solidFill>
                  <a:schemeClr val="tx2"/>
                </a:solidFill>
              </a:rPr>
              <a:t>RQ1: the AI detected more than both scanners</a:t>
            </a:r>
            <a:endParaRPr lang="en-GB" sz="3600" dirty="0"/>
          </a:p>
        </p:txBody>
      </p:sp>
      <p:graphicFrame>
        <p:nvGraphicFramePr>
          <p:cNvPr id="3" name="Detection chart" descr=""/>
          <p:cNvGraphicFramePr/>
          <p:nvPr/>
        </p:nvGraphicFramePr>
        <p:xfrm>
          <a:off x="548640" y="1280160"/>
          <a:ext cx="5760720" cy="4434840"/>
        </p:xfrm>
        <a:graphic xmlns:a="http://schemas.openxmlformats.org/drawingml/2006/main">
          <a:graphicData uri="http://schemas.openxmlformats.org/drawingml/2006/chart">
            <c:chart xmlns:c="http://schemas.openxmlformats.org/drawingml/2006/chart" r:id="rId1"/>
          </a:graphicData>
        </a:graphic>
      </p:graphicFrame>
      <p:sp>
        <p:nvSpPr>
          <p:cNvPr id="4" name="Found only by the AI card"/>
          <p:cNvSpPr/>
          <p:nvPr/>
        </p:nvSpPr>
        <p:spPr>
          <a:xfrm>
            <a:off x="6629400" y="1325880"/>
            <a:ext cx="5013655" cy="1325880"/>
          </a:xfrm>
          <a:prstGeom prst="roundRect">
            <a:avLst>
              <a:gd name="adj" fmla="val 5517"/>
            </a:avLst>
          </a:prstGeom>
          <a:solidFill>
            <a:schemeClr val="bg2"/>
          </a:solidFill>
          <a:ln w="12700">
            <a:solidFill>
              <a:schemeClr val="bg2"/>
            </a:solidFill>
            <a:prstDash val="solid"/>
          </a:ln>
        </p:spPr>
      </p:sp>
      <p:sp>
        <p:nvSpPr>
          <p:cNvPr id="5" name="Found only by the AI circle"/>
          <p:cNvSpPr/>
          <p:nvPr/>
        </p:nvSpPr>
        <p:spPr>
          <a:xfrm>
            <a:off x="6830568" y="1527048"/>
            <a:ext cx="502920" cy="502920"/>
          </a:xfrm>
          <a:prstGeom prst="ellipse">
            <a:avLst/>
          </a:prstGeom>
          <a:solidFill>
            <a:schemeClr val="accent1"/>
          </a:solidFill>
          <a:ln w="12700">
            <a:solidFill>
              <a:schemeClr val="accent1"/>
            </a:solidFill>
            <a:prstDash val="solid"/>
          </a:ln>
        </p:spPr>
      </p:sp>
      <p:pic>
        <p:nvPicPr>
          <p:cNvPr id="6" name="Found only by the AI icon" descr="preencoded.png">    </p:cNvPr>
          <p:cNvPicPr>
            <a:picLocks noChangeAspect="1"/>
          </p:cNvPicPr>
          <p:nvPr/>
        </p:nvPicPr>
        <p:blipFill>
          <a:blip r:embed="rId2"/>
          <a:stretch>
            <a:fillRect/>
          </a:stretch>
        </p:blipFill>
        <p:spPr>
          <a:xfrm>
            <a:off x="6956298" y="1652778"/>
            <a:ext cx="251460" cy="251460"/>
          </a:xfrm>
          <a:prstGeom prst="rect">
            <a:avLst/>
          </a:prstGeom>
        </p:spPr>
      </p:pic>
      <p:sp>
        <p:nvSpPr>
          <p:cNvPr id="7" name="Found only by the AI text"/>
          <p:cNvSpPr txBox="1"/>
          <p:nvPr/>
        </p:nvSpPr>
        <p:spPr>
          <a:xfrm>
            <a:off x="7516368" y="1490472"/>
            <a:ext cx="3962095" cy="1051560"/>
          </a:xfrm>
          <a:prstGeom prst="rect">
            <a:avLst/>
          </a:prstGeom>
          <a:noFill/>
          <a:ln/>
        </p:spPr>
        <p:txBody>
          <a:bodyPr wrap="square" lIns="0" tIns="0" rIns="0" bIns="0" rtlCol="0" anchor="t"/>
          <a:lstStyle/>
          <a:p>
            <a:pPr indent="0" marL="0">
              <a:spcAft>
                <a:spcPts val="300"/>
              </a:spcAft>
              <a:buNone/>
            </a:pPr>
            <a:r>
              <a:rPr lang="en-GB" altLang="en-US" sz="1600" b="1" dirty="0">
                <a:solidFill>
                  <a:schemeClr val="tx2"/>
                </a:solidFill>
              </a:rPr>
              <a:t>Found only by the AI</a:t>
            </a:r>
            <a:endParaRPr lang="en-GB" sz="1400" dirty="0"/>
          </a:p>
          <a:p>
            <a:pPr indent="0" marL="0">
              <a:spcAft>
                <a:spcPts val="300"/>
              </a:spcAft>
              <a:buNone/>
            </a:pPr>
            <a:r>
              <a:rPr lang="en-GB" altLang="en-US" sz="1400" dirty="0">
                <a:solidFill>
                  <a:schemeClr val="tx1"/>
                </a:solidFill>
              </a:rPr>
              <a:t>TC09 and TC15 (hard-coded secrets) and TC13 (a role judged against a separate requirements file).</a:t>
            </a:r>
            <a:endParaRPr lang="en-GB" sz="1400" dirty="0"/>
          </a:p>
        </p:txBody>
      </p:sp>
      <p:sp>
        <p:nvSpPr>
          <p:cNvPr id="8" name="The scanners barely overlapped card"/>
          <p:cNvSpPr/>
          <p:nvPr/>
        </p:nvSpPr>
        <p:spPr>
          <a:xfrm>
            <a:off x="6629400" y="2788920"/>
            <a:ext cx="5013655" cy="1325880"/>
          </a:xfrm>
          <a:prstGeom prst="roundRect">
            <a:avLst>
              <a:gd name="adj" fmla="val 5517"/>
            </a:avLst>
          </a:prstGeom>
          <a:solidFill>
            <a:schemeClr val="bg2"/>
          </a:solidFill>
          <a:ln w="12700">
            <a:solidFill>
              <a:schemeClr val="bg2"/>
            </a:solidFill>
            <a:prstDash val="solid"/>
          </a:ln>
        </p:spPr>
      </p:sp>
      <p:sp>
        <p:nvSpPr>
          <p:cNvPr id="9" name="The scanners barely overlapped circle"/>
          <p:cNvSpPr/>
          <p:nvPr/>
        </p:nvSpPr>
        <p:spPr>
          <a:xfrm>
            <a:off x="6830568" y="2990088"/>
            <a:ext cx="502920" cy="502920"/>
          </a:xfrm>
          <a:prstGeom prst="ellipse">
            <a:avLst/>
          </a:prstGeom>
          <a:solidFill>
            <a:schemeClr val="accent2"/>
          </a:solidFill>
          <a:ln w="12700">
            <a:solidFill>
              <a:schemeClr val="accent2"/>
            </a:solidFill>
            <a:prstDash val="solid"/>
          </a:ln>
        </p:spPr>
      </p:sp>
      <p:pic>
        <p:nvPicPr>
          <p:cNvPr id="10" name="The scanners barely overlapped icon" descr="preencoded.png">    </p:cNvPr>
          <p:cNvPicPr>
            <a:picLocks noChangeAspect="1"/>
          </p:cNvPicPr>
          <p:nvPr/>
        </p:nvPicPr>
        <p:blipFill>
          <a:blip r:embed="rId3"/>
          <a:stretch>
            <a:fillRect/>
          </a:stretch>
        </p:blipFill>
        <p:spPr>
          <a:xfrm>
            <a:off x="6956298" y="3115818"/>
            <a:ext cx="251460" cy="251460"/>
          </a:xfrm>
          <a:prstGeom prst="rect">
            <a:avLst/>
          </a:prstGeom>
        </p:spPr>
      </p:pic>
      <p:sp>
        <p:nvSpPr>
          <p:cNvPr id="11" name="The scanners barely overlapped text"/>
          <p:cNvSpPr txBox="1"/>
          <p:nvPr/>
        </p:nvSpPr>
        <p:spPr>
          <a:xfrm>
            <a:off x="7516368" y="2953512"/>
            <a:ext cx="3962095" cy="1051560"/>
          </a:xfrm>
          <a:prstGeom prst="rect">
            <a:avLst/>
          </a:prstGeom>
          <a:noFill/>
          <a:ln/>
        </p:spPr>
        <p:txBody>
          <a:bodyPr wrap="square" lIns="0" tIns="0" rIns="0" bIns="0" rtlCol="0" anchor="t"/>
          <a:lstStyle/>
          <a:p>
            <a:pPr indent="0" marL="0">
              <a:spcAft>
                <a:spcPts val="300"/>
              </a:spcAft>
              <a:buNone/>
            </a:pPr>
            <a:r>
              <a:rPr lang="en-GB" altLang="en-US" sz="1600" b="1" dirty="0">
                <a:solidFill>
                  <a:schemeClr val="tx2"/>
                </a:solidFill>
              </a:rPr>
              <a:t>The scanners barely overlapped</a:t>
            </a:r>
            <a:endParaRPr lang="en-GB" sz="1400" dirty="0"/>
          </a:p>
          <a:p>
            <a:pPr indent="0" marL="0">
              <a:spcAft>
                <a:spcPts val="300"/>
              </a:spcAft>
              <a:buNone/>
            </a:pPr>
            <a:r>
              <a:rPr lang="en-GB" altLang="en-US" sz="1400" dirty="0">
                <a:solidFill>
                  <a:schemeClr val="tx1"/>
                </a:solidFill>
              </a:rPr>
              <a:t>Only TC07 was caught by both. Checkov passed rules open to 0.0.0.0/0 but failed the same rule written as *.</a:t>
            </a:r>
            <a:endParaRPr lang="en-GB" sz="1400" dirty="0"/>
          </a:p>
        </p:txBody>
      </p:sp>
      <p:sp>
        <p:nvSpPr>
          <p:cNvPr id="12" name="But the AI over-reported card"/>
          <p:cNvSpPr/>
          <p:nvPr/>
        </p:nvSpPr>
        <p:spPr>
          <a:xfrm>
            <a:off x="6629400" y="4251960"/>
            <a:ext cx="5013655" cy="1325880"/>
          </a:xfrm>
          <a:prstGeom prst="roundRect">
            <a:avLst>
              <a:gd name="adj" fmla="val 5517"/>
            </a:avLst>
          </a:prstGeom>
          <a:solidFill>
            <a:schemeClr val="bg2"/>
          </a:solidFill>
          <a:ln w="12700">
            <a:solidFill>
              <a:schemeClr val="bg2"/>
            </a:solidFill>
            <a:prstDash val="solid"/>
          </a:ln>
        </p:spPr>
      </p:sp>
      <p:sp>
        <p:nvSpPr>
          <p:cNvPr id="13" name="But the AI over-reported circle"/>
          <p:cNvSpPr/>
          <p:nvPr/>
        </p:nvSpPr>
        <p:spPr>
          <a:xfrm>
            <a:off x="6830568" y="4453128"/>
            <a:ext cx="502920" cy="502920"/>
          </a:xfrm>
          <a:prstGeom prst="ellipse">
            <a:avLst/>
          </a:prstGeom>
          <a:solidFill>
            <a:schemeClr val="accent5"/>
          </a:solidFill>
          <a:ln w="12700">
            <a:solidFill>
              <a:schemeClr val="accent5"/>
            </a:solidFill>
            <a:prstDash val="solid"/>
          </a:ln>
        </p:spPr>
      </p:sp>
      <p:pic>
        <p:nvPicPr>
          <p:cNvPr id="14" name="But the AI over-reported icon" descr="preencoded.png">    </p:cNvPr>
          <p:cNvPicPr>
            <a:picLocks noChangeAspect="1"/>
          </p:cNvPicPr>
          <p:nvPr/>
        </p:nvPicPr>
        <p:blipFill>
          <a:blip r:embed="rId4"/>
          <a:stretch>
            <a:fillRect/>
          </a:stretch>
        </p:blipFill>
        <p:spPr>
          <a:xfrm>
            <a:off x="6956298" y="4578858"/>
            <a:ext cx="251460" cy="251460"/>
          </a:xfrm>
          <a:prstGeom prst="rect">
            <a:avLst/>
          </a:prstGeom>
        </p:spPr>
      </p:pic>
      <p:sp>
        <p:nvSpPr>
          <p:cNvPr id="15" name="But the AI over-reported text"/>
          <p:cNvSpPr txBox="1"/>
          <p:nvPr/>
        </p:nvSpPr>
        <p:spPr>
          <a:xfrm>
            <a:off x="7516368" y="4416552"/>
            <a:ext cx="3962095" cy="1051560"/>
          </a:xfrm>
          <a:prstGeom prst="rect">
            <a:avLst/>
          </a:prstGeom>
          <a:noFill/>
          <a:ln/>
        </p:spPr>
        <p:txBody>
          <a:bodyPr wrap="square" lIns="0" tIns="0" rIns="0" bIns="0" rtlCol="0" anchor="t"/>
          <a:lstStyle/>
          <a:p>
            <a:pPr indent="0" marL="0">
              <a:spcAft>
                <a:spcPts val="300"/>
              </a:spcAft>
              <a:buNone/>
            </a:pPr>
            <a:r>
              <a:rPr lang="en-GB" altLang="en-US" sz="1600" b="1" dirty="0">
                <a:solidFill>
                  <a:schemeClr val="tx2"/>
                </a:solidFill>
              </a:rPr>
              <a:t>But the AI over-reported</a:t>
            </a:r>
            <a:endParaRPr lang="en-GB" sz="1400" dirty="0"/>
          </a:p>
          <a:p>
            <a:pPr indent="0" marL="0">
              <a:spcAft>
                <a:spcPts val="300"/>
              </a:spcAft>
              <a:buNone/>
            </a:pPr>
            <a:r>
              <a:rPr lang="en-GB" altLang="en-US" sz="1400" dirty="0">
                <a:solidFill>
                  <a:schemeClr val="tx1"/>
                </a:solidFill>
              </a:rPr>
              <a:t>3 of 9 runs on acceptable cases raised a finding. 82% of the 45 findings it posted were correct (89% if three fixture issues count).</a:t>
            </a:r>
            <a:endParaRPr lang="en-GB" sz="1400" dirty="0"/>
          </a:p>
        </p:txBody>
      </p:sp>
      <p:sp>
        <p:nvSpPr>
          <p:cNvPr id="16" name="Caveat"/>
          <p:cNvSpPr txBox="1"/>
          <p:nvPr/>
        </p:nvSpPr>
        <p:spPr>
          <a:xfrm>
            <a:off x="548640" y="5788152"/>
            <a:ext cx="11094415" cy="457200"/>
          </a:xfrm>
          <a:prstGeom prst="rect">
            <a:avLst/>
          </a:prstGeom>
          <a:noFill/>
          <a:ln/>
        </p:spPr>
        <p:txBody>
          <a:bodyPr wrap="square" lIns="0" tIns="0" rIns="0" bIns="0" rtlCol="0" anchor="t"/>
          <a:lstStyle/>
          <a:p>
            <a:pPr indent="0" marL="0">
              <a:buNone/>
            </a:pPr>
            <a:r>
              <a:rPr lang="en-GB" altLang="en-US" sz="1100" i="1" dirty="0">
                <a:solidFill>
                  <a:schemeClr val="accent6"/>
                </a:solidFill>
              </a:rPr>
              <a:t>Descriptive results for 15 constructed cases; the whole gap comes from TC09, TC13 and TC15, which no scanner rule covers. AI detection = target confirmed in every run (34 of 37 runs); TC08 partial = raised in all 4 runs, shown in 1.</a:t>
            </a:r>
            <a:endParaRPr lang="en-GB" sz="1100" dirty="0"/>
          </a:p>
        </p:txBody>
      </p:sp>
      <p:sp>
        <p:nvSpPr>
          <p:cNvPr id="25" name="Slide Number Placeholder 0"/>
          <p:cNvSpPr>
            <a:spLocks noGrp="1"/>
          </p:cNvSpPr>
          <p:nvPr>
            <p:ph type="sldNum" sz="quarter" idx="4294967295"/>
          </p:nvPr>
        </p:nvSpPr>
        <p:spPr>
          <a:xfrm>
            <a:off x="10104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defRPr>
            </a:lvl1pPr>
          </a:lstStyle>
          <a:p>
            <a:pPr algn="r"/>
            <a:fld id="{F7021451-1387-4CA6-816F-3879F97B5CBC}" type="slidenum">
              <a:rPr b="0" lang="en-GB"/>
              <a:t>6</a:t>
            </a:fld>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GB" altLang="en-US" sz="3600" b="1" dirty="0">
                <a:solidFill>
                  <a:schemeClr val="tx2"/>
                </a:solidFill>
              </a:rPr>
              <a:t>RQ2 and RQ3: useful advice, but some false claims</a:t>
            </a:r>
            <a:endParaRPr lang="en-GB" sz="3600" dirty="0"/>
          </a:p>
        </p:txBody>
      </p:sp>
      <p:sp>
        <p:nvSpPr>
          <p:cNvPr id="3" name="Label RQ2 · Did the AI’s fixes work?"/>
          <p:cNvSpPr txBox="1"/>
          <p:nvPr/>
        </p:nvSpPr>
        <p:spPr>
          <a:xfrm>
            <a:off x="548640" y="1325880"/>
            <a:ext cx="5166360" cy="256032"/>
          </a:xfrm>
          <a:prstGeom prst="rect">
            <a:avLst/>
          </a:prstGeom>
          <a:noFill/>
          <a:ln/>
        </p:spPr>
        <p:txBody>
          <a:bodyPr wrap="square" lIns="0" tIns="0" rIns="0" bIns="0" rtlCol="0" anchor="t"/>
          <a:lstStyle/>
          <a:p>
            <a:pPr indent="0" marL="0">
              <a:buNone/>
            </a:pPr>
            <a:r>
              <a:rPr lang="en-GB" altLang="en-US" sz="1200" b="1" spc="150" kern="0" dirty="0">
                <a:solidFill>
                  <a:schemeClr val="accent1"/>
                </a:solidFill>
              </a:rPr>
              <a:t>RQ2 · DID THE AI’S FIXES WORK?</a:t>
            </a:r>
            <a:endParaRPr lang="en-GB" sz="1200" dirty="0"/>
          </a:p>
        </p:txBody>
      </p:sp>
      <p:sp>
        <p:nvSpPr>
          <p:cNvPr id="4" name="Stat 12 / 12"/>
          <p:cNvSpPr txBox="1"/>
          <p:nvPr/>
        </p:nvSpPr>
        <p:spPr>
          <a:xfrm>
            <a:off x="548640" y="1691640"/>
            <a:ext cx="1691640" cy="777240"/>
          </a:xfrm>
          <a:prstGeom prst="rect">
            <a:avLst/>
          </a:prstGeom>
          <a:noFill/>
          <a:ln/>
        </p:spPr>
        <p:txBody>
          <a:bodyPr wrap="square" lIns="0" tIns="0" rIns="0" bIns="0" rtlCol="0" anchor="ctr"/>
          <a:lstStyle/>
          <a:p>
            <a:pPr indent="0" marL="0">
              <a:buNone/>
            </a:pPr>
            <a:r>
              <a:rPr lang="en-GB" altLang="en-US" sz="4000" b="1" dirty="0">
                <a:solidFill>
                  <a:schemeClr val="accent4"/>
                </a:solidFill>
              </a:rPr>
              <a:t>12 / 12</a:t>
            </a:r>
            <a:endParaRPr lang="en-GB" sz="4000" dirty="0"/>
          </a:p>
        </p:txBody>
      </p:sp>
      <p:sp>
        <p:nvSpPr>
          <p:cNvPr id="5" name="Stat label 1"/>
          <p:cNvSpPr txBox="1"/>
          <p:nvPr/>
        </p:nvSpPr>
        <p:spPr>
          <a:xfrm>
            <a:off x="2331720" y="1691640"/>
            <a:ext cx="3383280" cy="777240"/>
          </a:xfrm>
          <a:prstGeom prst="rect">
            <a:avLst/>
          </a:prstGeom>
          <a:noFill/>
          <a:ln/>
        </p:spPr>
        <p:txBody>
          <a:bodyPr wrap="square" lIns="0" tIns="0" rIns="0" bIns="0" rtlCol="0" anchor="ctr"/>
          <a:lstStyle/>
          <a:p>
            <a:pPr indent="0" marL="0">
              <a:buNone/>
            </a:pPr>
            <a:r>
              <a:rPr lang="en-GB" altLang="en-US" sz="1400" dirty="0">
                <a:solidFill>
                  <a:schemeClr val="tx1"/>
                </a:solidFill>
              </a:rPr>
              <a:t>fixes resolved the target and passed validation; 8 also confirmed by a scanner</a:t>
            </a:r>
            <a:endParaRPr lang="en-GB" sz="1400" dirty="0"/>
          </a:p>
        </p:txBody>
      </p:sp>
      <p:sp>
        <p:nvSpPr>
          <p:cNvPr id="6" name="Stat 9 / 12"/>
          <p:cNvSpPr txBox="1"/>
          <p:nvPr/>
        </p:nvSpPr>
        <p:spPr>
          <a:xfrm>
            <a:off x="548640" y="2770632"/>
            <a:ext cx="1691640" cy="777240"/>
          </a:xfrm>
          <a:prstGeom prst="rect">
            <a:avLst/>
          </a:prstGeom>
          <a:noFill/>
          <a:ln/>
        </p:spPr>
        <p:txBody>
          <a:bodyPr wrap="square" lIns="0" tIns="0" rIns="0" bIns="0" rtlCol="0" anchor="ctr"/>
          <a:lstStyle/>
          <a:p>
            <a:pPr indent="0" marL="0">
              <a:buNone/>
            </a:pPr>
            <a:r>
              <a:rPr lang="en-GB" altLang="en-US" sz="4000" b="1" dirty="0">
                <a:solidFill>
                  <a:schemeClr val="accent2"/>
                </a:solidFill>
              </a:rPr>
              <a:t>9 / 12</a:t>
            </a:r>
            <a:endParaRPr lang="en-GB" sz="4000" dirty="0"/>
          </a:p>
        </p:txBody>
      </p:sp>
      <p:sp>
        <p:nvSpPr>
          <p:cNvPr id="7" name="Stat label 2"/>
          <p:cNvSpPr txBox="1"/>
          <p:nvPr/>
        </p:nvSpPr>
        <p:spPr>
          <a:xfrm>
            <a:off x="2331720" y="2770632"/>
            <a:ext cx="3383280" cy="777240"/>
          </a:xfrm>
          <a:prstGeom prst="rect">
            <a:avLst/>
          </a:prstGeom>
          <a:noFill/>
          <a:ln/>
        </p:spPr>
        <p:txBody>
          <a:bodyPr wrap="square" lIns="0" tIns="0" rIns="0" bIns="0" rtlCol="0" anchor="ctr"/>
          <a:lstStyle/>
          <a:p>
            <a:pPr indent="0" marL="0">
              <a:buNone/>
            </a:pPr>
            <a:r>
              <a:rPr lang="en-GB" altLang="en-US" sz="1400" dirty="0">
                <a:solidFill>
                  <a:schemeClr val="tx1"/>
                </a:solidFill>
              </a:rPr>
              <a:t>fixes where a fresh AI review no longer raised the problem (a stale comment tripped two of the rest)</a:t>
            </a:r>
            <a:endParaRPr lang="en-GB" sz="1400" dirty="0"/>
          </a:p>
        </p:txBody>
      </p:sp>
      <p:sp>
        <p:nvSpPr>
          <p:cNvPr id="8" name="Stat 1"/>
          <p:cNvSpPr txBox="1"/>
          <p:nvPr/>
        </p:nvSpPr>
        <p:spPr>
          <a:xfrm>
            <a:off x="548640" y="3849624"/>
            <a:ext cx="1691640" cy="777240"/>
          </a:xfrm>
          <a:prstGeom prst="rect">
            <a:avLst/>
          </a:prstGeom>
          <a:noFill/>
          <a:ln/>
        </p:spPr>
        <p:txBody>
          <a:bodyPr wrap="square" lIns="0" tIns="0" rIns="0" bIns="0" rtlCol="0" anchor="ctr"/>
          <a:lstStyle/>
          <a:p>
            <a:pPr indent="0" marL="0">
              <a:buNone/>
            </a:pPr>
            <a:r>
              <a:rPr lang="en-GB" altLang="en-US" sz="4000" b="1" dirty="0">
                <a:solidFill>
                  <a:schemeClr val="accent1"/>
                </a:solidFill>
              </a:rPr>
              <a:t>1</a:t>
            </a:r>
            <a:endParaRPr lang="en-GB" sz="4000" dirty="0"/>
          </a:p>
        </p:txBody>
      </p:sp>
      <p:sp>
        <p:nvSpPr>
          <p:cNvPr id="9" name="Stat label 3"/>
          <p:cNvSpPr txBox="1"/>
          <p:nvPr/>
        </p:nvSpPr>
        <p:spPr>
          <a:xfrm>
            <a:off x="2331720" y="3849624"/>
            <a:ext cx="3383280" cy="777240"/>
          </a:xfrm>
          <a:prstGeom prst="rect">
            <a:avLst/>
          </a:prstGeom>
          <a:noFill/>
          <a:ln/>
        </p:spPr>
        <p:txBody>
          <a:bodyPr wrap="square" lIns="0" tIns="0" rIns="0" bIns="0" rtlCol="0" anchor="ctr"/>
          <a:lstStyle/>
          <a:p>
            <a:pPr indent="0" marL="0">
              <a:buNone/>
            </a:pPr>
            <a:r>
              <a:rPr lang="en-GB" altLang="en-US" sz="1400" dirty="0">
                <a:solidFill>
                  <a:schemeClr val="tx1"/>
                </a:solidFill>
              </a:rPr>
              <a:t>fix, for a false finding, made the Terraform invalid (TC10)</a:t>
            </a:r>
            <a:endParaRPr lang="en-GB" sz="1400" dirty="0"/>
          </a:p>
        </p:txBody>
      </p:sp>
      <p:sp>
        <p:nvSpPr>
          <p:cNvPr id="10" name="Validate error card"/>
          <p:cNvSpPr/>
          <p:nvPr/>
        </p:nvSpPr>
        <p:spPr>
          <a:xfrm>
            <a:off x="548640" y="5029200"/>
            <a:ext cx="5166360" cy="868680"/>
          </a:xfrm>
          <a:prstGeom prst="roundRect">
            <a:avLst>
              <a:gd name="adj" fmla="val 8421"/>
            </a:avLst>
          </a:prstGeom>
          <a:solidFill>
            <a:schemeClr val="bg2"/>
          </a:solidFill>
          <a:ln w="12700">
            <a:solidFill>
              <a:schemeClr val="bg2"/>
            </a:solidFill>
            <a:prstDash val="solid"/>
          </a:ln>
        </p:spPr>
      </p:sp>
      <p:sp>
        <p:nvSpPr>
          <p:cNvPr id="11" name="Validate error"/>
          <p:cNvSpPr txBox="1"/>
          <p:nvPr/>
        </p:nvSpPr>
        <p:spPr>
          <a:xfrm>
            <a:off x="731520" y="5029200"/>
            <a:ext cx="4800600" cy="868680"/>
          </a:xfrm>
          <a:prstGeom prst="rect">
            <a:avLst/>
          </a:prstGeom>
          <a:noFill/>
          <a:ln/>
        </p:spPr>
        <p:txBody>
          <a:bodyPr wrap="square" lIns="0" tIns="0" rIns="0" bIns="0" rtlCol="0" anchor="ctr"/>
          <a:lstStyle/>
          <a:p>
            <a:pPr indent="0" marL="0">
              <a:spcAft>
                <a:spcPts val="300"/>
              </a:spcAft>
              <a:buNone/>
            </a:pPr>
            <a:r>
              <a:rPr lang="en-GB" altLang="en-US" sz="1100" dirty="0">
                <a:solidFill>
                  <a:schemeClr val="accent6"/>
                </a:solidFill>
              </a:rPr>
              <a:t>terraform validate, after applying the AI’s tag fix to TC10</a:t>
            </a:r>
            <a:endParaRPr lang="en-GB" sz="1400" dirty="0"/>
          </a:p>
          <a:p>
            <a:pPr indent="0" marL="0">
              <a:spcAft>
                <a:spcPts val="300"/>
              </a:spcAft>
              <a:buNone/>
            </a:pPr>
            <a:r>
              <a:rPr lang="en-GB" altLang="en-US" sz="1300" b="1" dirty="0">
                <a:solidFill>
                  <a:schemeClr val="accent1"/>
                </a:solidFill>
                <a:latin typeface="Courier New" pitchFamily="34" charset="0"/>
                <a:ea typeface="Courier New" pitchFamily="34" charset="-122"/>
                <a:cs typeface="Courier New" pitchFamily="34" charset="-120"/>
              </a:rPr>
              <a:t>An argument named "tags" is not expected here</a:t>
            </a:r>
            <a:endParaRPr lang="en-GB" sz="1400" dirty="0"/>
          </a:p>
        </p:txBody>
      </p:sp>
      <p:sp>
        <p:nvSpPr>
          <p:cNvPr id="12" name="Label RQ3 · Likely impact on understanding"/>
          <p:cNvSpPr txBox="1"/>
          <p:nvPr/>
        </p:nvSpPr>
        <p:spPr>
          <a:xfrm>
            <a:off x="6172200" y="1325880"/>
            <a:ext cx="5470855" cy="256032"/>
          </a:xfrm>
          <a:prstGeom prst="rect">
            <a:avLst/>
          </a:prstGeom>
          <a:noFill/>
          <a:ln/>
        </p:spPr>
        <p:txBody>
          <a:bodyPr wrap="square" lIns="0" tIns="0" rIns="0" bIns="0" rtlCol="0" anchor="t"/>
          <a:lstStyle/>
          <a:p>
            <a:pPr indent="0" marL="0">
              <a:buNone/>
            </a:pPr>
            <a:r>
              <a:rPr lang="en-GB" altLang="en-US" sz="1200" b="1" spc="150" kern="0" dirty="0">
                <a:solidFill>
                  <a:schemeClr val="accent1"/>
                </a:solidFill>
              </a:rPr>
              <a:t>RQ3 · LIKELY IMPACT ON UNDERSTANDING</a:t>
            </a:r>
            <a:endParaRPr lang="en-GB" sz="1200" dirty="0"/>
          </a:p>
        </p:txBody>
      </p:sp>
      <p:graphicFrame>
        <p:nvGraphicFramePr>
          <p:cNvPr id="13" name="Rubric chart" descr=""/>
          <p:cNvGraphicFramePr/>
          <p:nvPr/>
        </p:nvGraphicFramePr>
        <p:xfrm>
          <a:off x="6172200" y="1600200"/>
          <a:ext cx="5470855" cy="2788920"/>
        </p:xfrm>
        <a:graphic xmlns:a="http://schemas.openxmlformats.org/drawingml/2006/main">
          <a:graphicData uri="http://schemas.openxmlformats.org/drawingml/2006/chart">
            <c:chart xmlns:c="http://schemas.openxmlformats.org/drawingml/2006/chart" r:id="rId1"/>
          </a:graphicData>
        </a:graphic>
      </p:graphicFrame>
      <p:sp>
        <p:nvSpPr>
          <p:cNvPr id="14" name="RQ3 takeaway"/>
          <p:cNvSpPr txBox="1"/>
          <p:nvPr/>
        </p:nvSpPr>
        <p:spPr>
          <a:xfrm>
            <a:off x="6172200" y="4526280"/>
            <a:ext cx="5470855" cy="1097280"/>
          </a:xfrm>
          <a:prstGeom prst="rect">
            <a:avLst/>
          </a:prstGeom>
          <a:noFill/>
          <a:ln/>
        </p:spPr>
        <p:txBody>
          <a:bodyPr wrap="square" lIns="0" tIns="0" rIns="0" bIns="0" rtlCol="0" anchor="t"/>
          <a:lstStyle/>
          <a:p>
            <a:pPr indent="0" marL="0">
              <a:buNone/>
            </a:pPr>
            <a:r>
              <a:rPr lang="en-GB" altLang="en-US" sz="1400" dirty="0">
                <a:solidFill>
                  <a:schemeClr val="tx1"/>
                </a:solidFill>
              </a:rPr>
              <a:t>Plain-language, code-specific explanations of what, why and how to fix, versus a rule ID and one generic line from the scanners: a likely positive effect. </a:t>
            </a:r>
            <a:pPr indent="0" marL="0">
              <a:buNone/>
            </a:pPr>
            <a:r>
              <a:rPr lang="en-GB" altLang="en-US" sz="1400" b="1" dirty="0">
                <a:solidFill>
                  <a:schemeClr val="accent1"/>
                </a:solidFill>
              </a:rPr>
              <a:t>Risk: </a:t>
            </a:r>
            <a:pPr indent="0" marL="0">
              <a:buNone/>
            </a:pPr>
            <a:r>
              <a:rPr lang="en-GB" altLang="en-US" sz="1400" dirty="0">
                <a:solidFill>
                  <a:schemeClr val="tx1"/>
                </a:solidFill>
              </a:rPr>
              <a:t>accuracy scored lowest, as confident false platform claims could be learned as fact (Ji et al., 2023).</a:t>
            </a:r>
            <a:endParaRPr lang="en-GB" sz="1400" dirty="0"/>
          </a:p>
        </p:txBody>
      </p:sp>
      <p:sp>
        <p:nvSpPr>
          <p:cNvPr id="15" name="Scoring caveat"/>
          <p:cNvSpPr txBox="1"/>
          <p:nvPr/>
        </p:nvSpPr>
        <p:spPr>
          <a:xfrm>
            <a:off x="6172200" y="5687568"/>
            <a:ext cx="5470855" cy="274320"/>
          </a:xfrm>
          <a:prstGeom prst="rect">
            <a:avLst/>
          </a:prstGeom>
          <a:noFill/>
          <a:ln/>
        </p:spPr>
        <p:txBody>
          <a:bodyPr wrap="square" lIns="0" tIns="0" rIns="0" bIns="0" rtlCol="0" anchor="t"/>
          <a:lstStyle/>
          <a:p>
            <a:pPr indent="0" marL="0">
              <a:buNone/>
            </a:pPr>
            <a:r>
              <a:rPr lang="en-GB" altLang="en-US" sz="1100" i="1" dirty="0">
                <a:solidFill>
                  <a:schemeClr val="accent6"/>
                </a:solidFill>
              </a:rPr>
              <a:t>Scores: single rater with AI assistance; every score’s justification is recorded.</a:t>
            </a:r>
            <a:endParaRPr lang="en-GB" sz="1100" dirty="0"/>
          </a:p>
        </p:txBody>
      </p:sp>
      <p:sp>
        <p:nvSpPr>
          <p:cNvPr id="25" name="Slide Number Placeholder 0"/>
          <p:cNvSpPr>
            <a:spLocks noGrp="1"/>
          </p:cNvSpPr>
          <p:nvPr>
            <p:ph type="sldNum" sz="quarter" idx="4294967295"/>
          </p:nvPr>
        </p:nvSpPr>
        <p:spPr>
          <a:xfrm>
            <a:off x="10104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defRPr>
            </a:lvl1pPr>
          </a:lstStyle>
          <a:p>
            <a:pPr algn="r"/>
            <a:fld id="{F7021451-1387-4CA6-816F-3879F97B5CBC}" type="slidenum">
              <a:rPr b="0" lang="en-GB"/>
              <a:t>7</a:t>
            </a:fld>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GB" altLang="en-US" sz="3600" b="1" dirty="0">
                <a:solidFill>
                  <a:schemeClr val="tx2"/>
                </a:solidFill>
              </a:rPr>
              <a:t>RQ4: code comments changed the AI’s verdict</a:t>
            </a:r>
            <a:endParaRPr lang="en-GB" sz="3600" dirty="0"/>
          </a:p>
        </p:txBody>
      </p:sp>
      <p:sp>
        <p:nvSpPr>
          <p:cNvPr id="3" name="(a) card"/>
          <p:cNvSpPr/>
          <p:nvPr/>
        </p:nvSpPr>
        <p:spPr>
          <a:xfrm>
            <a:off x="548640" y="1325880"/>
            <a:ext cx="6446520" cy="1965960"/>
          </a:xfrm>
          <a:prstGeom prst="roundRect">
            <a:avLst>
              <a:gd name="adj" fmla="val 3721"/>
            </a:avLst>
          </a:prstGeom>
          <a:solidFill>
            <a:schemeClr val="bg1"/>
          </a:solidFill>
          <a:ln w="12700">
            <a:solidFill>
              <a:srgbClr val="D3DAE2"/>
            </a:solidFill>
            <a:prstDash val="solid"/>
          </a:ln>
          <a:effectLst>
            <a:outerShdw sx="100000" sy="100000" kx="0" ky="0" algn="bl" rotWithShape="0" blurRad="88900" dist="25400" dir="5400000">
              <a:srgbClr val="000000">
                <a:alpha val="13000"/>
              </a:srgbClr>
            </a:outerShdw>
          </a:effectLst>
        </p:spPr>
      </p:sp>
      <p:sp>
        <p:nvSpPr>
          <p:cNvPr id="4" name="(a) heading"/>
          <p:cNvSpPr txBox="1"/>
          <p:nvPr/>
        </p:nvSpPr>
        <p:spPr>
          <a:xfrm>
            <a:off x="777240" y="1453896"/>
            <a:ext cx="5989320" cy="292608"/>
          </a:xfrm>
          <a:prstGeom prst="rect">
            <a:avLst/>
          </a:prstGeom>
          <a:noFill/>
          <a:ln/>
        </p:spPr>
        <p:txBody>
          <a:bodyPr wrap="square" lIns="0" tIns="0" rIns="0" bIns="0" rtlCol="0" anchor="t"/>
          <a:lstStyle/>
          <a:p>
            <a:pPr indent="0" marL="0">
              <a:buNone/>
            </a:pPr>
            <a:r>
              <a:rPr lang="en-GB" altLang="en-US" sz="1500" b="1" dirty="0">
                <a:solidFill>
                  <a:schemeClr val="accent1"/>
                </a:solidFill>
              </a:rPr>
              <a:t>(a)  </a:t>
            </a:r>
            <a:pPr indent="0" marL="0">
              <a:buNone/>
            </a:pPr>
            <a:r>
              <a:rPr lang="en-GB" altLang="en-US" sz="1500" b="1" dirty="0">
                <a:solidFill>
                  <a:schemeClr val="tx2"/>
                </a:solidFill>
              </a:rPr>
              <a:t>AI’s own fix, old comment left in place · PR #85</a:t>
            </a:r>
            <a:endParaRPr lang="en-GB" sz="1500" dirty="0"/>
          </a:p>
        </p:txBody>
      </p:sp>
      <p:sp>
        <p:nvSpPr>
          <p:cNvPr id="5" name="(a) code box"/>
          <p:cNvSpPr/>
          <p:nvPr/>
        </p:nvSpPr>
        <p:spPr>
          <a:xfrm>
            <a:off x="777240" y="1801368"/>
            <a:ext cx="5989320" cy="502920"/>
          </a:xfrm>
          <a:prstGeom prst="roundRect">
            <a:avLst>
              <a:gd name="adj" fmla="val 7273"/>
            </a:avLst>
          </a:prstGeom>
          <a:solidFill>
            <a:schemeClr val="bg2"/>
          </a:solidFill>
          <a:ln w="12700">
            <a:solidFill>
              <a:schemeClr val="bg2"/>
            </a:solidFill>
            <a:prstDash val="solid"/>
          </a:ln>
        </p:spPr>
      </p:sp>
      <p:sp>
        <p:nvSpPr>
          <p:cNvPr id="6" name="(a) code"/>
          <p:cNvSpPr txBox="1"/>
          <p:nvPr/>
        </p:nvSpPr>
        <p:spPr>
          <a:xfrm>
            <a:off x="914400" y="1801368"/>
            <a:ext cx="5715000" cy="502920"/>
          </a:xfrm>
          <a:prstGeom prst="rect">
            <a:avLst/>
          </a:prstGeom>
          <a:noFill/>
          <a:ln/>
        </p:spPr>
        <p:txBody>
          <a:bodyPr wrap="square" lIns="0" tIns="0" rIns="0" bIns="0" rtlCol="0" anchor="ctr"/>
          <a:lstStyle/>
          <a:p>
            <a:pPr indent="0" marL="0">
              <a:buNone/>
            </a:pPr>
            <a:r>
              <a:rPr lang="en-GB" altLang="en-US" sz="1100" dirty="0">
                <a:solidFill>
                  <a:schemeClr val="accent4"/>
                </a:solidFill>
                <a:latin typeface="Courier New" pitchFamily="34" charset="0"/>
                <a:ea typeface="Courier New" pitchFamily="34" charset="-122"/>
                <a:cs typeface="Courier New" pitchFamily="34" charset="-120"/>
              </a:rPr>
              <a:t># TC02: Deliberately unrestricted SSH access</a:t>
            </a:r>
            <a:endParaRPr lang="en-GB" sz="1100" dirty="0"/>
          </a:p>
          <a:p>
            <a:pPr indent="0" marL="0">
              <a:buNone/>
            </a:pPr>
            <a:r>
              <a:rPr lang="en-GB" altLang="en-US" sz="1100" dirty="0">
                <a:solidFill>
                  <a:schemeClr val="tx1"/>
                </a:solidFill>
                <a:latin typeface="Courier New" pitchFamily="34" charset="0"/>
                <a:ea typeface="Courier New" pitchFamily="34" charset="-122"/>
                <a:cs typeface="Courier New" pitchFamily="34" charset="-120"/>
              </a:rPr>
              <a:t>source_address_prefix = "203.0.113.10/32"</a:t>
            </a:r>
            <a:endParaRPr lang="en-GB" sz="1100" dirty="0"/>
          </a:p>
        </p:txBody>
      </p:sp>
      <p:sp>
        <p:nvSpPr>
          <p:cNvPr id="7" name="(a) verdict pill"/>
          <p:cNvSpPr/>
          <p:nvPr/>
        </p:nvSpPr>
        <p:spPr>
          <a:xfrm>
            <a:off x="777240" y="2487168"/>
            <a:ext cx="1417320" cy="329184"/>
          </a:xfrm>
          <a:prstGeom prst="roundRect">
            <a:avLst>
              <a:gd name="adj" fmla="val 50000"/>
            </a:avLst>
          </a:prstGeom>
          <a:solidFill>
            <a:schemeClr val="accent1"/>
          </a:solidFill>
          <a:ln w="12700">
            <a:solidFill>
              <a:schemeClr val="accent1"/>
            </a:solidFill>
            <a:prstDash val="solid"/>
          </a:ln>
        </p:spPr>
      </p:sp>
      <p:sp>
        <p:nvSpPr>
          <p:cNvPr id="8" name="(a) verdict"/>
          <p:cNvSpPr txBox="1"/>
          <p:nvPr/>
        </p:nvSpPr>
        <p:spPr>
          <a:xfrm>
            <a:off x="777240" y="2487168"/>
            <a:ext cx="1417320" cy="329184"/>
          </a:xfrm>
          <a:prstGeom prst="rect">
            <a:avLst/>
          </a:prstGeom>
          <a:noFill/>
          <a:ln/>
        </p:spPr>
        <p:txBody>
          <a:bodyPr wrap="square" lIns="0" tIns="0" rIns="0" bIns="0" rtlCol="0" anchor="ctr"/>
          <a:lstStyle/>
          <a:p>
            <a:pPr algn="ctr" indent="0" marL="0">
              <a:buNone/>
            </a:pPr>
            <a:r>
              <a:rPr lang="en-GB" altLang="en-US" sz="1200" b="1" dirty="0">
                <a:solidFill>
                  <a:schemeClr val="bg1"/>
                </a:solidFill>
              </a:rPr>
              <a:t>HIGH · 70/100</a:t>
            </a:r>
            <a:endParaRPr lang="en-GB" sz="1200" dirty="0"/>
          </a:p>
        </p:txBody>
      </p:sp>
      <p:sp>
        <p:nvSpPr>
          <p:cNvPr id="9" name="(a) finding"/>
          <p:cNvSpPr txBox="1"/>
          <p:nvPr/>
        </p:nvSpPr>
        <p:spPr>
          <a:xfrm>
            <a:off x="2377440" y="2450592"/>
            <a:ext cx="4389120" cy="749808"/>
          </a:xfrm>
          <a:prstGeom prst="rect">
            <a:avLst/>
          </a:prstGeom>
          <a:noFill/>
          <a:ln/>
        </p:spPr>
        <p:txBody>
          <a:bodyPr wrap="square" lIns="0" tIns="0" rIns="0" bIns="0" rtlCol="0" anchor="t"/>
          <a:lstStyle/>
          <a:p>
            <a:pPr indent="0" marL="0">
              <a:buNone/>
            </a:pPr>
            <a:r>
              <a:rPr lang="en-GB" altLang="en-US" sz="1300" dirty="0">
                <a:solidFill>
                  <a:schemeClr val="tx1"/>
                </a:solidFill>
              </a:rPr>
              <a:t>“SSH allow rule references a documentation-reserved (RFC 5737 TEST-NET-3) source address”</a:t>
            </a:r>
            <a:endParaRPr lang="en-GB" sz="1300" dirty="0"/>
          </a:p>
          <a:p>
            <a:pPr indent="0" marL="0">
              <a:buNone/>
            </a:pPr>
            <a:r>
              <a:rPr lang="en-GB" altLang="en-US" sz="1200" i="1" dirty="0">
                <a:solidFill>
                  <a:schemeClr val="accent6"/>
                </a:solidFill>
              </a:rPr>
              <a:t>…and it quoted the stale comment as evidence</a:t>
            </a:r>
            <a:endParaRPr lang="en-GB" sz="1300" dirty="0"/>
          </a:p>
        </p:txBody>
      </p:sp>
      <p:sp>
        <p:nvSpPr>
          <p:cNvPr id="10" name="(b) card"/>
          <p:cNvSpPr/>
          <p:nvPr/>
        </p:nvSpPr>
        <p:spPr>
          <a:xfrm>
            <a:off x="548640" y="3429000"/>
            <a:ext cx="6446520" cy="2240280"/>
          </a:xfrm>
          <a:prstGeom prst="roundRect">
            <a:avLst>
              <a:gd name="adj" fmla="val 3265"/>
            </a:avLst>
          </a:prstGeom>
          <a:solidFill>
            <a:schemeClr val="bg1"/>
          </a:solidFill>
          <a:ln w="12700">
            <a:solidFill>
              <a:srgbClr val="D3DAE2"/>
            </a:solidFill>
            <a:prstDash val="solid"/>
          </a:ln>
          <a:effectLst>
            <a:outerShdw sx="100000" sy="100000" kx="0" ky="0" algn="bl" rotWithShape="0" blurRad="88900" dist="25400" dir="5400000">
              <a:srgbClr val="000000">
                <a:alpha val="13000"/>
              </a:srgbClr>
            </a:outerShdw>
          </a:effectLst>
        </p:spPr>
      </p:sp>
      <p:sp>
        <p:nvSpPr>
          <p:cNvPr id="11" name="(b) heading"/>
          <p:cNvSpPr txBox="1"/>
          <p:nvPr/>
        </p:nvSpPr>
        <p:spPr>
          <a:xfrm>
            <a:off x="777240" y="3557016"/>
            <a:ext cx="5989320" cy="292608"/>
          </a:xfrm>
          <a:prstGeom prst="rect">
            <a:avLst/>
          </a:prstGeom>
          <a:noFill/>
          <a:ln/>
        </p:spPr>
        <p:txBody>
          <a:bodyPr wrap="square" lIns="0" tIns="0" rIns="0" bIns="0" rtlCol="0" anchor="t"/>
          <a:lstStyle/>
          <a:p>
            <a:pPr indent="0" marL="0">
              <a:buNone/>
            </a:pPr>
            <a:r>
              <a:rPr lang="en-GB" altLang="en-US" sz="1500" b="1" dirty="0">
                <a:solidFill>
                  <a:schemeClr val="accent1"/>
                </a:solidFill>
              </a:rPr>
              <a:t>(b)  </a:t>
            </a:r>
            <a:pPr indent="0" marL="0">
              <a:buNone/>
            </a:pPr>
            <a:r>
              <a:rPr lang="en-GB" altLang="en-US" sz="1500" b="1" dirty="0">
                <a:solidFill>
                  <a:schemeClr val="tx2"/>
                </a:solidFill>
              </a:rPr>
              <a:t>Same fix, only the comment corrected · PR #98</a:t>
            </a:r>
            <a:endParaRPr lang="en-GB" sz="1500" dirty="0"/>
          </a:p>
        </p:txBody>
      </p:sp>
      <p:sp>
        <p:nvSpPr>
          <p:cNvPr id="12" name="(b) code box"/>
          <p:cNvSpPr/>
          <p:nvPr/>
        </p:nvSpPr>
        <p:spPr>
          <a:xfrm>
            <a:off x="777240" y="3904488"/>
            <a:ext cx="5989320" cy="713232"/>
          </a:xfrm>
          <a:prstGeom prst="roundRect">
            <a:avLst>
              <a:gd name="adj" fmla="val 5128"/>
            </a:avLst>
          </a:prstGeom>
          <a:solidFill>
            <a:schemeClr val="bg2"/>
          </a:solidFill>
          <a:ln w="12700">
            <a:solidFill>
              <a:schemeClr val="bg2"/>
            </a:solidFill>
            <a:prstDash val="solid"/>
          </a:ln>
        </p:spPr>
      </p:sp>
      <p:sp>
        <p:nvSpPr>
          <p:cNvPr id="13" name="(b) code"/>
          <p:cNvSpPr txBox="1"/>
          <p:nvPr/>
        </p:nvSpPr>
        <p:spPr>
          <a:xfrm>
            <a:off x="914400" y="3904488"/>
            <a:ext cx="5715000" cy="713232"/>
          </a:xfrm>
          <a:prstGeom prst="rect">
            <a:avLst/>
          </a:prstGeom>
          <a:noFill/>
          <a:ln/>
        </p:spPr>
        <p:txBody>
          <a:bodyPr wrap="square" lIns="0" tIns="0" rIns="0" bIns="0" rtlCol="0" anchor="ctr"/>
          <a:lstStyle/>
          <a:p>
            <a:pPr indent="0" marL="0">
              <a:buNone/>
            </a:pPr>
            <a:r>
              <a:rPr lang="en-GB" altLang="en-US" sz="1100" dirty="0">
                <a:solidFill>
                  <a:schemeClr val="accent4"/>
                </a:solidFill>
                <a:latin typeface="Courier New" pitchFamily="34" charset="0"/>
                <a:ea typeface="Courier New" pitchFamily="34" charset="-122"/>
                <a:cs typeface="Courier New" pitchFamily="34" charset="-120"/>
              </a:rPr>
              <a:t># TC02 remediated: SSH restricted to the approved administration address.</a:t>
            </a:r>
            <a:endParaRPr lang="en-GB" sz="1100" dirty="0"/>
          </a:p>
          <a:p>
            <a:pPr indent="0" marL="0">
              <a:buNone/>
            </a:pPr>
            <a:r>
              <a:rPr lang="en-GB" altLang="en-US" sz="1100" dirty="0">
                <a:solidFill>
                  <a:schemeClr val="tx1"/>
                </a:solidFill>
                <a:latin typeface="Courier New" pitchFamily="34" charset="0"/>
                <a:ea typeface="Courier New" pitchFamily="34" charset="-122"/>
                <a:cs typeface="Courier New" pitchFamily="34" charset="-120"/>
              </a:rPr>
              <a:t>source_address_prefix = "203.0.113.10/32"</a:t>
            </a:r>
            <a:endParaRPr lang="en-GB" sz="1100" dirty="0"/>
          </a:p>
        </p:txBody>
      </p:sp>
      <p:sp>
        <p:nvSpPr>
          <p:cNvPr id="14" name="(b) verdict pill"/>
          <p:cNvSpPr/>
          <p:nvPr/>
        </p:nvSpPr>
        <p:spPr>
          <a:xfrm>
            <a:off x="777240" y="4800600"/>
            <a:ext cx="1417320" cy="329184"/>
          </a:xfrm>
          <a:prstGeom prst="roundRect">
            <a:avLst>
              <a:gd name="adj" fmla="val 50000"/>
            </a:avLst>
          </a:prstGeom>
          <a:solidFill>
            <a:schemeClr val="accent4"/>
          </a:solidFill>
          <a:ln w="12700">
            <a:solidFill>
              <a:schemeClr val="accent4"/>
            </a:solidFill>
            <a:prstDash val="solid"/>
          </a:ln>
        </p:spPr>
      </p:sp>
      <p:sp>
        <p:nvSpPr>
          <p:cNvPr id="15" name="(b) verdict"/>
          <p:cNvSpPr txBox="1"/>
          <p:nvPr/>
        </p:nvSpPr>
        <p:spPr>
          <a:xfrm>
            <a:off x="777240" y="4800600"/>
            <a:ext cx="1417320" cy="329184"/>
          </a:xfrm>
          <a:prstGeom prst="rect">
            <a:avLst/>
          </a:prstGeom>
          <a:noFill/>
          <a:ln/>
        </p:spPr>
        <p:txBody>
          <a:bodyPr wrap="square" lIns="0" tIns="0" rIns="0" bIns="0" rtlCol="0" anchor="ctr"/>
          <a:lstStyle/>
          <a:p>
            <a:pPr algn="ctr" indent="0" marL="0">
              <a:buNone/>
            </a:pPr>
            <a:r>
              <a:rPr lang="en-GB" altLang="en-US" sz="1200" b="1" dirty="0">
                <a:solidFill>
                  <a:schemeClr val="bg1"/>
                </a:solidFill>
              </a:rPr>
              <a:t>LOW · 95/100</a:t>
            </a:r>
            <a:endParaRPr lang="en-GB" sz="1200" dirty="0"/>
          </a:p>
        </p:txBody>
      </p:sp>
      <p:sp>
        <p:nvSpPr>
          <p:cNvPr id="16" name="(b) finding"/>
          <p:cNvSpPr txBox="1"/>
          <p:nvPr/>
        </p:nvSpPr>
        <p:spPr>
          <a:xfrm>
            <a:off x="2377440" y="4764024"/>
            <a:ext cx="4389120" cy="813816"/>
          </a:xfrm>
          <a:prstGeom prst="rect">
            <a:avLst/>
          </a:prstGeom>
          <a:noFill/>
          <a:ln/>
        </p:spPr>
        <p:txBody>
          <a:bodyPr wrap="square" lIns="0" tIns="0" rIns="0" bIns="0" rtlCol="0" anchor="t"/>
          <a:lstStyle/>
          <a:p>
            <a:pPr indent="0" marL="0">
              <a:buNone/>
            </a:pPr>
            <a:r>
              <a:rPr lang="en-GB" altLang="en-US" sz="1300" dirty="0">
                <a:solidFill>
                  <a:schemeClr val="tx1"/>
                </a:solidFill>
              </a:rPr>
              <a:t>“SSH allow rule applies to all subnet destinations rather than a specific target resource”</a:t>
            </a:r>
            <a:endParaRPr lang="en-GB" sz="1300" dirty="0"/>
          </a:p>
          <a:p>
            <a:pPr indent="0" marL="0">
              <a:buNone/>
            </a:pPr>
            <a:r>
              <a:rPr lang="en-GB" altLang="en-US" sz="1200" i="1" dirty="0">
                <a:solidFill>
                  <a:schemeClr val="accent6"/>
                </a:solidFill>
              </a:rPr>
              <a:t>Verdict: APPROVE</a:t>
            </a:r>
            <a:endParaRPr lang="en-GB" sz="1300" dirty="0"/>
          </a:p>
        </p:txBody>
      </p:sp>
      <p:sp>
        <p:nvSpPr>
          <p:cNvPr id="17" name="Comment caption"/>
          <p:cNvSpPr txBox="1"/>
          <p:nvPr/>
        </p:nvSpPr>
        <p:spPr>
          <a:xfrm>
            <a:off x="548640" y="5742432"/>
            <a:ext cx="6446520" cy="411480"/>
          </a:xfrm>
          <a:prstGeom prst="rect">
            <a:avLst/>
          </a:prstGeom>
          <a:noFill/>
          <a:ln/>
        </p:spPr>
        <p:txBody>
          <a:bodyPr wrap="square" lIns="0" tIns="0" rIns="0" bIns="0" rtlCol="0" anchor="t"/>
          <a:lstStyle/>
          <a:p>
            <a:pPr indent="0" marL="0">
              <a:buNone/>
            </a:pPr>
            <a:r>
              <a:rPr lang="en-GB" altLang="en-US" sz="1100" i="1" dirty="0">
                <a:solidFill>
                  <a:schemeClr val="accent6"/>
                </a:solidFill>
              </a:rPr>
              <a:t>Same Terraform, different comment, different verdict (one review each; TC03 behaved the same way). Comments are untrusted input (Greshake et al., 2023). Figure 4.6.</a:t>
            </a:r>
            <a:endParaRPr lang="en-GB" sz="1100" dirty="0"/>
          </a:p>
        </p:txBody>
      </p:sp>
      <p:sp>
        <p:nvSpPr>
          <p:cNvPr id="18" name="Same input, different answers card"/>
          <p:cNvSpPr/>
          <p:nvPr/>
        </p:nvSpPr>
        <p:spPr>
          <a:xfrm>
            <a:off x="7269480" y="1325880"/>
            <a:ext cx="4373575" cy="1325880"/>
          </a:xfrm>
          <a:prstGeom prst="roundRect">
            <a:avLst>
              <a:gd name="adj" fmla="val 5517"/>
            </a:avLst>
          </a:prstGeom>
          <a:solidFill>
            <a:schemeClr val="bg2"/>
          </a:solidFill>
          <a:ln w="12700">
            <a:solidFill>
              <a:schemeClr val="bg2"/>
            </a:solidFill>
            <a:prstDash val="solid"/>
          </a:ln>
        </p:spPr>
      </p:sp>
      <p:sp>
        <p:nvSpPr>
          <p:cNvPr id="19" name="Same input, different answers circle"/>
          <p:cNvSpPr/>
          <p:nvPr/>
        </p:nvSpPr>
        <p:spPr>
          <a:xfrm>
            <a:off x="7470648" y="1527048"/>
            <a:ext cx="475488" cy="475488"/>
          </a:xfrm>
          <a:prstGeom prst="ellipse">
            <a:avLst/>
          </a:prstGeom>
          <a:solidFill>
            <a:schemeClr val="accent5"/>
          </a:solidFill>
          <a:ln w="12700">
            <a:solidFill>
              <a:schemeClr val="accent5"/>
            </a:solidFill>
            <a:prstDash val="solid"/>
          </a:ln>
        </p:spPr>
      </p:sp>
      <p:pic>
        <p:nvPicPr>
          <p:cNvPr id="20" name="Same input, different answers icon" descr="preencoded.png">    </p:cNvPr>
          <p:cNvPicPr>
            <a:picLocks noChangeAspect="1"/>
          </p:cNvPicPr>
          <p:nvPr/>
        </p:nvPicPr>
        <p:blipFill>
          <a:blip r:embed="rId1"/>
          <a:stretch>
            <a:fillRect/>
          </a:stretch>
        </p:blipFill>
        <p:spPr>
          <a:xfrm>
            <a:off x="7589520" y="1645920"/>
            <a:ext cx="237744" cy="237744"/>
          </a:xfrm>
          <a:prstGeom prst="rect">
            <a:avLst/>
          </a:prstGeom>
        </p:spPr>
      </p:pic>
      <p:sp>
        <p:nvSpPr>
          <p:cNvPr id="21" name="Same input, different answers text"/>
          <p:cNvSpPr txBox="1"/>
          <p:nvPr/>
        </p:nvSpPr>
        <p:spPr>
          <a:xfrm>
            <a:off x="8129016" y="1490472"/>
            <a:ext cx="3349447" cy="1051560"/>
          </a:xfrm>
          <a:prstGeom prst="rect">
            <a:avLst/>
          </a:prstGeom>
          <a:noFill/>
          <a:ln/>
        </p:spPr>
        <p:txBody>
          <a:bodyPr wrap="square" lIns="0" tIns="0" rIns="0" bIns="0" rtlCol="0" anchor="t"/>
          <a:lstStyle/>
          <a:p>
            <a:pPr indent="0" marL="0">
              <a:spcAft>
                <a:spcPts val="300"/>
              </a:spcAft>
              <a:buNone/>
            </a:pPr>
            <a:r>
              <a:rPr lang="en-GB" altLang="en-US" sz="1500" b="1" dirty="0">
                <a:solidFill>
                  <a:schemeClr val="tx2"/>
                </a:solidFill>
              </a:rPr>
              <a:t>Same input, different answers</a:t>
            </a:r>
            <a:endParaRPr lang="en-GB" sz="1400" dirty="0"/>
          </a:p>
          <a:p>
            <a:pPr indent="0" marL="0">
              <a:spcAft>
                <a:spcPts val="300"/>
              </a:spcAft>
              <a:buNone/>
            </a:pPr>
            <a:r>
              <a:rPr lang="en-GB" altLang="en-US" sz="1400" dirty="0">
                <a:solidFill>
                  <a:schemeClr val="tx1"/>
                </a:solidFill>
              </a:rPr>
              <a:t>TC08 classified three ways in four runs; TC05 rated HIGH, HIGH, MEDIUM (Ouyang et al., 2025).</a:t>
            </a:r>
            <a:endParaRPr lang="en-GB" sz="1400" dirty="0"/>
          </a:p>
        </p:txBody>
      </p:sp>
      <p:sp>
        <p:nvSpPr>
          <p:cNvPr id="22" name="Findings hidden or skipped card"/>
          <p:cNvSpPr/>
          <p:nvPr/>
        </p:nvSpPr>
        <p:spPr>
          <a:xfrm>
            <a:off x="7269480" y="2788920"/>
            <a:ext cx="4373575" cy="1325880"/>
          </a:xfrm>
          <a:prstGeom prst="roundRect">
            <a:avLst>
              <a:gd name="adj" fmla="val 5517"/>
            </a:avLst>
          </a:prstGeom>
          <a:solidFill>
            <a:schemeClr val="bg2"/>
          </a:solidFill>
          <a:ln w="12700">
            <a:solidFill>
              <a:schemeClr val="bg2"/>
            </a:solidFill>
            <a:prstDash val="solid"/>
          </a:ln>
        </p:spPr>
      </p:sp>
      <p:sp>
        <p:nvSpPr>
          <p:cNvPr id="23" name="Findings hidden or skipped circle"/>
          <p:cNvSpPr/>
          <p:nvPr/>
        </p:nvSpPr>
        <p:spPr>
          <a:xfrm>
            <a:off x="7470648" y="2990088"/>
            <a:ext cx="475488" cy="475488"/>
          </a:xfrm>
          <a:prstGeom prst="ellipse">
            <a:avLst/>
          </a:prstGeom>
          <a:solidFill>
            <a:schemeClr val="accent1"/>
          </a:solidFill>
          <a:ln w="12700">
            <a:solidFill>
              <a:schemeClr val="accent1"/>
            </a:solidFill>
            <a:prstDash val="solid"/>
          </a:ln>
        </p:spPr>
      </p:sp>
      <p:pic>
        <p:nvPicPr>
          <p:cNvPr id="24" name="Findings hidden or skipped icon" descr="preencoded.png">    </p:cNvPr>
          <p:cNvPicPr>
            <a:picLocks noChangeAspect="1"/>
          </p:cNvPicPr>
          <p:nvPr/>
        </p:nvPicPr>
        <p:blipFill>
          <a:blip r:embed="rId2"/>
          <a:stretch>
            <a:fillRect/>
          </a:stretch>
        </p:blipFill>
        <p:spPr>
          <a:xfrm>
            <a:off x="7589520" y="3108960"/>
            <a:ext cx="237744" cy="237744"/>
          </a:xfrm>
          <a:prstGeom prst="rect">
            <a:avLst/>
          </a:prstGeom>
        </p:spPr>
      </p:pic>
      <p:sp>
        <p:nvSpPr>
          <p:cNvPr id="25" name="Findings hidden or skipped text"/>
          <p:cNvSpPr txBox="1"/>
          <p:nvPr/>
        </p:nvSpPr>
        <p:spPr>
          <a:xfrm>
            <a:off x="8129016" y="2953512"/>
            <a:ext cx="3349447" cy="1051560"/>
          </a:xfrm>
          <a:prstGeom prst="rect">
            <a:avLst/>
          </a:prstGeom>
          <a:noFill/>
          <a:ln/>
        </p:spPr>
        <p:txBody>
          <a:bodyPr wrap="square" lIns="0" tIns="0" rIns="0" bIns="0" rtlCol="0" anchor="t"/>
          <a:lstStyle/>
          <a:p>
            <a:pPr indent="0" marL="0">
              <a:spcAft>
                <a:spcPts val="300"/>
              </a:spcAft>
              <a:buNone/>
            </a:pPr>
            <a:r>
              <a:rPr lang="en-GB" altLang="en-US" sz="1500" b="1" dirty="0">
                <a:solidFill>
                  <a:schemeClr val="tx2"/>
                </a:solidFill>
              </a:rPr>
              <a:t>Findings hidden or skipped</a:t>
            </a:r>
            <a:endParaRPr lang="en-GB" sz="1400" dirty="0"/>
          </a:p>
          <a:p>
            <a:pPr indent="0" marL="0">
              <a:spcAft>
                <a:spcPts val="300"/>
              </a:spcAft>
              <a:buNone/>
            </a:pPr>
            <a:r>
              <a:rPr lang="en-GB" altLang="en-US" sz="1400" dirty="0">
                <a:solidFill>
                  <a:schemeClr val="tx1"/>
                </a:solidFill>
              </a:rPr>
              <a:t>NEEDS_CONTEXT findings never reach the comment; deletion-only PRs skip the AI step.</a:t>
            </a:r>
            <a:endParaRPr lang="en-GB" sz="1400" dirty="0"/>
          </a:p>
        </p:txBody>
      </p:sp>
      <p:sp>
        <p:nvSpPr>
          <p:cNvPr id="26" name="Small time cost card"/>
          <p:cNvSpPr/>
          <p:nvPr/>
        </p:nvSpPr>
        <p:spPr>
          <a:xfrm>
            <a:off x="7269480" y="4251960"/>
            <a:ext cx="4373575" cy="1325880"/>
          </a:xfrm>
          <a:prstGeom prst="roundRect">
            <a:avLst>
              <a:gd name="adj" fmla="val 5517"/>
            </a:avLst>
          </a:prstGeom>
          <a:solidFill>
            <a:schemeClr val="bg2"/>
          </a:solidFill>
          <a:ln w="12700">
            <a:solidFill>
              <a:schemeClr val="bg2"/>
            </a:solidFill>
            <a:prstDash val="solid"/>
          </a:ln>
        </p:spPr>
      </p:sp>
      <p:sp>
        <p:nvSpPr>
          <p:cNvPr id="27" name="Small time cost circle"/>
          <p:cNvSpPr/>
          <p:nvPr/>
        </p:nvSpPr>
        <p:spPr>
          <a:xfrm>
            <a:off x="7470648" y="4453128"/>
            <a:ext cx="475488" cy="475488"/>
          </a:xfrm>
          <a:prstGeom prst="ellipse">
            <a:avLst/>
          </a:prstGeom>
          <a:solidFill>
            <a:schemeClr val="accent2"/>
          </a:solidFill>
          <a:ln w="12700">
            <a:solidFill>
              <a:schemeClr val="accent2"/>
            </a:solidFill>
            <a:prstDash val="solid"/>
          </a:ln>
        </p:spPr>
      </p:sp>
      <p:pic>
        <p:nvPicPr>
          <p:cNvPr id="28" name="Small time cost icon" descr="preencoded.png">    </p:cNvPr>
          <p:cNvPicPr>
            <a:picLocks noChangeAspect="1"/>
          </p:cNvPicPr>
          <p:nvPr/>
        </p:nvPicPr>
        <p:blipFill>
          <a:blip r:embed="rId3"/>
          <a:stretch>
            <a:fillRect/>
          </a:stretch>
        </p:blipFill>
        <p:spPr>
          <a:xfrm>
            <a:off x="7589520" y="4572000"/>
            <a:ext cx="237744" cy="237744"/>
          </a:xfrm>
          <a:prstGeom prst="rect">
            <a:avLst/>
          </a:prstGeom>
        </p:spPr>
      </p:pic>
      <p:sp>
        <p:nvSpPr>
          <p:cNvPr id="29" name="Small time cost text"/>
          <p:cNvSpPr txBox="1"/>
          <p:nvPr/>
        </p:nvSpPr>
        <p:spPr>
          <a:xfrm>
            <a:off x="8129016" y="4416552"/>
            <a:ext cx="3349447" cy="1051560"/>
          </a:xfrm>
          <a:prstGeom prst="rect">
            <a:avLst/>
          </a:prstGeom>
          <a:noFill/>
          <a:ln/>
        </p:spPr>
        <p:txBody>
          <a:bodyPr wrap="square" lIns="0" tIns="0" rIns="0" bIns="0" rtlCol="0" anchor="t"/>
          <a:lstStyle/>
          <a:p>
            <a:pPr indent="0" marL="0">
              <a:spcAft>
                <a:spcPts val="300"/>
              </a:spcAft>
              <a:buNone/>
            </a:pPr>
            <a:r>
              <a:rPr lang="en-GB" altLang="en-US" sz="1500" b="1" dirty="0">
                <a:solidFill>
                  <a:schemeClr val="tx2"/>
                </a:solidFill>
              </a:rPr>
              <a:t>Small time cost</a:t>
            </a:r>
            <a:endParaRPr lang="en-GB" sz="1400" dirty="0"/>
          </a:p>
          <a:p>
            <a:pPr indent="0" marL="0">
              <a:spcAft>
                <a:spcPts val="300"/>
              </a:spcAft>
              <a:buNone/>
            </a:pPr>
            <a:r>
              <a:rPr lang="en-GB" altLang="en-US" sz="1400" dirty="0">
                <a:solidFill>
                  <a:schemeClr val="tx1"/>
                </a:solidFill>
              </a:rPr>
              <a:t>AI median 31.5 s of a 77 s job; comments posted in under two minutes.</a:t>
            </a:r>
            <a:endParaRPr lang="en-GB" sz="1400" dirty="0"/>
          </a:p>
        </p:txBody>
      </p:sp>
      <p:sp>
        <p:nvSpPr>
          <p:cNvPr id="25" name="Slide Number Placeholder 0"/>
          <p:cNvSpPr>
            <a:spLocks noGrp="1"/>
          </p:cNvSpPr>
          <p:nvPr>
            <p:ph type="sldNum" sz="quarter" idx="4294967295"/>
          </p:nvPr>
        </p:nvSpPr>
        <p:spPr>
          <a:xfrm>
            <a:off x="10104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defRPr>
            </a:lvl1pPr>
          </a:lstStyle>
          <a:p>
            <a:pPr algn="r"/>
            <a:fld id="{F7021451-1387-4CA6-816F-3879F97B5CBC}" type="slidenum">
              <a:rPr b="0" lang="en-GB"/>
              <a:t>8</a:t>
            </a:fld>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GB" altLang="en-US" sz="3600" b="1" dirty="0">
                <a:solidFill>
                  <a:schemeClr val="tx2"/>
                </a:solidFill>
              </a:rPr>
              <a:t>Evaluation: what holds up, and its limits</a:t>
            </a:r>
            <a:endParaRPr lang="en-GB" sz="3600" dirty="0"/>
          </a:p>
        </p:txBody>
      </p:sp>
      <p:sp>
        <p:nvSpPr>
          <p:cNvPr id="3" name="What holds up column"/>
          <p:cNvSpPr/>
          <p:nvPr/>
        </p:nvSpPr>
        <p:spPr>
          <a:xfrm>
            <a:off x="548640" y="1325880"/>
            <a:ext cx="3515258" cy="3977640"/>
          </a:xfrm>
          <a:prstGeom prst="roundRect">
            <a:avLst>
              <a:gd name="adj" fmla="val 2081"/>
            </a:avLst>
          </a:prstGeom>
          <a:solidFill>
            <a:schemeClr val="bg2"/>
          </a:solidFill>
          <a:ln w="12700">
            <a:solidFill>
              <a:schemeClr val="bg2"/>
            </a:solidFill>
            <a:prstDash val="solid"/>
          </a:ln>
        </p:spPr>
      </p:sp>
      <p:sp>
        <p:nvSpPr>
          <p:cNvPr id="4" name="What holds up circle"/>
          <p:cNvSpPr/>
          <p:nvPr/>
        </p:nvSpPr>
        <p:spPr>
          <a:xfrm>
            <a:off x="777240" y="1508760"/>
            <a:ext cx="530352" cy="530352"/>
          </a:xfrm>
          <a:prstGeom prst="ellipse">
            <a:avLst/>
          </a:prstGeom>
          <a:solidFill>
            <a:schemeClr val="accent4"/>
          </a:solidFill>
          <a:ln w="12700">
            <a:solidFill>
              <a:schemeClr val="accent4"/>
            </a:solidFill>
            <a:prstDash val="solid"/>
          </a:ln>
        </p:spPr>
      </p:sp>
      <p:pic>
        <p:nvPicPr>
          <p:cNvPr id="5" name="What holds up icon" descr="preencoded.png">    </p:cNvPr>
          <p:cNvPicPr>
            <a:picLocks noChangeAspect="1"/>
          </p:cNvPicPr>
          <p:nvPr/>
        </p:nvPicPr>
        <p:blipFill>
          <a:blip r:embed="rId1"/>
          <a:stretch>
            <a:fillRect/>
          </a:stretch>
        </p:blipFill>
        <p:spPr>
          <a:xfrm>
            <a:off x="909828" y="1641348"/>
            <a:ext cx="265176" cy="265176"/>
          </a:xfrm>
          <a:prstGeom prst="rect">
            <a:avLst/>
          </a:prstGeom>
        </p:spPr>
      </p:pic>
      <p:sp>
        <p:nvSpPr>
          <p:cNvPr id="6" name="What holds up heading"/>
          <p:cNvSpPr txBox="1"/>
          <p:nvPr/>
        </p:nvSpPr>
        <p:spPr>
          <a:xfrm>
            <a:off x="1463040" y="1508760"/>
            <a:ext cx="2417978" cy="530352"/>
          </a:xfrm>
          <a:prstGeom prst="rect">
            <a:avLst/>
          </a:prstGeom>
          <a:noFill/>
          <a:ln/>
        </p:spPr>
        <p:txBody>
          <a:bodyPr wrap="square" lIns="0" tIns="0" rIns="0" bIns="0" rtlCol="0" anchor="ctr"/>
          <a:lstStyle/>
          <a:p>
            <a:pPr indent="0" marL="0">
              <a:buNone/>
            </a:pPr>
            <a:r>
              <a:rPr lang="en-GB" altLang="en-US" sz="1800" b="1" dirty="0">
                <a:solidFill>
                  <a:schemeClr val="tx2"/>
                </a:solidFill>
              </a:rPr>
              <a:t>What holds up</a:t>
            </a:r>
            <a:endParaRPr lang="en-GB" sz="1800" dirty="0"/>
          </a:p>
        </p:txBody>
      </p:sp>
      <p:sp>
        <p:nvSpPr>
          <p:cNvPr id="7" name="What holds up points"/>
          <p:cNvSpPr txBox="1"/>
          <p:nvPr/>
        </p:nvSpPr>
        <p:spPr>
          <a:xfrm>
            <a:off x="777240" y="2221992"/>
            <a:ext cx="3103778" cy="3017520"/>
          </a:xfrm>
          <a:prstGeom prst="rect">
            <a:avLst/>
          </a:prstGeom>
          <a:noFill/>
          <a:ln/>
        </p:spPr>
        <p:txBody>
          <a:bodyPr wrap="square" lIns="0" tIns="0" rIns="0" bIns="0" rtlCol="0" anchor="t"/>
          <a:lstStyle/>
          <a:p>
            <a:pPr marL="177800" indent="-177800">
              <a:spcAft>
                <a:spcPts val="900"/>
              </a:spcAft>
              <a:buSzPct val="100000"/>
              <a:buChar char="•"/>
            </a:pPr>
            <a:r>
              <a:rPr lang="en-GB" altLang="en-US" sz="1400" dirty="0">
                <a:solidFill>
                  <a:schemeClr val="tx1"/>
                </a:solidFill>
              </a:rPr>
              <a:t>Scanner coverage depends on rules; Checkov and tfsec complemented each other</a:t>
            </a:r>
            <a:endParaRPr lang="en-GB" sz="1400" dirty="0"/>
          </a:p>
          <a:p>
            <a:pPr marL="177800" indent="-177800">
              <a:spcAft>
                <a:spcPts val="900"/>
              </a:spcAft>
              <a:buSzPct val="100000"/>
              <a:buChar char="•"/>
            </a:pPr>
            <a:r>
              <a:rPr lang="en-GB" altLang="en-US" sz="1400" dirty="0">
                <a:solidFill>
                  <a:schemeClr val="tx1"/>
                </a:solidFill>
              </a:rPr>
              <a:t>The AI found context-dependent and semantic problems the scanners could not</a:t>
            </a:r>
            <a:endParaRPr lang="en-GB" sz="1400" dirty="0"/>
          </a:p>
          <a:p>
            <a:pPr marL="177800" indent="-177800">
              <a:spcAft>
                <a:spcPts val="900"/>
              </a:spcAft>
              <a:buSzPct val="100000"/>
              <a:buChar char="•"/>
            </a:pPr>
            <a:r>
              <a:rPr lang="en-GB" altLang="en-US" sz="1400" dirty="0">
                <a:solidFill>
                  <a:schemeClr val="tx1"/>
                </a:solidFill>
              </a:rPr>
              <a:t>Its errors were less predictable: it varied between identical runs and was steered by comments</a:t>
            </a:r>
            <a:endParaRPr lang="en-GB" sz="1400" dirty="0"/>
          </a:p>
        </p:txBody>
      </p:sp>
      <p:sp>
        <p:nvSpPr>
          <p:cNvPr id="8" name="Limits column"/>
          <p:cNvSpPr/>
          <p:nvPr/>
        </p:nvSpPr>
        <p:spPr>
          <a:xfrm>
            <a:off x="4338218" y="1325880"/>
            <a:ext cx="3515258" cy="3977640"/>
          </a:xfrm>
          <a:prstGeom prst="roundRect">
            <a:avLst>
              <a:gd name="adj" fmla="val 2081"/>
            </a:avLst>
          </a:prstGeom>
          <a:solidFill>
            <a:schemeClr val="bg2"/>
          </a:solidFill>
          <a:ln w="12700">
            <a:solidFill>
              <a:schemeClr val="bg2"/>
            </a:solidFill>
            <a:prstDash val="solid"/>
          </a:ln>
        </p:spPr>
      </p:sp>
      <p:sp>
        <p:nvSpPr>
          <p:cNvPr id="9" name="Limits circle"/>
          <p:cNvSpPr/>
          <p:nvPr/>
        </p:nvSpPr>
        <p:spPr>
          <a:xfrm>
            <a:off x="4566818" y="1508760"/>
            <a:ext cx="530352" cy="530352"/>
          </a:xfrm>
          <a:prstGeom prst="ellipse">
            <a:avLst/>
          </a:prstGeom>
          <a:solidFill>
            <a:schemeClr val="accent5"/>
          </a:solidFill>
          <a:ln w="12700">
            <a:solidFill>
              <a:schemeClr val="accent5"/>
            </a:solidFill>
            <a:prstDash val="solid"/>
          </a:ln>
        </p:spPr>
      </p:sp>
      <p:pic>
        <p:nvPicPr>
          <p:cNvPr id="10" name="Limits icon" descr="preencoded.png">    </p:cNvPr>
          <p:cNvPicPr>
            <a:picLocks noChangeAspect="1"/>
          </p:cNvPicPr>
          <p:nvPr/>
        </p:nvPicPr>
        <p:blipFill>
          <a:blip r:embed="rId2"/>
          <a:stretch>
            <a:fillRect/>
          </a:stretch>
        </p:blipFill>
        <p:spPr>
          <a:xfrm>
            <a:off x="4699406" y="1641348"/>
            <a:ext cx="265176" cy="265176"/>
          </a:xfrm>
          <a:prstGeom prst="rect">
            <a:avLst/>
          </a:prstGeom>
        </p:spPr>
      </p:pic>
      <p:sp>
        <p:nvSpPr>
          <p:cNvPr id="11" name="Limits heading"/>
          <p:cNvSpPr txBox="1"/>
          <p:nvPr/>
        </p:nvSpPr>
        <p:spPr>
          <a:xfrm>
            <a:off x="5252618" y="1508760"/>
            <a:ext cx="2417978" cy="530352"/>
          </a:xfrm>
          <a:prstGeom prst="rect">
            <a:avLst/>
          </a:prstGeom>
          <a:noFill/>
          <a:ln/>
        </p:spPr>
        <p:txBody>
          <a:bodyPr wrap="square" lIns="0" tIns="0" rIns="0" bIns="0" rtlCol="0" anchor="ctr"/>
          <a:lstStyle/>
          <a:p>
            <a:pPr indent="0" marL="0">
              <a:buNone/>
            </a:pPr>
            <a:r>
              <a:rPr lang="en-GB" altLang="en-US" sz="1800" b="1" dirty="0">
                <a:solidFill>
                  <a:schemeClr val="tx2"/>
                </a:solidFill>
              </a:rPr>
              <a:t>Limits</a:t>
            </a:r>
            <a:endParaRPr lang="en-GB" sz="1800" dirty="0"/>
          </a:p>
        </p:txBody>
      </p:sp>
      <p:sp>
        <p:nvSpPr>
          <p:cNvPr id="12" name="Limits points"/>
          <p:cNvSpPr txBox="1"/>
          <p:nvPr/>
        </p:nvSpPr>
        <p:spPr>
          <a:xfrm>
            <a:off x="4566818" y="2221992"/>
            <a:ext cx="3103778" cy="3017520"/>
          </a:xfrm>
          <a:prstGeom prst="rect">
            <a:avLst/>
          </a:prstGeom>
          <a:noFill/>
          <a:ln/>
        </p:spPr>
        <p:txBody>
          <a:bodyPr wrap="square" lIns="0" tIns="0" rIns="0" bIns="0" rtlCol="0" anchor="t"/>
          <a:lstStyle/>
          <a:p>
            <a:pPr marL="177800" indent="-177800">
              <a:spcAft>
                <a:spcPts val="900"/>
              </a:spcAft>
              <a:buSzPct val="100000"/>
              <a:buChar char="•"/>
            </a:pPr>
            <a:r>
              <a:rPr lang="en-GB" altLang="en-US" sz="1400" dirty="0">
                <a:solidFill>
                  <a:schemeClr val="tx1"/>
                </a:solidFill>
              </a:rPr>
              <a:t>15 constructed cases, one cloud, one model, one prompt</a:t>
            </a:r>
            <a:endParaRPr lang="en-GB" sz="1400" dirty="0"/>
          </a:p>
          <a:p>
            <a:pPr marL="177800" indent="-177800">
              <a:spcAft>
                <a:spcPts val="900"/>
              </a:spcAft>
              <a:buSzPct val="100000"/>
              <a:buChar char="•"/>
            </a:pPr>
            <a:r>
              <a:rPr lang="en-GB" altLang="en-US" sz="1400" dirty="0">
                <a:solidFill>
                  <a:schemeClr val="tx1"/>
                </a:solidFill>
              </a:rPr>
              <a:t>Cases partly chosen where scanner rules were weak; such sets can flatter AI (Ding et al., 2025)</a:t>
            </a:r>
            <a:endParaRPr lang="en-GB" sz="1400" dirty="0"/>
          </a:p>
          <a:p>
            <a:pPr marL="177800" indent="-177800">
              <a:spcAft>
                <a:spcPts val="900"/>
              </a:spcAft>
              <a:buSzPct val="100000"/>
              <a:buChar char="•"/>
            </a:pPr>
            <a:r>
              <a:rPr lang="en-GB" altLang="en-US" sz="1400" dirty="0">
                <a:solidFill>
                  <a:schemeClr val="tx1"/>
                </a:solidFill>
              </a:rPr>
              <a:t>Fixture comments may have cued the AI; only the AI got the policy file</a:t>
            </a:r>
            <a:endParaRPr lang="en-GB" sz="1400" dirty="0"/>
          </a:p>
          <a:p>
            <a:pPr marL="177800" indent="-177800">
              <a:spcAft>
                <a:spcPts val="900"/>
              </a:spcAft>
              <a:buSzPct val="100000"/>
              <a:buChar char="•"/>
            </a:pPr>
            <a:r>
              <a:rPr lang="en-GB" altLang="en-US" sz="1400" dirty="0">
                <a:solidFill>
                  <a:schemeClr val="tx1"/>
                </a:solidFill>
              </a:rPr>
              <a:t>Single-rater, AI-assisted scoring; three runs show variation but cannot measure it</a:t>
            </a:r>
            <a:endParaRPr lang="en-GB" sz="1400" dirty="0"/>
          </a:p>
        </p:txBody>
      </p:sp>
      <p:sp>
        <p:nvSpPr>
          <p:cNvPr id="13" name="What I learned column"/>
          <p:cNvSpPr/>
          <p:nvPr/>
        </p:nvSpPr>
        <p:spPr>
          <a:xfrm>
            <a:off x="8127797" y="1325880"/>
            <a:ext cx="3515258" cy="3977640"/>
          </a:xfrm>
          <a:prstGeom prst="roundRect">
            <a:avLst>
              <a:gd name="adj" fmla="val 2081"/>
            </a:avLst>
          </a:prstGeom>
          <a:solidFill>
            <a:schemeClr val="bg2"/>
          </a:solidFill>
          <a:ln w="12700">
            <a:solidFill>
              <a:schemeClr val="bg2"/>
            </a:solidFill>
            <a:prstDash val="solid"/>
          </a:ln>
        </p:spPr>
      </p:sp>
      <p:sp>
        <p:nvSpPr>
          <p:cNvPr id="14" name="What I learned circle"/>
          <p:cNvSpPr/>
          <p:nvPr/>
        </p:nvSpPr>
        <p:spPr>
          <a:xfrm>
            <a:off x="8356397" y="1508760"/>
            <a:ext cx="530352" cy="530352"/>
          </a:xfrm>
          <a:prstGeom prst="ellipse">
            <a:avLst/>
          </a:prstGeom>
          <a:solidFill>
            <a:schemeClr val="accent1"/>
          </a:solidFill>
          <a:ln w="12700">
            <a:solidFill>
              <a:schemeClr val="accent1"/>
            </a:solidFill>
            <a:prstDash val="solid"/>
          </a:ln>
        </p:spPr>
      </p:sp>
      <p:pic>
        <p:nvPicPr>
          <p:cNvPr id="15" name="What I learned icon" descr="preencoded.png">    </p:cNvPr>
          <p:cNvPicPr>
            <a:picLocks noChangeAspect="1"/>
          </p:cNvPicPr>
          <p:nvPr/>
        </p:nvPicPr>
        <p:blipFill>
          <a:blip r:embed="rId3"/>
          <a:stretch>
            <a:fillRect/>
          </a:stretch>
        </p:blipFill>
        <p:spPr>
          <a:xfrm>
            <a:off x="8488985" y="1641348"/>
            <a:ext cx="265176" cy="265176"/>
          </a:xfrm>
          <a:prstGeom prst="rect">
            <a:avLst/>
          </a:prstGeom>
        </p:spPr>
      </p:pic>
      <p:sp>
        <p:nvSpPr>
          <p:cNvPr id="16" name="What I learned heading"/>
          <p:cNvSpPr txBox="1"/>
          <p:nvPr/>
        </p:nvSpPr>
        <p:spPr>
          <a:xfrm>
            <a:off x="9042197" y="1508760"/>
            <a:ext cx="2417978" cy="530352"/>
          </a:xfrm>
          <a:prstGeom prst="rect">
            <a:avLst/>
          </a:prstGeom>
          <a:noFill/>
          <a:ln/>
        </p:spPr>
        <p:txBody>
          <a:bodyPr wrap="square" lIns="0" tIns="0" rIns="0" bIns="0" rtlCol="0" anchor="ctr"/>
          <a:lstStyle/>
          <a:p>
            <a:pPr indent="0" marL="0">
              <a:buNone/>
            </a:pPr>
            <a:r>
              <a:rPr lang="en-GB" altLang="en-US" sz="1800" b="1" dirty="0">
                <a:solidFill>
                  <a:schemeClr val="tx2"/>
                </a:solidFill>
              </a:rPr>
              <a:t>What I learned</a:t>
            </a:r>
            <a:endParaRPr lang="en-GB" sz="1800" dirty="0"/>
          </a:p>
        </p:txBody>
      </p:sp>
      <p:sp>
        <p:nvSpPr>
          <p:cNvPr id="17" name="What I learned points"/>
          <p:cNvSpPr txBox="1"/>
          <p:nvPr/>
        </p:nvSpPr>
        <p:spPr>
          <a:xfrm>
            <a:off x="8356397" y="2221992"/>
            <a:ext cx="3103778" cy="3017520"/>
          </a:xfrm>
          <a:prstGeom prst="rect">
            <a:avLst/>
          </a:prstGeom>
          <a:noFill/>
          <a:ln/>
        </p:spPr>
        <p:txBody>
          <a:bodyPr wrap="square" lIns="0" tIns="0" rIns="0" bIns="0" rtlCol="0" anchor="t"/>
          <a:lstStyle/>
          <a:p>
            <a:pPr marL="177800" indent="-177800">
              <a:spcAft>
                <a:spcPts val="900"/>
              </a:spcAft>
              <a:buSzPct val="100000"/>
              <a:buChar char="•"/>
            </a:pPr>
            <a:r>
              <a:rPr lang="en-GB" altLang="en-US" sz="1400" dirty="0">
                <a:solidFill>
                  <a:schemeClr val="tx1"/>
                </a:solidFill>
              </a:rPr>
              <a:t>My first “AI-only” results were scanner-informed; I fixed the workflow and ran every case independently</a:t>
            </a:r>
            <a:endParaRPr lang="en-GB" sz="1400" dirty="0"/>
          </a:p>
          <a:p>
            <a:pPr marL="177800" indent="-177800">
              <a:spcAft>
                <a:spcPts val="900"/>
              </a:spcAft>
              <a:buSzPct val="100000"/>
              <a:buChar char="•"/>
            </a:pPr>
            <a:r>
              <a:rPr lang="en-GB" altLang="en-US" sz="1400" dirty="0">
                <a:solidFill>
                  <a:schemeClr val="tx1"/>
                </a:solidFill>
              </a:rPr>
              <a:t>A result counts only when tied to a run, a commit and the raw output</a:t>
            </a:r>
            <a:endParaRPr lang="en-GB" sz="1400" dirty="0"/>
          </a:p>
          <a:p>
            <a:pPr marL="177800" indent="-177800">
              <a:spcAft>
                <a:spcPts val="900"/>
              </a:spcAft>
              <a:buSzPct val="100000"/>
              <a:buChar char="•"/>
            </a:pPr>
            <a:r>
              <a:rPr lang="en-GB" altLang="en-US" sz="1400" dirty="0">
                <a:solidFill>
                  <a:schemeClr val="tx1"/>
                </a:solidFill>
              </a:rPr>
              <a:t>Next time: prove independence first, strip comments, pin every version, add a second scorer</a:t>
            </a:r>
            <a:endParaRPr lang="en-GB" sz="1400" dirty="0"/>
          </a:p>
        </p:txBody>
      </p:sp>
      <p:sp>
        <p:nvSpPr>
          <p:cNvPr id="18" name="O1 objective"/>
          <p:cNvSpPr/>
          <p:nvPr/>
        </p:nvSpPr>
        <p:spPr>
          <a:xfrm>
            <a:off x="548640" y="5486400"/>
            <a:ext cx="2636444" cy="502920"/>
          </a:xfrm>
          <a:prstGeom prst="roundRect">
            <a:avLst>
              <a:gd name="adj" fmla="val 14545"/>
            </a:avLst>
          </a:prstGeom>
          <a:solidFill>
            <a:schemeClr val="bg1"/>
          </a:solidFill>
          <a:ln w="15875">
            <a:solidFill>
              <a:srgbClr val="2E7D4F"/>
            </a:solidFill>
            <a:prstDash val="solid"/>
          </a:ln>
        </p:spPr>
      </p:sp>
      <p:sp>
        <p:nvSpPr>
          <p:cNvPr id="19" name="O1 check circle"/>
          <p:cNvSpPr/>
          <p:nvPr/>
        </p:nvSpPr>
        <p:spPr>
          <a:xfrm>
            <a:off x="649224" y="5564124"/>
            <a:ext cx="347472" cy="347472"/>
          </a:xfrm>
          <a:prstGeom prst="ellipse">
            <a:avLst/>
          </a:prstGeom>
          <a:solidFill>
            <a:schemeClr val="accent4"/>
          </a:solidFill>
          <a:ln w="12700">
            <a:solidFill>
              <a:schemeClr val="accent4"/>
            </a:solidFill>
            <a:prstDash val="solid"/>
          </a:ln>
        </p:spPr>
      </p:sp>
      <p:pic>
        <p:nvPicPr>
          <p:cNvPr id="20" name="O1 check icon" descr="preencoded.png">    </p:cNvPr>
          <p:cNvPicPr>
            <a:picLocks noChangeAspect="1"/>
          </p:cNvPicPr>
          <p:nvPr/>
        </p:nvPicPr>
        <p:blipFill>
          <a:blip r:embed="rId4"/>
          <a:stretch>
            <a:fillRect/>
          </a:stretch>
        </p:blipFill>
        <p:spPr>
          <a:xfrm>
            <a:off x="732617" y="5647517"/>
            <a:ext cx="180685" cy="180685"/>
          </a:xfrm>
          <a:prstGeom prst="rect">
            <a:avLst/>
          </a:prstGeom>
        </p:spPr>
      </p:pic>
      <p:sp>
        <p:nvSpPr>
          <p:cNvPr id="21" name="O1 text"/>
          <p:cNvSpPr txBox="1"/>
          <p:nvPr/>
        </p:nvSpPr>
        <p:spPr>
          <a:xfrm>
            <a:off x="1078992" y="5486400"/>
            <a:ext cx="2042084" cy="502920"/>
          </a:xfrm>
          <a:prstGeom prst="rect">
            <a:avLst/>
          </a:prstGeom>
          <a:noFill/>
          <a:ln/>
        </p:spPr>
        <p:txBody>
          <a:bodyPr wrap="square" lIns="0" tIns="0" rIns="0" bIns="0" rtlCol="0" anchor="ctr"/>
          <a:lstStyle/>
          <a:p>
            <a:pPr indent="0" marL="0">
              <a:buNone/>
            </a:pPr>
            <a:r>
              <a:rPr lang="en-GB" altLang="en-US" sz="1300" b="1" dirty="0">
                <a:solidFill>
                  <a:schemeClr val="accent4"/>
                </a:solidFill>
              </a:rPr>
              <a:t>O1  </a:t>
            </a:r>
            <a:pPr indent="0" marL="0">
              <a:buNone/>
            </a:pPr>
            <a:r>
              <a:rPr lang="en-GB" altLang="en-US" sz="1300" dirty="0">
                <a:solidFill>
                  <a:schemeClr val="tx1"/>
                </a:solidFill>
              </a:rPr>
              <a:t>Literature reviewed</a:t>
            </a:r>
            <a:endParaRPr lang="en-GB" sz="1300" dirty="0"/>
          </a:p>
        </p:txBody>
      </p:sp>
      <p:sp>
        <p:nvSpPr>
          <p:cNvPr id="22" name="O2 objective"/>
          <p:cNvSpPr/>
          <p:nvPr/>
        </p:nvSpPr>
        <p:spPr>
          <a:xfrm>
            <a:off x="3367964" y="5486400"/>
            <a:ext cx="2636444" cy="502920"/>
          </a:xfrm>
          <a:prstGeom prst="roundRect">
            <a:avLst>
              <a:gd name="adj" fmla="val 14545"/>
            </a:avLst>
          </a:prstGeom>
          <a:solidFill>
            <a:schemeClr val="bg1"/>
          </a:solidFill>
          <a:ln w="15875">
            <a:solidFill>
              <a:srgbClr val="2E7D4F"/>
            </a:solidFill>
            <a:prstDash val="solid"/>
          </a:ln>
        </p:spPr>
      </p:sp>
      <p:sp>
        <p:nvSpPr>
          <p:cNvPr id="23" name="O2 check circle"/>
          <p:cNvSpPr/>
          <p:nvPr/>
        </p:nvSpPr>
        <p:spPr>
          <a:xfrm>
            <a:off x="3468548" y="5564124"/>
            <a:ext cx="347472" cy="347472"/>
          </a:xfrm>
          <a:prstGeom prst="ellipse">
            <a:avLst/>
          </a:prstGeom>
          <a:solidFill>
            <a:schemeClr val="accent4"/>
          </a:solidFill>
          <a:ln w="12700">
            <a:solidFill>
              <a:schemeClr val="accent4"/>
            </a:solidFill>
            <a:prstDash val="solid"/>
          </a:ln>
        </p:spPr>
      </p:sp>
      <p:pic>
        <p:nvPicPr>
          <p:cNvPr id="24" name="O2 check icon" descr="preencoded.png">    </p:cNvPr>
          <p:cNvPicPr>
            <a:picLocks noChangeAspect="1"/>
          </p:cNvPicPr>
          <p:nvPr/>
        </p:nvPicPr>
        <p:blipFill>
          <a:blip r:embed="rId5"/>
          <a:stretch>
            <a:fillRect/>
          </a:stretch>
        </p:blipFill>
        <p:spPr>
          <a:xfrm>
            <a:off x="3551941" y="5647517"/>
            <a:ext cx="180685" cy="180685"/>
          </a:xfrm>
          <a:prstGeom prst="rect">
            <a:avLst/>
          </a:prstGeom>
        </p:spPr>
      </p:pic>
      <p:sp>
        <p:nvSpPr>
          <p:cNvPr id="25" name="O2 text"/>
          <p:cNvSpPr txBox="1"/>
          <p:nvPr/>
        </p:nvSpPr>
        <p:spPr>
          <a:xfrm>
            <a:off x="3898316" y="5486400"/>
            <a:ext cx="2042084" cy="502920"/>
          </a:xfrm>
          <a:prstGeom prst="rect">
            <a:avLst/>
          </a:prstGeom>
          <a:noFill/>
          <a:ln/>
        </p:spPr>
        <p:txBody>
          <a:bodyPr wrap="square" lIns="0" tIns="0" rIns="0" bIns="0" rtlCol="0" anchor="ctr"/>
          <a:lstStyle/>
          <a:p>
            <a:pPr indent="0" marL="0">
              <a:buNone/>
            </a:pPr>
            <a:r>
              <a:rPr lang="en-GB" altLang="en-US" sz="1300" b="1" dirty="0">
                <a:solidFill>
                  <a:schemeClr val="accent4"/>
                </a:solidFill>
              </a:rPr>
              <a:t>O2  </a:t>
            </a:r>
            <a:pPr indent="0" marL="0">
              <a:buNone/>
            </a:pPr>
            <a:r>
              <a:rPr lang="en-GB" altLang="en-US" sz="1300" dirty="0">
                <a:solidFill>
                  <a:schemeClr val="tx1"/>
                </a:solidFill>
              </a:rPr>
              <a:t>Pipeline built</a:t>
            </a:r>
            <a:endParaRPr lang="en-GB" sz="1300" dirty="0"/>
          </a:p>
        </p:txBody>
      </p:sp>
      <p:sp>
        <p:nvSpPr>
          <p:cNvPr id="26" name="O3 objective"/>
          <p:cNvSpPr/>
          <p:nvPr/>
        </p:nvSpPr>
        <p:spPr>
          <a:xfrm>
            <a:off x="6187288" y="5486400"/>
            <a:ext cx="2636444" cy="502920"/>
          </a:xfrm>
          <a:prstGeom prst="roundRect">
            <a:avLst>
              <a:gd name="adj" fmla="val 14545"/>
            </a:avLst>
          </a:prstGeom>
          <a:solidFill>
            <a:schemeClr val="bg1"/>
          </a:solidFill>
          <a:ln w="15875">
            <a:solidFill>
              <a:srgbClr val="2E7D4F"/>
            </a:solidFill>
            <a:prstDash val="solid"/>
          </a:ln>
        </p:spPr>
      </p:sp>
      <p:sp>
        <p:nvSpPr>
          <p:cNvPr id="27" name="O3 check circle"/>
          <p:cNvSpPr/>
          <p:nvPr/>
        </p:nvSpPr>
        <p:spPr>
          <a:xfrm>
            <a:off x="6287872" y="5564124"/>
            <a:ext cx="347472" cy="347472"/>
          </a:xfrm>
          <a:prstGeom prst="ellipse">
            <a:avLst/>
          </a:prstGeom>
          <a:solidFill>
            <a:schemeClr val="accent4"/>
          </a:solidFill>
          <a:ln w="12700">
            <a:solidFill>
              <a:schemeClr val="accent4"/>
            </a:solidFill>
            <a:prstDash val="solid"/>
          </a:ln>
        </p:spPr>
      </p:sp>
      <p:pic>
        <p:nvPicPr>
          <p:cNvPr id="28" name="O3 check icon" descr="preencoded.png">    </p:cNvPr>
          <p:cNvPicPr>
            <a:picLocks noChangeAspect="1"/>
          </p:cNvPicPr>
          <p:nvPr/>
        </p:nvPicPr>
        <p:blipFill>
          <a:blip r:embed="rId6"/>
          <a:stretch>
            <a:fillRect/>
          </a:stretch>
        </p:blipFill>
        <p:spPr>
          <a:xfrm>
            <a:off x="6371265" y="5647517"/>
            <a:ext cx="180685" cy="180685"/>
          </a:xfrm>
          <a:prstGeom prst="rect">
            <a:avLst/>
          </a:prstGeom>
        </p:spPr>
      </p:pic>
      <p:sp>
        <p:nvSpPr>
          <p:cNvPr id="29" name="O3 text"/>
          <p:cNvSpPr txBox="1"/>
          <p:nvPr/>
        </p:nvSpPr>
        <p:spPr>
          <a:xfrm>
            <a:off x="6717640" y="5486400"/>
            <a:ext cx="2042084" cy="502920"/>
          </a:xfrm>
          <a:prstGeom prst="rect">
            <a:avLst/>
          </a:prstGeom>
          <a:noFill/>
          <a:ln/>
        </p:spPr>
        <p:txBody>
          <a:bodyPr wrap="square" lIns="0" tIns="0" rIns="0" bIns="0" rtlCol="0" anchor="ctr"/>
          <a:lstStyle/>
          <a:p>
            <a:pPr indent="0" marL="0">
              <a:buNone/>
            </a:pPr>
            <a:r>
              <a:rPr lang="en-GB" altLang="en-US" sz="1300" b="1" dirty="0">
                <a:solidFill>
                  <a:schemeClr val="accent4"/>
                </a:solidFill>
              </a:rPr>
              <a:t>O3  </a:t>
            </a:r>
            <a:pPr indent="0" marL="0">
              <a:buNone/>
            </a:pPr>
            <a:r>
              <a:rPr lang="en-GB" altLang="en-US" sz="1300" dirty="0">
                <a:solidFill>
                  <a:schemeClr val="tx1"/>
                </a:solidFill>
              </a:rPr>
              <a:t>Evaluated, within sample limits</a:t>
            </a:r>
            <a:endParaRPr lang="en-GB" sz="1300" dirty="0"/>
          </a:p>
        </p:txBody>
      </p:sp>
      <p:sp>
        <p:nvSpPr>
          <p:cNvPr id="30" name="O4 objective"/>
          <p:cNvSpPr/>
          <p:nvPr/>
        </p:nvSpPr>
        <p:spPr>
          <a:xfrm>
            <a:off x="9006611" y="5486400"/>
            <a:ext cx="2636444" cy="502920"/>
          </a:xfrm>
          <a:prstGeom prst="roundRect">
            <a:avLst>
              <a:gd name="adj" fmla="val 14545"/>
            </a:avLst>
          </a:prstGeom>
          <a:solidFill>
            <a:schemeClr val="bg1"/>
          </a:solidFill>
          <a:ln w="15875">
            <a:solidFill>
              <a:srgbClr val="2E7D4F"/>
            </a:solidFill>
            <a:prstDash val="solid"/>
          </a:ln>
        </p:spPr>
      </p:sp>
      <p:sp>
        <p:nvSpPr>
          <p:cNvPr id="31" name="O4 check circle"/>
          <p:cNvSpPr/>
          <p:nvPr/>
        </p:nvSpPr>
        <p:spPr>
          <a:xfrm>
            <a:off x="9107195" y="5564124"/>
            <a:ext cx="347472" cy="347472"/>
          </a:xfrm>
          <a:prstGeom prst="ellipse">
            <a:avLst/>
          </a:prstGeom>
          <a:solidFill>
            <a:schemeClr val="accent4"/>
          </a:solidFill>
          <a:ln w="12700">
            <a:solidFill>
              <a:schemeClr val="accent4"/>
            </a:solidFill>
            <a:prstDash val="solid"/>
          </a:ln>
        </p:spPr>
      </p:sp>
      <p:pic>
        <p:nvPicPr>
          <p:cNvPr id="32" name="O4 check icon" descr="preencoded.png">    </p:cNvPr>
          <p:cNvPicPr>
            <a:picLocks noChangeAspect="1"/>
          </p:cNvPicPr>
          <p:nvPr/>
        </p:nvPicPr>
        <p:blipFill>
          <a:blip r:embed="rId7"/>
          <a:stretch>
            <a:fillRect/>
          </a:stretch>
        </p:blipFill>
        <p:spPr>
          <a:xfrm>
            <a:off x="9190589" y="5647517"/>
            <a:ext cx="180685" cy="180685"/>
          </a:xfrm>
          <a:prstGeom prst="rect">
            <a:avLst/>
          </a:prstGeom>
        </p:spPr>
      </p:pic>
      <p:sp>
        <p:nvSpPr>
          <p:cNvPr id="33" name="O4 text"/>
          <p:cNvSpPr txBox="1"/>
          <p:nvPr/>
        </p:nvSpPr>
        <p:spPr>
          <a:xfrm>
            <a:off x="9536963" y="5486400"/>
            <a:ext cx="2042084" cy="502920"/>
          </a:xfrm>
          <a:prstGeom prst="rect">
            <a:avLst/>
          </a:prstGeom>
          <a:noFill/>
          <a:ln/>
        </p:spPr>
        <p:txBody>
          <a:bodyPr wrap="square" lIns="0" tIns="0" rIns="0" bIns="0" rtlCol="0" anchor="ctr"/>
          <a:lstStyle/>
          <a:p>
            <a:pPr indent="0" marL="0">
              <a:buNone/>
            </a:pPr>
            <a:r>
              <a:rPr lang="en-GB" altLang="en-US" sz="1300" b="1" dirty="0">
                <a:solidFill>
                  <a:schemeClr val="accent4"/>
                </a:solidFill>
              </a:rPr>
              <a:t>O4  </a:t>
            </a:r>
            <a:pPr indent="0" marL="0">
              <a:buNone/>
            </a:pPr>
            <a:r>
              <a:rPr lang="en-GB" altLang="en-US" sz="1300" dirty="0">
                <a:solidFill>
                  <a:schemeClr val="tx1"/>
                </a:solidFill>
              </a:rPr>
              <a:t>Benefits and limits found</a:t>
            </a:r>
            <a:endParaRPr lang="en-GB" sz="1300" dirty="0"/>
          </a:p>
        </p:txBody>
      </p:sp>
      <p:sp>
        <p:nvSpPr>
          <p:cNvPr id="25" name="Slide Number Placeholder 0"/>
          <p:cNvSpPr>
            <a:spLocks noGrp="1"/>
          </p:cNvSpPr>
          <p:nvPr>
            <p:ph type="sldNum" sz="quarter" idx="4294967295"/>
          </p:nvPr>
        </p:nvSpPr>
        <p:spPr>
          <a:xfrm>
            <a:off x="10104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defRPr>
            </a:lvl1pPr>
          </a:lstStyle>
          <a:p>
            <a:pPr algn="r"/>
            <a:fld id="{F7021451-1387-4CA6-816F-3879F97B5CBC}" type="slidenum">
              <a:rPr b="0" lang="en-GB"/>
              <a:t>9</a:t>
            </a:fld>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GB" altLang="en-US" sz="3600" b="1" dirty="0">
                <a:solidFill>
                  <a:schemeClr val="tx2"/>
                </a:solidFill>
              </a:rPr>
              <a:t>Conclusion: an advisor beside scanners, not a gate</a:t>
            </a:r>
            <a:endParaRPr lang="en-GB" sz="3600" dirty="0"/>
          </a:p>
        </p:txBody>
      </p:sp>
      <p:sp>
        <p:nvSpPr>
          <p:cNvPr id="3" name="Answer card"/>
          <p:cNvSpPr/>
          <p:nvPr/>
        </p:nvSpPr>
        <p:spPr>
          <a:xfrm>
            <a:off x="548640" y="1325880"/>
            <a:ext cx="6446520" cy="1298448"/>
          </a:xfrm>
          <a:prstGeom prst="roundRect">
            <a:avLst>
              <a:gd name="adj" fmla="val 5634"/>
            </a:avLst>
          </a:prstGeom>
          <a:solidFill>
            <a:schemeClr val="tx2"/>
          </a:solidFill>
          <a:ln w="12700">
            <a:solidFill>
              <a:schemeClr val="tx2"/>
            </a:solidFill>
            <a:prstDash val="solid"/>
          </a:ln>
        </p:spPr>
      </p:sp>
      <p:sp>
        <p:nvSpPr>
          <p:cNvPr id="4" name="Answer"/>
          <p:cNvSpPr txBox="1"/>
          <p:nvPr/>
        </p:nvSpPr>
        <p:spPr>
          <a:xfrm>
            <a:off x="822960" y="1325880"/>
            <a:ext cx="5897880" cy="1298448"/>
          </a:xfrm>
          <a:prstGeom prst="rect">
            <a:avLst/>
          </a:prstGeom>
          <a:noFill/>
          <a:ln/>
        </p:spPr>
        <p:txBody>
          <a:bodyPr wrap="square" lIns="0" tIns="0" rIns="0" bIns="0" rtlCol="0" anchor="ctr"/>
          <a:lstStyle/>
          <a:p>
            <a:pPr indent="0" marL="0">
              <a:buNone/>
            </a:pPr>
            <a:r>
              <a:rPr lang="en-GB" altLang="en-US" sz="1500" b="1" dirty="0">
                <a:solidFill>
                  <a:schemeClr val="bg1"/>
                </a:solidFill>
              </a:rPr>
              <a:t>A qualified yes. </a:t>
            </a:r>
            <a:pPr indent="0" marL="0">
              <a:buNone/>
            </a:pPr>
            <a:r>
              <a:rPr lang="en-GB" altLang="en-US" sz="1500" dirty="0">
                <a:solidFill>
                  <a:schemeClr val="bg1"/>
                </a:solidFill>
              </a:rPr>
              <a:t>On 15 controlled cases the AI improved coverage (11 of 12 plus 1 partial, against 8 for both scanners), but its errors were less predictable. It should advise beside the scanners, not decide merges.</a:t>
            </a:r>
            <a:endParaRPr lang="en-GB" sz="1500" dirty="0"/>
          </a:p>
        </p:txBody>
      </p:sp>
      <p:sp>
        <p:nvSpPr>
          <p:cNvPr id="5" name="Label Recommendations"/>
          <p:cNvSpPr txBox="1"/>
          <p:nvPr/>
        </p:nvSpPr>
        <p:spPr>
          <a:xfrm>
            <a:off x="548640" y="2834640"/>
            <a:ext cx="3657600" cy="256032"/>
          </a:xfrm>
          <a:prstGeom prst="rect">
            <a:avLst/>
          </a:prstGeom>
          <a:noFill/>
          <a:ln/>
        </p:spPr>
        <p:txBody>
          <a:bodyPr wrap="square" lIns="0" tIns="0" rIns="0" bIns="0" rtlCol="0" anchor="t"/>
          <a:lstStyle/>
          <a:p>
            <a:pPr indent="0" marL="0">
              <a:buNone/>
            </a:pPr>
            <a:r>
              <a:rPr lang="en-GB" altLang="en-US" sz="1200" b="1" spc="150" kern="0" dirty="0">
                <a:solidFill>
                  <a:schemeClr val="accent1"/>
                </a:solidFill>
              </a:rPr>
              <a:t>RECOMMENDATIONS</a:t>
            </a:r>
            <a:endParaRPr lang="en-GB" sz="1200" dirty="0"/>
          </a:p>
        </p:txBody>
      </p:sp>
      <p:sp>
        <p:nvSpPr>
          <p:cNvPr id="6" name="Recommendations"/>
          <p:cNvSpPr txBox="1"/>
          <p:nvPr/>
        </p:nvSpPr>
        <p:spPr>
          <a:xfrm>
            <a:off x="548640" y="3127248"/>
            <a:ext cx="6446520" cy="192024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GB" altLang="en-US" sz="1400" dirty="0">
                <a:solidFill>
                  <a:schemeClr val="tx1"/>
                </a:solidFill>
              </a:rPr>
              <a:t>Scanners enforce; the AI advises and never blocks or approves</a:t>
            </a:r>
            <a:endParaRPr lang="en-GB" sz="1400" dirty="0"/>
          </a:p>
          <a:p>
            <a:pPr marL="342900" indent="-342900">
              <a:spcAft>
                <a:spcPts val="400"/>
              </a:spcAft>
              <a:buSzPct val="100000"/>
              <a:buFont typeface="+mj-lt"/>
              <a:buAutoNum type="arabicPeriod" startAt="1"/>
            </a:pPr>
            <a:r>
              <a:rPr lang="en-GB" altLang="en-US" sz="1400" dirty="0">
                <a:solidFill>
                  <a:schemeClr val="tx1"/>
                </a:solidFill>
              </a:rPr>
              <a:t>Run more than one scanner, or check rule coverage</a:t>
            </a:r>
            <a:endParaRPr lang="en-GB" sz="1400" dirty="0"/>
          </a:p>
          <a:p>
            <a:pPr marL="342900" indent="-342900">
              <a:spcAft>
                <a:spcPts val="400"/>
              </a:spcAft>
              <a:buSzPct val="100000"/>
              <a:buFont typeface="+mj-lt"/>
              <a:buAutoNum type="arabicPeriod" startAt="1"/>
            </a:pPr>
            <a:r>
              <a:rPr lang="en-GB" altLang="en-US" sz="1400" dirty="0">
                <a:solidFill>
                  <a:schemeClr val="tx1"/>
                </a:solidFill>
              </a:rPr>
              <a:t>Treat comments and pull-request text as untrusted input</a:t>
            </a:r>
            <a:endParaRPr lang="en-GB" sz="1400" dirty="0"/>
          </a:p>
          <a:p>
            <a:pPr marL="342900" indent="-342900">
              <a:spcAft>
                <a:spcPts val="400"/>
              </a:spcAft>
              <a:buSzPct val="100000"/>
              <a:buFont typeface="+mj-lt"/>
              <a:buAutoNum type="arabicPeriod" startAt="1"/>
            </a:pPr>
            <a:r>
              <a:rPr lang="en-GB" altLang="en-US" sz="1400" dirty="0">
                <a:solidFill>
                  <a:schemeClr val="tx1"/>
                </a:solidFill>
              </a:rPr>
              <a:t>Show uncertain AI findings instead of hiding them</a:t>
            </a:r>
            <a:endParaRPr lang="en-GB" sz="1400" dirty="0"/>
          </a:p>
          <a:p>
            <a:pPr marL="342900" indent="-342900">
              <a:spcAft>
                <a:spcPts val="400"/>
              </a:spcAft>
              <a:buSzPct val="100000"/>
              <a:buFont typeface="+mj-lt"/>
              <a:buAutoNum type="arabicPeriod" startAt="1"/>
            </a:pPr>
            <a:r>
              <a:rPr lang="en-GB" altLang="en-US" sz="1400" dirty="0">
                <a:solidFill>
                  <a:schemeClr val="tx1"/>
                </a:solidFill>
              </a:rPr>
              <a:t>Validate AI fixes automatically before suggesting them</a:t>
            </a:r>
            <a:endParaRPr lang="en-GB" sz="1400" dirty="0"/>
          </a:p>
          <a:p>
            <a:pPr marL="342900" indent="-342900">
              <a:spcAft>
                <a:spcPts val="400"/>
              </a:spcAft>
              <a:buSzPct val="100000"/>
              <a:buFont typeface="+mj-lt"/>
              <a:buAutoNum type="arabicPeriod" startAt="1"/>
            </a:pPr>
            <a:r>
              <a:rPr lang="en-GB" altLang="en-US" sz="1400" dirty="0">
                <a:solidFill>
                  <a:schemeClr val="tx1"/>
                </a:solidFill>
              </a:rPr>
              <a:t>Review deletion-only changes; log model version and settings</a:t>
            </a:r>
            <a:endParaRPr lang="en-GB" sz="1400" dirty="0"/>
          </a:p>
        </p:txBody>
      </p:sp>
      <p:sp>
        <p:nvSpPr>
          <p:cNvPr id="7" name="Further research card"/>
          <p:cNvSpPr/>
          <p:nvPr/>
        </p:nvSpPr>
        <p:spPr>
          <a:xfrm>
            <a:off x="548640" y="5166360"/>
            <a:ext cx="6446520" cy="822960"/>
          </a:xfrm>
          <a:prstGeom prst="roundRect">
            <a:avLst>
              <a:gd name="adj" fmla="val 8889"/>
            </a:avLst>
          </a:prstGeom>
          <a:solidFill>
            <a:schemeClr val="bg2"/>
          </a:solidFill>
          <a:ln w="12700">
            <a:solidFill>
              <a:schemeClr val="bg2"/>
            </a:solidFill>
            <a:prstDash val="solid"/>
          </a:ln>
        </p:spPr>
      </p:sp>
      <p:sp>
        <p:nvSpPr>
          <p:cNvPr id="8" name="Further research circle"/>
          <p:cNvSpPr/>
          <p:nvPr/>
        </p:nvSpPr>
        <p:spPr>
          <a:xfrm>
            <a:off x="713232" y="5340096"/>
            <a:ext cx="475488" cy="475488"/>
          </a:xfrm>
          <a:prstGeom prst="ellipse">
            <a:avLst/>
          </a:prstGeom>
          <a:solidFill>
            <a:schemeClr val="accent2"/>
          </a:solidFill>
          <a:ln w="12700">
            <a:solidFill>
              <a:schemeClr val="accent2"/>
            </a:solidFill>
            <a:prstDash val="solid"/>
          </a:ln>
        </p:spPr>
      </p:sp>
      <p:pic>
        <p:nvPicPr>
          <p:cNvPr id="9" name="Further research icon" descr="preencoded.png">    </p:cNvPr>
          <p:cNvPicPr>
            <a:picLocks noChangeAspect="1"/>
          </p:cNvPicPr>
          <p:nvPr/>
        </p:nvPicPr>
        <p:blipFill>
          <a:blip r:embed="rId1"/>
          <a:stretch>
            <a:fillRect/>
          </a:stretch>
        </p:blipFill>
        <p:spPr>
          <a:xfrm>
            <a:off x="832104" y="5458968"/>
            <a:ext cx="237744" cy="237744"/>
          </a:xfrm>
          <a:prstGeom prst="rect">
            <a:avLst/>
          </a:prstGeom>
        </p:spPr>
      </p:pic>
      <p:sp>
        <p:nvSpPr>
          <p:cNvPr id="10" name="Further research text"/>
          <p:cNvSpPr txBox="1"/>
          <p:nvPr/>
        </p:nvSpPr>
        <p:spPr>
          <a:xfrm>
            <a:off x="1325880" y="5166360"/>
            <a:ext cx="5532120" cy="822960"/>
          </a:xfrm>
          <a:prstGeom prst="rect">
            <a:avLst/>
          </a:prstGeom>
          <a:noFill/>
          <a:ln/>
        </p:spPr>
        <p:txBody>
          <a:bodyPr wrap="square" lIns="0" tIns="0" rIns="0" bIns="0" rtlCol="0" anchor="ctr"/>
          <a:lstStyle/>
          <a:p>
            <a:pPr indent="0" marL="0">
              <a:buNone/>
            </a:pPr>
            <a:r>
              <a:rPr lang="en-GB" altLang="en-US" sz="1300" b="1" dirty="0">
                <a:solidFill>
                  <a:schemeClr val="tx2"/>
                </a:solidFill>
              </a:rPr>
              <a:t>Further research: </a:t>
            </a:r>
            <a:pPr indent="0" marL="0">
              <a:buNone/>
            </a:pPr>
            <a:r>
              <a:rPr lang="en-GB" altLang="en-US" sz="1300" dirty="0">
                <a:solidFill>
                  <a:schemeClr val="tx1"/>
                </a:solidFill>
              </a:rPr>
              <a:t>real Terraform changes mined from public repositories; many runs across models; a comment-manipulation study; a study with developers</a:t>
            </a:r>
            <a:endParaRPr lang="en-GB" sz="1300" dirty="0"/>
          </a:p>
        </p:txBody>
      </p:sp>
      <p:sp>
        <p:nvSpPr>
          <p:cNvPr id="11" name="Label References"/>
          <p:cNvSpPr txBox="1"/>
          <p:nvPr/>
        </p:nvSpPr>
        <p:spPr>
          <a:xfrm>
            <a:off x="7315200" y="1325880"/>
            <a:ext cx="4327855" cy="256032"/>
          </a:xfrm>
          <a:prstGeom prst="rect">
            <a:avLst/>
          </a:prstGeom>
          <a:noFill/>
          <a:ln/>
        </p:spPr>
        <p:txBody>
          <a:bodyPr wrap="square" lIns="0" tIns="0" rIns="0" bIns="0" rtlCol="0" anchor="t"/>
          <a:lstStyle/>
          <a:p>
            <a:pPr indent="0" marL="0">
              <a:buNone/>
            </a:pPr>
            <a:r>
              <a:rPr lang="en-GB" altLang="en-US" sz="1200" b="1" spc="150" kern="0" dirty="0">
                <a:solidFill>
                  <a:schemeClr val="accent1"/>
                </a:solidFill>
              </a:rPr>
              <a:t>REFERENCES</a:t>
            </a:r>
            <a:endParaRPr lang="en-GB" sz="1200" dirty="0"/>
          </a:p>
        </p:txBody>
      </p:sp>
      <p:sp>
        <p:nvSpPr>
          <p:cNvPr id="12" name="Reference list"/>
          <p:cNvSpPr txBox="1"/>
          <p:nvPr/>
        </p:nvSpPr>
        <p:spPr>
          <a:xfrm>
            <a:off x="7315200" y="1609344"/>
            <a:ext cx="4327855" cy="4434840"/>
          </a:xfrm>
          <a:prstGeom prst="rect">
            <a:avLst/>
          </a:prstGeom>
          <a:noFill/>
          <a:ln/>
        </p:spPr>
        <p:txBody>
          <a:bodyPr wrap="square" lIns="0" tIns="0" rIns="0" bIns="0" rtlCol="0" anchor="t"/>
          <a:lstStyle/>
          <a:p>
            <a:pPr indent="0" marL="0">
              <a:spcAft>
                <a:spcPts val="300"/>
              </a:spcAft>
              <a:buNone/>
            </a:pPr>
            <a:r>
              <a:rPr lang="en-GB" altLang="en-US" sz="1000" dirty="0">
                <a:solidFill>
                  <a:schemeClr val="tx1"/>
                </a:solidFill>
              </a:rPr>
              <a:t>Ding, Y. et al. (2025) ‘Vulnerability detection with code language models: How far are we?’, </a:t>
            </a:r>
            <a:pPr indent="0" marL="0">
              <a:spcAft>
                <a:spcPts val="300"/>
              </a:spcAft>
              <a:buNone/>
            </a:pPr>
            <a:r>
              <a:rPr lang="en-GB" altLang="en-US" sz="1000" i="1" dirty="0">
                <a:solidFill>
                  <a:schemeClr val="tx1"/>
                </a:solidFill>
              </a:rPr>
              <a:t>Proceedings of the 47th IEEE/ACM ICSE</a:t>
            </a:r>
            <a:pPr indent="0" marL="0">
              <a:spcAft>
                <a:spcPts val="300"/>
              </a:spcAft>
              <a:buNone/>
            </a:pPr>
            <a:r>
              <a:rPr lang="en-GB" altLang="en-US" sz="1000" dirty="0">
                <a:solidFill>
                  <a:schemeClr val="tx1"/>
                </a:solidFill>
              </a:rPr>
              <a:t>.</a:t>
            </a:r>
            <a:endParaRPr lang="en-GB" sz="1000" dirty="0"/>
          </a:p>
          <a:p>
            <a:pPr indent="0" marL="0">
              <a:spcAft>
                <a:spcPts val="300"/>
              </a:spcAft>
              <a:buNone/>
            </a:pPr>
            <a:r>
              <a:rPr lang="en-GB" altLang="en-US" sz="1000" dirty="0">
                <a:solidFill>
                  <a:schemeClr val="tx1"/>
                </a:solidFill>
              </a:rPr>
              <a:t>Greshake, K. et al. (2023) ‘Not what you’ve signed up for: Compromising real-world LLM-integrated applications with indirect prompt injection’, </a:t>
            </a:r>
            <a:pPr indent="0" marL="0">
              <a:spcAft>
                <a:spcPts val="300"/>
              </a:spcAft>
              <a:buNone/>
            </a:pPr>
            <a:r>
              <a:rPr lang="en-GB" altLang="en-US" sz="1000" i="1" dirty="0">
                <a:solidFill>
                  <a:schemeClr val="tx1"/>
                </a:solidFill>
              </a:rPr>
              <a:t>Proceedings of AISec ’23</a:t>
            </a:r>
            <a:pPr indent="0" marL="0">
              <a:spcAft>
                <a:spcPts val="300"/>
              </a:spcAft>
              <a:buNone/>
            </a:pPr>
            <a:r>
              <a:rPr lang="en-GB" altLang="en-US" sz="1000" dirty="0">
                <a:solidFill>
                  <a:schemeClr val="tx1"/>
                </a:solidFill>
              </a:rPr>
              <a:t>, pp. 79–90.</a:t>
            </a:r>
            <a:endParaRPr lang="en-GB" sz="1000" dirty="0"/>
          </a:p>
          <a:p>
            <a:pPr indent="0" marL="0">
              <a:spcAft>
                <a:spcPts val="300"/>
              </a:spcAft>
              <a:buNone/>
            </a:pPr>
            <a:r>
              <a:rPr lang="en-GB" altLang="en-US" sz="1000" dirty="0">
                <a:solidFill>
                  <a:schemeClr val="tx1"/>
                </a:solidFill>
              </a:rPr>
              <a:t>Ji, Z. et al. (2023) ‘Survey of hallucination in natural language generation’, </a:t>
            </a:r>
            <a:pPr indent="0" marL="0">
              <a:spcAft>
                <a:spcPts val="300"/>
              </a:spcAft>
              <a:buNone/>
            </a:pPr>
            <a:r>
              <a:rPr lang="en-GB" altLang="en-US" sz="1000" i="1" dirty="0">
                <a:solidFill>
                  <a:schemeClr val="tx1"/>
                </a:solidFill>
              </a:rPr>
              <a:t>ACM Computing Surveys</a:t>
            </a:r>
            <a:pPr indent="0" marL="0">
              <a:spcAft>
                <a:spcPts val="300"/>
              </a:spcAft>
              <a:buNone/>
            </a:pPr>
            <a:r>
              <a:rPr lang="en-GB" altLang="en-US" sz="1000" dirty="0">
                <a:solidFill>
                  <a:schemeClr val="tx1"/>
                </a:solidFill>
              </a:rPr>
              <a:t>, 55(12), pp. 1–38.</a:t>
            </a:r>
            <a:endParaRPr lang="en-GB" sz="1000" dirty="0"/>
          </a:p>
          <a:p>
            <a:pPr indent="0" marL="0">
              <a:spcAft>
                <a:spcPts val="300"/>
              </a:spcAft>
              <a:buNone/>
            </a:pPr>
            <a:r>
              <a:rPr lang="en-GB" altLang="en-US" sz="1000" dirty="0">
                <a:solidFill>
                  <a:schemeClr val="tx1"/>
                </a:solidFill>
              </a:rPr>
              <a:t>Johnson, B. et al. (2013) ‘Why don’t software developers use static analysis tools to find bugs?’, </a:t>
            </a:r>
            <a:pPr indent="0" marL="0">
              <a:spcAft>
                <a:spcPts val="300"/>
              </a:spcAft>
              <a:buNone/>
            </a:pPr>
            <a:r>
              <a:rPr lang="en-GB" altLang="en-US" sz="1000" i="1" dirty="0">
                <a:solidFill>
                  <a:schemeClr val="tx1"/>
                </a:solidFill>
              </a:rPr>
              <a:t>Proceedings of the 35th ICSE</a:t>
            </a:r>
            <a:pPr indent="0" marL="0">
              <a:spcAft>
                <a:spcPts val="300"/>
              </a:spcAft>
              <a:buNone/>
            </a:pPr>
            <a:r>
              <a:rPr lang="en-GB" altLang="en-US" sz="1000" dirty="0">
                <a:solidFill>
                  <a:schemeClr val="tx1"/>
                </a:solidFill>
              </a:rPr>
              <a:t>, pp. 672–681.</a:t>
            </a:r>
            <a:endParaRPr lang="en-GB" sz="1000" dirty="0"/>
          </a:p>
          <a:p>
            <a:pPr indent="0" marL="0">
              <a:spcAft>
                <a:spcPts val="300"/>
              </a:spcAft>
              <a:buNone/>
            </a:pPr>
            <a:r>
              <a:rPr lang="en-GB" altLang="en-US" sz="1000" dirty="0">
                <a:solidFill>
                  <a:schemeClr val="tx1"/>
                </a:solidFill>
              </a:rPr>
              <a:t>Li, H. et al. (2024) ‘Enhancing static analysis for practical bug detection: An LLM-integrated approach’, </a:t>
            </a:r>
            <a:pPr indent="0" marL="0">
              <a:spcAft>
                <a:spcPts val="300"/>
              </a:spcAft>
              <a:buNone/>
            </a:pPr>
            <a:r>
              <a:rPr lang="en-GB" altLang="en-US" sz="1000" i="1" dirty="0">
                <a:solidFill>
                  <a:schemeClr val="tx1"/>
                </a:solidFill>
              </a:rPr>
              <a:t>Proceedings of the ACM on Programming Languages</a:t>
            </a:r>
            <a:pPr indent="0" marL="0">
              <a:spcAft>
                <a:spcPts val="300"/>
              </a:spcAft>
              <a:buNone/>
            </a:pPr>
            <a:r>
              <a:rPr lang="en-GB" altLang="en-US" sz="1000" dirty="0">
                <a:solidFill>
                  <a:schemeClr val="tx1"/>
                </a:solidFill>
              </a:rPr>
              <a:t>, 8(OOPSLA1), Article 111.</a:t>
            </a:r>
            <a:endParaRPr lang="en-GB" sz="1000" dirty="0"/>
          </a:p>
          <a:p>
            <a:pPr indent="0" marL="0">
              <a:spcAft>
                <a:spcPts val="300"/>
              </a:spcAft>
              <a:buNone/>
            </a:pPr>
            <a:r>
              <a:rPr lang="en-GB" altLang="en-US" sz="1000" dirty="0">
                <a:solidFill>
                  <a:schemeClr val="tx1"/>
                </a:solidFill>
              </a:rPr>
              <a:t>Microsoft (2024) </a:t>
            </a:r>
            <a:pPr indent="0" marL="0">
              <a:spcAft>
                <a:spcPts val="300"/>
              </a:spcAft>
              <a:buNone/>
            </a:pPr>
            <a:r>
              <a:rPr lang="en-GB" altLang="en-US" sz="1000" i="1" dirty="0">
                <a:solidFill>
                  <a:schemeClr val="tx1"/>
                </a:solidFill>
              </a:rPr>
              <a:t>Shared responsibility in the cloud</a:t>
            </a:r>
            <a:pPr indent="0" marL="0">
              <a:spcAft>
                <a:spcPts val="300"/>
              </a:spcAft>
              <a:buNone/>
            </a:pPr>
            <a:r>
              <a:rPr lang="en-GB" altLang="en-US" sz="1000" dirty="0">
                <a:solidFill>
                  <a:schemeClr val="tx1"/>
                </a:solidFill>
              </a:rPr>
              <a:t>. Available at: https://learn.microsoft.com/azure/security/fundamentals/shared-responsibility (Accessed: 23 July 2026).</a:t>
            </a:r>
            <a:endParaRPr lang="en-GB" sz="1000" dirty="0"/>
          </a:p>
          <a:p>
            <a:pPr indent="0" marL="0">
              <a:spcAft>
                <a:spcPts val="300"/>
              </a:spcAft>
              <a:buNone/>
            </a:pPr>
            <a:r>
              <a:rPr lang="en-GB" altLang="en-US" sz="1000" dirty="0">
                <a:solidFill>
                  <a:schemeClr val="tx1"/>
                </a:solidFill>
              </a:rPr>
              <a:t>Morris, K. (2020) </a:t>
            </a:r>
            <a:pPr indent="0" marL="0">
              <a:spcAft>
                <a:spcPts val="300"/>
              </a:spcAft>
              <a:buNone/>
            </a:pPr>
            <a:r>
              <a:rPr lang="en-GB" altLang="en-US" sz="1000" i="1" dirty="0">
                <a:solidFill>
                  <a:schemeClr val="tx1"/>
                </a:solidFill>
              </a:rPr>
              <a:t>Infrastructure as Code: Dynamic Systems for the Cloud Age</a:t>
            </a:r>
            <a:pPr indent="0" marL="0">
              <a:spcAft>
                <a:spcPts val="300"/>
              </a:spcAft>
              <a:buNone/>
            </a:pPr>
            <a:r>
              <a:rPr lang="en-GB" altLang="en-US" sz="1000" dirty="0">
                <a:solidFill>
                  <a:schemeClr val="tx1"/>
                </a:solidFill>
              </a:rPr>
              <a:t>. 2nd edn. Sebastopol, CA: O’Reilly Media.</a:t>
            </a:r>
            <a:endParaRPr lang="en-GB" sz="1000" dirty="0"/>
          </a:p>
          <a:p>
            <a:pPr indent="0" marL="0">
              <a:spcAft>
                <a:spcPts val="300"/>
              </a:spcAft>
              <a:buNone/>
            </a:pPr>
            <a:r>
              <a:rPr lang="en-GB" altLang="en-US" sz="1000" dirty="0">
                <a:solidFill>
                  <a:schemeClr val="tx1"/>
                </a:solidFill>
              </a:rPr>
              <a:t>Ouyang, S. et al. (2025) ‘An empirical study of the non-determinism of ChatGPT in code generation’, </a:t>
            </a:r>
            <a:pPr indent="0" marL="0">
              <a:spcAft>
                <a:spcPts val="300"/>
              </a:spcAft>
              <a:buNone/>
            </a:pPr>
            <a:r>
              <a:rPr lang="en-GB" altLang="en-US" sz="1000" i="1" dirty="0">
                <a:solidFill>
                  <a:schemeClr val="tx1"/>
                </a:solidFill>
              </a:rPr>
              <a:t>ACM Transactions on Software Engineering and Methodology</a:t>
            </a:r>
            <a:pPr indent="0" marL="0">
              <a:spcAft>
                <a:spcPts val="300"/>
              </a:spcAft>
              <a:buNone/>
            </a:pPr>
            <a:r>
              <a:rPr lang="en-GB" altLang="en-US" sz="1000" dirty="0">
                <a:solidFill>
                  <a:schemeClr val="tx1"/>
                </a:solidFill>
              </a:rPr>
              <a:t>, 34(2), pp. 1–28.</a:t>
            </a:r>
            <a:endParaRPr lang="en-GB" sz="1000" dirty="0"/>
          </a:p>
          <a:p>
            <a:pPr indent="0" marL="0">
              <a:spcAft>
                <a:spcPts val="300"/>
              </a:spcAft>
              <a:buNone/>
            </a:pPr>
            <a:r>
              <a:rPr lang="en-GB" altLang="en-US" sz="1000" dirty="0">
                <a:solidFill>
                  <a:schemeClr val="tx1"/>
                </a:solidFill>
              </a:rPr>
              <a:t>Pearce, H. et al. (2023) ‘Examining zero-shot vulnerability repair with large language models’, </a:t>
            </a:r>
            <a:pPr indent="0" marL="0">
              <a:spcAft>
                <a:spcPts val="300"/>
              </a:spcAft>
              <a:buNone/>
            </a:pPr>
            <a:r>
              <a:rPr lang="en-GB" altLang="en-US" sz="1000" i="1" dirty="0">
                <a:solidFill>
                  <a:schemeClr val="tx1"/>
                </a:solidFill>
              </a:rPr>
              <a:t>2023 IEEE Symposium on Security and Privacy</a:t>
            </a:r>
            <a:pPr indent="0" marL="0">
              <a:spcAft>
                <a:spcPts val="300"/>
              </a:spcAft>
              <a:buNone/>
            </a:pPr>
            <a:r>
              <a:rPr lang="en-GB" altLang="en-US" sz="1000" dirty="0">
                <a:solidFill>
                  <a:schemeClr val="tx1"/>
                </a:solidFill>
              </a:rPr>
              <a:t>, pp. 2339–2356.</a:t>
            </a:r>
            <a:endParaRPr lang="en-GB" sz="1000" dirty="0"/>
          </a:p>
          <a:p>
            <a:pPr indent="0" marL="0">
              <a:spcAft>
                <a:spcPts val="300"/>
              </a:spcAft>
              <a:buNone/>
            </a:pPr>
            <a:r>
              <a:rPr lang="en-GB" altLang="en-US" sz="1000" dirty="0">
                <a:solidFill>
                  <a:schemeClr val="tx1"/>
                </a:solidFill>
              </a:rPr>
              <a:t>Rahman, A., Parnin, C. and Williams, L. (2019) ‘The seven sins: Security smells in infrastructure as code scripts’, </a:t>
            </a:r>
            <a:pPr indent="0" marL="0">
              <a:spcAft>
                <a:spcPts val="300"/>
              </a:spcAft>
              <a:buNone/>
            </a:pPr>
            <a:r>
              <a:rPr lang="en-GB" altLang="en-US" sz="1000" i="1" dirty="0">
                <a:solidFill>
                  <a:schemeClr val="tx1"/>
                </a:solidFill>
              </a:rPr>
              <a:t>Proceedings of the 41st ICSE</a:t>
            </a:r>
            <a:pPr indent="0" marL="0">
              <a:spcAft>
                <a:spcPts val="300"/>
              </a:spcAft>
              <a:buNone/>
            </a:pPr>
            <a:r>
              <a:rPr lang="en-GB" altLang="en-US" sz="1000" dirty="0">
                <a:solidFill>
                  <a:schemeClr val="tx1"/>
                </a:solidFill>
              </a:rPr>
              <a:t>, pp. 164–175.</a:t>
            </a:r>
            <a:endParaRPr lang="en-GB" sz="1000" dirty="0"/>
          </a:p>
        </p:txBody>
      </p:sp>
      <p:sp>
        <p:nvSpPr>
          <p:cNvPr id="25" name="Slide Number Placeholder 0"/>
          <p:cNvSpPr>
            <a:spLocks noGrp="1"/>
          </p:cNvSpPr>
          <p:nvPr>
            <p:ph type="sldNum" sz="quarter" idx="4294967295"/>
          </p:nvPr>
        </p:nvSpPr>
        <p:spPr>
          <a:xfrm>
            <a:off x="1010412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defRPr>
            </a:lvl1pPr>
          </a:lstStyle>
          <a:p>
            <a:pPr algn="r"/>
            <a:fld id="{F7021451-1387-4CA6-816F-3879F97B5CBC}" type="slidenum">
              <a:rPr b="0" lang="en-GB"/>
              <a:t>10</a:t>
            </a:fld>
            <a:endParaRPr lang="en-GB"/>
          </a:p>
        </p:txBody>
      </p:sp>
    </p:spTree>
  </p:cSld>
  <p:clrMapOvr>
    <a:masterClrMapping/>
  </p:clrMapOvr>
</p:sld>
</file>

<file path=ppt/theme/theme1.xml><?xml version="1.0" encoding="utf-8"?>
<a:theme xmlns:a="http://schemas.openxmlformats.org/drawingml/2006/main" name="Sunderland Research">
  <a:themeElements>
    <a:clrScheme name="Sunderland Research">
      <a:dk1>
        <a:srgbClr val="1A1F26"/>
      </a:dk1>
      <a:lt1>
        <a:srgbClr val="FFFFFF"/>
      </a:lt1>
      <a:dk2>
        <a:srgbClr val="08233E"/>
      </a:dk2>
      <a:lt2>
        <a:srgbClr val="EEF2F6"/>
      </a:lt2>
      <a:accent1>
        <a:srgbClr val="C73D1A"/>
      </a:accent1>
      <a:accent2>
        <a:srgbClr val="156082"/>
      </a:accent2>
      <a:accent3>
        <a:srgbClr val="6C93B8"/>
      </a:accent3>
      <a:accent4>
        <a:srgbClr val="2E7D4F"/>
      </a:accent4>
      <a:accent5>
        <a:srgbClr val="B7791F"/>
      </a:accent5>
      <a:accent6>
        <a:srgbClr val="7A8794"/>
      </a:accent6>
      <a:hlink>
        <a:srgbClr val="156082"/>
      </a:hlink>
      <a:folHlink>
        <a:srgbClr val="6C93B8"/>
      </a:folHlink>
    </a:clrScheme>
    <a:fontScheme name="Sunderland Resear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University of Sunderland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AI-Driven Security Review in Modern DevSecOps Pipelines</dc:title>
  <dc:subject>PROM06 Research Project: recorded presentation</dc:subject>
  <dc:creator>Abdul Waheed</dc:creator>
  <cp:lastModifiedBy>Abdul Waheed</cp:lastModifiedBy>
  <cp:revision>1</cp:revision>
  <dcterms:created xsi:type="dcterms:W3CDTF">2026-10-14T17:08:00Z</dcterms:created>
  <dcterms:modified xsi:type="dcterms:W3CDTF">2026-10-14T17:08:00Z</dcterms:modified>
</cp:coreProperties>
</file>