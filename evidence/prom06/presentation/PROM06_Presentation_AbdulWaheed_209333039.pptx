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21dba87-bef7-e26d-9c6b-9a9c21357d1f}">
          <p14:sldIdLst>
            <p14:sldId id="256"/>
            <p14:sldId id="257"/>
          </p14:sldIdLst>
        </p14:section>
        <p14:section name="Research context" id="{195a83ef-3ca6-1c12-38cc-10aa906893aa}">
          <p14:sldIdLst>
            <p14:sldId id="258"/>
          </p14:sldIdLst>
        </p14:section>
        <p14:section name="Practical work" id="{e744c951-770d-2679-8162-1c55a09ea8c5}">
          <p14:sldIdLst>
            <p14:sldId id="259"/>
            <p14:sldId id="260"/>
          </p14:sldIdLst>
        </p14:section>
        <p14:section name="Results" id="{3969aacd-362e-fe9a-a403-223117228d5b}">
          <p14:sldIdLst>
            <p14:sldId id="261"/>
            <p14:sldId id="262"/>
            <p14:sldId id="263"/>
          </p14:sldIdLst>
        </p14:section>
        <p14:section name="Evaluation and conclusion" id="{caf0a159-292e-b4a2-c169-f3ee90a210f2}">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8233E"/>
                </a:solidFill>
                <a:latin typeface="+mn-lt"/>
              </a:defRPr>
            </a:pPr>
            <a:r>
              <a:rPr sz="1300" b="0" i="0" u="none" strike="noStrike">
                <a:solidFill>
                  <a:srgbClr val="08233E"/>
                </a:solidFill>
                <a:latin typeface="+mn-lt"/>
              </a:rPr>
              <a:t>Vulnerable cases detected (of 12)</a:t>
            </a:r>
          </a:p>
        </c:rich>
      </c:tx>
      <c:layout/>
      <c:overlay val="0"/>
    </c:title>
    <c:autoTitleDeleted val="0"/>
    <c:plotArea>
      <c:layout/>
      <c:barChart>
        <c:barDir val="col"/>
        <c:grouping val="clustered"/>
        <c:varyColors val="0"/>
        <c:ser>
          <c:idx val="0"/>
          <c:order val="0"/>
          <c:tx>
            <c:strRef>
              <c:f>Sheet1!$B$1</c:f>
              <c:strCache>
                <c:ptCount val="1"/>
                <c:pt idx="0">
                  <c:v>Vulnerable cases detected</c:v>
                </c:pt>
              </c:strCache>
            </c:strRef>
          </c:tx>
          <c:spPr>
            <a:solidFill>
              <a:srgbClr val="156082"/>
            </a:solidFill>
            <a:effectLst/>
          </c:spPr>
          <c:invertIfNegative val="0"/>
          <c:dLbls>
            <c:numFmt formatCode="#,##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156082"/>
              </a:solidFill>
              <a:effectLst/>
            </c:spPr>
          </c:dPt>
          <c:dPt>
            <c:idx val="1"/>
            <c:invertIfNegative val="0"/>
            <c:bubble3D val="0"/>
            <c:spPr>
              <a:solidFill>
                <a:srgbClr val="156082"/>
              </a:solidFill>
              <a:effectLst/>
            </c:spPr>
          </c:dPt>
          <c:dPt>
            <c:idx val="2"/>
            <c:invertIfNegative val="0"/>
            <c:bubble3D val="0"/>
            <c:spPr>
              <a:solidFill>
                <a:srgbClr val="08233E"/>
              </a:solidFill>
              <a:effectLst/>
            </c:spPr>
          </c:dPt>
          <c:dPt>
            <c:idx val="3"/>
            <c:invertIfNegative val="0"/>
            <c:bubble3D val="0"/>
            <c:spPr>
              <a:solidFill>
                <a:srgbClr val="C73D1A"/>
              </a:solidFill>
              <a:effectLst/>
            </c:spPr>
          </c:dPt>
          <c:cat>
            <c:multiLvlStrRef>
              <c:f>Sheet1!$A$2:$A$5</c:f>
              <c:multiLvlStrCache>
                <c:ptCount val="4"/>
                <c:lvl>
                  <c:pt idx="0">
                    <c:v>Checkov</c:v>
                  </c:pt>
                  <c:pt idx="1">
                    <c:v>tfsec</c:v>
                  </c:pt>
                  <c:pt idx="2">
                    <c:v>Scanners combined</c:v>
                  </c:pt>
                  <c:pt idx="3">
                    <c:v>AI reviewer
(+1 partial)</c:v>
                  </c:pt>
                </c:lvl>
              </c:multiLvlStrCache>
            </c:multiLvlStrRef>
          </c:cat>
          <c:val>
            <c:numRef>
              <c:f>Sheet1!$B$2:$B$5</c:f>
              <c:numCache>
                <c:formatCode>General</c:formatCode>
                <c:ptCount val="4"/>
                <c:pt idx="0">
                  <c:v>5</c:v>
                </c:pt>
                <c:pt idx="1">
                  <c:v>4</c:v>
                </c:pt>
                <c:pt idx="2">
                  <c:v>8</c:v>
                </c:pt>
                <c:pt idx="3">
                  <c:v>11</c:v>
                </c:pt>
              </c:numCache>
            </c:numRef>
          </c:val>
        </c:ser>
        <c:dLbls>
          <c:numFmt formatCode="#,##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A1F26"/>
                </a:solidFill>
                <a:latin typeface="+mn-lt"/>
              </a:defRPr>
            </a:pPr>
            <a:endParaRPr lang="en-GB"/>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E1E6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0"/>
                </a:solidFill>
                <a:latin typeface="+mn-lt"/>
              </a:defRPr>
            </a:pPr>
            <a:endParaRPr lang="en-GB"/>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8233E"/>
                </a:solidFill>
                <a:latin typeface="+mn-lt"/>
              </a:defRPr>
            </a:pPr>
            <a:r>
              <a:rPr sz="1300" b="0" i="0" u="none" strike="noStrike">
                <a:solidFill>
                  <a:srgbClr val="08233E"/>
                </a:solidFill>
                <a:latin typeface="+mn-lt"/>
              </a:rPr>
              <a:t>Average score out of 2 (37 runs)</a:t>
            </a:r>
          </a:p>
        </c:rich>
      </c:tx>
      <c:layout/>
      <c:overlay val="0"/>
    </c:title>
    <c:autoTitleDeleted val="0"/>
    <c:plotArea>
      <c:layout/>
      <c:barChart>
        <c:barDir val="bar"/>
        <c:grouping val="clustered"/>
        <c:varyColors val="0"/>
        <c:ser>
          <c:idx val="0"/>
          <c:order val="0"/>
          <c:tx>
            <c:strRef>
              <c:f>Sheet1!$B$1</c:f>
              <c:strCache>
                <c:ptCount val="1"/>
                <c:pt idx="0">
                  <c:v>Mean score (0–2)</c:v>
                </c:pt>
              </c:strCache>
            </c:strRef>
          </c:tx>
          <c:spPr>
            <a:solidFill>
              <a:srgbClr val="C73D1A"/>
            </a:solidFill>
            <a:effectLst/>
          </c:spPr>
          <c:invertIfNegative val="0"/>
          <c:dLbls>
            <c:numFmt formatCode="0.0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C73D1A"/>
              </a:solidFill>
              <a:effectLst/>
            </c:spPr>
          </c:dPt>
          <c:dPt>
            <c:idx val="1"/>
            <c:invertIfNegative val="0"/>
            <c:bubble3D val="0"/>
            <c:spPr>
              <a:solidFill>
                <a:srgbClr val="156082"/>
              </a:solidFill>
              <a:effectLst/>
            </c:spPr>
          </c:dPt>
          <c:dPt>
            <c:idx val="2"/>
            <c:invertIfNegative val="0"/>
            <c:bubble3D val="0"/>
            <c:spPr>
              <a:solidFill>
                <a:srgbClr val="156082"/>
              </a:solidFill>
              <a:effectLst/>
            </c:spPr>
          </c:dPt>
          <c:dPt>
            <c:idx val="3"/>
            <c:invertIfNegative val="0"/>
            <c:bubble3D val="0"/>
            <c:spPr>
              <a:solidFill>
                <a:srgbClr val="156082"/>
              </a:solidFill>
              <a:effectLst/>
            </c:spPr>
          </c:dPt>
          <c:dPt>
            <c:idx val="4"/>
            <c:invertIfNegative val="0"/>
            <c:bubble3D val="0"/>
            <c:spPr>
              <a:solidFill>
                <a:srgbClr val="156082"/>
              </a:solidFill>
              <a:effectLst/>
            </c:spPr>
          </c:dPt>
          <c:dPt>
            <c:idx val="5"/>
            <c:invertIfNegative val="0"/>
            <c:bubble3D val="0"/>
            <c:spPr>
              <a:solidFill>
                <a:srgbClr val="156082"/>
              </a:solidFill>
              <a:effectLst/>
            </c:spPr>
          </c:dPt>
          <c:cat>
            <c:multiLvlStrRef>
              <c:f>Sheet1!$A$2:$A$7</c:f>
              <c:multiLvlStrCache>
                <c:ptCount val="6"/>
                <c:lvl>
                  <c:pt idx="0">
                    <c:v>Explanation accuracy</c:v>
                  </c:pt>
                  <c:pt idx="1">
                    <c:v>Developer usefulness</c:v>
                  </c:pt>
                  <c:pt idx="2">
                    <c:v>Remediation</c:v>
                  </c:pt>
                  <c:pt idx="3">
                    <c:v>Impact</c:v>
                  </c:pt>
                  <c:pt idx="4">
                    <c:v>Detection</c:v>
                  </c:pt>
                  <c:pt idx="5">
                    <c:v>Context awareness</c:v>
                  </c:pt>
                </c:lvl>
              </c:multiLvlStrCache>
            </c:multiLvlStrRef>
          </c:cat>
          <c:val>
            <c:numRef>
              <c:f>Sheet1!$B$2:$B$7</c:f>
              <c:numCache>
                <c:formatCode>General</c:formatCode>
                <c:ptCount val="6"/>
                <c:pt idx="0">
                  <c:v>1.65</c:v>
                </c:pt>
                <c:pt idx="1">
                  <c:v>1.76</c:v>
                </c:pt>
                <c:pt idx="2">
                  <c:v>1.89</c:v>
                </c:pt>
                <c:pt idx="3">
                  <c:v>1.89</c:v>
                </c:pt>
                <c:pt idx="4">
                  <c:v>1.89</c:v>
                </c:pt>
                <c:pt idx="5">
                  <c:v>1.97</c:v>
                </c:pt>
              </c:numCache>
            </c:numRef>
          </c:val>
        </c:ser>
        <c:dLbls>
          <c:numFmt formatCode="0.0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1F26"/>
                </a:solidFill>
                <a:latin typeface="+mn-lt"/>
              </a:defRPr>
            </a:pPr>
            <a:endParaRPr lang="en-GB"/>
          </a:p>
        </c:txPr>
        <c:crossAx val="2094734552"/>
        <c:crosses val="autoZero"/>
        <c:auto val="1"/>
        <c:lblAlgn val="ctr"/>
        <c:noMultiLvlLbl val="1"/>
      </c:catAx>
      <c:valAx>
        <c:axId val="2094734552"/>
        <c:scaling>
          <c:orientation val="minMax"/>
          <c:max val="2"/>
          <c:min val="0"/>
        </c:scaling>
        <c:delete val="0"/>
        <c:axPos val="b"/>
        <c:majorGridlines>
          <c:spPr>
            <a:ln w="9525" cap="flat">
              <a:solidFill>
                <a:srgbClr val="E1E6EC"/>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0"/>
                </a:solidFill>
                <a:latin typeface="+mn-lt"/>
              </a:defRPr>
            </a:pPr>
            <a:endParaRPr lang="en-GB"/>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GB"/>
              <a:t>7/23/19</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GB"/>
              <a:t>‹#›</a:t>
            </a:fld>
            <a:endParaRPr lang="en-GB"/>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1 · about 0:45 · 0:45 in total]
Hello, my name is Abdul Waheed. This is my PROM06 research project for the MSc in Computer Science with Cybersecurity at the University of Sunderland. My supervisor is Liz Gandy.
My project asks a simple question: can an AI tool help to find security problems in cloud code? I built a system where three tools check the same code: two well-known scanners, called Checkov and tfsec, and an AI reviewer. Then I compared their results.
I will explain why this matters, what I built, how I tested it, and what I found.</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1</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2 · about 1:30 · 2:15 in total]
Today, cloud systems are often built with code, using a tool called Terraform. But if one line is insecure, for example a firewall rule that lets anyone on the internet connect, that mistake is copied everywhere the code is used. And keeping these settings safe is the customer’s job, not the cloud provider’s.
To catch these mistakes, teams use scanners. A scanner checks code against a list of rules. Scanners are fast, but they only find problems that are on their list. And developers often ignore warnings that are hard to understand.
AI reviewers can read all the code and explain problems in plain English. But they can be wrong while sounding sure, and they can give different answers to the same question.
So my aim was to find out how well an AI reviewer works, compared with these scanners. I asked four questions. How accurate is it? How good are its fixes? Will its comments help developers understand? And what problems come up in real use? My objectives were to read the research, build the system, test it fairly, and find its strengths and limits.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2</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3 · about 1:15 · 3:30 in total]
The research I read shaped my design.
Johnson and colleagues found that developers stop using tools that give too many unclear warnings. So I also counted false alarms, and I scored how clear the explanations were.
Rahman and colleagues listed common security mistakes in this kind of code, like open network rules and passwords left in the code. Several of my tests use exactly these mistakes.
Some tools, like the one by Li and colleagues, give the scanner’s results to the AI. Then you cannot tell what the AI found by itself. So I kept my AI separate from the scanners.
Two more ideas came later, when my first results showed they mattered. AI can give different answers to the same question, so I ran every test three times. And AI fixes can be wrong, so I tried every fix and tested it again.
The gap is simple: there are very few fair comparisons of an AI reviewer with these scanners.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3</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4 · about 1:20 · 4:50 in total]
This is the system I built, on GitHub.
When a developer wants to change the code, they open a pull request, which is a request to add their change. This starts an automatic job. First, it checks that the code is valid. It never builds anything in the real cloud.
Then three tools check the same code. Checkov and tfsec use fixed rules. My AI reviewer sends all the code, a short security policy and the project’s read-me file to Claude, the AI model, and asks for a clear answer with no more than three findings. Each tool posts its own comment, and no tool sees the others’ results.
On the right are real results from one test. Here, SSH, which is remote login, is open to the whole internet. Checkov found nothing, so it missed the problem. tfsec marked it as critical. The AI marked it as high, and explained the risk and the fix.
[Optional demo, about 30 seconds: open pull request 71 on GitHub and scroll through the three comments.]
All my code and evidence are public on GitHub.</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4</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5 · about 1:15 · 6:05 in total]
This is how I tested it.
I wrote fifteen small Terraform tests. For each one, I wrote down the correct answer before running any tool. Twelve tests have a security problem. Three are safe on purpose, to see if a tool raises false alarms.
I ran each test three times. With one extra run after a failure, that made forty-six runs. I compared every result with the correct answer, and I scored the AI’s comments on six points that I fixed in advance. Then I tried the AI’s own fixes and tested them again.
One discovery changed my study. I found that in my early runs, the AI had seen the scanners’ results, so it was not a fair test. I fixed the system, then ran every test with the AI working alone, and checked all forty-six runs to prove it.
Everything was safe: fake passwords, nothing built in the real cloud, and no personal data.</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6 · about 1:25 · 7:30 in total]
Now the results. My first question was: how accurate is the AI?
There were twelve tests with a problem. Checkov found five, and tfsec found four. Together, the scanners found eight. The AI found eleven, and half-found one more: it saw that problem every time, but showed it to the developer only once.
Three things stand out. First, the AI found three problems that both scanners missed: two secrets left in the code, and a role with too much power. It spotted that role by comparing it with a separate file of requirements.
Second, the scanners hardly overlapped. Only one test was caught by both. And Checkov missed open internet access written as 0.0.0.0/0, but caught the same rule written as a star.
Third, the AI made a different kind of mistake. On the safe tests, three runs out of nine raised a problem. And of the forty-five problems it posted, 82 out of 100 were correct, or 89 if three findings about weaknesses in my own tests count as fair.
These numbers are only for my fifteen tests.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6</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7 · about 1:40 · 9:10 in total]
My second question was: how good are the AI’s fixes? I did not just read them. I tried them.
All twelve fixes solved the problem and passed Terraform’s checks. For eight, a scanner also agreed the problem was gone. And when the AI checked its own fixed code, it no longer saw the problem in nine of the twelve.
But one piece of advice was wrong. The AI said a certain role needs tags, which are labels. When I followed that advice, Terraform gave the error you can see here, and the code broke.
My third question was: will the AI’s comments help developers understand the problem? To answer it, I looked closely at every AI comment and scored it. The chart shows the average scores, out of two.
The AI explained what was wrong, why it was dangerous and how to fix it, in plain English, about the exact code. The scanners gave only a rule number and one short line. So the AI’s comments are likely to help developers learn.
But there is a risk. The lowest score was for explanation accuracy. Sometimes the AI said something false while sounding sure, and a developer could learn the wrong thing. I scored the comments once, with AI help.</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7</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8 · about 1:35 · 10:45 in total]
My fourth question was about problems in real use, and this was my most surprising finding.
On the left is the same fix, checked twice. The only difference is one comment. A comment is just a note for people. It does not change what the code does.
In version A, an old comment said “Deliberately unrestricted SSH access”. The AI gave its own fix a high-risk warning, and it quoted that comment. In version B, I only changed the comment, and the AI approved the fix with just a small note. Another test showed the same thing.
So one comment can change the AI’s decision, even when the code is the same. Greshake and colleagues call this indirect prompt injection, where text that the AI reads changes what it does. In a real team, anyone who can write a comment could influence it.
I found three more problems. The AI gave different answers to the same test. Some real problems were hidden from the developer. And changes that only deleted files were not checked by the AI at all. The good news is that it was fast: feedback came in under two minutes.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8</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9 · about 1:20 · 12:05 in total]
So, how much can we trust these results?
Some findings are strong. Scanners only find what is on their list. The two scanners helped each other. The AI found problems that need the wider picture, but its mistakes were harder to predict.
There are real limits too. I used only fifteen tests that I wrote myself, with one cloud and one AI model. I chose some tests where scanners were weak, which makes the AI look better. Ding and colleagues warn that test sets like this can flatter AI. Comments in my tests may have given the AI hints. And I scored the results only once.
My biggest lesson came from my own mistake. Results I thought were fair were not. Fixing that took time, but it saved the study. Now I only trust a result when I can trace it back to the exact run and its raw output.
Overall, I met all four objectives, within the limits of this small test set.</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9</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10 · about 1:10 · 13:15 in total]
So, can AI help to check cloud code for security problems? On my fifteen tests, the answer is yes, but with conditions. The AI found everything the scanners found, plus three problems they missed. But its mistakes were harder to predict. So it should work next to the scanners, not replace them, and it should not decide on its own which changes are accepted.
My advice is on the left: let the scanners enforce the rules and the AI give advice, use more than one scanner, treat code comments as untrusted, show the AI’s unsure findings, test every AI fix automatically, and check changes that only delete files.
Next, I would test real-world code, use more AI models, study comment tricks on purpose, and test the comments with real developers.
The references are on this slide, and my code is on GitHub. Thank you for listening.</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10</a:t>
            </a:fld>
            <a:endParaRPr lang="en-GB"/>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NAVY">
    <p:bg>
      <p:bgPr>
        <a:solidFill>
          <a:srgbClr val="08233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w="12700">
            <a:solidFill>
              <a:schemeClr val="tx2"/>
            </a:solidFill>
            <a:prstDash val="solid"/>
          </a:ln>
        </p:spPr>
      </p:sp>
      <p:sp>
        <p:nvSpPr>
          <p:cNvPr id="3" name="Shape 1"/>
          <p:cNvSpPr/>
          <p:nvPr/>
        </p:nvSpPr>
        <p:spPr>
          <a:xfrm>
            <a:off x="548640" y="502920"/>
            <a:ext cx="2514600" cy="1097280"/>
          </a:xfrm>
          <a:prstGeom prst="rect">
            <a:avLst/>
          </a:prstGeom>
          <a:solidFill>
            <a:schemeClr val="bg1"/>
          </a:solidFill>
          <a:ln w="12700">
            <a:solidFill>
              <a:schemeClr val="bg1"/>
            </a:solidFill>
            <a:prstDash val="solid"/>
          </a:ln>
        </p:spPr>
      </p:sp>
      <p:pic>
        <p:nvPicPr>
          <p:cNvPr id="4" name="Image 0" descr="/tmp/claude-0/-home-claude-ai-pr-review/8123617a-09e1-5f82-8592-b520c5c856e4/scratchpad/ppt/uos_logo.png">    </p:cNvPr>
          <p:cNvPicPr>
            <a:picLocks noChangeAspect="1"/>
          </p:cNvPicPr>
          <p:nvPr/>
        </p:nvPicPr>
        <p:blipFill>
          <a:blip r:embed="rId1"/>
          <a:stretch>
            <a:fillRect/>
          </a:stretch>
        </p:blipFill>
        <p:spPr>
          <a:xfrm>
            <a:off x="704088" y="548640"/>
            <a:ext cx="2194560" cy="1024128"/>
          </a:xfrm>
          <a:prstGeom prst="rect">
            <a:avLst/>
          </a:prstGeom>
        </p:spPr>
      </p:pic>
      <p:sp>
        <p:nvSpPr>
          <p:cNvPr id="5" name="Text 2"/>
          <p:cNvSpPr/>
          <p:nvPr>
            <p:ph type="title" hasCustomPrompt="1"/>
          </p:nvPr>
        </p:nvSpPr>
        <p:spPr>
          <a:xfrm>
            <a:off x="548640" y="1874520"/>
            <a:ext cx="11094415" cy="1325880"/>
          </a:xfrm>
          <a:prstGeom prst="rect">
            <a:avLst/>
          </a:prstGeom>
          <a:noFill/>
          <a:ln/>
        </p:spPr>
        <p:txBody>
          <a:bodyPr wrap="square" rtlCol="0"/>
          <a:lstStyle>
            <a:lvl1pPr algn="l" indent="0" marL="0">
              <a:buNone/>
              <a:defRPr lang="en-GB" altLang="en-US" sz="4000" b="1" dirty="0">
                <a:solidFill>
                  <a:schemeClr val="bg1"/>
                </a:solidFill>
              </a:defRPr>
            </a:lvl1pPr>
          </a:lstStyle>
          <a:p>
            <a:pPr algn="l" indent="0" marL="0">
              <a:buNone/>
            </a:pPr>
            <a:endParaRPr lang="en-GB" sz="4000" dirty="0"/>
          </a:p>
        </p:txBody>
      </p:sp>
      <p:sp>
        <p:nvSpPr>
          <p:cNvPr id="6" name="Text 2"/>
          <p:cNvSpPr/>
          <p:nvPr>
            <p:ph idx="104" type="body" hasCustomPrompt="1"/>
          </p:nvPr>
        </p:nvSpPr>
        <p:spPr>
          <a:xfrm>
            <a:off x="548640" y="3310128"/>
            <a:ext cx="11094415" cy="457200"/>
          </a:xfrm>
          <a:prstGeom prst="rect">
            <a:avLst/>
          </a:prstGeom>
          <a:noFill/>
          <a:ln/>
        </p:spPr>
        <p:txBody>
          <a:bodyPr wrap="square" rtlCol="0"/>
          <a:lstStyle>
            <a:lvl1pPr algn="l" indent="0" marL="0">
              <a:buNone/>
              <a:defRPr lang="en-GB" altLang="en-US" sz="2000" dirty="0">
                <a:solidFill>
                  <a:schemeClr val="bg2"/>
                </a:solidFill>
              </a:defRPr>
            </a:lvl1pPr>
          </a:lstStyle>
          <a:p>
            <a:pPr algn="l" indent="0" marL="0">
              <a:buNone/>
            </a:pPr>
            <a:endParaRPr lang="en-GB"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rtlCol="0"/>
          <a:lstStyle>
            <a:lvl1pPr algn="l" indent="0" marL="0">
              <a:buNone/>
              <a:defRPr lang="en-GB" altLang="en-US" sz="3600" b="1" dirty="0">
                <a:solidFill>
                  <a:schemeClr val="tx2"/>
                </a:solidFill>
              </a:defRPr>
            </a:lvl1pPr>
          </a:lstStyle>
          <a:p>
            <a:pPr algn="l" indent="0" marL="0">
              <a:buNone/>
            </a:pPr>
            <a:endParaRPr lang="en-GB" sz="3600" dirty="0"/>
          </a:p>
        </p:txBody>
      </p:sp>
      <p:sp>
        <p:nvSpPr>
          <p:cNvPr id="3" name="Text 0"/>
          <p:cNvSpPr/>
          <p:nvPr/>
        </p:nvSpPr>
        <p:spPr>
          <a:xfrm>
            <a:off x="548640" y="6382512"/>
            <a:ext cx="6858000" cy="274320"/>
          </a:xfrm>
          <a:prstGeom prst="rect">
            <a:avLst/>
          </a:prstGeom>
          <a:noFill/>
          <a:ln/>
        </p:spPr>
        <p:txBody>
          <a:bodyPr wrap="square" lIns="0" tIns="0" rIns="0" bIns="0" rtlCol="0" anchor="ctr"/>
          <a:lstStyle/>
          <a:p>
            <a:pPr indent="0" marL="0">
              <a:buNone/>
            </a:pPr>
            <a:r>
              <a:rPr lang="en-GB" altLang="en-US" sz="1000" dirty="0">
                <a:solidFill>
                  <a:schemeClr val="accent6"/>
                </a:solidFill>
              </a:rPr>
              <a:t>Abdul Waheed · PROM06 Research Project · University of Sunderland</a:t>
            </a:r>
            <a:endParaRPr lang="en-GB" sz="1000" dirty="0"/>
          </a:p>
        </p:txBody>
      </p:sp>
      <p:pic>
        <p:nvPicPr>
          <p:cNvPr id="4" name="Image 0" descr="/tmp/claude-0/-home-claude-ai-pr-review/8123617a-09e1-5f82-8592-b520c5c856e4/scratchpad/ppt/uos_logo.png">    </p:cNvPr>
          <p:cNvPicPr>
            <a:picLocks noChangeAspect="1"/>
          </p:cNvPicPr>
          <p:nvPr/>
        </p:nvPicPr>
        <p:blipFill>
          <a:blip r:embed="rId1"/>
          <a:stretch>
            <a:fillRect/>
          </a:stretch>
        </p:blipFill>
        <p:spPr>
          <a:xfrm>
            <a:off x="10920679" y="6327648"/>
            <a:ext cx="722376" cy="338328"/>
          </a:xfrm>
          <a:prstGeom prst="rect">
            <a:avLst/>
          </a:prstGeom>
        </p:spPr>
      </p:pic>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1003</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null</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type="title" hasCustomPrompt="1"/>
          </p:nvPr>
        </p:nvSpPr>
        <p:spPr>
          <a:xfrm>
            <a:off x="548640" y="1874520"/>
            <a:ext cx="11094415" cy="1325880"/>
          </a:xfrm>
          <a:prstGeom prst="rect">
            <a:avLst/>
          </a:prstGeom>
          <a:noFill/>
          <a:ln/>
        </p:spPr>
        <p:txBody>
          <a:bodyPr wrap="square" lIns="0" tIns="0" rIns="0" bIns="0" rtlCol="0" anchor="t"/>
          <a:lstStyle/>
          <a:p>
            <a:pPr algn="l" indent="0" marL="0">
              <a:buNone/>
            </a:pPr>
            <a:r>
              <a:rPr lang="en-GB" altLang="en-US" sz="4000" b="1" dirty="0">
                <a:solidFill>
                  <a:schemeClr val="bg1"/>
                </a:solidFill>
              </a:rPr>
              <a:t>Evaluating AI-Driven Security Review</a:t>
            </a:r>
            <a:endParaRPr lang="en-GB" sz="4000" dirty="0"/>
          </a:p>
          <a:p>
            <a:pPr algn="l" indent="0" marL="0">
              <a:buNone/>
            </a:pPr>
            <a:r>
              <a:rPr lang="en-GB" altLang="en-US" sz="4000" b="1" dirty="0">
                <a:solidFill>
                  <a:schemeClr val="bg1"/>
                </a:solidFill>
              </a:rPr>
              <a:t>in Modern DevSecOps Pipelines</a:t>
            </a:r>
            <a:endParaRPr lang="en-GB" sz="4000" dirty="0"/>
          </a:p>
        </p:txBody>
      </p:sp>
      <p:sp>
        <p:nvSpPr>
          <p:cNvPr id="3" name="Text 2"/>
          <p:cNvSpPr/>
          <p:nvPr>
            <p:ph idx="104" type="body" hasCustomPrompt="1"/>
          </p:nvPr>
        </p:nvSpPr>
        <p:spPr>
          <a:xfrm>
            <a:off x="548640" y="3310128"/>
            <a:ext cx="11094415" cy="457200"/>
          </a:xfrm>
          <a:prstGeom prst="rect">
            <a:avLst/>
          </a:prstGeom>
          <a:noFill/>
          <a:ln/>
        </p:spPr>
        <p:txBody>
          <a:bodyPr wrap="square" lIns="0" tIns="0" rIns="0" bIns="0" rtlCol="0" anchor="t"/>
          <a:lstStyle/>
          <a:p>
            <a:pPr algn="l" indent="0" marL="0">
              <a:buNone/>
            </a:pPr>
            <a:r>
              <a:rPr lang="en-GB" altLang="en-US" sz="2000" dirty="0">
                <a:solidFill>
                  <a:schemeClr val="bg2"/>
                </a:solidFill>
              </a:rPr>
              <a:t>An empirical comparison of an AI reviewer with Checkov and tfsec for Terraform pull requests</a:t>
            </a:r>
            <a:endParaRPr lang="en-GB" sz="2000" dirty="0"/>
          </a:p>
        </p:txBody>
      </p:sp>
      <p:sp>
        <p:nvSpPr>
          <p:cNvPr id="4" name="Presenter details"/>
          <p:cNvSpPr txBox="1"/>
          <p:nvPr/>
        </p:nvSpPr>
        <p:spPr>
          <a:xfrm>
            <a:off x="548640" y="4160520"/>
            <a:ext cx="6949440" cy="1737360"/>
          </a:xfrm>
          <a:prstGeom prst="rect">
            <a:avLst/>
          </a:prstGeom>
          <a:noFill/>
          <a:ln/>
        </p:spPr>
        <p:txBody>
          <a:bodyPr wrap="square" lIns="0" tIns="0" rIns="0" bIns="0" rtlCol="0" anchor="t"/>
          <a:lstStyle/>
          <a:p>
            <a:pPr indent="0" marL="0">
              <a:spcAft>
                <a:spcPts val="400"/>
              </a:spcAft>
              <a:buNone/>
            </a:pPr>
            <a:r>
              <a:rPr lang="en-GB" altLang="en-US" sz="1800" b="1" dirty="0">
                <a:solidFill>
                  <a:schemeClr val="bg1"/>
                </a:solidFill>
              </a:rPr>
              <a:t>Abdul Waheed</a:t>
            </a:r>
            <a:endParaRPr lang="en-GB" sz="1400" dirty="0"/>
          </a:p>
          <a:p>
            <a:pPr indent="0" marL="0">
              <a:spcAft>
                <a:spcPts val="400"/>
              </a:spcAft>
              <a:buNone/>
            </a:pPr>
            <a:r>
              <a:rPr lang="en-GB" altLang="en-US" sz="1400" dirty="0">
                <a:solidFill>
                  <a:schemeClr val="bg2"/>
                </a:solidFill>
              </a:rPr>
              <a:t>Student number 209333039</a:t>
            </a:r>
            <a:endParaRPr lang="en-GB" sz="1400" dirty="0"/>
          </a:p>
          <a:p>
            <a:pPr indent="0" marL="0">
              <a:spcAft>
                <a:spcPts val="400"/>
              </a:spcAft>
              <a:buNone/>
            </a:pPr>
            <a:r>
              <a:rPr lang="en-GB" altLang="en-US" sz="1400" dirty="0">
                <a:solidFill>
                  <a:schemeClr val="bg2"/>
                </a:solidFill>
              </a:rPr>
              <a:t>MSc Computer Science with Cybersecurity · PROM06 Research Project</a:t>
            </a:r>
            <a:endParaRPr lang="en-GB" sz="1400" dirty="0"/>
          </a:p>
          <a:p>
            <a:pPr indent="0" marL="0">
              <a:spcAft>
                <a:spcPts val="400"/>
              </a:spcAft>
              <a:buNone/>
            </a:pPr>
            <a:r>
              <a:rPr lang="en-GB" altLang="en-US" sz="1400" dirty="0">
                <a:solidFill>
                  <a:schemeClr val="bg2"/>
                </a:solidFill>
              </a:rPr>
              <a:t>Supervisor: Liz Gandy</a:t>
            </a:r>
            <a:endParaRPr lang="en-GB" sz="1400" dirty="0"/>
          </a:p>
          <a:p>
            <a:pPr indent="0" marL="0">
              <a:spcAft>
                <a:spcPts val="400"/>
              </a:spcAft>
              <a:buNone/>
            </a:pPr>
            <a:r>
              <a:rPr lang="en-GB" altLang="en-US" sz="1400" dirty="0">
                <a:solidFill>
                  <a:schemeClr val="bg2"/>
                </a:solidFill>
              </a:rPr>
              <a:t>Faculty of Technology · School of Computer Science · October 2026</a:t>
            </a:r>
            <a:endParaRPr lang="en-GB" sz="1400" dirty="0"/>
          </a:p>
        </p:txBody>
      </p:sp>
      <p:sp>
        <p:nvSpPr>
          <p:cNvPr id="5" name="Pull request circle"/>
          <p:cNvSpPr/>
          <p:nvPr/>
        </p:nvSpPr>
        <p:spPr>
          <a:xfrm>
            <a:off x="9692640" y="4069080"/>
            <a:ext cx="731520" cy="731520"/>
          </a:xfrm>
          <a:prstGeom prst="ellipse">
            <a:avLst/>
          </a:prstGeom>
          <a:solidFill>
            <a:schemeClr val="bg1"/>
          </a:solidFill>
          <a:ln w="12700">
            <a:solidFill>
              <a:schemeClr val="bg1"/>
            </a:solidFill>
            <a:prstDash val="solid"/>
          </a:ln>
        </p:spPr>
      </p:sp>
      <p:pic>
        <p:nvPicPr>
          <p:cNvPr id="6" name="Pull request icon" descr="preencoded.png">    </p:cNvPr>
          <p:cNvPicPr>
            <a:picLocks noChangeAspect="1"/>
          </p:cNvPicPr>
          <p:nvPr/>
        </p:nvPicPr>
        <p:blipFill>
          <a:blip r:embed="rId1"/>
          <a:stretch>
            <a:fillRect/>
          </a:stretch>
        </p:blipFill>
        <p:spPr>
          <a:xfrm>
            <a:off x="9868205" y="4244645"/>
            <a:ext cx="380390" cy="380390"/>
          </a:xfrm>
          <a:prstGeom prst="rect">
            <a:avLst/>
          </a:prstGeom>
        </p:spPr>
      </p:pic>
      <p:sp>
        <p:nvSpPr>
          <p:cNvPr id="7" name="Connector left"/>
          <p:cNvSpPr/>
          <p:nvPr/>
        </p:nvSpPr>
        <p:spPr>
          <a:xfrm flipH="1">
            <a:off x="8915400" y="4800600"/>
            <a:ext cx="1143000" cy="320040"/>
          </a:xfrm>
          <a:prstGeom prst="line">
            <a:avLst/>
          </a:prstGeom>
          <a:noFill/>
          <a:ln w="15875">
            <a:solidFill>
              <a:schemeClr val="accent3"/>
            </a:solidFill>
            <a:prstDash val="solid"/>
          </a:ln>
        </p:spPr>
      </p:sp>
      <p:sp>
        <p:nvSpPr>
          <p:cNvPr id="8" name="Connector middle"/>
          <p:cNvSpPr/>
          <p:nvPr/>
        </p:nvSpPr>
        <p:spPr>
          <a:xfrm>
            <a:off x="10058400" y="4800600"/>
            <a:ext cx="0" cy="320040"/>
          </a:xfrm>
          <a:prstGeom prst="line">
            <a:avLst/>
          </a:prstGeom>
          <a:noFill/>
          <a:ln w="15875">
            <a:solidFill>
              <a:schemeClr val="accent3"/>
            </a:solidFill>
            <a:prstDash val="solid"/>
          </a:ln>
        </p:spPr>
      </p:sp>
      <p:sp>
        <p:nvSpPr>
          <p:cNvPr id="9" name="Connector right"/>
          <p:cNvSpPr/>
          <p:nvPr/>
        </p:nvSpPr>
        <p:spPr>
          <a:xfrm>
            <a:off x="10058400" y="4800600"/>
            <a:ext cx="1143000" cy="320040"/>
          </a:xfrm>
          <a:prstGeom prst="line">
            <a:avLst/>
          </a:prstGeom>
          <a:noFill/>
          <a:ln w="15875">
            <a:solidFill>
              <a:schemeClr val="accent3"/>
            </a:solidFill>
            <a:prstDash val="solid"/>
          </a:ln>
        </p:spPr>
      </p:sp>
      <p:sp>
        <p:nvSpPr>
          <p:cNvPr id="10" name="Checkov circle"/>
          <p:cNvSpPr/>
          <p:nvPr/>
        </p:nvSpPr>
        <p:spPr>
          <a:xfrm>
            <a:off x="8549640" y="5120640"/>
            <a:ext cx="731520" cy="731520"/>
          </a:xfrm>
          <a:prstGeom prst="ellipse">
            <a:avLst/>
          </a:prstGeom>
          <a:solidFill>
            <a:schemeClr val="accent3"/>
          </a:solidFill>
          <a:ln w="19050">
            <a:solidFill>
              <a:schemeClr val="bg1"/>
            </a:solidFill>
            <a:prstDash val="solid"/>
          </a:ln>
        </p:spPr>
      </p:sp>
      <p:pic>
        <p:nvPicPr>
          <p:cNvPr id="11" name="Checkov icon" descr="preencoded.png">    </p:cNvPr>
          <p:cNvPicPr>
            <a:picLocks noChangeAspect="1"/>
          </p:cNvPicPr>
          <p:nvPr/>
        </p:nvPicPr>
        <p:blipFill>
          <a:blip r:embed="rId2"/>
          <a:stretch>
            <a:fillRect/>
          </a:stretch>
        </p:blipFill>
        <p:spPr>
          <a:xfrm>
            <a:off x="8732520" y="5303520"/>
            <a:ext cx="365760" cy="365760"/>
          </a:xfrm>
          <a:prstGeom prst="rect">
            <a:avLst/>
          </a:prstGeom>
        </p:spPr>
      </p:pic>
      <p:sp>
        <p:nvSpPr>
          <p:cNvPr id="12" name="Checkov label"/>
          <p:cNvSpPr txBox="1"/>
          <p:nvPr/>
        </p:nvSpPr>
        <p:spPr>
          <a:xfrm>
            <a:off x="8348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Checkov</a:t>
            </a:r>
            <a:endParaRPr lang="en-GB" sz="1300" dirty="0"/>
          </a:p>
        </p:txBody>
      </p:sp>
      <p:sp>
        <p:nvSpPr>
          <p:cNvPr id="13" name="tfsec circle"/>
          <p:cNvSpPr/>
          <p:nvPr/>
        </p:nvSpPr>
        <p:spPr>
          <a:xfrm>
            <a:off x="9692640" y="5120640"/>
            <a:ext cx="731520" cy="731520"/>
          </a:xfrm>
          <a:prstGeom prst="ellipse">
            <a:avLst/>
          </a:prstGeom>
          <a:solidFill>
            <a:schemeClr val="accent3"/>
          </a:solidFill>
          <a:ln w="19050">
            <a:solidFill>
              <a:schemeClr val="bg1"/>
            </a:solidFill>
            <a:prstDash val="solid"/>
          </a:ln>
        </p:spPr>
      </p:sp>
      <p:pic>
        <p:nvPicPr>
          <p:cNvPr id="14" name="tfsec icon" descr="preencoded.png">    </p:cNvPr>
          <p:cNvPicPr>
            <a:picLocks noChangeAspect="1"/>
          </p:cNvPicPr>
          <p:nvPr/>
        </p:nvPicPr>
        <p:blipFill>
          <a:blip r:embed="rId3"/>
          <a:stretch>
            <a:fillRect/>
          </a:stretch>
        </p:blipFill>
        <p:spPr>
          <a:xfrm>
            <a:off x="9875520" y="5303520"/>
            <a:ext cx="365760" cy="365760"/>
          </a:xfrm>
          <a:prstGeom prst="rect">
            <a:avLst/>
          </a:prstGeom>
        </p:spPr>
      </p:pic>
      <p:sp>
        <p:nvSpPr>
          <p:cNvPr id="15" name="tfsec label"/>
          <p:cNvSpPr txBox="1"/>
          <p:nvPr/>
        </p:nvSpPr>
        <p:spPr>
          <a:xfrm>
            <a:off x="9491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tfsec</a:t>
            </a:r>
            <a:endParaRPr lang="en-GB" sz="1300" dirty="0"/>
          </a:p>
        </p:txBody>
      </p:sp>
      <p:sp>
        <p:nvSpPr>
          <p:cNvPr id="16" name="AI reviewer circle"/>
          <p:cNvSpPr/>
          <p:nvPr/>
        </p:nvSpPr>
        <p:spPr>
          <a:xfrm>
            <a:off x="10835640" y="5120640"/>
            <a:ext cx="731520" cy="731520"/>
          </a:xfrm>
          <a:prstGeom prst="ellipse">
            <a:avLst/>
          </a:prstGeom>
          <a:solidFill>
            <a:schemeClr val="accent1"/>
          </a:solidFill>
          <a:ln w="19050">
            <a:solidFill>
              <a:schemeClr val="bg1"/>
            </a:solidFill>
            <a:prstDash val="solid"/>
          </a:ln>
        </p:spPr>
      </p:sp>
      <p:pic>
        <p:nvPicPr>
          <p:cNvPr id="17" name="AI reviewer icon" descr="preencoded.png">    </p:cNvPr>
          <p:cNvPicPr>
            <a:picLocks noChangeAspect="1"/>
          </p:cNvPicPr>
          <p:nvPr/>
        </p:nvPicPr>
        <p:blipFill>
          <a:blip r:embed="rId4"/>
          <a:stretch>
            <a:fillRect/>
          </a:stretch>
        </p:blipFill>
        <p:spPr>
          <a:xfrm>
            <a:off x="11018520" y="5303520"/>
            <a:ext cx="365760" cy="365760"/>
          </a:xfrm>
          <a:prstGeom prst="rect">
            <a:avLst/>
          </a:prstGeom>
        </p:spPr>
      </p:pic>
      <p:sp>
        <p:nvSpPr>
          <p:cNvPr id="18" name="AI reviewer label"/>
          <p:cNvSpPr txBox="1"/>
          <p:nvPr/>
        </p:nvSpPr>
        <p:spPr>
          <a:xfrm>
            <a:off x="10634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AI reviewer</a:t>
            </a:r>
            <a:endParaRPr lang="en-GB"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Can an AI reviewer catch what scanners miss?</a:t>
            </a:r>
            <a:endParaRPr lang="en-GB" sz="3600" dirty="0"/>
          </a:p>
        </p:txBody>
      </p:sp>
      <p:sp>
        <p:nvSpPr>
          <p:cNvPr id="3" name="Infrastructure is now code circle"/>
          <p:cNvSpPr/>
          <p:nvPr/>
        </p:nvSpPr>
        <p:spPr>
          <a:xfrm>
            <a:off x="548640" y="1389888"/>
            <a:ext cx="566928" cy="566928"/>
          </a:xfrm>
          <a:prstGeom prst="ellipse">
            <a:avLst/>
          </a:prstGeom>
          <a:solidFill>
            <a:schemeClr val="accent2"/>
          </a:solidFill>
          <a:ln w="12700">
            <a:solidFill>
              <a:schemeClr val="accent2"/>
            </a:solidFill>
            <a:prstDash val="solid"/>
          </a:ln>
        </p:spPr>
      </p:sp>
      <p:pic>
        <p:nvPicPr>
          <p:cNvPr id="4" name="Infrastructure is now code icon" descr="preencoded.png">    </p:cNvPr>
          <p:cNvPicPr>
            <a:picLocks noChangeAspect="1"/>
          </p:cNvPicPr>
          <p:nvPr/>
        </p:nvPicPr>
        <p:blipFill>
          <a:blip r:embed="rId1"/>
          <a:stretch>
            <a:fillRect/>
          </a:stretch>
        </p:blipFill>
        <p:spPr>
          <a:xfrm>
            <a:off x="690372" y="1531620"/>
            <a:ext cx="283464" cy="283464"/>
          </a:xfrm>
          <a:prstGeom prst="rect">
            <a:avLst/>
          </a:prstGeom>
        </p:spPr>
      </p:pic>
      <p:sp>
        <p:nvSpPr>
          <p:cNvPr id="5" name="Problem 1"/>
          <p:cNvSpPr txBox="1"/>
          <p:nvPr/>
        </p:nvSpPr>
        <p:spPr>
          <a:xfrm>
            <a:off x="1325880" y="137160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Infrastructure is now code</a:t>
            </a:r>
            <a:endParaRPr lang="en-GB" sz="1400" dirty="0"/>
          </a:p>
          <a:p>
            <a:pPr indent="0" marL="0">
              <a:spcAft>
                <a:spcPts val="300"/>
              </a:spcAft>
              <a:buNone/>
            </a:pPr>
            <a:r>
              <a:rPr lang="en-GB" altLang="en-US" sz="1400" dirty="0">
                <a:solidFill>
                  <a:schemeClr val="tx1"/>
                </a:solidFill>
              </a:rPr>
              <a:t>Terraform defines cloud resources as code (Morris, 2020), so one insecure line is copied to every environment.</a:t>
            </a:r>
            <a:endParaRPr lang="en-GB" sz="1400" dirty="0"/>
          </a:p>
        </p:txBody>
      </p:sp>
      <p:sp>
        <p:nvSpPr>
          <p:cNvPr id="6" name="Configuration is the customer’s job circle"/>
          <p:cNvSpPr/>
          <p:nvPr/>
        </p:nvSpPr>
        <p:spPr>
          <a:xfrm>
            <a:off x="548640" y="2578608"/>
            <a:ext cx="566928" cy="566928"/>
          </a:xfrm>
          <a:prstGeom prst="ellipse">
            <a:avLst/>
          </a:prstGeom>
          <a:solidFill>
            <a:schemeClr val="accent2"/>
          </a:solidFill>
          <a:ln w="12700">
            <a:solidFill>
              <a:schemeClr val="accent2"/>
            </a:solidFill>
            <a:prstDash val="solid"/>
          </a:ln>
        </p:spPr>
      </p:sp>
      <p:pic>
        <p:nvPicPr>
          <p:cNvPr id="7" name="Configuration is the customer’s job icon" descr="preencoded.png">    </p:cNvPr>
          <p:cNvPicPr>
            <a:picLocks noChangeAspect="1"/>
          </p:cNvPicPr>
          <p:nvPr/>
        </p:nvPicPr>
        <p:blipFill>
          <a:blip r:embed="rId2"/>
          <a:stretch>
            <a:fillRect/>
          </a:stretch>
        </p:blipFill>
        <p:spPr>
          <a:xfrm>
            <a:off x="690372" y="2720340"/>
            <a:ext cx="283464" cy="283464"/>
          </a:xfrm>
          <a:prstGeom prst="rect">
            <a:avLst/>
          </a:prstGeom>
        </p:spPr>
      </p:pic>
      <p:sp>
        <p:nvSpPr>
          <p:cNvPr id="8" name="Problem 2"/>
          <p:cNvSpPr txBox="1"/>
          <p:nvPr/>
        </p:nvSpPr>
        <p:spPr>
          <a:xfrm>
            <a:off x="1325880" y="256032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Configuration is the customer’s job</a:t>
            </a:r>
            <a:endParaRPr lang="en-GB" sz="1400" dirty="0"/>
          </a:p>
          <a:p>
            <a:pPr indent="0" marL="0">
              <a:spcAft>
                <a:spcPts val="300"/>
              </a:spcAft>
              <a:buNone/>
            </a:pPr>
            <a:r>
              <a:rPr lang="en-GB" altLang="en-US" sz="1400" dirty="0">
                <a:solidFill>
                  <a:schemeClr val="tx1"/>
                </a:solidFill>
              </a:rPr>
              <a:t>Under shared responsibility, securing cloud configuration falls to the customer (Microsoft, 2024).</a:t>
            </a:r>
            <a:endParaRPr lang="en-GB" sz="1400" dirty="0"/>
          </a:p>
        </p:txBody>
      </p:sp>
      <p:sp>
        <p:nvSpPr>
          <p:cNvPr id="9" name="Scanners only see their rules circle"/>
          <p:cNvSpPr/>
          <p:nvPr/>
        </p:nvSpPr>
        <p:spPr>
          <a:xfrm>
            <a:off x="548640" y="3767328"/>
            <a:ext cx="566928" cy="566928"/>
          </a:xfrm>
          <a:prstGeom prst="ellipse">
            <a:avLst/>
          </a:prstGeom>
          <a:solidFill>
            <a:schemeClr val="accent2"/>
          </a:solidFill>
          <a:ln w="12700">
            <a:solidFill>
              <a:schemeClr val="accent2"/>
            </a:solidFill>
            <a:prstDash val="solid"/>
          </a:ln>
        </p:spPr>
      </p:sp>
      <p:pic>
        <p:nvPicPr>
          <p:cNvPr id="10" name="Scanners only see their rules icon" descr="preencoded.png">    </p:cNvPr>
          <p:cNvPicPr>
            <a:picLocks noChangeAspect="1"/>
          </p:cNvPicPr>
          <p:nvPr/>
        </p:nvPicPr>
        <p:blipFill>
          <a:blip r:embed="rId3"/>
          <a:stretch>
            <a:fillRect/>
          </a:stretch>
        </p:blipFill>
        <p:spPr>
          <a:xfrm>
            <a:off x="690372" y="3909060"/>
            <a:ext cx="283464" cy="283464"/>
          </a:xfrm>
          <a:prstGeom prst="rect">
            <a:avLst/>
          </a:prstGeom>
        </p:spPr>
      </p:pic>
      <p:sp>
        <p:nvSpPr>
          <p:cNvPr id="11" name="Problem 3"/>
          <p:cNvSpPr txBox="1"/>
          <p:nvPr/>
        </p:nvSpPr>
        <p:spPr>
          <a:xfrm>
            <a:off x="1325880" y="374904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Scanners only see their rules</a:t>
            </a:r>
            <a:endParaRPr lang="en-GB" sz="1400" dirty="0"/>
          </a:p>
          <a:p>
            <a:pPr indent="0" marL="0">
              <a:spcAft>
                <a:spcPts val="300"/>
              </a:spcAft>
              <a:buNone/>
            </a:pPr>
            <a:r>
              <a:rPr lang="en-GB" altLang="en-US" sz="1400" dirty="0">
                <a:solidFill>
                  <a:schemeClr val="tx1"/>
                </a:solidFill>
              </a:rPr>
              <a:t>Checkov and tfsec are fast and consistent, but noisy, terse warnings get ignored (Johnson et al., 2013).</a:t>
            </a:r>
            <a:endParaRPr lang="en-GB" sz="1400" dirty="0"/>
          </a:p>
        </p:txBody>
      </p:sp>
      <p:sp>
        <p:nvSpPr>
          <p:cNvPr id="12" name="AI reads context, but can be wrong circle"/>
          <p:cNvSpPr/>
          <p:nvPr/>
        </p:nvSpPr>
        <p:spPr>
          <a:xfrm>
            <a:off x="548640" y="4956048"/>
            <a:ext cx="566928" cy="566928"/>
          </a:xfrm>
          <a:prstGeom prst="ellipse">
            <a:avLst/>
          </a:prstGeom>
          <a:solidFill>
            <a:schemeClr val="accent1"/>
          </a:solidFill>
          <a:ln w="12700">
            <a:solidFill>
              <a:schemeClr val="accent1"/>
            </a:solidFill>
            <a:prstDash val="solid"/>
          </a:ln>
        </p:spPr>
      </p:sp>
      <p:pic>
        <p:nvPicPr>
          <p:cNvPr id="13" name="AI reads context, but can be wrong icon" descr="preencoded.png">    </p:cNvPr>
          <p:cNvPicPr>
            <a:picLocks noChangeAspect="1"/>
          </p:cNvPicPr>
          <p:nvPr/>
        </p:nvPicPr>
        <p:blipFill>
          <a:blip r:embed="rId4"/>
          <a:stretch>
            <a:fillRect/>
          </a:stretch>
        </p:blipFill>
        <p:spPr>
          <a:xfrm>
            <a:off x="690372" y="5097780"/>
            <a:ext cx="283464" cy="283464"/>
          </a:xfrm>
          <a:prstGeom prst="rect">
            <a:avLst/>
          </a:prstGeom>
        </p:spPr>
      </p:pic>
      <p:sp>
        <p:nvSpPr>
          <p:cNvPr id="14" name="Problem 4"/>
          <p:cNvSpPr txBox="1"/>
          <p:nvPr/>
        </p:nvSpPr>
        <p:spPr>
          <a:xfrm>
            <a:off x="1325880" y="493776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AI reads context, but can be wrong</a:t>
            </a:r>
            <a:endParaRPr lang="en-GB" sz="1400" dirty="0"/>
          </a:p>
          <a:p>
            <a:pPr indent="0" marL="0">
              <a:spcAft>
                <a:spcPts val="300"/>
              </a:spcAft>
              <a:buNone/>
            </a:pPr>
            <a:r>
              <a:rPr lang="en-GB" altLang="en-US" sz="1400" dirty="0">
                <a:solidFill>
                  <a:schemeClr val="tx1"/>
                </a:solidFill>
              </a:rPr>
              <a:t>LLMs explain in plain language, yet hallucinate and vary between runs (Ji et al., 2023; Ouyang et al., 2025).</a:t>
            </a:r>
            <a:endParaRPr lang="en-GB" sz="1400" dirty="0"/>
          </a:p>
        </p:txBody>
      </p:sp>
      <p:sp>
        <p:nvSpPr>
          <p:cNvPr id="15" name="Aim and questions card"/>
          <p:cNvSpPr/>
          <p:nvPr/>
        </p:nvSpPr>
        <p:spPr>
          <a:xfrm>
            <a:off x="6537960" y="1325880"/>
            <a:ext cx="5105095" cy="4754880"/>
          </a:xfrm>
          <a:prstGeom prst="roundRect">
            <a:avLst>
              <a:gd name="adj" fmla="val 1538"/>
            </a:avLst>
          </a:prstGeom>
          <a:solidFill>
            <a:schemeClr val="bg2"/>
          </a:solidFill>
          <a:ln w="12700">
            <a:solidFill>
              <a:schemeClr val="bg2"/>
            </a:solidFill>
            <a:prstDash val="solid"/>
          </a:ln>
        </p:spPr>
      </p:sp>
      <p:sp>
        <p:nvSpPr>
          <p:cNvPr id="16" name="Label Aim"/>
          <p:cNvSpPr txBox="1"/>
          <p:nvPr/>
        </p:nvSpPr>
        <p:spPr>
          <a:xfrm>
            <a:off x="6812280" y="1499616"/>
            <a:ext cx="27432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AIM</a:t>
            </a:r>
            <a:endParaRPr lang="en-GB" sz="1200" dirty="0"/>
          </a:p>
        </p:txBody>
      </p:sp>
      <p:sp>
        <p:nvSpPr>
          <p:cNvPr id="17" name="Aim"/>
          <p:cNvSpPr txBox="1"/>
          <p:nvPr/>
        </p:nvSpPr>
        <p:spPr>
          <a:xfrm>
            <a:off x="6812280" y="1764792"/>
            <a:ext cx="4556455" cy="685800"/>
          </a:xfrm>
          <a:prstGeom prst="rect">
            <a:avLst/>
          </a:prstGeom>
          <a:noFill/>
          <a:ln/>
        </p:spPr>
        <p:txBody>
          <a:bodyPr wrap="square" lIns="0" tIns="0" rIns="0" bIns="0" rtlCol="0" anchor="t"/>
          <a:lstStyle/>
          <a:p>
            <a:pPr indent="0" marL="0">
              <a:buNone/>
            </a:pPr>
            <a:r>
              <a:rPr lang="en-GB" altLang="en-US" sz="1400" dirty="0">
                <a:solidFill>
                  <a:schemeClr val="tx1"/>
                </a:solidFill>
              </a:rPr>
              <a:t>Evaluate how effective an AI security reviewer is in a DevSecOps pipeline for Terraform, compared with Checkov and tfsec.</a:t>
            </a:r>
            <a:endParaRPr lang="en-GB" sz="1400" dirty="0"/>
          </a:p>
        </p:txBody>
      </p:sp>
      <p:sp>
        <p:nvSpPr>
          <p:cNvPr id="18" name="Label Research questions"/>
          <p:cNvSpPr txBox="1"/>
          <p:nvPr/>
        </p:nvSpPr>
        <p:spPr>
          <a:xfrm>
            <a:off x="6812280" y="256032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RESEARCH QUESTIONS</a:t>
            </a:r>
            <a:endParaRPr lang="en-GB" sz="1200" dirty="0"/>
          </a:p>
        </p:txBody>
      </p:sp>
      <p:sp>
        <p:nvSpPr>
          <p:cNvPr id="19" name="Research questions"/>
          <p:cNvSpPr txBox="1"/>
          <p:nvPr/>
        </p:nvSpPr>
        <p:spPr>
          <a:xfrm>
            <a:off x="6812280" y="2825496"/>
            <a:ext cx="4556455" cy="2011680"/>
          </a:xfrm>
          <a:prstGeom prst="rect">
            <a:avLst/>
          </a:prstGeom>
          <a:noFill/>
          <a:ln/>
        </p:spPr>
        <p:txBody>
          <a:bodyPr wrap="square" lIns="0" tIns="0" rIns="0" bIns="0" rtlCol="0" anchor="t"/>
          <a:lstStyle/>
          <a:p>
            <a:pPr indent="0" marL="0">
              <a:spcAft>
                <a:spcPts val="500"/>
              </a:spcAft>
              <a:buNone/>
            </a:pPr>
            <a:r>
              <a:rPr lang="en-GB" altLang="en-US" sz="1400" b="1" dirty="0">
                <a:solidFill>
                  <a:schemeClr val="accent1"/>
                </a:solidFill>
              </a:rPr>
              <a:t>RQ1  </a:t>
            </a:r>
            <a:pPr indent="0" marL="0">
              <a:spcAft>
                <a:spcPts val="500"/>
              </a:spcAft>
              <a:buNone/>
            </a:pPr>
            <a:r>
              <a:rPr lang="en-GB" altLang="en-US" sz="1400" dirty="0">
                <a:solidFill>
                  <a:schemeClr val="tx1"/>
                </a:solidFill>
              </a:rPr>
              <a:t>How accurately does the AI reviewer detect IaC vulnerabilities compared with Checkov and tfsec?</a:t>
            </a:r>
            <a:endParaRPr lang="en-GB" sz="1400" dirty="0"/>
          </a:p>
          <a:p>
            <a:pPr indent="0" marL="0">
              <a:spcAft>
                <a:spcPts val="500"/>
              </a:spcAft>
              <a:buNone/>
            </a:pPr>
            <a:r>
              <a:rPr lang="en-GB" altLang="en-US" sz="1400" b="1" dirty="0">
                <a:solidFill>
                  <a:schemeClr val="accent1"/>
                </a:solidFill>
              </a:rPr>
              <a:t>RQ2  </a:t>
            </a:r>
            <a:pPr indent="0" marL="0">
              <a:spcAft>
                <a:spcPts val="500"/>
              </a:spcAft>
              <a:buNone/>
            </a:pPr>
            <a:r>
              <a:rPr lang="en-GB" altLang="en-US" sz="1400" dirty="0">
                <a:solidFill>
                  <a:schemeClr val="tx1"/>
                </a:solidFill>
              </a:rPr>
              <a:t>What is the quality of the AI’s remediation guidance?</a:t>
            </a:r>
            <a:endParaRPr lang="en-GB" sz="1400" dirty="0"/>
          </a:p>
          <a:p>
            <a:pPr indent="0" marL="0">
              <a:spcAft>
                <a:spcPts val="500"/>
              </a:spcAft>
              <a:buNone/>
            </a:pPr>
            <a:r>
              <a:rPr lang="en-GB" altLang="en-US" sz="1400" b="1" dirty="0">
                <a:solidFill>
                  <a:schemeClr val="accent1"/>
                </a:solidFill>
              </a:rPr>
              <a:t>RQ3  </a:t>
            </a:r>
            <a:pPr indent="0" marL="0">
              <a:spcAft>
                <a:spcPts val="500"/>
              </a:spcAft>
              <a:buNone/>
            </a:pPr>
            <a:r>
              <a:rPr lang="en-GB" altLang="en-US" sz="1400" dirty="0">
                <a:solidFill>
                  <a:schemeClr val="tx1"/>
                </a:solidFill>
              </a:rPr>
              <a:t>What is the likely impact of AI feedback on developer understanding?</a:t>
            </a:r>
            <a:endParaRPr lang="en-GB" sz="1400" dirty="0"/>
          </a:p>
          <a:p>
            <a:pPr indent="0" marL="0">
              <a:spcAft>
                <a:spcPts val="500"/>
              </a:spcAft>
              <a:buNone/>
            </a:pPr>
            <a:r>
              <a:rPr lang="en-GB" altLang="en-US" sz="1400" b="1" dirty="0">
                <a:solidFill>
                  <a:schemeClr val="accent1"/>
                </a:solidFill>
              </a:rPr>
              <a:t>RQ4  </a:t>
            </a:r>
            <a:pPr indent="0" marL="0">
              <a:spcAft>
                <a:spcPts val="500"/>
              </a:spcAft>
              <a:buNone/>
            </a:pPr>
            <a:r>
              <a:rPr lang="en-GB" altLang="en-US" sz="1400" dirty="0">
                <a:solidFill>
                  <a:schemeClr val="tx1"/>
                </a:solidFill>
              </a:rPr>
              <a:t>What practical challenges arise in integrating AI review into a secure development workflow?</a:t>
            </a:r>
            <a:endParaRPr lang="en-GB" sz="1400" dirty="0"/>
          </a:p>
        </p:txBody>
      </p:sp>
      <p:sp>
        <p:nvSpPr>
          <p:cNvPr id="20" name="Label Objectives"/>
          <p:cNvSpPr txBox="1"/>
          <p:nvPr/>
        </p:nvSpPr>
        <p:spPr>
          <a:xfrm>
            <a:off x="6812280" y="484632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OBJECTIVES</a:t>
            </a:r>
            <a:endParaRPr lang="en-GB" sz="1200" dirty="0"/>
          </a:p>
        </p:txBody>
      </p:sp>
      <p:sp>
        <p:nvSpPr>
          <p:cNvPr id="21" name="Objectives"/>
          <p:cNvSpPr txBox="1"/>
          <p:nvPr/>
        </p:nvSpPr>
        <p:spPr>
          <a:xfrm>
            <a:off x="6812280" y="5111496"/>
            <a:ext cx="4556455" cy="896112"/>
          </a:xfrm>
          <a:prstGeom prst="rect">
            <a:avLst/>
          </a:prstGeom>
          <a:noFill/>
          <a:ln/>
        </p:spPr>
        <p:txBody>
          <a:bodyPr wrap="square" lIns="0" tIns="0" rIns="0" bIns="0" rtlCol="0" anchor="t"/>
          <a:lstStyle/>
          <a:p>
            <a:pPr indent="0" marL="0">
              <a:buNone/>
            </a:pPr>
            <a:r>
              <a:rPr lang="en-GB" altLang="en-US" sz="1400" b="1" dirty="0">
                <a:solidFill>
                  <a:schemeClr val="accent1"/>
                </a:solidFill>
              </a:rPr>
              <a:t>O1  </a:t>
            </a:r>
            <a:pPr indent="0" marL="0">
              <a:buNone/>
            </a:pPr>
            <a:r>
              <a:rPr lang="en-GB" altLang="en-US" sz="1400" dirty="0">
                <a:solidFill>
                  <a:schemeClr val="tx1"/>
                </a:solidFill>
              </a:rPr>
              <a:t>Review the literature</a:t>
            </a:r>
            <a:endParaRPr lang="en-GB" sz="1400" dirty="0"/>
          </a:p>
          <a:p>
            <a:pPr indent="0" marL="0">
              <a:buNone/>
            </a:pPr>
            <a:r>
              <a:rPr lang="en-GB" altLang="en-US" sz="1400" b="1" dirty="0">
                <a:solidFill>
                  <a:schemeClr val="accent1"/>
                </a:solidFill>
              </a:rPr>
              <a:t>O2  </a:t>
            </a:r>
            <a:pPr indent="0" marL="0">
              <a:buNone/>
            </a:pPr>
            <a:r>
              <a:rPr lang="en-GB" altLang="en-US" sz="1400" dirty="0">
                <a:solidFill>
                  <a:schemeClr val="tx1"/>
                </a:solidFill>
              </a:rPr>
              <a:t>Design and build an AI review pipeline</a:t>
            </a:r>
            <a:endParaRPr lang="en-GB" sz="1400" dirty="0"/>
          </a:p>
          <a:p>
            <a:pPr indent="0" marL="0">
              <a:buNone/>
            </a:pPr>
            <a:r>
              <a:rPr lang="en-GB" altLang="en-US" sz="1400" b="1" dirty="0">
                <a:solidFill>
                  <a:schemeClr val="accent1"/>
                </a:solidFill>
              </a:rPr>
              <a:t>O3  </a:t>
            </a:r>
            <a:pPr indent="0" marL="0">
              <a:buNone/>
            </a:pPr>
            <a:r>
              <a:rPr lang="en-GB" altLang="en-US" sz="1400" dirty="0">
                <a:solidFill>
                  <a:schemeClr val="tx1"/>
                </a:solidFill>
              </a:rPr>
              <a:t>Evaluate it against scanners and fixed ground truth</a:t>
            </a:r>
            <a:endParaRPr lang="en-GB" sz="1400" dirty="0"/>
          </a:p>
          <a:p>
            <a:pPr indent="0" marL="0">
              <a:buNone/>
            </a:pPr>
            <a:r>
              <a:rPr lang="en-GB" altLang="en-US" sz="1400" b="1" dirty="0">
                <a:solidFill>
                  <a:schemeClr val="accent1"/>
                </a:solidFill>
              </a:rPr>
              <a:t>O4  </a:t>
            </a:r>
            <a:pPr indent="0" marL="0">
              <a:buNone/>
            </a:pPr>
            <a:r>
              <a:rPr lang="en-GB" altLang="en-US" sz="1400" dirty="0">
                <a:solidFill>
                  <a:schemeClr val="tx1"/>
                </a:solidFill>
              </a:rPr>
              <a:t>Investigate the benefits and limits of AI feedback</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2</a:t>
            </a:fld>
            <a:endParaRPr lang="en-GB"/>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How the literature shaped the study</a:t>
            </a:r>
            <a:endParaRPr lang="en-GB" sz="3600" dirty="0"/>
          </a:p>
        </p:txBody>
      </p:sp>
      <p:graphicFrame>
        <p:nvGraphicFramePr>
          <p:cNvPr id="4" name="Literature to desig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806440"/>
                <a:gridCol w="5287975"/>
              </a:tblGrid>
              <a:tr h="384048">
                <a:tc>
                  <a:txBody>
                    <a:bodyPr/>
                    <a:lstStyle/>
                    <a:p>
                      <a:pPr indent="0" marL="0">
                        <a:buNone/>
                      </a:pPr>
                      <a:r>
                        <a:rPr lang="en-GB" altLang="en-US" sz="1400" b="1" dirty="0">
                          <a:solidFill>
                            <a:schemeClr val="bg1"/>
                          </a:solidFill>
                        </a:rPr>
                        <a:t>What the literature shows</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c>
                  <a:txBody>
                    <a:bodyPr/>
                    <a:lstStyle/>
                    <a:p>
                      <a:pPr indent="0" marL="0">
                        <a:buNone/>
                      </a:pPr>
                      <a:r>
                        <a:rPr lang="en-GB" altLang="en-US" sz="1400" b="1" dirty="0">
                          <a:solidFill>
                            <a:schemeClr val="bg1"/>
                          </a:solidFill>
                        </a:rPr>
                        <a:t>How I applied it</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r>
              <a:tr h="548640">
                <a:tc>
                  <a:txBody>
                    <a:bodyPr/>
                    <a:lstStyle/>
                    <a:p>
                      <a:pPr indent="0" marL="0">
                        <a:buNone/>
                      </a:pPr>
                      <a:r>
                        <a:rPr lang="en-GB" altLang="en-US" sz="1400" dirty="0">
                          <a:solidFill>
                            <a:schemeClr val="tx1"/>
                          </a:solidFill>
                        </a:rPr>
                        <a:t>Developers ignore noisy, poorly explained warnings (Johnson et al., 2013)</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400" dirty="0">
                          <a:solidFill>
                            <a:schemeClr val="tx1"/>
                          </a:solidFill>
                        </a:rPr>
                        <a:t>Measured false alarms and scored the explanations, not only detections</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548640">
                <a:tc>
                  <a:txBody>
                    <a:bodyPr/>
                    <a:lstStyle/>
                    <a:p>
                      <a:pPr indent="0" marL="0">
                        <a:buNone/>
                      </a:pPr>
                      <a:r>
                        <a:rPr lang="en-GB" altLang="en-US" sz="1400" dirty="0">
                          <a:solidFill>
                            <a:schemeClr val="tx1"/>
                          </a:solidFill>
                        </a:rPr>
                        <a:t>IaC “security smells”, such as open addresses and hard-coded secrets, recur in real scripts (Rahman et al., 2019)</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400" dirty="0">
                          <a:solidFill>
                            <a:schemeClr val="tx1"/>
                          </a:solidFill>
                        </a:rPr>
                        <a:t>Linked the test cases to documented smells: TC02–TC04 (open addresses), TC09 and TC15 (secrets)</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548640">
                <a:tc>
                  <a:txBody>
                    <a:bodyPr/>
                    <a:lstStyle/>
                    <a:p>
                      <a:pPr indent="0" marL="0">
                        <a:buNone/>
                      </a:pPr>
                      <a:r>
                        <a:rPr lang="en-GB" altLang="en-US" sz="1400" dirty="0">
                          <a:solidFill>
                            <a:schemeClr val="tx1"/>
                          </a:solidFill>
                        </a:rPr>
                        <a:t>Hybrid designs feed static-analysis output to the LLM (Li et al., 2024), so the AI’s own share is hidden</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400" dirty="0">
                          <a:solidFill>
                            <a:schemeClr val="tx1"/>
                          </a:solidFill>
                        </a:rPr>
                        <a:t>Kept the AI independent of the scanners and ran every case that way</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548640">
                <a:tc>
                  <a:txBody>
                    <a:bodyPr/>
                    <a:lstStyle/>
                    <a:p>
                      <a:pPr indent="0" marL="0">
                        <a:buNone/>
                      </a:pPr>
                      <a:r>
                        <a:rPr lang="en-GB" altLang="en-US" sz="1400" dirty="0">
                          <a:solidFill>
                            <a:schemeClr val="tx1"/>
                          </a:solidFill>
                        </a:rPr>
                        <a:t>LLMs give different answers to the same request (Ouyang et al., 2025)</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400" dirty="0">
                          <a:solidFill>
                            <a:schemeClr val="tx1"/>
                          </a:solidFill>
                        </a:rPr>
                        <a:t>Repeated every AI review three times on identical input</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548640">
                <a:tc>
                  <a:txBody>
                    <a:bodyPr/>
                    <a:lstStyle/>
                    <a:p>
                      <a:pPr indent="0" marL="0">
                        <a:buNone/>
                      </a:pPr>
                      <a:r>
                        <a:rPr lang="en-GB" altLang="en-US" sz="1400" dirty="0">
                          <a:solidFill>
                            <a:schemeClr val="tx1"/>
                          </a:solidFill>
                        </a:rPr>
                        <a:t>LLM claims and fixes can be wrong (Ji et al., 2023; Pearce et al., 2023)</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400" dirty="0">
                          <a:solidFill>
                            <a:schemeClr val="tx1"/>
                          </a:solidFill>
                        </a:rPr>
                        <a:t>Applied every AI fix and re-tested it with validate, both scanners and the AI</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bl>
          </a:graphicData>
        </a:graphic>
      </p:graphicFrame>
      <p:sp>
        <p:nvSpPr>
          <p:cNvPr id="4" name="Also used to interpret the results card"/>
          <p:cNvSpPr/>
          <p:nvPr/>
        </p:nvSpPr>
        <p:spPr>
          <a:xfrm>
            <a:off x="548640" y="4709160"/>
            <a:ext cx="5410048" cy="1371600"/>
          </a:xfrm>
          <a:prstGeom prst="roundRect">
            <a:avLst>
              <a:gd name="adj" fmla="val 5333"/>
            </a:avLst>
          </a:prstGeom>
          <a:solidFill>
            <a:schemeClr val="bg2"/>
          </a:solidFill>
          <a:ln w="12700">
            <a:solidFill>
              <a:schemeClr val="bg2"/>
            </a:solidFill>
            <a:prstDash val="solid"/>
          </a:ln>
        </p:spPr>
      </p:sp>
      <p:sp>
        <p:nvSpPr>
          <p:cNvPr id="5" name="Also used to interpret the results circle"/>
          <p:cNvSpPr/>
          <p:nvPr/>
        </p:nvSpPr>
        <p:spPr>
          <a:xfrm>
            <a:off x="749808" y="4910328"/>
            <a:ext cx="502920" cy="502920"/>
          </a:xfrm>
          <a:prstGeom prst="ellipse">
            <a:avLst/>
          </a:prstGeom>
          <a:solidFill>
            <a:schemeClr val="accent2"/>
          </a:solidFill>
          <a:ln w="12700">
            <a:solidFill>
              <a:schemeClr val="accent2"/>
            </a:solidFill>
            <a:prstDash val="solid"/>
          </a:ln>
        </p:spPr>
      </p:sp>
      <p:pic>
        <p:nvPicPr>
          <p:cNvPr id="6" name="Also used to interpret the results icon" descr="preencoded.png">    </p:cNvPr>
          <p:cNvPicPr>
            <a:picLocks noChangeAspect="1"/>
          </p:cNvPicPr>
          <p:nvPr/>
        </p:nvPicPr>
        <p:blipFill>
          <a:blip r:embed="rId1"/>
          <a:stretch>
            <a:fillRect/>
          </a:stretch>
        </p:blipFill>
        <p:spPr>
          <a:xfrm>
            <a:off x="875538" y="5036058"/>
            <a:ext cx="251460" cy="251460"/>
          </a:xfrm>
          <a:prstGeom prst="rect">
            <a:avLst/>
          </a:prstGeom>
        </p:spPr>
      </p:pic>
      <p:sp>
        <p:nvSpPr>
          <p:cNvPr id="7" name="Also used to interpret the results text"/>
          <p:cNvSpPr txBox="1"/>
          <p:nvPr/>
        </p:nvSpPr>
        <p:spPr>
          <a:xfrm>
            <a:off x="1435608" y="4873752"/>
            <a:ext cx="4358488" cy="109728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Also used to interpret the results</a:t>
            </a:r>
            <a:endParaRPr lang="en-GB" sz="1400" dirty="0"/>
          </a:p>
          <a:p>
            <a:pPr indent="0" marL="0">
              <a:spcAft>
                <a:spcPts val="300"/>
              </a:spcAft>
              <a:buNone/>
            </a:pPr>
            <a:r>
              <a:rPr lang="en-GB" altLang="en-US" sz="1400" dirty="0">
                <a:solidFill>
                  <a:schemeClr val="tx1"/>
                </a:solidFill>
              </a:rPr>
              <a:t>Indirect prompt injection helps explain why code comments changed verdicts (Greshake et al., 2023); constructed test sets can flatter AI, so my results are descriptive (Ding et al., 2025).</a:t>
            </a:r>
            <a:endParaRPr lang="en-GB" sz="1400" dirty="0"/>
          </a:p>
        </p:txBody>
      </p:sp>
      <p:sp>
        <p:nvSpPr>
          <p:cNvPr id="8" name="The gap card"/>
          <p:cNvSpPr/>
          <p:nvPr/>
        </p:nvSpPr>
        <p:spPr>
          <a:xfrm>
            <a:off x="6233008" y="4709160"/>
            <a:ext cx="5410048" cy="1371600"/>
          </a:xfrm>
          <a:prstGeom prst="roundRect">
            <a:avLst>
              <a:gd name="adj" fmla="val 5333"/>
            </a:avLst>
          </a:prstGeom>
          <a:solidFill>
            <a:schemeClr val="tx2"/>
          </a:solidFill>
          <a:ln w="12700">
            <a:solidFill>
              <a:schemeClr val="tx2"/>
            </a:solidFill>
            <a:prstDash val="solid"/>
          </a:ln>
        </p:spPr>
      </p:sp>
      <p:sp>
        <p:nvSpPr>
          <p:cNvPr id="9" name="The gap circle"/>
          <p:cNvSpPr/>
          <p:nvPr/>
        </p:nvSpPr>
        <p:spPr>
          <a:xfrm>
            <a:off x="6434176" y="4910328"/>
            <a:ext cx="502920" cy="502920"/>
          </a:xfrm>
          <a:prstGeom prst="ellipse">
            <a:avLst/>
          </a:prstGeom>
          <a:solidFill>
            <a:schemeClr val="accent1"/>
          </a:solidFill>
          <a:ln w="12700">
            <a:solidFill>
              <a:schemeClr val="accent1"/>
            </a:solidFill>
            <a:prstDash val="solid"/>
          </a:ln>
        </p:spPr>
      </p:sp>
      <p:pic>
        <p:nvPicPr>
          <p:cNvPr id="10" name="The gap icon" descr="preencoded.png">    </p:cNvPr>
          <p:cNvPicPr>
            <a:picLocks noChangeAspect="1"/>
          </p:cNvPicPr>
          <p:nvPr/>
        </p:nvPicPr>
        <p:blipFill>
          <a:blip r:embed="rId2"/>
          <a:stretch>
            <a:fillRect/>
          </a:stretch>
        </p:blipFill>
        <p:spPr>
          <a:xfrm>
            <a:off x="6559906" y="5036058"/>
            <a:ext cx="251460" cy="251460"/>
          </a:xfrm>
          <a:prstGeom prst="rect">
            <a:avLst/>
          </a:prstGeom>
        </p:spPr>
      </p:pic>
      <p:sp>
        <p:nvSpPr>
          <p:cNvPr id="11" name="The gap text"/>
          <p:cNvSpPr txBox="1"/>
          <p:nvPr/>
        </p:nvSpPr>
        <p:spPr>
          <a:xfrm>
            <a:off x="7119976" y="4873752"/>
            <a:ext cx="4358488" cy="1097280"/>
          </a:xfrm>
          <a:prstGeom prst="rect">
            <a:avLst/>
          </a:prstGeom>
          <a:noFill/>
          <a:ln/>
        </p:spPr>
        <p:txBody>
          <a:bodyPr wrap="square" lIns="0" tIns="0" rIns="0" bIns="0" rtlCol="0" anchor="t"/>
          <a:lstStyle/>
          <a:p>
            <a:pPr indent="0" marL="0">
              <a:spcAft>
                <a:spcPts val="300"/>
              </a:spcAft>
              <a:buNone/>
            </a:pPr>
            <a:r>
              <a:rPr lang="en-GB" altLang="en-US" sz="1500" b="1" dirty="0">
                <a:solidFill>
                  <a:schemeClr val="bg1"/>
                </a:solidFill>
              </a:rPr>
              <a:t>The gap</a:t>
            </a:r>
            <a:endParaRPr lang="en-GB" sz="1400" dirty="0"/>
          </a:p>
          <a:p>
            <a:pPr indent="0" marL="0">
              <a:spcAft>
                <a:spcPts val="300"/>
              </a:spcAft>
              <a:buNone/>
            </a:pPr>
            <a:r>
              <a:rPr lang="en-GB" altLang="en-US" sz="1400" dirty="0">
                <a:solidFill>
                  <a:schemeClr val="bg1"/>
                </a:solidFill>
              </a:rPr>
              <a:t>Little head-to-head evidence of an AI reviewer against Terraform scanners on the same changes and a fixed ground truth, with independence, repeatability and fixes tested together.</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3</a:t>
            </a:fld>
            <a:endParaRPr lang="en-GB"/>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What I built: three independent reviewers</a:t>
            </a:r>
            <a:endParaRPr lang="en-GB" sz="3600" dirty="0"/>
          </a:p>
        </p:txBody>
      </p:sp>
      <p:sp>
        <p:nvSpPr>
          <p:cNvPr id="3" name="Step PR"/>
          <p:cNvSpPr/>
          <p:nvPr/>
        </p:nvSpPr>
        <p:spPr>
          <a:xfrm>
            <a:off x="548640" y="1325880"/>
            <a:ext cx="5760720" cy="457200"/>
          </a:xfrm>
          <a:prstGeom prst="roundRect">
            <a:avLst>
              <a:gd name="adj" fmla="val 16000"/>
            </a:avLst>
          </a:prstGeom>
          <a:solidFill>
            <a:schemeClr val="bg2"/>
          </a:solidFill>
          <a:ln w="12700">
            <a:solidFill>
              <a:schemeClr val="bg2"/>
            </a:solidFill>
            <a:prstDash val="solid"/>
          </a:ln>
        </p:spPr>
      </p:sp>
      <p:sp>
        <p:nvSpPr>
          <p:cNvPr id="4" name="Step PR icon circle"/>
          <p:cNvSpPr/>
          <p:nvPr/>
        </p:nvSpPr>
        <p:spPr>
          <a:xfrm>
            <a:off x="676656" y="1362456"/>
            <a:ext cx="384048" cy="384048"/>
          </a:xfrm>
          <a:prstGeom prst="ellipse">
            <a:avLst/>
          </a:prstGeom>
          <a:solidFill>
            <a:schemeClr val="tx2"/>
          </a:solidFill>
          <a:ln w="12700">
            <a:solidFill>
              <a:schemeClr val="tx2"/>
            </a:solidFill>
            <a:prstDash val="solid"/>
          </a:ln>
        </p:spPr>
      </p:sp>
      <p:pic>
        <p:nvPicPr>
          <p:cNvPr id="5" name="Step PR icon icon" descr="preencoded.png">    </p:cNvPr>
          <p:cNvPicPr>
            <a:picLocks noChangeAspect="1"/>
          </p:cNvPicPr>
          <p:nvPr/>
        </p:nvPicPr>
        <p:blipFill>
          <a:blip r:embed="rId1"/>
          <a:stretch>
            <a:fillRect/>
          </a:stretch>
        </p:blipFill>
        <p:spPr>
          <a:xfrm>
            <a:off x="772668" y="1458468"/>
            <a:ext cx="192024" cy="192024"/>
          </a:xfrm>
          <a:prstGeom prst="rect">
            <a:avLst/>
          </a:prstGeom>
        </p:spPr>
      </p:pic>
      <p:sp>
        <p:nvSpPr>
          <p:cNvPr id="6" name="Step PR text"/>
          <p:cNvSpPr txBox="1"/>
          <p:nvPr/>
        </p:nvSpPr>
        <p:spPr>
          <a:xfrm>
            <a:off x="1188720" y="132588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Developer opens a Terraform pull request</a:t>
            </a:r>
            <a:endParaRPr lang="en-GB" sz="1400" dirty="0"/>
          </a:p>
        </p:txBody>
      </p:sp>
      <p:sp>
        <p:nvSpPr>
          <p:cNvPr id="7" name="Arrow to validate"/>
          <p:cNvSpPr/>
          <p:nvPr/>
        </p:nvSpPr>
        <p:spPr>
          <a:xfrm>
            <a:off x="3429000" y="1783080"/>
            <a:ext cx="0" cy="182880"/>
          </a:xfrm>
          <a:prstGeom prst="line">
            <a:avLst/>
          </a:prstGeom>
          <a:noFill/>
          <a:ln w="19050">
            <a:solidFill>
              <a:srgbClr val="7A8794"/>
            </a:solidFill>
            <a:prstDash val="solid"/>
            <a:tailEnd type="triangle"/>
          </a:ln>
        </p:spPr>
      </p:sp>
      <p:sp>
        <p:nvSpPr>
          <p:cNvPr id="8" name="Step validate"/>
          <p:cNvSpPr/>
          <p:nvPr/>
        </p:nvSpPr>
        <p:spPr>
          <a:xfrm>
            <a:off x="548640" y="1965960"/>
            <a:ext cx="5760720" cy="457200"/>
          </a:xfrm>
          <a:prstGeom prst="roundRect">
            <a:avLst>
              <a:gd name="adj" fmla="val 16000"/>
            </a:avLst>
          </a:prstGeom>
          <a:solidFill>
            <a:schemeClr val="bg2"/>
          </a:solidFill>
          <a:ln w="12700">
            <a:solidFill>
              <a:schemeClr val="bg2"/>
            </a:solidFill>
            <a:prstDash val="solid"/>
          </a:ln>
        </p:spPr>
      </p:sp>
      <p:sp>
        <p:nvSpPr>
          <p:cNvPr id="9" name="Step validate icon circle"/>
          <p:cNvSpPr/>
          <p:nvPr/>
        </p:nvSpPr>
        <p:spPr>
          <a:xfrm>
            <a:off x="676656" y="2002536"/>
            <a:ext cx="384048" cy="384048"/>
          </a:xfrm>
          <a:prstGeom prst="ellipse">
            <a:avLst/>
          </a:prstGeom>
          <a:solidFill>
            <a:schemeClr val="tx2"/>
          </a:solidFill>
          <a:ln w="12700">
            <a:solidFill>
              <a:schemeClr val="tx2"/>
            </a:solidFill>
            <a:prstDash val="solid"/>
          </a:ln>
        </p:spPr>
      </p:sp>
      <p:pic>
        <p:nvPicPr>
          <p:cNvPr id="10" name="Step validate icon icon" descr="preencoded.png">    </p:cNvPr>
          <p:cNvPicPr>
            <a:picLocks noChangeAspect="1"/>
          </p:cNvPicPr>
          <p:nvPr/>
        </p:nvPicPr>
        <p:blipFill>
          <a:blip r:embed="rId2"/>
          <a:stretch>
            <a:fillRect/>
          </a:stretch>
        </p:blipFill>
        <p:spPr>
          <a:xfrm>
            <a:off x="772668" y="2098548"/>
            <a:ext cx="192024" cy="192024"/>
          </a:xfrm>
          <a:prstGeom prst="rect">
            <a:avLst/>
          </a:prstGeom>
        </p:spPr>
      </p:pic>
      <p:sp>
        <p:nvSpPr>
          <p:cNvPr id="11" name="Step validate text"/>
          <p:cNvSpPr txBox="1"/>
          <p:nvPr/>
        </p:nvSpPr>
        <p:spPr>
          <a:xfrm>
            <a:off x="1188720" y="196596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Validate: </a:t>
            </a:r>
            <a:pPr indent="0" marL="0">
              <a:buNone/>
            </a:pPr>
            <a:r>
              <a:rPr lang="en-GB" altLang="en-US" sz="1400" dirty="0">
                <a:solidFill>
                  <a:schemeClr val="tx1"/>
                </a:solidFill>
              </a:rPr>
              <a:t>terraform fmt and validate (never plan or apply)</a:t>
            </a:r>
            <a:endParaRPr lang="en-GB" sz="1400" dirty="0"/>
          </a:p>
        </p:txBody>
      </p:sp>
      <p:sp>
        <p:nvSpPr>
          <p:cNvPr id="12" name="Fan-out stem"/>
          <p:cNvSpPr/>
          <p:nvPr/>
        </p:nvSpPr>
        <p:spPr>
          <a:xfrm>
            <a:off x="3429000" y="2423160"/>
            <a:ext cx="0" cy="137160"/>
          </a:xfrm>
          <a:prstGeom prst="line">
            <a:avLst/>
          </a:prstGeom>
          <a:noFill/>
          <a:ln w="19050">
            <a:solidFill>
              <a:srgbClr val="7A8794"/>
            </a:solidFill>
            <a:prstDash val="solid"/>
          </a:ln>
        </p:spPr>
      </p:sp>
      <p:sp>
        <p:nvSpPr>
          <p:cNvPr id="13" name="Fan-out bar"/>
          <p:cNvSpPr/>
          <p:nvPr/>
        </p:nvSpPr>
        <p:spPr>
          <a:xfrm>
            <a:off x="1447800" y="2560320"/>
            <a:ext cx="3962400" cy="0"/>
          </a:xfrm>
          <a:prstGeom prst="line">
            <a:avLst/>
          </a:prstGeom>
          <a:noFill/>
          <a:ln w="19050">
            <a:solidFill>
              <a:srgbClr val="7A8794"/>
            </a:solidFill>
            <a:prstDash val="solid"/>
          </a:ln>
        </p:spPr>
      </p:sp>
      <p:sp>
        <p:nvSpPr>
          <p:cNvPr id="14" name="Fan-out arrow 1"/>
          <p:cNvSpPr/>
          <p:nvPr/>
        </p:nvSpPr>
        <p:spPr>
          <a:xfrm>
            <a:off x="1447800" y="2560320"/>
            <a:ext cx="0" cy="137160"/>
          </a:xfrm>
          <a:prstGeom prst="line">
            <a:avLst/>
          </a:prstGeom>
          <a:noFill/>
          <a:ln w="19050">
            <a:solidFill>
              <a:srgbClr val="7A8794"/>
            </a:solidFill>
            <a:prstDash val="solid"/>
            <a:tailEnd type="triangle"/>
          </a:ln>
        </p:spPr>
      </p:sp>
      <p:sp>
        <p:nvSpPr>
          <p:cNvPr id="15" name="Fan-out arrow 2"/>
          <p:cNvSpPr/>
          <p:nvPr/>
        </p:nvSpPr>
        <p:spPr>
          <a:xfrm>
            <a:off x="3429000" y="2560320"/>
            <a:ext cx="0" cy="137160"/>
          </a:xfrm>
          <a:prstGeom prst="line">
            <a:avLst/>
          </a:prstGeom>
          <a:noFill/>
          <a:ln w="19050">
            <a:solidFill>
              <a:srgbClr val="7A8794"/>
            </a:solidFill>
            <a:prstDash val="solid"/>
            <a:tailEnd type="triangle"/>
          </a:ln>
        </p:spPr>
      </p:sp>
      <p:sp>
        <p:nvSpPr>
          <p:cNvPr id="16" name="Fan-out arrow 3"/>
          <p:cNvSpPr/>
          <p:nvPr/>
        </p:nvSpPr>
        <p:spPr>
          <a:xfrm>
            <a:off x="5410200" y="2560320"/>
            <a:ext cx="0" cy="137160"/>
          </a:xfrm>
          <a:prstGeom prst="line">
            <a:avLst/>
          </a:prstGeom>
          <a:noFill/>
          <a:ln w="19050">
            <a:solidFill>
              <a:srgbClr val="7A8794"/>
            </a:solidFill>
            <a:prstDash val="solid"/>
            <a:tailEnd type="triangle"/>
          </a:ln>
        </p:spPr>
      </p:sp>
      <p:sp>
        <p:nvSpPr>
          <p:cNvPr id="17" name="Checkov 3.3.1 box"/>
          <p:cNvSpPr/>
          <p:nvPr/>
        </p:nvSpPr>
        <p:spPr>
          <a:xfrm>
            <a:off x="548640" y="2697480"/>
            <a:ext cx="1798320" cy="1691640"/>
          </a:xfrm>
          <a:prstGeom prst="roundRect">
            <a:avLst>
              <a:gd name="adj" fmla="val 4324"/>
            </a:avLst>
          </a:prstGeom>
          <a:solidFill>
            <a:schemeClr val="bg1"/>
          </a:solidFill>
          <a:ln w="15875">
            <a:solidFill>
              <a:schemeClr val="accent2"/>
            </a:solidFill>
            <a:prstDash val="solid"/>
          </a:ln>
        </p:spPr>
      </p:sp>
      <p:sp>
        <p:nvSpPr>
          <p:cNvPr id="18" name="Checkov 3.3.1 circle"/>
          <p:cNvSpPr/>
          <p:nvPr/>
        </p:nvSpPr>
        <p:spPr>
          <a:xfrm>
            <a:off x="1219200" y="2807208"/>
            <a:ext cx="457200" cy="457200"/>
          </a:xfrm>
          <a:prstGeom prst="ellipse">
            <a:avLst/>
          </a:prstGeom>
          <a:solidFill>
            <a:schemeClr val="accent2"/>
          </a:solidFill>
          <a:ln w="12700">
            <a:solidFill>
              <a:schemeClr val="accent2"/>
            </a:solidFill>
            <a:prstDash val="solid"/>
          </a:ln>
        </p:spPr>
      </p:sp>
      <p:pic>
        <p:nvPicPr>
          <p:cNvPr id="19" name="Checkov 3.3.1 icon" descr="preencoded.png">    </p:cNvPr>
          <p:cNvPicPr>
            <a:picLocks noChangeAspect="1"/>
          </p:cNvPicPr>
          <p:nvPr/>
        </p:nvPicPr>
        <p:blipFill>
          <a:blip r:embed="rId3"/>
          <a:stretch>
            <a:fillRect/>
          </a:stretch>
        </p:blipFill>
        <p:spPr>
          <a:xfrm>
            <a:off x="1333500" y="2921508"/>
            <a:ext cx="228600" cy="228600"/>
          </a:xfrm>
          <a:prstGeom prst="rect">
            <a:avLst/>
          </a:prstGeom>
        </p:spPr>
      </p:pic>
      <p:sp>
        <p:nvSpPr>
          <p:cNvPr id="20" name="Checkov 3.3.1 text"/>
          <p:cNvSpPr txBox="1"/>
          <p:nvPr/>
        </p:nvSpPr>
        <p:spPr>
          <a:xfrm>
            <a:off x="640080" y="3337560"/>
            <a:ext cx="1615440" cy="1005840"/>
          </a:xfrm>
          <a:prstGeom prst="rect">
            <a:avLst/>
          </a:prstGeom>
          <a:noFill/>
          <a:ln/>
        </p:spPr>
        <p:txBody>
          <a:bodyPr wrap="square" lIns="0" tIns="0" rIns="0" bIns="0" rtlCol="0" anchor="t"/>
          <a:lstStyle/>
          <a:p>
            <a:pPr algn="ctr" indent="0" marL="0">
              <a:spcAft>
                <a:spcPts val="200"/>
              </a:spcAft>
              <a:buNone/>
            </a:pPr>
            <a:r>
              <a:rPr lang="en-GB" altLang="en-US" sz="1400" b="1" dirty="0">
                <a:solidFill>
                  <a:schemeClr val="tx2"/>
                </a:solidFill>
              </a:rPr>
              <a:t>Checkov 3.3.1</a:t>
            </a:r>
            <a:endParaRPr lang="en-GB" sz="1400" dirty="0"/>
          </a:p>
          <a:p>
            <a:pPr algn="ctr" indent="0" marL="0">
              <a:spcAft>
                <a:spcPts val="200"/>
              </a:spcAft>
              <a:buNone/>
            </a:pPr>
            <a:r>
              <a:rPr lang="en-GB" altLang="en-US" sz="1200" dirty="0">
                <a:solidFill>
                  <a:schemeClr val="tx1"/>
                </a:solidFill>
              </a:rPr>
              <a:t>Rule-based policy checks</a:t>
            </a:r>
            <a:endParaRPr lang="en-GB" sz="1400" dirty="0"/>
          </a:p>
        </p:txBody>
      </p:sp>
      <p:sp>
        <p:nvSpPr>
          <p:cNvPr id="21" name="tfsec 1.28.14 box"/>
          <p:cNvSpPr/>
          <p:nvPr/>
        </p:nvSpPr>
        <p:spPr>
          <a:xfrm>
            <a:off x="2529840" y="2697480"/>
            <a:ext cx="1798320" cy="1691640"/>
          </a:xfrm>
          <a:prstGeom prst="roundRect">
            <a:avLst>
              <a:gd name="adj" fmla="val 4324"/>
            </a:avLst>
          </a:prstGeom>
          <a:solidFill>
            <a:schemeClr val="bg1"/>
          </a:solidFill>
          <a:ln w="15875">
            <a:solidFill>
              <a:schemeClr val="accent2"/>
            </a:solidFill>
            <a:prstDash val="solid"/>
          </a:ln>
        </p:spPr>
      </p:sp>
      <p:sp>
        <p:nvSpPr>
          <p:cNvPr id="22" name="tfsec 1.28.14 circle"/>
          <p:cNvSpPr/>
          <p:nvPr/>
        </p:nvSpPr>
        <p:spPr>
          <a:xfrm>
            <a:off x="3200400" y="2807208"/>
            <a:ext cx="457200" cy="457200"/>
          </a:xfrm>
          <a:prstGeom prst="ellipse">
            <a:avLst/>
          </a:prstGeom>
          <a:solidFill>
            <a:schemeClr val="accent2"/>
          </a:solidFill>
          <a:ln w="12700">
            <a:solidFill>
              <a:schemeClr val="accent2"/>
            </a:solidFill>
            <a:prstDash val="solid"/>
          </a:ln>
        </p:spPr>
      </p:sp>
      <p:pic>
        <p:nvPicPr>
          <p:cNvPr id="23" name="tfsec 1.28.14 icon" descr="preencoded.png">    </p:cNvPr>
          <p:cNvPicPr>
            <a:picLocks noChangeAspect="1"/>
          </p:cNvPicPr>
          <p:nvPr/>
        </p:nvPicPr>
        <p:blipFill>
          <a:blip r:embed="rId4"/>
          <a:stretch>
            <a:fillRect/>
          </a:stretch>
        </p:blipFill>
        <p:spPr>
          <a:xfrm>
            <a:off x="3314700" y="2921508"/>
            <a:ext cx="228600" cy="228600"/>
          </a:xfrm>
          <a:prstGeom prst="rect">
            <a:avLst/>
          </a:prstGeom>
        </p:spPr>
      </p:pic>
      <p:sp>
        <p:nvSpPr>
          <p:cNvPr id="24" name="tfsec 1.28.14 text"/>
          <p:cNvSpPr txBox="1"/>
          <p:nvPr/>
        </p:nvSpPr>
        <p:spPr>
          <a:xfrm>
            <a:off x="2621280" y="3337560"/>
            <a:ext cx="1615440" cy="1005840"/>
          </a:xfrm>
          <a:prstGeom prst="rect">
            <a:avLst/>
          </a:prstGeom>
          <a:noFill/>
          <a:ln/>
        </p:spPr>
        <p:txBody>
          <a:bodyPr wrap="square" lIns="0" tIns="0" rIns="0" bIns="0" rtlCol="0" anchor="t"/>
          <a:lstStyle/>
          <a:p>
            <a:pPr algn="ctr" indent="0" marL="0">
              <a:spcAft>
                <a:spcPts val="200"/>
              </a:spcAft>
              <a:buNone/>
            </a:pPr>
            <a:r>
              <a:rPr lang="en-GB" altLang="en-US" sz="1400" b="1" dirty="0">
                <a:solidFill>
                  <a:schemeClr val="tx2"/>
                </a:solidFill>
              </a:rPr>
              <a:t>tfsec 1.28.14</a:t>
            </a:r>
            <a:endParaRPr lang="en-GB" sz="1400" dirty="0"/>
          </a:p>
          <a:p>
            <a:pPr algn="ctr" indent="0" marL="0">
              <a:spcAft>
                <a:spcPts val="200"/>
              </a:spcAft>
              <a:buNone/>
            </a:pPr>
            <a:r>
              <a:rPr lang="en-GB" altLang="en-US" sz="1200" dirty="0">
                <a:solidFill>
                  <a:schemeClr val="tx1"/>
                </a:solidFill>
              </a:rPr>
              <a:t>Rule-based checks</a:t>
            </a:r>
            <a:endParaRPr lang="en-GB" sz="1400" dirty="0"/>
          </a:p>
        </p:txBody>
      </p:sp>
      <p:sp>
        <p:nvSpPr>
          <p:cNvPr id="25" name="AI reviewer box"/>
          <p:cNvSpPr/>
          <p:nvPr/>
        </p:nvSpPr>
        <p:spPr>
          <a:xfrm>
            <a:off x="4511040" y="2697480"/>
            <a:ext cx="1798320" cy="1691640"/>
          </a:xfrm>
          <a:prstGeom prst="roundRect">
            <a:avLst>
              <a:gd name="adj" fmla="val 4324"/>
            </a:avLst>
          </a:prstGeom>
          <a:solidFill>
            <a:schemeClr val="bg1"/>
          </a:solidFill>
          <a:ln w="15875">
            <a:solidFill>
              <a:schemeClr val="accent1"/>
            </a:solidFill>
            <a:prstDash val="solid"/>
          </a:ln>
        </p:spPr>
      </p:sp>
      <p:sp>
        <p:nvSpPr>
          <p:cNvPr id="26" name="AI reviewer circle"/>
          <p:cNvSpPr/>
          <p:nvPr/>
        </p:nvSpPr>
        <p:spPr>
          <a:xfrm>
            <a:off x="5181600" y="2807208"/>
            <a:ext cx="457200" cy="457200"/>
          </a:xfrm>
          <a:prstGeom prst="ellipse">
            <a:avLst/>
          </a:prstGeom>
          <a:solidFill>
            <a:schemeClr val="accent1"/>
          </a:solidFill>
          <a:ln w="12700">
            <a:solidFill>
              <a:schemeClr val="accent1"/>
            </a:solidFill>
            <a:prstDash val="solid"/>
          </a:ln>
        </p:spPr>
      </p:sp>
      <p:pic>
        <p:nvPicPr>
          <p:cNvPr id="27" name="AI reviewer icon" descr="preencoded.png">    </p:cNvPr>
          <p:cNvPicPr>
            <a:picLocks noChangeAspect="1"/>
          </p:cNvPicPr>
          <p:nvPr/>
        </p:nvPicPr>
        <p:blipFill>
          <a:blip r:embed="rId5"/>
          <a:stretch>
            <a:fillRect/>
          </a:stretch>
        </p:blipFill>
        <p:spPr>
          <a:xfrm>
            <a:off x="5295900" y="2921508"/>
            <a:ext cx="228600" cy="228600"/>
          </a:xfrm>
          <a:prstGeom prst="rect">
            <a:avLst/>
          </a:prstGeom>
        </p:spPr>
      </p:pic>
      <p:sp>
        <p:nvSpPr>
          <p:cNvPr id="28" name="AI reviewer text"/>
          <p:cNvSpPr txBox="1"/>
          <p:nvPr/>
        </p:nvSpPr>
        <p:spPr>
          <a:xfrm>
            <a:off x="4602480" y="3337560"/>
            <a:ext cx="1615440" cy="1005840"/>
          </a:xfrm>
          <a:prstGeom prst="rect">
            <a:avLst/>
          </a:prstGeom>
          <a:noFill/>
          <a:ln/>
        </p:spPr>
        <p:txBody>
          <a:bodyPr wrap="square" lIns="0" tIns="0" rIns="0" bIns="0" rtlCol="0" anchor="t"/>
          <a:lstStyle/>
          <a:p>
            <a:pPr algn="ctr" indent="0" marL="0">
              <a:spcAft>
                <a:spcPts val="200"/>
              </a:spcAft>
              <a:buNone/>
            </a:pPr>
            <a:r>
              <a:rPr lang="en-GB" altLang="en-US" sz="1400" b="1" dirty="0">
                <a:solidFill>
                  <a:schemeClr val="tx2"/>
                </a:solidFill>
              </a:rPr>
              <a:t>AI reviewer</a:t>
            </a:r>
            <a:endParaRPr lang="en-GB" sz="1400" dirty="0"/>
          </a:p>
          <a:p>
            <a:pPr algn="ctr" indent="0" marL="0">
              <a:spcAft>
                <a:spcPts val="200"/>
              </a:spcAft>
              <a:buNone/>
            </a:pPr>
            <a:r>
              <a:rPr lang="en-GB" altLang="en-US" sz="1200" dirty="0">
                <a:solidFill>
                  <a:schemeClr val="tx1"/>
                </a:solidFill>
              </a:rPr>
              <a:t>Claude reads all .tf files, policy and README; JSON, max 3 findings</a:t>
            </a:r>
            <a:endParaRPr lang="en-GB" sz="1400" dirty="0"/>
          </a:p>
        </p:txBody>
      </p:sp>
      <p:sp>
        <p:nvSpPr>
          <p:cNvPr id="29" name="Fan-in stem 1"/>
          <p:cNvSpPr/>
          <p:nvPr/>
        </p:nvSpPr>
        <p:spPr>
          <a:xfrm>
            <a:off x="1447800" y="4389120"/>
            <a:ext cx="0" cy="137160"/>
          </a:xfrm>
          <a:prstGeom prst="line">
            <a:avLst/>
          </a:prstGeom>
          <a:noFill/>
          <a:ln w="19050">
            <a:solidFill>
              <a:srgbClr val="7A8794"/>
            </a:solidFill>
            <a:prstDash val="solid"/>
          </a:ln>
        </p:spPr>
      </p:sp>
      <p:sp>
        <p:nvSpPr>
          <p:cNvPr id="30" name="Fan-in stem 2"/>
          <p:cNvSpPr/>
          <p:nvPr/>
        </p:nvSpPr>
        <p:spPr>
          <a:xfrm>
            <a:off x="3429000" y="4389120"/>
            <a:ext cx="0" cy="137160"/>
          </a:xfrm>
          <a:prstGeom prst="line">
            <a:avLst/>
          </a:prstGeom>
          <a:noFill/>
          <a:ln w="19050">
            <a:solidFill>
              <a:srgbClr val="7A8794"/>
            </a:solidFill>
            <a:prstDash val="solid"/>
          </a:ln>
        </p:spPr>
      </p:sp>
      <p:sp>
        <p:nvSpPr>
          <p:cNvPr id="31" name="Fan-in stem 3"/>
          <p:cNvSpPr/>
          <p:nvPr/>
        </p:nvSpPr>
        <p:spPr>
          <a:xfrm>
            <a:off x="5410200" y="4389120"/>
            <a:ext cx="0" cy="137160"/>
          </a:xfrm>
          <a:prstGeom prst="line">
            <a:avLst/>
          </a:prstGeom>
          <a:noFill/>
          <a:ln w="19050">
            <a:solidFill>
              <a:srgbClr val="7A8794"/>
            </a:solidFill>
            <a:prstDash val="solid"/>
          </a:ln>
        </p:spPr>
      </p:sp>
      <p:sp>
        <p:nvSpPr>
          <p:cNvPr id="32" name="Fan-in bar"/>
          <p:cNvSpPr/>
          <p:nvPr/>
        </p:nvSpPr>
        <p:spPr>
          <a:xfrm>
            <a:off x="1447800" y="4526280"/>
            <a:ext cx="3962400" cy="0"/>
          </a:xfrm>
          <a:prstGeom prst="line">
            <a:avLst/>
          </a:prstGeom>
          <a:noFill/>
          <a:ln w="19050">
            <a:solidFill>
              <a:srgbClr val="7A8794"/>
            </a:solidFill>
            <a:prstDash val="solid"/>
          </a:ln>
        </p:spPr>
      </p:sp>
      <p:sp>
        <p:nvSpPr>
          <p:cNvPr id="33" name="Arrow to comments"/>
          <p:cNvSpPr/>
          <p:nvPr/>
        </p:nvSpPr>
        <p:spPr>
          <a:xfrm>
            <a:off x="3429000" y="4526280"/>
            <a:ext cx="0" cy="137160"/>
          </a:xfrm>
          <a:prstGeom prst="line">
            <a:avLst/>
          </a:prstGeom>
          <a:noFill/>
          <a:ln w="19050">
            <a:solidFill>
              <a:srgbClr val="7A8794"/>
            </a:solidFill>
            <a:prstDash val="solid"/>
            <a:tailEnd type="triangle"/>
          </a:ln>
        </p:spPr>
      </p:sp>
      <p:sp>
        <p:nvSpPr>
          <p:cNvPr id="34" name="Step comments"/>
          <p:cNvSpPr/>
          <p:nvPr/>
        </p:nvSpPr>
        <p:spPr>
          <a:xfrm>
            <a:off x="548640" y="4663440"/>
            <a:ext cx="5760720" cy="457200"/>
          </a:xfrm>
          <a:prstGeom prst="roundRect">
            <a:avLst>
              <a:gd name="adj" fmla="val 16000"/>
            </a:avLst>
          </a:prstGeom>
          <a:solidFill>
            <a:schemeClr val="bg2"/>
          </a:solidFill>
          <a:ln w="12700">
            <a:solidFill>
              <a:schemeClr val="bg2"/>
            </a:solidFill>
            <a:prstDash val="solid"/>
          </a:ln>
        </p:spPr>
      </p:sp>
      <p:sp>
        <p:nvSpPr>
          <p:cNvPr id="35" name="Step comments icon circle"/>
          <p:cNvSpPr/>
          <p:nvPr/>
        </p:nvSpPr>
        <p:spPr>
          <a:xfrm>
            <a:off x="676656" y="4700016"/>
            <a:ext cx="384048" cy="384048"/>
          </a:xfrm>
          <a:prstGeom prst="ellipse">
            <a:avLst/>
          </a:prstGeom>
          <a:solidFill>
            <a:schemeClr val="tx2"/>
          </a:solidFill>
          <a:ln w="12700">
            <a:solidFill>
              <a:schemeClr val="tx2"/>
            </a:solidFill>
            <a:prstDash val="solid"/>
          </a:ln>
        </p:spPr>
      </p:sp>
      <p:pic>
        <p:nvPicPr>
          <p:cNvPr id="36" name="Step comments icon icon" descr="preencoded.png">    </p:cNvPr>
          <p:cNvPicPr>
            <a:picLocks noChangeAspect="1"/>
          </p:cNvPicPr>
          <p:nvPr/>
        </p:nvPicPr>
        <p:blipFill>
          <a:blip r:embed="rId6"/>
          <a:stretch>
            <a:fillRect/>
          </a:stretch>
        </p:blipFill>
        <p:spPr>
          <a:xfrm>
            <a:off x="772668" y="4796028"/>
            <a:ext cx="192024" cy="192024"/>
          </a:xfrm>
          <a:prstGeom prst="rect">
            <a:avLst/>
          </a:prstGeom>
        </p:spPr>
      </p:pic>
      <p:sp>
        <p:nvSpPr>
          <p:cNvPr id="37" name="Step comments text"/>
          <p:cNvSpPr txBox="1"/>
          <p:nvPr/>
        </p:nvSpPr>
        <p:spPr>
          <a:xfrm>
            <a:off x="1188720" y="466344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Three separate PR comments; </a:t>
            </a:r>
            <a:pPr indent="0" marL="0">
              <a:buNone/>
            </a:pPr>
            <a:r>
              <a:rPr lang="en-GB" altLang="en-US" sz="1400" dirty="0">
                <a:solidFill>
                  <a:schemeClr val="tx1"/>
                </a:solidFill>
              </a:rPr>
              <a:t>all raw outputs saved per run</a:t>
            </a:r>
            <a:endParaRPr lang="en-GB" sz="1400" dirty="0"/>
          </a:p>
        </p:txBody>
      </p:sp>
      <p:sp>
        <p:nvSpPr>
          <p:cNvPr id="38" name="Arrow to classify"/>
          <p:cNvSpPr/>
          <p:nvPr/>
        </p:nvSpPr>
        <p:spPr>
          <a:xfrm>
            <a:off x="3429000" y="5120640"/>
            <a:ext cx="0" cy="182880"/>
          </a:xfrm>
          <a:prstGeom prst="line">
            <a:avLst/>
          </a:prstGeom>
          <a:noFill/>
          <a:ln w="19050">
            <a:solidFill>
              <a:srgbClr val="7A8794"/>
            </a:solidFill>
            <a:prstDash val="solid"/>
            <a:tailEnd type="triangle"/>
          </a:ln>
        </p:spPr>
      </p:sp>
      <p:sp>
        <p:nvSpPr>
          <p:cNvPr id="39" name="Step classify"/>
          <p:cNvSpPr/>
          <p:nvPr/>
        </p:nvSpPr>
        <p:spPr>
          <a:xfrm>
            <a:off x="548640" y="5303520"/>
            <a:ext cx="5760720" cy="457200"/>
          </a:xfrm>
          <a:prstGeom prst="roundRect">
            <a:avLst>
              <a:gd name="adj" fmla="val 16000"/>
            </a:avLst>
          </a:prstGeom>
          <a:solidFill>
            <a:schemeClr val="bg2"/>
          </a:solidFill>
          <a:ln w="12700">
            <a:solidFill>
              <a:schemeClr val="bg2"/>
            </a:solidFill>
            <a:prstDash val="solid"/>
          </a:ln>
        </p:spPr>
      </p:sp>
      <p:sp>
        <p:nvSpPr>
          <p:cNvPr id="40" name="Step classify icon circle"/>
          <p:cNvSpPr/>
          <p:nvPr/>
        </p:nvSpPr>
        <p:spPr>
          <a:xfrm>
            <a:off x="676656" y="5340096"/>
            <a:ext cx="384048" cy="384048"/>
          </a:xfrm>
          <a:prstGeom prst="ellipse">
            <a:avLst/>
          </a:prstGeom>
          <a:solidFill>
            <a:schemeClr val="tx2"/>
          </a:solidFill>
          <a:ln w="12700">
            <a:solidFill>
              <a:schemeClr val="tx2"/>
            </a:solidFill>
            <a:prstDash val="solid"/>
          </a:ln>
        </p:spPr>
      </p:sp>
      <p:pic>
        <p:nvPicPr>
          <p:cNvPr id="41" name="Step classify icon icon" descr="preencoded.png">    </p:cNvPr>
          <p:cNvPicPr>
            <a:picLocks noChangeAspect="1"/>
          </p:cNvPicPr>
          <p:nvPr/>
        </p:nvPicPr>
        <p:blipFill>
          <a:blip r:embed="rId7"/>
          <a:stretch>
            <a:fillRect/>
          </a:stretch>
        </p:blipFill>
        <p:spPr>
          <a:xfrm>
            <a:off x="772668" y="5436108"/>
            <a:ext cx="192024" cy="192024"/>
          </a:xfrm>
          <a:prstGeom prst="rect">
            <a:avLst/>
          </a:prstGeom>
        </p:spPr>
      </p:pic>
      <p:sp>
        <p:nvSpPr>
          <p:cNvPr id="42" name="Step classify text"/>
          <p:cNvSpPr txBox="1"/>
          <p:nvPr/>
        </p:nvSpPr>
        <p:spPr>
          <a:xfrm>
            <a:off x="1188720" y="530352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I classify every output against the ground truth</a:t>
            </a:r>
            <a:endParaRPr lang="en-GB" sz="1400" dirty="0"/>
          </a:p>
        </p:txBody>
      </p:sp>
      <p:sp>
        <p:nvSpPr>
          <p:cNvPr id="43" name="Evidence heading"/>
          <p:cNvSpPr txBox="1"/>
          <p:nvPr/>
        </p:nvSpPr>
        <p:spPr>
          <a:xfrm>
            <a:off x="6675120" y="1325880"/>
            <a:ext cx="4967935" cy="566928"/>
          </a:xfrm>
          <a:prstGeom prst="rect">
            <a:avLst/>
          </a:prstGeom>
          <a:noFill/>
          <a:ln/>
        </p:spPr>
        <p:txBody>
          <a:bodyPr wrap="square" lIns="0" tIns="0" rIns="0" bIns="0" rtlCol="0" anchor="t"/>
          <a:lstStyle/>
          <a:p>
            <a:pPr indent="0" marL="0">
              <a:buNone/>
            </a:pPr>
            <a:r>
              <a:rPr lang="en-GB" altLang="en-US" sz="1600" b="1" dirty="0">
                <a:solidFill>
                  <a:schemeClr val="tx2"/>
                </a:solidFill>
              </a:rPr>
              <a:t>Evidence: pull request #71</a:t>
            </a:r>
            <a:endParaRPr lang="en-GB" sz="1400" dirty="0"/>
          </a:p>
          <a:p>
            <a:pPr indent="0" marL="0">
              <a:buNone/>
            </a:pPr>
            <a:r>
              <a:rPr lang="en-GB" altLang="en-US" sz="1200" dirty="0">
                <a:solidFill>
                  <a:schemeClr val="accent6"/>
                </a:solidFill>
              </a:rPr>
              <a:t>TC02 · inbound SSH open to 0.0.0.0/0 · copied verbatim from the PR</a:t>
            </a:r>
            <a:endParaRPr lang="en-GB" sz="1400" dirty="0"/>
          </a:p>
        </p:txBody>
      </p:sp>
      <p:sp>
        <p:nvSpPr>
          <p:cNvPr id="44" name="Checkov evidence card"/>
          <p:cNvSpPr/>
          <p:nvPr/>
        </p:nvSpPr>
        <p:spPr>
          <a:xfrm>
            <a:off x="6675120" y="1984248"/>
            <a:ext cx="4967935" cy="1060704"/>
          </a:xfrm>
          <a:prstGeom prst="roundRect">
            <a:avLst>
              <a:gd name="adj" fmla="val 6897"/>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45" name="Checkov evidence circle"/>
          <p:cNvSpPr/>
          <p:nvPr/>
        </p:nvSpPr>
        <p:spPr>
          <a:xfrm>
            <a:off x="6839712" y="2130552"/>
            <a:ext cx="384048" cy="384048"/>
          </a:xfrm>
          <a:prstGeom prst="ellipse">
            <a:avLst/>
          </a:prstGeom>
          <a:solidFill>
            <a:schemeClr val="accent6"/>
          </a:solidFill>
          <a:ln w="12700">
            <a:solidFill>
              <a:schemeClr val="accent6"/>
            </a:solidFill>
            <a:prstDash val="solid"/>
          </a:ln>
        </p:spPr>
      </p:sp>
      <p:pic>
        <p:nvPicPr>
          <p:cNvPr id="46" name="Checkov evidence icon" descr="preencoded.png">    </p:cNvPr>
          <p:cNvPicPr>
            <a:picLocks noChangeAspect="1"/>
          </p:cNvPicPr>
          <p:nvPr/>
        </p:nvPicPr>
        <p:blipFill>
          <a:blip r:embed="rId8"/>
          <a:stretch>
            <a:fillRect/>
          </a:stretch>
        </p:blipFill>
        <p:spPr>
          <a:xfrm>
            <a:off x="6935724" y="2226564"/>
            <a:ext cx="192024" cy="192024"/>
          </a:xfrm>
          <a:prstGeom prst="rect">
            <a:avLst/>
          </a:prstGeom>
        </p:spPr>
      </p:pic>
      <p:sp>
        <p:nvSpPr>
          <p:cNvPr id="47" name="Checkov name"/>
          <p:cNvSpPr txBox="1"/>
          <p:nvPr/>
        </p:nvSpPr>
        <p:spPr>
          <a:xfrm>
            <a:off x="7360920" y="2130552"/>
            <a:ext cx="2286000" cy="384048"/>
          </a:xfrm>
          <a:prstGeom prst="rect">
            <a:avLst/>
          </a:prstGeom>
          <a:noFill/>
          <a:ln/>
        </p:spPr>
        <p:txBody>
          <a:bodyPr wrap="square" lIns="0" tIns="0" rIns="0" bIns="0" rtlCol="0" anchor="ctr"/>
          <a:lstStyle/>
          <a:p>
            <a:pPr indent="0" marL="0">
              <a:buNone/>
            </a:pPr>
            <a:r>
              <a:rPr lang="en-GB" altLang="en-US" sz="1400" b="1" dirty="0">
                <a:solidFill>
                  <a:schemeClr val="tx2"/>
                </a:solidFill>
              </a:rPr>
              <a:t>Checkov</a:t>
            </a:r>
            <a:endParaRPr lang="en-GB" sz="1400" dirty="0"/>
          </a:p>
        </p:txBody>
      </p:sp>
      <p:sp>
        <p:nvSpPr>
          <p:cNvPr id="48" name="Checkov tag"/>
          <p:cNvSpPr/>
          <p:nvPr/>
        </p:nvSpPr>
        <p:spPr>
          <a:xfrm>
            <a:off x="10381183" y="2167128"/>
            <a:ext cx="1097280" cy="310896"/>
          </a:xfrm>
          <a:prstGeom prst="roundRect">
            <a:avLst>
              <a:gd name="adj" fmla="val 50000"/>
            </a:avLst>
          </a:prstGeom>
          <a:solidFill>
            <a:schemeClr val="accent6"/>
          </a:solidFill>
          <a:ln w="12700">
            <a:solidFill>
              <a:schemeClr val="accent6"/>
            </a:solidFill>
            <a:prstDash val="solid"/>
          </a:ln>
        </p:spPr>
      </p:sp>
      <p:sp>
        <p:nvSpPr>
          <p:cNvPr id="49" name="Checkov tag text"/>
          <p:cNvSpPr txBox="1"/>
          <p:nvPr/>
        </p:nvSpPr>
        <p:spPr>
          <a:xfrm>
            <a:off x="10381183" y="2167128"/>
            <a:ext cx="1097280" cy="310896"/>
          </a:xfrm>
          <a:prstGeom prst="rect">
            <a:avLst/>
          </a:prstGeom>
          <a:noFill/>
          <a:ln/>
        </p:spPr>
        <p:txBody>
          <a:bodyPr wrap="square" lIns="0" tIns="0" rIns="0" bIns="0" rtlCol="0" anchor="ctr"/>
          <a:lstStyle/>
          <a:p>
            <a:pPr algn="ctr" indent="0" marL="0">
              <a:buNone/>
            </a:pPr>
            <a:r>
              <a:rPr lang="en-GB" altLang="en-US" sz="1100" b="1" spc="100" kern="0" dirty="0">
                <a:solidFill>
                  <a:schemeClr val="bg1"/>
                </a:solidFill>
              </a:rPr>
              <a:t>MISSED</a:t>
            </a:r>
            <a:endParaRPr lang="en-GB" sz="1100" dirty="0"/>
          </a:p>
        </p:txBody>
      </p:sp>
      <p:sp>
        <p:nvSpPr>
          <p:cNvPr id="50" name="Checkov output"/>
          <p:cNvSpPr txBox="1"/>
          <p:nvPr/>
        </p:nvSpPr>
        <p:spPr>
          <a:xfrm>
            <a:off x="7360920" y="2587752"/>
            <a:ext cx="4099255" cy="384048"/>
          </a:xfrm>
          <a:prstGeom prst="rect">
            <a:avLst/>
          </a:prstGeom>
          <a:noFill/>
          <a:ln/>
        </p:spPr>
        <p:txBody>
          <a:bodyPr wrap="square" lIns="0" tIns="0" rIns="0" bIns="0" rtlCol="0" anchor="t"/>
          <a:lstStyle/>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Passed: 7 · Failed: 0 · Skipped: 0</a:t>
            </a:r>
            <a:endParaRPr lang="en-GB" sz="1200" dirty="0"/>
          </a:p>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No failed checks were reported.</a:t>
            </a:r>
            <a:endParaRPr lang="en-GB" sz="1200" dirty="0"/>
          </a:p>
        </p:txBody>
      </p:sp>
      <p:sp>
        <p:nvSpPr>
          <p:cNvPr id="51" name="tfsec evidence card"/>
          <p:cNvSpPr/>
          <p:nvPr/>
        </p:nvSpPr>
        <p:spPr>
          <a:xfrm>
            <a:off x="6675120" y="3172968"/>
            <a:ext cx="4967935" cy="1060704"/>
          </a:xfrm>
          <a:prstGeom prst="roundRect">
            <a:avLst>
              <a:gd name="adj" fmla="val 6897"/>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52" name="tfsec evidence circle"/>
          <p:cNvSpPr/>
          <p:nvPr/>
        </p:nvSpPr>
        <p:spPr>
          <a:xfrm>
            <a:off x="6839712" y="3319272"/>
            <a:ext cx="384048" cy="384048"/>
          </a:xfrm>
          <a:prstGeom prst="ellipse">
            <a:avLst/>
          </a:prstGeom>
          <a:solidFill>
            <a:schemeClr val="accent2"/>
          </a:solidFill>
          <a:ln w="12700">
            <a:solidFill>
              <a:schemeClr val="accent2"/>
            </a:solidFill>
            <a:prstDash val="solid"/>
          </a:ln>
        </p:spPr>
      </p:sp>
      <p:pic>
        <p:nvPicPr>
          <p:cNvPr id="53" name="tfsec evidence icon" descr="preencoded.png">    </p:cNvPr>
          <p:cNvPicPr>
            <a:picLocks noChangeAspect="1"/>
          </p:cNvPicPr>
          <p:nvPr/>
        </p:nvPicPr>
        <p:blipFill>
          <a:blip r:embed="rId9"/>
          <a:stretch>
            <a:fillRect/>
          </a:stretch>
        </p:blipFill>
        <p:spPr>
          <a:xfrm>
            <a:off x="6935724" y="3415284"/>
            <a:ext cx="192024" cy="192024"/>
          </a:xfrm>
          <a:prstGeom prst="rect">
            <a:avLst/>
          </a:prstGeom>
        </p:spPr>
      </p:pic>
      <p:sp>
        <p:nvSpPr>
          <p:cNvPr id="54" name="tfsec name"/>
          <p:cNvSpPr txBox="1"/>
          <p:nvPr/>
        </p:nvSpPr>
        <p:spPr>
          <a:xfrm>
            <a:off x="7360920" y="3319272"/>
            <a:ext cx="2286000" cy="384048"/>
          </a:xfrm>
          <a:prstGeom prst="rect">
            <a:avLst/>
          </a:prstGeom>
          <a:noFill/>
          <a:ln/>
        </p:spPr>
        <p:txBody>
          <a:bodyPr wrap="square" lIns="0" tIns="0" rIns="0" bIns="0" rtlCol="0" anchor="ctr"/>
          <a:lstStyle/>
          <a:p>
            <a:pPr indent="0" marL="0">
              <a:buNone/>
            </a:pPr>
            <a:r>
              <a:rPr lang="en-GB" altLang="en-US" sz="1400" b="1" dirty="0">
                <a:solidFill>
                  <a:schemeClr val="tx2"/>
                </a:solidFill>
              </a:rPr>
              <a:t>tfsec</a:t>
            </a:r>
            <a:endParaRPr lang="en-GB" sz="1400" dirty="0"/>
          </a:p>
        </p:txBody>
      </p:sp>
      <p:sp>
        <p:nvSpPr>
          <p:cNvPr id="55" name="tfsec tag"/>
          <p:cNvSpPr/>
          <p:nvPr/>
        </p:nvSpPr>
        <p:spPr>
          <a:xfrm>
            <a:off x="10381183" y="3355848"/>
            <a:ext cx="1097280" cy="310896"/>
          </a:xfrm>
          <a:prstGeom prst="roundRect">
            <a:avLst>
              <a:gd name="adj" fmla="val 50000"/>
            </a:avLst>
          </a:prstGeom>
          <a:solidFill>
            <a:schemeClr val="accent4"/>
          </a:solidFill>
          <a:ln w="12700">
            <a:solidFill>
              <a:schemeClr val="accent4"/>
            </a:solidFill>
            <a:prstDash val="solid"/>
          </a:ln>
        </p:spPr>
      </p:sp>
      <p:sp>
        <p:nvSpPr>
          <p:cNvPr id="56" name="tfsec tag text"/>
          <p:cNvSpPr txBox="1"/>
          <p:nvPr/>
        </p:nvSpPr>
        <p:spPr>
          <a:xfrm>
            <a:off x="10381183" y="3355848"/>
            <a:ext cx="1097280" cy="310896"/>
          </a:xfrm>
          <a:prstGeom prst="rect">
            <a:avLst/>
          </a:prstGeom>
          <a:noFill/>
          <a:ln/>
        </p:spPr>
        <p:txBody>
          <a:bodyPr wrap="square" lIns="0" tIns="0" rIns="0" bIns="0" rtlCol="0" anchor="ctr"/>
          <a:lstStyle/>
          <a:p>
            <a:pPr algn="ctr" indent="0" marL="0">
              <a:buNone/>
            </a:pPr>
            <a:r>
              <a:rPr lang="en-GB" altLang="en-US" sz="1100" b="1" spc="100" kern="0" dirty="0">
                <a:solidFill>
                  <a:schemeClr val="bg1"/>
                </a:solidFill>
              </a:rPr>
              <a:t>DETECTED</a:t>
            </a:r>
            <a:endParaRPr lang="en-GB" sz="1100" dirty="0"/>
          </a:p>
        </p:txBody>
      </p:sp>
      <p:sp>
        <p:nvSpPr>
          <p:cNvPr id="57" name="tfsec output"/>
          <p:cNvSpPr txBox="1"/>
          <p:nvPr/>
        </p:nvSpPr>
        <p:spPr>
          <a:xfrm>
            <a:off x="7360920" y="3776472"/>
            <a:ext cx="4099255" cy="384048"/>
          </a:xfrm>
          <a:prstGeom prst="rect">
            <a:avLst/>
          </a:prstGeom>
          <a:noFill/>
          <a:ln/>
        </p:spPr>
        <p:txBody>
          <a:bodyPr wrap="square" lIns="0" tIns="0" rIns="0" bIns="0" rtlCol="0" anchor="t"/>
          <a:lstStyle/>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CRITICAL · AVD-AZU-0047 — Security group rule allows ingress from public internet.</a:t>
            </a:r>
            <a:endParaRPr lang="en-GB" sz="1200" dirty="0"/>
          </a:p>
        </p:txBody>
      </p:sp>
      <p:sp>
        <p:nvSpPr>
          <p:cNvPr id="58" name="AI reviewer evidence card"/>
          <p:cNvSpPr/>
          <p:nvPr/>
        </p:nvSpPr>
        <p:spPr>
          <a:xfrm>
            <a:off x="6675120" y="4361688"/>
            <a:ext cx="4967935" cy="1463040"/>
          </a:xfrm>
          <a:prstGeom prst="roundRect">
            <a:avLst>
              <a:gd name="adj" fmla="val 5000"/>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59" name="AI reviewer evidence circle"/>
          <p:cNvSpPr/>
          <p:nvPr/>
        </p:nvSpPr>
        <p:spPr>
          <a:xfrm>
            <a:off x="6839712" y="4507992"/>
            <a:ext cx="384048" cy="384048"/>
          </a:xfrm>
          <a:prstGeom prst="ellipse">
            <a:avLst/>
          </a:prstGeom>
          <a:solidFill>
            <a:schemeClr val="accent1"/>
          </a:solidFill>
          <a:ln w="12700">
            <a:solidFill>
              <a:schemeClr val="accent1"/>
            </a:solidFill>
            <a:prstDash val="solid"/>
          </a:ln>
        </p:spPr>
      </p:sp>
      <p:pic>
        <p:nvPicPr>
          <p:cNvPr id="60" name="AI reviewer evidence icon" descr="preencoded.png">    </p:cNvPr>
          <p:cNvPicPr>
            <a:picLocks noChangeAspect="1"/>
          </p:cNvPicPr>
          <p:nvPr/>
        </p:nvPicPr>
        <p:blipFill>
          <a:blip r:embed="rId10"/>
          <a:stretch>
            <a:fillRect/>
          </a:stretch>
        </p:blipFill>
        <p:spPr>
          <a:xfrm>
            <a:off x="6935724" y="4604004"/>
            <a:ext cx="192024" cy="192024"/>
          </a:xfrm>
          <a:prstGeom prst="rect">
            <a:avLst/>
          </a:prstGeom>
        </p:spPr>
      </p:pic>
      <p:sp>
        <p:nvSpPr>
          <p:cNvPr id="61" name="AI reviewer name"/>
          <p:cNvSpPr txBox="1"/>
          <p:nvPr/>
        </p:nvSpPr>
        <p:spPr>
          <a:xfrm>
            <a:off x="7360920" y="4507992"/>
            <a:ext cx="2286000" cy="384048"/>
          </a:xfrm>
          <a:prstGeom prst="rect">
            <a:avLst/>
          </a:prstGeom>
          <a:noFill/>
          <a:ln/>
        </p:spPr>
        <p:txBody>
          <a:bodyPr wrap="square" lIns="0" tIns="0" rIns="0" bIns="0" rtlCol="0" anchor="ctr"/>
          <a:lstStyle/>
          <a:p>
            <a:pPr indent="0" marL="0">
              <a:buNone/>
            </a:pPr>
            <a:r>
              <a:rPr lang="en-GB" altLang="en-US" sz="1400" b="1" dirty="0">
                <a:solidFill>
                  <a:schemeClr val="tx2"/>
                </a:solidFill>
              </a:rPr>
              <a:t>AI reviewer</a:t>
            </a:r>
            <a:endParaRPr lang="en-GB" sz="1400" dirty="0"/>
          </a:p>
        </p:txBody>
      </p:sp>
      <p:sp>
        <p:nvSpPr>
          <p:cNvPr id="62" name="AI reviewer tag"/>
          <p:cNvSpPr/>
          <p:nvPr/>
        </p:nvSpPr>
        <p:spPr>
          <a:xfrm>
            <a:off x="10381183" y="4544568"/>
            <a:ext cx="1097280" cy="310896"/>
          </a:xfrm>
          <a:prstGeom prst="roundRect">
            <a:avLst>
              <a:gd name="adj" fmla="val 50000"/>
            </a:avLst>
          </a:prstGeom>
          <a:solidFill>
            <a:schemeClr val="accent4"/>
          </a:solidFill>
          <a:ln w="12700">
            <a:solidFill>
              <a:schemeClr val="accent4"/>
            </a:solidFill>
            <a:prstDash val="solid"/>
          </a:ln>
        </p:spPr>
      </p:sp>
      <p:sp>
        <p:nvSpPr>
          <p:cNvPr id="63" name="AI reviewer tag text"/>
          <p:cNvSpPr txBox="1"/>
          <p:nvPr/>
        </p:nvSpPr>
        <p:spPr>
          <a:xfrm>
            <a:off x="10381183" y="4544568"/>
            <a:ext cx="1097280" cy="310896"/>
          </a:xfrm>
          <a:prstGeom prst="rect">
            <a:avLst/>
          </a:prstGeom>
          <a:noFill/>
          <a:ln/>
        </p:spPr>
        <p:txBody>
          <a:bodyPr wrap="square" lIns="0" tIns="0" rIns="0" bIns="0" rtlCol="0" anchor="ctr"/>
          <a:lstStyle/>
          <a:p>
            <a:pPr algn="ctr" indent="0" marL="0">
              <a:buNone/>
            </a:pPr>
            <a:r>
              <a:rPr lang="en-GB" altLang="en-US" sz="1100" b="1" spc="100" kern="0" dirty="0">
                <a:solidFill>
                  <a:schemeClr val="bg1"/>
                </a:solidFill>
              </a:rPr>
              <a:t>DETECTED</a:t>
            </a:r>
            <a:endParaRPr lang="en-GB" sz="1100" dirty="0"/>
          </a:p>
        </p:txBody>
      </p:sp>
      <p:sp>
        <p:nvSpPr>
          <p:cNvPr id="64" name="AI reviewer output"/>
          <p:cNvSpPr txBox="1"/>
          <p:nvPr/>
        </p:nvSpPr>
        <p:spPr>
          <a:xfrm>
            <a:off x="7360920" y="4965192"/>
            <a:ext cx="4099255" cy="786384"/>
          </a:xfrm>
          <a:prstGeom prst="rect">
            <a:avLst/>
          </a:prstGeom>
          <a:noFill/>
          <a:ln/>
        </p:spPr>
        <p:txBody>
          <a:bodyPr wrap="square" lIns="0" tIns="0" rIns="0" bIns="0" rtlCol="0" anchor="t"/>
          <a:lstStyle/>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HIGH · SECURITY_VULNERABILITY · Unrestricted inbound SSH access permitted from any source address</a:t>
            </a:r>
            <a:endParaRPr lang="en-GB" sz="1200" dirty="0"/>
          </a:p>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70/100 — MEDIUM — APPROVE_WITH_COMMENTS</a:t>
            </a:r>
            <a:endParaRPr lang="en-GB" sz="1200" dirty="0"/>
          </a:p>
        </p:txBody>
      </p:sp>
      <p:sp>
        <p:nvSpPr>
          <p:cNvPr id="65" name="Evidence source"/>
          <p:cNvSpPr txBox="1"/>
          <p:nvPr/>
        </p:nvSpPr>
        <p:spPr>
          <a:xfrm>
            <a:off x="6675120" y="5971032"/>
            <a:ext cx="4967935" cy="274320"/>
          </a:xfrm>
          <a:prstGeom prst="rect">
            <a:avLst/>
          </a:prstGeom>
          <a:noFill/>
          <a:ln/>
        </p:spPr>
        <p:txBody>
          <a:bodyPr wrap="square" lIns="0" tIns="0" rIns="0" bIns="0" rtlCol="0" anchor="t"/>
          <a:lstStyle/>
          <a:p>
            <a:pPr indent="0" marL="0">
              <a:buNone/>
            </a:pPr>
            <a:r>
              <a:rPr lang="en-GB" altLang="en-US" sz="1100" dirty="0">
                <a:solidFill>
                  <a:schemeClr val="accent6"/>
                </a:solidFill>
              </a:rPr>
              <a:t>Dissertation Figure 4.2 · github.com/abdulwaheed384/ai-pr-review</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4</a:t>
            </a:fld>
            <a:endParaRPr lang="en-GB"/>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How I tested it: fixed ground truth, repeated runs</a:t>
            </a:r>
            <a:endParaRPr lang="en-GB" sz="3600" dirty="0"/>
          </a:p>
        </p:txBody>
      </p:sp>
      <p:sp>
        <p:nvSpPr>
          <p:cNvPr id="3" name="Step 1"/>
          <p:cNvSpPr/>
          <p:nvPr/>
        </p:nvSpPr>
        <p:spPr>
          <a:xfrm>
            <a:off x="548640" y="1325880"/>
            <a:ext cx="2072579" cy="1783080"/>
          </a:xfrm>
          <a:prstGeom prst="roundRect">
            <a:avLst>
              <a:gd name="adj" fmla="val 4103"/>
            </a:avLst>
          </a:prstGeom>
          <a:solidFill>
            <a:schemeClr val="bg2"/>
          </a:solidFill>
          <a:ln w="12700">
            <a:solidFill>
              <a:schemeClr val="bg2"/>
            </a:solidFill>
            <a:prstDash val="solid"/>
          </a:ln>
        </p:spPr>
      </p:sp>
      <p:sp>
        <p:nvSpPr>
          <p:cNvPr id="4" name="Define circle"/>
          <p:cNvSpPr/>
          <p:nvPr/>
        </p:nvSpPr>
        <p:spPr>
          <a:xfrm>
            <a:off x="731520" y="1481328"/>
            <a:ext cx="457200" cy="457200"/>
          </a:xfrm>
          <a:prstGeom prst="ellipse">
            <a:avLst/>
          </a:prstGeom>
          <a:solidFill>
            <a:schemeClr val="accent2"/>
          </a:solidFill>
          <a:ln w="12700">
            <a:solidFill>
              <a:schemeClr val="accent2"/>
            </a:solidFill>
            <a:prstDash val="solid"/>
          </a:ln>
        </p:spPr>
      </p:sp>
      <p:pic>
        <p:nvPicPr>
          <p:cNvPr id="5" name="Define icon" descr="preencoded.png">    </p:cNvPr>
          <p:cNvPicPr>
            <a:picLocks noChangeAspect="1"/>
          </p:cNvPicPr>
          <p:nvPr/>
        </p:nvPicPr>
        <p:blipFill>
          <a:blip r:embed="rId1"/>
          <a:stretch>
            <a:fillRect/>
          </a:stretch>
        </p:blipFill>
        <p:spPr>
          <a:xfrm>
            <a:off x="845820" y="1595628"/>
            <a:ext cx="228600" cy="228600"/>
          </a:xfrm>
          <a:prstGeom prst="rect">
            <a:avLst/>
          </a:prstGeom>
        </p:spPr>
      </p:pic>
      <p:sp>
        <p:nvSpPr>
          <p:cNvPr id="6" name="Step number 1"/>
          <p:cNvSpPr txBox="1"/>
          <p:nvPr/>
        </p:nvSpPr>
        <p:spPr>
          <a:xfrm>
            <a:off x="2118299"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1</a:t>
            </a:r>
            <a:endParaRPr lang="en-GB" sz="2600" dirty="0"/>
          </a:p>
        </p:txBody>
      </p:sp>
      <p:sp>
        <p:nvSpPr>
          <p:cNvPr id="7" name="Step text 1"/>
          <p:cNvSpPr txBox="1"/>
          <p:nvPr/>
        </p:nvSpPr>
        <p:spPr>
          <a:xfrm>
            <a:off x="731520"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Define</a:t>
            </a:r>
            <a:endParaRPr lang="en-GB" sz="1400" dirty="0"/>
          </a:p>
          <a:p>
            <a:pPr indent="0" marL="0">
              <a:spcAft>
                <a:spcPts val="200"/>
              </a:spcAft>
              <a:buNone/>
            </a:pPr>
            <a:r>
              <a:rPr lang="en-GB" altLang="en-US" sz="1400" dirty="0">
                <a:solidFill>
                  <a:schemeClr val="tx1"/>
                </a:solidFill>
              </a:rPr>
              <a:t>15 Terraform cases; ground truth fixed before any run</a:t>
            </a:r>
            <a:endParaRPr lang="en-GB" sz="1400" dirty="0"/>
          </a:p>
        </p:txBody>
      </p:sp>
      <p:sp>
        <p:nvSpPr>
          <p:cNvPr id="8" name="Step 2"/>
          <p:cNvSpPr/>
          <p:nvPr/>
        </p:nvSpPr>
        <p:spPr>
          <a:xfrm>
            <a:off x="2804099" y="1325880"/>
            <a:ext cx="2072579" cy="1783080"/>
          </a:xfrm>
          <a:prstGeom prst="roundRect">
            <a:avLst>
              <a:gd name="adj" fmla="val 4103"/>
            </a:avLst>
          </a:prstGeom>
          <a:solidFill>
            <a:schemeClr val="bg2"/>
          </a:solidFill>
          <a:ln w="12700">
            <a:solidFill>
              <a:schemeClr val="bg2"/>
            </a:solidFill>
            <a:prstDash val="solid"/>
          </a:ln>
        </p:spPr>
      </p:sp>
      <p:sp>
        <p:nvSpPr>
          <p:cNvPr id="9" name="Run circle"/>
          <p:cNvSpPr/>
          <p:nvPr/>
        </p:nvSpPr>
        <p:spPr>
          <a:xfrm>
            <a:off x="2986979" y="1481328"/>
            <a:ext cx="457200" cy="457200"/>
          </a:xfrm>
          <a:prstGeom prst="ellipse">
            <a:avLst/>
          </a:prstGeom>
          <a:solidFill>
            <a:schemeClr val="accent2"/>
          </a:solidFill>
          <a:ln w="12700">
            <a:solidFill>
              <a:schemeClr val="accent2"/>
            </a:solidFill>
            <a:prstDash val="solid"/>
          </a:ln>
        </p:spPr>
      </p:sp>
      <p:pic>
        <p:nvPicPr>
          <p:cNvPr id="10" name="Run icon" descr="preencoded.png">    </p:cNvPr>
          <p:cNvPicPr>
            <a:picLocks noChangeAspect="1"/>
          </p:cNvPicPr>
          <p:nvPr/>
        </p:nvPicPr>
        <p:blipFill>
          <a:blip r:embed="rId2"/>
          <a:stretch>
            <a:fillRect/>
          </a:stretch>
        </p:blipFill>
        <p:spPr>
          <a:xfrm>
            <a:off x="3101279" y="1595628"/>
            <a:ext cx="228600" cy="228600"/>
          </a:xfrm>
          <a:prstGeom prst="rect">
            <a:avLst/>
          </a:prstGeom>
        </p:spPr>
      </p:pic>
      <p:sp>
        <p:nvSpPr>
          <p:cNvPr id="11" name="Step number 2"/>
          <p:cNvSpPr txBox="1"/>
          <p:nvPr/>
        </p:nvSpPr>
        <p:spPr>
          <a:xfrm>
            <a:off x="4373758"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2</a:t>
            </a:r>
            <a:endParaRPr lang="en-GB" sz="2600" dirty="0"/>
          </a:p>
        </p:txBody>
      </p:sp>
      <p:sp>
        <p:nvSpPr>
          <p:cNvPr id="12" name="Step text 2"/>
          <p:cNvSpPr txBox="1"/>
          <p:nvPr/>
        </p:nvSpPr>
        <p:spPr>
          <a:xfrm>
            <a:off x="2986979"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Run</a:t>
            </a:r>
            <a:endParaRPr lang="en-GB" sz="1400" dirty="0"/>
          </a:p>
          <a:p>
            <a:pPr indent="0" marL="0">
              <a:spcAft>
                <a:spcPts val="200"/>
              </a:spcAft>
              <a:buNone/>
            </a:pPr>
            <a:r>
              <a:rPr lang="en-GB" altLang="en-US" sz="1400" dirty="0">
                <a:solidFill>
                  <a:schemeClr val="tx1"/>
                </a:solidFill>
              </a:rPr>
              <a:t>Each case as a pull request, then twice more: 46 runs</a:t>
            </a:r>
            <a:endParaRPr lang="en-GB" sz="1400" dirty="0"/>
          </a:p>
        </p:txBody>
      </p:sp>
      <p:sp>
        <p:nvSpPr>
          <p:cNvPr id="13" name="Step 3"/>
          <p:cNvSpPr/>
          <p:nvPr/>
        </p:nvSpPr>
        <p:spPr>
          <a:xfrm>
            <a:off x="5059558" y="1325880"/>
            <a:ext cx="2072579" cy="1783080"/>
          </a:xfrm>
          <a:prstGeom prst="roundRect">
            <a:avLst>
              <a:gd name="adj" fmla="val 4103"/>
            </a:avLst>
          </a:prstGeom>
          <a:solidFill>
            <a:schemeClr val="bg2"/>
          </a:solidFill>
          <a:ln w="12700">
            <a:solidFill>
              <a:schemeClr val="bg2"/>
            </a:solidFill>
            <a:prstDash val="solid"/>
          </a:ln>
        </p:spPr>
      </p:sp>
      <p:sp>
        <p:nvSpPr>
          <p:cNvPr id="14" name="Classify circle"/>
          <p:cNvSpPr/>
          <p:nvPr/>
        </p:nvSpPr>
        <p:spPr>
          <a:xfrm>
            <a:off x="5242438" y="1481328"/>
            <a:ext cx="457200" cy="457200"/>
          </a:xfrm>
          <a:prstGeom prst="ellipse">
            <a:avLst/>
          </a:prstGeom>
          <a:solidFill>
            <a:schemeClr val="accent2"/>
          </a:solidFill>
          <a:ln w="12700">
            <a:solidFill>
              <a:schemeClr val="accent2"/>
            </a:solidFill>
            <a:prstDash val="solid"/>
          </a:ln>
        </p:spPr>
      </p:sp>
      <p:pic>
        <p:nvPicPr>
          <p:cNvPr id="15" name="Classify icon" descr="preencoded.png">    </p:cNvPr>
          <p:cNvPicPr>
            <a:picLocks noChangeAspect="1"/>
          </p:cNvPicPr>
          <p:nvPr/>
        </p:nvPicPr>
        <p:blipFill>
          <a:blip r:embed="rId3"/>
          <a:stretch>
            <a:fillRect/>
          </a:stretch>
        </p:blipFill>
        <p:spPr>
          <a:xfrm>
            <a:off x="5356738" y="1595628"/>
            <a:ext cx="228600" cy="228600"/>
          </a:xfrm>
          <a:prstGeom prst="rect">
            <a:avLst/>
          </a:prstGeom>
        </p:spPr>
      </p:pic>
      <p:sp>
        <p:nvSpPr>
          <p:cNvPr id="16" name="Step number 3"/>
          <p:cNvSpPr txBox="1"/>
          <p:nvPr/>
        </p:nvSpPr>
        <p:spPr>
          <a:xfrm>
            <a:off x="6629217"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3</a:t>
            </a:r>
            <a:endParaRPr lang="en-GB" sz="2600" dirty="0"/>
          </a:p>
        </p:txBody>
      </p:sp>
      <p:sp>
        <p:nvSpPr>
          <p:cNvPr id="17" name="Step text 3"/>
          <p:cNvSpPr txBox="1"/>
          <p:nvPr/>
        </p:nvSpPr>
        <p:spPr>
          <a:xfrm>
            <a:off x="5242438"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Classify</a:t>
            </a:r>
            <a:endParaRPr lang="en-GB" sz="1400" dirty="0"/>
          </a:p>
          <a:p>
            <a:pPr indent="0" marL="0">
              <a:spcAft>
                <a:spcPts val="200"/>
              </a:spcAft>
              <a:buNone/>
            </a:pPr>
            <a:r>
              <a:rPr lang="en-GB" altLang="en-US" sz="1400" dirty="0">
                <a:solidFill>
                  <a:schemeClr val="tx1"/>
                </a:solidFill>
              </a:rPr>
              <a:t>Every output checked against the ground truth</a:t>
            </a:r>
            <a:endParaRPr lang="en-GB" sz="1400" dirty="0"/>
          </a:p>
        </p:txBody>
      </p:sp>
      <p:sp>
        <p:nvSpPr>
          <p:cNvPr id="18" name="Step 4"/>
          <p:cNvSpPr/>
          <p:nvPr/>
        </p:nvSpPr>
        <p:spPr>
          <a:xfrm>
            <a:off x="7315017" y="1325880"/>
            <a:ext cx="2072579" cy="1783080"/>
          </a:xfrm>
          <a:prstGeom prst="roundRect">
            <a:avLst>
              <a:gd name="adj" fmla="val 4103"/>
            </a:avLst>
          </a:prstGeom>
          <a:solidFill>
            <a:schemeClr val="bg2"/>
          </a:solidFill>
          <a:ln w="12700">
            <a:solidFill>
              <a:schemeClr val="bg2"/>
            </a:solidFill>
            <a:prstDash val="solid"/>
          </a:ln>
        </p:spPr>
      </p:sp>
      <p:sp>
        <p:nvSpPr>
          <p:cNvPr id="19" name="Score circle"/>
          <p:cNvSpPr/>
          <p:nvPr/>
        </p:nvSpPr>
        <p:spPr>
          <a:xfrm>
            <a:off x="7497897" y="1481328"/>
            <a:ext cx="457200" cy="457200"/>
          </a:xfrm>
          <a:prstGeom prst="ellipse">
            <a:avLst/>
          </a:prstGeom>
          <a:solidFill>
            <a:schemeClr val="accent2"/>
          </a:solidFill>
          <a:ln w="12700">
            <a:solidFill>
              <a:schemeClr val="accent2"/>
            </a:solidFill>
            <a:prstDash val="solid"/>
          </a:ln>
        </p:spPr>
      </p:sp>
      <p:pic>
        <p:nvPicPr>
          <p:cNvPr id="20" name="Score icon" descr="preencoded.png">    </p:cNvPr>
          <p:cNvPicPr>
            <a:picLocks noChangeAspect="1"/>
          </p:cNvPicPr>
          <p:nvPr/>
        </p:nvPicPr>
        <p:blipFill>
          <a:blip r:embed="rId4"/>
          <a:stretch>
            <a:fillRect/>
          </a:stretch>
        </p:blipFill>
        <p:spPr>
          <a:xfrm>
            <a:off x="7612197" y="1595628"/>
            <a:ext cx="228600" cy="228600"/>
          </a:xfrm>
          <a:prstGeom prst="rect">
            <a:avLst/>
          </a:prstGeom>
        </p:spPr>
      </p:pic>
      <p:sp>
        <p:nvSpPr>
          <p:cNvPr id="21" name="Step number 4"/>
          <p:cNvSpPr txBox="1"/>
          <p:nvPr/>
        </p:nvSpPr>
        <p:spPr>
          <a:xfrm>
            <a:off x="8884676"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4</a:t>
            </a:r>
            <a:endParaRPr lang="en-GB" sz="2600" dirty="0"/>
          </a:p>
        </p:txBody>
      </p:sp>
      <p:sp>
        <p:nvSpPr>
          <p:cNvPr id="22" name="Step text 4"/>
          <p:cNvSpPr txBox="1"/>
          <p:nvPr/>
        </p:nvSpPr>
        <p:spPr>
          <a:xfrm>
            <a:off x="7497897"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Score</a:t>
            </a:r>
            <a:endParaRPr lang="en-GB" sz="1400" dirty="0"/>
          </a:p>
          <a:p>
            <a:pPr indent="0" marL="0">
              <a:spcAft>
                <a:spcPts val="200"/>
              </a:spcAft>
              <a:buNone/>
            </a:pPr>
            <a:r>
              <a:rPr lang="en-GB" altLang="en-US" sz="1400" dirty="0">
                <a:solidFill>
                  <a:schemeClr val="tx1"/>
                </a:solidFill>
              </a:rPr>
              <a:t>AI output scored 0–2 on six dimensions fixed in advance</a:t>
            </a:r>
            <a:endParaRPr lang="en-GB" sz="1400" dirty="0"/>
          </a:p>
        </p:txBody>
      </p:sp>
      <p:sp>
        <p:nvSpPr>
          <p:cNvPr id="23" name="Step 5"/>
          <p:cNvSpPr/>
          <p:nvPr/>
        </p:nvSpPr>
        <p:spPr>
          <a:xfrm>
            <a:off x="9570476" y="1325880"/>
            <a:ext cx="2072579" cy="1783080"/>
          </a:xfrm>
          <a:prstGeom prst="roundRect">
            <a:avLst>
              <a:gd name="adj" fmla="val 4103"/>
            </a:avLst>
          </a:prstGeom>
          <a:solidFill>
            <a:schemeClr val="bg2"/>
          </a:solidFill>
          <a:ln w="12700">
            <a:solidFill>
              <a:schemeClr val="bg2"/>
            </a:solidFill>
            <a:prstDash val="solid"/>
          </a:ln>
        </p:spPr>
      </p:sp>
      <p:sp>
        <p:nvSpPr>
          <p:cNvPr id="24" name="Re-test circle"/>
          <p:cNvSpPr/>
          <p:nvPr/>
        </p:nvSpPr>
        <p:spPr>
          <a:xfrm>
            <a:off x="9753356" y="1481328"/>
            <a:ext cx="457200" cy="457200"/>
          </a:xfrm>
          <a:prstGeom prst="ellipse">
            <a:avLst/>
          </a:prstGeom>
          <a:solidFill>
            <a:schemeClr val="accent1"/>
          </a:solidFill>
          <a:ln w="12700">
            <a:solidFill>
              <a:schemeClr val="accent1"/>
            </a:solidFill>
            <a:prstDash val="solid"/>
          </a:ln>
        </p:spPr>
      </p:sp>
      <p:pic>
        <p:nvPicPr>
          <p:cNvPr id="25" name="Re-test icon" descr="preencoded.png">    </p:cNvPr>
          <p:cNvPicPr>
            <a:picLocks noChangeAspect="1"/>
          </p:cNvPicPr>
          <p:nvPr/>
        </p:nvPicPr>
        <p:blipFill>
          <a:blip r:embed="rId5"/>
          <a:stretch>
            <a:fillRect/>
          </a:stretch>
        </p:blipFill>
        <p:spPr>
          <a:xfrm>
            <a:off x="9867656" y="1595628"/>
            <a:ext cx="228600" cy="228600"/>
          </a:xfrm>
          <a:prstGeom prst="rect">
            <a:avLst/>
          </a:prstGeom>
        </p:spPr>
      </p:pic>
      <p:sp>
        <p:nvSpPr>
          <p:cNvPr id="26" name="Step number 5"/>
          <p:cNvSpPr txBox="1"/>
          <p:nvPr/>
        </p:nvSpPr>
        <p:spPr>
          <a:xfrm>
            <a:off x="11140135"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5</a:t>
            </a:r>
            <a:endParaRPr lang="en-GB" sz="2600" dirty="0"/>
          </a:p>
        </p:txBody>
      </p:sp>
      <p:sp>
        <p:nvSpPr>
          <p:cNvPr id="27" name="Step text 5"/>
          <p:cNvSpPr txBox="1"/>
          <p:nvPr/>
        </p:nvSpPr>
        <p:spPr>
          <a:xfrm>
            <a:off x="9753356"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Re-test</a:t>
            </a:r>
            <a:endParaRPr lang="en-GB" sz="1400" dirty="0"/>
          </a:p>
          <a:p>
            <a:pPr indent="0" marL="0">
              <a:spcAft>
                <a:spcPts val="200"/>
              </a:spcAft>
              <a:buNone/>
            </a:pPr>
            <a:r>
              <a:rPr lang="en-GB" altLang="en-US" sz="1400" dirty="0">
                <a:solidFill>
                  <a:schemeClr val="tx1"/>
                </a:solidFill>
              </a:rPr>
              <a:t>AI’s 12 fixes applied; validate, scanners and AI re-run</a:t>
            </a:r>
            <a:endParaRPr lang="en-GB" sz="1400" dirty="0"/>
          </a:p>
        </p:txBody>
      </p:sp>
      <p:graphicFrame>
        <p:nvGraphicFramePr>
          <p:cNvPr id="6" name="Test case table"/>
          <p:cNvGraphicFramePr>
            <a:graphicFrameLocks noGrp="1"/>
          </p:cNvGraphicFramePr>
          <p:nvPr>
            <p:extLst>
              <p:ext uri="{D42A27DB-BD31-4B8C-83A1-F6EECF244321}">
                <p14:modId xmlns:p14="http://schemas.microsoft.com/office/powerpoint/2010/main" val="1579011935"/>
              </p:ext>
            </p:extLst>
          </p:nvPr>
        </p:nvGraphicFramePr>
        <p:xfrm>
          <a:off x="548640" y="3337560"/>
          <a:ext cx="6446520" cy="914400"/>
        </p:xfrm>
        <a:graphic>
          <a:graphicData uri="http://schemas.openxmlformats.org/drawingml/2006/table">
            <a:tbl>
              <a:tblPr/>
              <a:tblGrid>
                <a:gridCol w="1691640"/>
                <a:gridCol w="4754880"/>
              </a:tblGrid>
              <a:tr h="329184">
                <a:tc>
                  <a:txBody>
                    <a:bodyPr/>
                    <a:lstStyle/>
                    <a:p>
                      <a:pPr indent="0" marL="0">
                        <a:buNone/>
                      </a:pPr>
                      <a:r>
                        <a:rPr lang="en-GB" altLang="en-US" sz="1300" b="1" dirty="0">
                          <a:solidFill>
                            <a:schemeClr val="bg1"/>
                          </a:solidFill>
                        </a:rPr>
                        <a:t>Category</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c>
                  <a:txBody>
                    <a:bodyPr/>
                    <a:lstStyle/>
                    <a:p>
                      <a:pPr indent="0" marL="0">
                        <a:buNone/>
                      </a:pPr>
                      <a:r>
                        <a:rPr lang="en-GB" altLang="en-US" sz="1300" b="1" dirty="0">
                          <a:solidFill>
                            <a:schemeClr val="bg1"/>
                          </a:solidFill>
                        </a:rPr>
                        <a:t>15 test cases: 12 vulnerable, 3 acceptable</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r>
              <a:tr h="475488">
                <a:tc>
                  <a:txBody>
                    <a:bodyPr/>
                    <a:lstStyle/>
                    <a:p>
                      <a:pPr indent="0" marL="0">
                        <a:buNone/>
                      </a:pPr>
                      <a:r>
                        <a:rPr lang="en-GB" altLang="en-US" sz="1300" b="1" dirty="0">
                          <a:solidFill>
                            <a:schemeClr val="tx2"/>
                          </a:solidFill>
                        </a:rPr>
                        <a:t>Network</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300" dirty="0">
                          <a:solidFill>
                            <a:schemeClr val="tx1"/>
                          </a:solidFill>
                        </a:rPr>
                        <a:t>TC02–TC04 SSH, RDP, HTTP open to the internet · TC05 NSG not attached · TC06 public DNS</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329184">
                <a:tc>
                  <a:txBody>
                    <a:bodyPr/>
                    <a:lstStyle/>
                    <a:p>
                      <a:pPr indent="0" marL="0">
                        <a:buNone/>
                      </a:pPr>
                      <a:r>
                        <a:rPr lang="en-GB" altLang="en-US" sz="1300" b="1" dirty="0">
                          <a:solidFill>
                            <a:schemeClr val="tx2"/>
                          </a:solidFill>
                        </a:rPr>
                        <a:t>Encryption, logging</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300" dirty="0">
                          <a:solidFill>
                            <a:schemeClr val="tx1"/>
                          </a:solidFill>
                        </a:rPr>
                        <a:t>TC07 TLS 1.0 storage · TC08 NSG diagnostics removed</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329184">
                <a:tc>
                  <a:txBody>
                    <a:bodyPr/>
                    <a:lstStyle/>
                    <a:p>
                      <a:pPr indent="0" marL="0">
                        <a:buNone/>
                      </a:pPr>
                      <a:r>
                        <a:rPr lang="en-GB" altLang="en-US" sz="1300" b="1" dirty="0">
                          <a:solidFill>
                            <a:schemeClr val="tx2"/>
                          </a:solidFill>
                        </a:rPr>
                        <a:t>Secrets</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300" dirty="0">
                          <a:solidFill>
                            <a:schemeClr val="tx1"/>
                          </a:solidFill>
                        </a:rPr>
                        <a:t>TC09 credential in an unused local · TC15 password default</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475488">
                <a:tc>
                  <a:txBody>
                    <a:bodyPr/>
                    <a:lstStyle/>
                    <a:p>
                      <a:pPr indent="0" marL="0">
                        <a:buNone/>
                      </a:pPr>
                      <a:r>
                        <a:rPr lang="en-GB" altLang="en-US" sz="1300" b="1" dirty="0">
                          <a:solidFill>
                            <a:schemeClr val="tx2"/>
                          </a:solidFill>
                        </a:rPr>
                        <a:t>Identity</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300" dirty="0">
                          <a:solidFill>
                            <a:schemeClr val="tx1"/>
                          </a:solidFill>
                        </a:rPr>
                        <a:t>TC10 wildcard role · TC11 wildcard vs documented needs · TC13 Contributor vs Reader</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475488">
                <a:tc>
                  <a:txBody>
                    <a:bodyPr/>
                    <a:lstStyle/>
                    <a:p>
                      <a:pPr indent="0" marL="0">
                        <a:buNone/>
                      </a:pPr>
                      <a:r>
                        <a:rPr lang="en-GB" altLang="en-US" sz="1300" b="1" dirty="0">
                          <a:solidFill>
                            <a:schemeClr val="accent4"/>
                          </a:solidFill>
                        </a:rPr>
                        <a:t>Acceptable</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300" dirty="0">
                          <a:solidFill>
                            <a:schemeClr val="tx1"/>
                          </a:solidFill>
                        </a:rPr>
                        <a:t>TC01 secure baseline · TC12 intended public HTTPS · TC14 SSH from one address</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bl>
          </a:graphicData>
        </a:graphic>
      </p:graphicFrame>
      <p:sp>
        <p:nvSpPr>
          <p:cNvPr id="29" name="Independence check card"/>
          <p:cNvSpPr/>
          <p:nvPr/>
        </p:nvSpPr>
        <p:spPr>
          <a:xfrm>
            <a:off x="7269480" y="3337560"/>
            <a:ext cx="4373575" cy="1481328"/>
          </a:xfrm>
          <a:prstGeom prst="roundRect">
            <a:avLst>
              <a:gd name="adj" fmla="val 4938"/>
            </a:avLst>
          </a:prstGeom>
          <a:solidFill>
            <a:schemeClr val="tx2"/>
          </a:solidFill>
          <a:ln w="12700">
            <a:solidFill>
              <a:schemeClr val="tx2"/>
            </a:solidFill>
            <a:prstDash val="solid"/>
          </a:ln>
        </p:spPr>
      </p:sp>
      <p:sp>
        <p:nvSpPr>
          <p:cNvPr id="30" name="Independence check circle"/>
          <p:cNvSpPr/>
          <p:nvPr/>
        </p:nvSpPr>
        <p:spPr>
          <a:xfrm>
            <a:off x="7470648" y="3538728"/>
            <a:ext cx="457200" cy="457200"/>
          </a:xfrm>
          <a:prstGeom prst="ellipse">
            <a:avLst/>
          </a:prstGeom>
          <a:solidFill>
            <a:schemeClr val="accent1"/>
          </a:solidFill>
          <a:ln w="12700">
            <a:solidFill>
              <a:schemeClr val="accent1"/>
            </a:solidFill>
            <a:prstDash val="solid"/>
          </a:ln>
        </p:spPr>
      </p:sp>
      <p:pic>
        <p:nvPicPr>
          <p:cNvPr id="31" name="Independence check icon" descr="preencoded.png">    </p:cNvPr>
          <p:cNvPicPr>
            <a:picLocks noChangeAspect="1"/>
          </p:cNvPicPr>
          <p:nvPr/>
        </p:nvPicPr>
        <p:blipFill>
          <a:blip r:embed="rId6"/>
          <a:stretch>
            <a:fillRect/>
          </a:stretch>
        </p:blipFill>
        <p:spPr>
          <a:xfrm>
            <a:off x="7584948" y="3653028"/>
            <a:ext cx="228600" cy="228600"/>
          </a:xfrm>
          <a:prstGeom prst="rect">
            <a:avLst/>
          </a:prstGeom>
        </p:spPr>
      </p:pic>
      <p:sp>
        <p:nvSpPr>
          <p:cNvPr id="32" name="Independence check text"/>
          <p:cNvSpPr txBox="1"/>
          <p:nvPr/>
        </p:nvSpPr>
        <p:spPr>
          <a:xfrm>
            <a:off x="8110728" y="3502152"/>
            <a:ext cx="3367735" cy="1207008"/>
          </a:xfrm>
          <a:prstGeom prst="rect">
            <a:avLst/>
          </a:prstGeom>
          <a:noFill/>
          <a:ln/>
        </p:spPr>
        <p:txBody>
          <a:bodyPr wrap="square" lIns="0" tIns="0" rIns="0" bIns="0" rtlCol="0" anchor="t"/>
          <a:lstStyle/>
          <a:p>
            <a:pPr indent="0" marL="0">
              <a:spcAft>
                <a:spcPts val="300"/>
              </a:spcAft>
              <a:buNone/>
            </a:pPr>
            <a:r>
              <a:rPr lang="en-GB" altLang="en-US" sz="1600" b="1" dirty="0">
                <a:solidFill>
                  <a:schemeClr val="bg1"/>
                </a:solidFill>
              </a:rPr>
              <a:t>Independence check</a:t>
            </a:r>
            <a:endParaRPr lang="en-GB" sz="1400" dirty="0"/>
          </a:p>
          <a:p>
            <a:pPr indent="0" marL="0">
              <a:spcAft>
                <a:spcPts val="300"/>
              </a:spcAft>
              <a:buNone/>
            </a:pPr>
            <a:r>
              <a:rPr lang="en-GB" altLang="en-US" sz="1400" dirty="0">
                <a:solidFill>
                  <a:schemeClr val="bg1"/>
                </a:solidFill>
              </a:rPr>
              <a:t>Early AI runs saw scanner findings in their prompt. I fixed the workflow (PR #69), ran every case independently and checked all 46 runs’ metadata.</a:t>
            </a:r>
            <a:endParaRPr lang="en-GB" sz="1400" dirty="0"/>
          </a:p>
        </p:txBody>
      </p:sp>
      <p:sp>
        <p:nvSpPr>
          <p:cNvPr id="33" name="Ethics card"/>
          <p:cNvSpPr/>
          <p:nvPr/>
        </p:nvSpPr>
        <p:spPr>
          <a:xfrm>
            <a:off x="7269480" y="4983480"/>
            <a:ext cx="4373575" cy="1051560"/>
          </a:xfrm>
          <a:prstGeom prst="roundRect">
            <a:avLst>
              <a:gd name="adj" fmla="val 6957"/>
            </a:avLst>
          </a:prstGeom>
          <a:solidFill>
            <a:schemeClr val="bg2"/>
          </a:solidFill>
          <a:ln w="12700">
            <a:solidFill>
              <a:schemeClr val="bg2"/>
            </a:solidFill>
            <a:prstDash val="solid"/>
          </a:ln>
        </p:spPr>
      </p:sp>
      <p:sp>
        <p:nvSpPr>
          <p:cNvPr id="34" name="Ethics circle"/>
          <p:cNvSpPr/>
          <p:nvPr/>
        </p:nvSpPr>
        <p:spPr>
          <a:xfrm>
            <a:off x="7470648" y="5184648"/>
            <a:ext cx="457200" cy="457200"/>
          </a:xfrm>
          <a:prstGeom prst="ellipse">
            <a:avLst/>
          </a:prstGeom>
          <a:solidFill>
            <a:schemeClr val="accent4"/>
          </a:solidFill>
          <a:ln w="12700">
            <a:solidFill>
              <a:schemeClr val="accent4"/>
            </a:solidFill>
            <a:prstDash val="solid"/>
          </a:ln>
        </p:spPr>
      </p:sp>
      <p:pic>
        <p:nvPicPr>
          <p:cNvPr id="35" name="Ethics icon" descr="preencoded.png">    </p:cNvPr>
          <p:cNvPicPr>
            <a:picLocks noChangeAspect="1"/>
          </p:cNvPicPr>
          <p:nvPr/>
        </p:nvPicPr>
        <p:blipFill>
          <a:blip r:embed="rId7"/>
          <a:stretch>
            <a:fillRect/>
          </a:stretch>
        </p:blipFill>
        <p:spPr>
          <a:xfrm>
            <a:off x="7584948" y="5298948"/>
            <a:ext cx="228600" cy="228600"/>
          </a:xfrm>
          <a:prstGeom prst="rect">
            <a:avLst/>
          </a:prstGeom>
        </p:spPr>
      </p:pic>
      <p:sp>
        <p:nvSpPr>
          <p:cNvPr id="36" name="Ethics text"/>
          <p:cNvSpPr txBox="1"/>
          <p:nvPr/>
        </p:nvSpPr>
        <p:spPr>
          <a:xfrm>
            <a:off x="8110728" y="5148072"/>
            <a:ext cx="3367735" cy="777240"/>
          </a:xfrm>
          <a:prstGeom prst="rect">
            <a:avLst/>
          </a:prstGeom>
          <a:noFill/>
          <a:ln/>
        </p:spPr>
        <p:txBody>
          <a:bodyPr wrap="square" lIns="0" tIns="0" rIns="0" bIns="0" rtlCol="0" anchor="t"/>
          <a:lstStyle/>
          <a:p>
            <a:pPr indent="0" marL="0">
              <a:spcAft>
                <a:spcPts val="300"/>
              </a:spcAft>
              <a:buNone/>
            </a:pPr>
            <a:r>
              <a:rPr lang="en-GB" altLang="en-US" sz="1400" b="1" dirty="0">
                <a:solidFill>
                  <a:schemeClr val="tx2"/>
                </a:solidFill>
              </a:rPr>
              <a:t>Ethics</a:t>
            </a:r>
            <a:endParaRPr lang="en-GB" sz="1400" dirty="0"/>
          </a:p>
          <a:p>
            <a:pPr indent="0" marL="0">
              <a:spcAft>
                <a:spcPts val="300"/>
              </a:spcAft>
              <a:buNone/>
            </a:pPr>
            <a:r>
              <a:rPr lang="en-GB" altLang="en-US" sz="1300" dirty="0">
                <a:solidFill>
                  <a:schemeClr val="tx1"/>
                </a:solidFill>
              </a:rPr>
              <a:t>Synthetic code, dummy secrets, documentation IPs; nothing deployed; no personal data.</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5</a:t>
            </a:fld>
            <a:endParaRPr lang="en-GB"/>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RQ1: the AI detected more than both scanners</a:t>
            </a:r>
            <a:endParaRPr lang="en-GB" sz="3600" dirty="0"/>
          </a:p>
        </p:txBody>
      </p:sp>
      <p:graphicFrame>
        <p:nvGraphicFramePr>
          <p:cNvPr id="3" name="Detection chart" descr=""/>
          <p:cNvGraphicFramePr/>
          <p:nvPr/>
        </p:nvGraphicFramePr>
        <p:xfrm>
          <a:off x="548640" y="1280160"/>
          <a:ext cx="5760720" cy="4434840"/>
        </p:xfrm>
        <a:graphic xmlns:a="http://schemas.openxmlformats.org/drawingml/2006/main">
          <a:graphicData uri="http://schemas.openxmlformats.org/drawingml/2006/chart">
            <c:chart xmlns:c="http://schemas.openxmlformats.org/drawingml/2006/chart" r:id="rId1"/>
          </a:graphicData>
        </a:graphic>
      </p:graphicFrame>
      <p:sp>
        <p:nvSpPr>
          <p:cNvPr id="4" name="Found only by the AI card"/>
          <p:cNvSpPr/>
          <p:nvPr/>
        </p:nvSpPr>
        <p:spPr>
          <a:xfrm>
            <a:off x="6629400" y="1325880"/>
            <a:ext cx="5013655" cy="1325880"/>
          </a:xfrm>
          <a:prstGeom prst="roundRect">
            <a:avLst>
              <a:gd name="adj" fmla="val 5517"/>
            </a:avLst>
          </a:prstGeom>
          <a:solidFill>
            <a:schemeClr val="bg2"/>
          </a:solidFill>
          <a:ln w="12700">
            <a:solidFill>
              <a:schemeClr val="bg2"/>
            </a:solidFill>
            <a:prstDash val="solid"/>
          </a:ln>
        </p:spPr>
      </p:sp>
      <p:sp>
        <p:nvSpPr>
          <p:cNvPr id="5" name="Found only by the AI circle"/>
          <p:cNvSpPr/>
          <p:nvPr/>
        </p:nvSpPr>
        <p:spPr>
          <a:xfrm>
            <a:off x="6830568" y="1527048"/>
            <a:ext cx="502920" cy="502920"/>
          </a:xfrm>
          <a:prstGeom prst="ellipse">
            <a:avLst/>
          </a:prstGeom>
          <a:solidFill>
            <a:schemeClr val="accent1"/>
          </a:solidFill>
          <a:ln w="12700">
            <a:solidFill>
              <a:schemeClr val="accent1"/>
            </a:solidFill>
            <a:prstDash val="solid"/>
          </a:ln>
        </p:spPr>
      </p:sp>
      <p:pic>
        <p:nvPicPr>
          <p:cNvPr id="6" name="Found only by the AI icon" descr="preencoded.png">    </p:cNvPr>
          <p:cNvPicPr>
            <a:picLocks noChangeAspect="1"/>
          </p:cNvPicPr>
          <p:nvPr/>
        </p:nvPicPr>
        <p:blipFill>
          <a:blip r:embed="rId2"/>
          <a:stretch>
            <a:fillRect/>
          </a:stretch>
        </p:blipFill>
        <p:spPr>
          <a:xfrm>
            <a:off x="6956298" y="1652778"/>
            <a:ext cx="251460" cy="251460"/>
          </a:xfrm>
          <a:prstGeom prst="rect">
            <a:avLst/>
          </a:prstGeom>
        </p:spPr>
      </p:pic>
      <p:sp>
        <p:nvSpPr>
          <p:cNvPr id="7" name="Found only by the AI text"/>
          <p:cNvSpPr txBox="1"/>
          <p:nvPr/>
        </p:nvSpPr>
        <p:spPr>
          <a:xfrm>
            <a:off x="7516368" y="1490472"/>
            <a:ext cx="3962095" cy="1051560"/>
          </a:xfrm>
          <a:prstGeom prst="rect">
            <a:avLst/>
          </a:prstGeom>
          <a:noFill/>
          <a:ln/>
        </p:spPr>
        <p:txBody>
          <a:bodyPr wrap="square" lIns="0" tIns="0" rIns="0" bIns="0" rtlCol="0" anchor="t"/>
          <a:lstStyle/>
          <a:p>
            <a:pPr indent="0" marL="0">
              <a:spcAft>
                <a:spcPts val="300"/>
              </a:spcAft>
              <a:buNone/>
            </a:pPr>
            <a:r>
              <a:rPr lang="en-GB" altLang="en-US" sz="1600" b="1" dirty="0">
                <a:solidFill>
                  <a:schemeClr val="tx2"/>
                </a:solidFill>
              </a:rPr>
              <a:t>Found only by the AI</a:t>
            </a:r>
            <a:endParaRPr lang="en-GB" sz="1400" dirty="0"/>
          </a:p>
          <a:p>
            <a:pPr indent="0" marL="0">
              <a:spcAft>
                <a:spcPts val="300"/>
              </a:spcAft>
              <a:buNone/>
            </a:pPr>
            <a:r>
              <a:rPr lang="en-GB" altLang="en-US" sz="1400" dirty="0">
                <a:solidFill>
                  <a:schemeClr val="tx1"/>
                </a:solidFill>
              </a:rPr>
              <a:t>TC09 and TC15 (hard-coded secrets) and TC13 (a role judged against a separate requirements file).</a:t>
            </a:r>
            <a:endParaRPr lang="en-GB" sz="1400" dirty="0"/>
          </a:p>
        </p:txBody>
      </p:sp>
      <p:sp>
        <p:nvSpPr>
          <p:cNvPr id="8" name="The scanners barely overlapped card"/>
          <p:cNvSpPr/>
          <p:nvPr/>
        </p:nvSpPr>
        <p:spPr>
          <a:xfrm>
            <a:off x="6629400" y="2788920"/>
            <a:ext cx="5013655" cy="1325880"/>
          </a:xfrm>
          <a:prstGeom prst="roundRect">
            <a:avLst>
              <a:gd name="adj" fmla="val 5517"/>
            </a:avLst>
          </a:prstGeom>
          <a:solidFill>
            <a:schemeClr val="bg2"/>
          </a:solidFill>
          <a:ln w="12700">
            <a:solidFill>
              <a:schemeClr val="bg2"/>
            </a:solidFill>
            <a:prstDash val="solid"/>
          </a:ln>
        </p:spPr>
      </p:sp>
      <p:sp>
        <p:nvSpPr>
          <p:cNvPr id="9" name="The scanners barely overlapped circle"/>
          <p:cNvSpPr/>
          <p:nvPr/>
        </p:nvSpPr>
        <p:spPr>
          <a:xfrm>
            <a:off x="6830568" y="2990088"/>
            <a:ext cx="502920" cy="502920"/>
          </a:xfrm>
          <a:prstGeom prst="ellipse">
            <a:avLst/>
          </a:prstGeom>
          <a:solidFill>
            <a:schemeClr val="accent2"/>
          </a:solidFill>
          <a:ln w="12700">
            <a:solidFill>
              <a:schemeClr val="accent2"/>
            </a:solidFill>
            <a:prstDash val="solid"/>
          </a:ln>
        </p:spPr>
      </p:sp>
      <p:pic>
        <p:nvPicPr>
          <p:cNvPr id="10" name="The scanners barely overlapped icon" descr="preencoded.png">    </p:cNvPr>
          <p:cNvPicPr>
            <a:picLocks noChangeAspect="1"/>
          </p:cNvPicPr>
          <p:nvPr/>
        </p:nvPicPr>
        <p:blipFill>
          <a:blip r:embed="rId3"/>
          <a:stretch>
            <a:fillRect/>
          </a:stretch>
        </p:blipFill>
        <p:spPr>
          <a:xfrm>
            <a:off x="6956298" y="3115818"/>
            <a:ext cx="251460" cy="251460"/>
          </a:xfrm>
          <a:prstGeom prst="rect">
            <a:avLst/>
          </a:prstGeom>
        </p:spPr>
      </p:pic>
      <p:sp>
        <p:nvSpPr>
          <p:cNvPr id="11" name="The scanners barely overlapped text"/>
          <p:cNvSpPr txBox="1"/>
          <p:nvPr/>
        </p:nvSpPr>
        <p:spPr>
          <a:xfrm>
            <a:off x="7516368" y="2953512"/>
            <a:ext cx="3962095" cy="1051560"/>
          </a:xfrm>
          <a:prstGeom prst="rect">
            <a:avLst/>
          </a:prstGeom>
          <a:noFill/>
          <a:ln/>
        </p:spPr>
        <p:txBody>
          <a:bodyPr wrap="square" lIns="0" tIns="0" rIns="0" bIns="0" rtlCol="0" anchor="t"/>
          <a:lstStyle/>
          <a:p>
            <a:pPr indent="0" marL="0">
              <a:spcAft>
                <a:spcPts val="300"/>
              </a:spcAft>
              <a:buNone/>
            </a:pPr>
            <a:r>
              <a:rPr lang="en-GB" altLang="en-US" sz="1600" b="1" dirty="0">
                <a:solidFill>
                  <a:schemeClr val="tx2"/>
                </a:solidFill>
              </a:rPr>
              <a:t>The scanners barely overlapped</a:t>
            </a:r>
            <a:endParaRPr lang="en-GB" sz="1400" dirty="0"/>
          </a:p>
          <a:p>
            <a:pPr indent="0" marL="0">
              <a:spcAft>
                <a:spcPts val="300"/>
              </a:spcAft>
              <a:buNone/>
            </a:pPr>
            <a:r>
              <a:rPr lang="en-GB" altLang="en-US" sz="1400" dirty="0">
                <a:solidFill>
                  <a:schemeClr val="tx1"/>
                </a:solidFill>
              </a:rPr>
              <a:t>Only TC07 was caught by both. Checkov passed rules open to 0.0.0.0/0 but failed the same rule written as *.</a:t>
            </a:r>
            <a:endParaRPr lang="en-GB" sz="1400" dirty="0"/>
          </a:p>
        </p:txBody>
      </p:sp>
      <p:sp>
        <p:nvSpPr>
          <p:cNvPr id="12" name="But the AI over-reported card"/>
          <p:cNvSpPr/>
          <p:nvPr/>
        </p:nvSpPr>
        <p:spPr>
          <a:xfrm>
            <a:off x="6629400" y="4251960"/>
            <a:ext cx="5013655" cy="1325880"/>
          </a:xfrm>
          <a:prstGeom prst="roundRect">
            <a:avLst>
              <a:gd name="adj" fmla="val 5517"/>
            </a:avLst>
          </a:prstGeom>
          <a:solidFill>
            <a:schemeClr val="bg2"/>
          </a:solidFill>
          <a:ln w="12700">
            <a:solidFill>
              <a:schemeClr val="bg2"/>
            </a:solidFill>
            <a:prstDash val="solid"/>
          </a:ln>
        </p:spPr>
      </p:sp>
      <p:sp>
        <p:nvSpPr>
          <p:cNvPr id="13" name="But the AI over-reported circle"/>
          <p:cNvSpPr/>
          <p:nvPr/>
        </p:nvSpPr>
        <p:spPr>
          <a:xfrm>
            <a:off x="6830568" y="4453128"/>
            <a:ext cx="502920" cy="502920"/>
          </a:xfrm>
          <a:prstGeom prst="ellipse">
            <a:avLst/>
          </a:prstGeom>
          <a:solidFill>
            <a:schemeClr val="accent5"/>
          </a:solidFill>
          <a:ln w="12700">
            <a:solidFill>
              <a:schemeClr val="accent5"/>
            </a:solidFill>
            <a:prstDash val="solid"/>
          </a:ln>
        </p:spPr>
      </p:sp>
      <p:pic>
        <p:nvPicPr>
          <p:cNvPr id="14" name="But the AI over-reported icon" descr="preencoded.png">    </p:cNvPr>
          <p:cNvPicPr>
            <a:picLocks noChangeAspect="1"/>
          </p:cNvPicPr>
          <p:nvPr/>
        </p:nvPicPr>
        <p:blipFill>
          <a:blip r:embed="rId4"/>
          <a:stretch>
            <a:fillRect/>
          </a:stretch>
        </p:blipFill>
        <p:spPr>
          <a:xfrm>
            <a:off x="6956298" y="4578858"/>
            <a:ext cx="251460" cy="251460"/>
          </a:xfrm>
          <a:prstGeom prst="rect">
            <a:avLst/>
          </a:prstGeom>
        </p:spPr>
      </p:pic>
      <p:sp>
        <p:nvSpPr>
          <p:cNvPr id="15" name="But the AI over-reported text"/>
          <p:cNvSpPr txBox="1"/>
          <p:nvPr/>
        </p:nvSpPr>
        <p:spPr>
          <a:xfrm>
            <a:off x="7516368" y="4416552"/>
            <a:ext cx="3962095" cy="1051560"/>
          </a:xfrm>
          <a:prstGeom prst="rect">
            <a:avLst/>
          </a:prstGeom>
          <a:noFill/>
          <a:ln/>
        </p:spPr>
        <p:txBody>
          <a:bodyPr wrap="square" lIns="0" tIns="0" rIns="0" bIns="0" rtlCol="0" anchor="t"/>
          <a:lstStyle/>
          <a:p>
            <a:pPr indent="0" marL="0">
              <a:spcAft>
                <a:spcPts val="300"/>
              </a:spcAft>
              <a:buNone/>
            </a:pPr>
            <a:r>
              <a:rPr lang="en-GB" altLang="en-US" sz="1600" b="1" dirty="0">
                <a:solidFill>
                  <a:schemeClr val="tx2"/>
                </a:solidFill>
              </a:rPr>
              <a:t>But the AI over-reported</a:t>
            </a:r>
            <a:endParaRPr lang="en-GB" sz="1400" dirty="0"/>
          </a:p>
          <a:p>
            <a:pPr indent="0" marL="0">
              <a:spcAft>
                <a:spcPts val="300"/>
              </a:spcAft>
              <a:buNone/>
            </a:pPr>
            <a:r>
              <a:rPr lang="en-GB" altLang="en-US" sz="1400" dirty="0">
                <a:solidFill>
                  <a:schemeClr val="tx1"/>
                </a:solidFill>
              </a:rPr>
              <a:t>3 of 9 runs on acceptable cases raised a finding. 82% of the 45 findings it posted were correct (89% if three fixture issues count).</a:t>
            </a:r>
            <a:endParaRPr lang="en-GB" sz="1400" dirty="0"/>
          </a:p>
        </p:txBody>
      </p:sp>
      <p:sp>
        <p:nvSpPr>
          <p:cNvPr id="16" name="Caveat"/>
          <p:cNvSpPr txBox="1"/>
          <p:nvPr/>
        </p:nvSpPr>
        <p:spPr>
          <a:xfrm>
            <a:off x="548640" y="5788152"/>
            <a:ext cx="11094415" cy="457200"/>
          </a:xfrm>
          <a:prstGeom prst="rect">
            <a:avLst/>
          </a:prstGeom>
          <a:noFill/>
          <a:ln/>
        </p:spPr>
        <p:txBody>
          <a:bodyPr wrap="square" lIns="0" tIns="0" rIns="0" bIns="0" rtlCol="0" anchor="t"/>
          <a:lstStyle/>
          <a:p>
            <a:pPr indent="0" marL="0">
              <a:buNone/>
            </a:pPr>
            <a:r>
              <a:rPr lang="en-GB" altLang="en-US" sz="1100" i="1" dirty="0">
                <a:solidFill>
                  <a:schemeClr val="accent6"/>
                </a:solidFill>
              </a:rPr>
              <a:t>Descriptive results for 15 constructed cases; the whole gap comes from TC09, TC13 and TC15, which no scanner rule covers. AI detection = target confirmed in every run (34 of 37 runs); TC08 partial = raised in all 4 runs, shown in 1.</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6</a:t>
            </a:fld>
            <a:endParaRPr lang="en-GB"/>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RQ2 and RQ3: useful advice, but some false claims</a:t>
            </a:r>
            <a:endParaRPr lang="en-GB" sz="3600" dirty="0"/>
          </a:p>
        </p:txBody>
      </p:sp>
      <p:sp>
        <p:nvSpPr>
          <p:cNvPr id="3" name="Label RQ2 · Did the AI’s fixes work?"/>
          <p:cNvSpPr txBox="1"/>
          <p:nvPr/>
        </p:nvSpPr>
        <p:spPr>
          <a:xfrm>
            <a:off x="548640" y="1325880"/>
            <a:ext cx="516636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RQ2 · DID THE AI’S FIXES WORK?</a:t>
            </a:r>
            <a:endParaRPr lang="en-GB" sz="1200" dirty="0"/>
          </a:p>
        </p:txBody>
      </p:sp>
      <p:sp>
        <p:nvSpPr>
          <p:cNvPr id="4" name="Stat 12 / 12"/>
          <p:cNvSpPr txBox="1"/>
          <p:nvPr/>
        </p:nvSpPr>
        <p:spPr>
          <a:xfrm>
            <a:off x="548640" y="1691640"/>
            <a:ext cx="1691640" cy="777240"/>
          </a:xfrm>
          <a:prstGeom prst="rect">
            <a:avLst/>
          </a:prstGeom>
          <a:noFill/>
          <a:ln/>
        </p:spPr>
        <p:txBody>
          <a:bodyPr wrap="square" lIns="0" tIns="0" rIns="0" bIns="0" rtlCol="0" anchor="ctr"/>
          <a:lstStyle/>
          <a:p>
            <a:pPr indent="0" marL="0">
              <a:buNone/>
            </a:pPr>
            <a:r>
              <a:rPr lang="en-GB" altLang="en-US" sz="4000" b="1" dirty="0">
                <a:solidFill>
                  <a:schemeClr val="accent4"/>
                </a:solidFill>
              </a:rPr>
              <a:t>12 / 12</a:t>
            </a:r>
            <a:endParaRPr lang="en-GB" sz="4000" dirty="0"/>
          </a:p>
        </p:txBody>
      </p:sp>
      <p:sp>
        <p:nvSpPr>
          <p:cNvPr id="5" name="Stat label 1"/>
          <p:cNvSpPr txBox="1"/>
          <p:nvPr/>
        </p:nvSpPr>
        <p:spPr>
          <a:xfrm>
            <a:off x="2331720" y="1691640"/>
            <a:ext cx="3383280" cy="777240"/>
          </a:xfrm>
          <a:prstGeom prst="rect">
            <a:avLst/>
          </a:prstGeom>
          <a:noFill/>
          <a:ln/>
        </p:spPr>
        <p:txBody>
          <a:bodyPr wrap="square" lIns="0" tIns="0" rIns="0" bIns="0" rtlCol="0" anchor="ctr"/>
          <a:lstStyle/>
          <a:p>
            <a:pPr indent="0" marL="0">
              <a:buNone/>
            </a:pPr>
            <a:r>
              <a:rPr lang="en-GB" altLang="en-US" sz="1400" dirty="0">
                <a:solidFill>
                  <a:schemeClr val="tx1"/>
                </a:solidFill>
              </a:rPr>
              <a:t>fixes resolved the target and passed validation; 8 also confirmed by a scanner</a:t>
            </a:r>
            <a:endParaRPr lang="en-GB" sz="1400" dirty="0"/>
          </a:p>
        </p:txBody>
      </p:sp>
      <p:sp>
        <p:nvSpPr>
          <p:cNvPr id="6" name="Stat 9 / 12"/>
          <p:cNvSpPr txBox="1"/>
          <p:nvPr/>
        </p:nvSpPr>
        <p:spPr>
          <a:xfrm>
            <a:off x="548640" y="2770632"/>
            <a:ext cx="1691640" cy="777240"/>
          </a:xfrm>
          <a:prstGeom prst="rect">
            <a:avLst/>
          </a:prstGeom>
          <a:noFill/>
          <a:ln/>
        </p:spPr>
        <p:txBody>
          <a:bodyPr wrap="square" lIns="0" tIns="0" rIns="0" bIns="0" rtlCol="0" anchor="ctr"/>
          <a:lstStyle/>
          <a:p>
            <a:pPr indent="0" marL="0">
              <a:buNone/>
            </a:pPr>
            <a:r>
              <a:rPr lang="en-GB" altLang="en-US" sz="4000" b="1" dirty="0">
                <a:solidFill>
                  <a:schemeClr val="accent2"/>
                </a:solidFill>
              </a:rPr>
              <a:t>9 / 12</a:t>
            </a:r>
            <a:endParaRPr lang="en-GB" sz="4000" dirty="0"/>
          </a:p>
        </p:txBody>
      </p:sp>
      <p:sp>
        <p:nvSpPr>
          <p:cNvPr id="7" name="Stat label 2"/>
          <p:cNvSpPr txBox="1"/>
          <p:nvPr/>
        </p:nvSpPr>
        <p:spPr>
          <a:xfrm>
            <a:off x="2331720" y="2770632"/>
            <a:ext cx="3383280" cy="777240"/>
          </a:xfrm>
          <a:prstGeom prst="rect">
            <a:avLst/>
          </a:prstGeom>
          <a:noFill/>
          <a:ln/>
        </p:spPr>
        <p:txBody>
          <a:bodyPr wrap="square" lIns="0" tIns="0" rIns="0" bIns="0" rtlCol="0" anchor="ctr"/>
          <a:lstStyle/>
          <a:p>
            <a:pPr indent="0" marL="0">
              <a:buNone/>
            </a:pPr>
            <a:r>
              <a:rPr lang="en-GB" altLang="en-US" sz="1400" dirty="0">
                <a:solidFill>
                  <a:schemeClr val="tx1"/>
                </a:solidFill>
              </a:rPr>
              <a:t>fixes where a fresh AI review no longer raised the problem (a stale comment tripped two of the rest)</a:t>
            </a:r>
            <a:endParaRPr lang="en-GB" sz="1400" dirty="0"/>
          </a:p>
        </p:txBody>
      </p:sp>
      <p:sp>
        <p:nvSpPr>
          <p:cNvPr id="8" name="Stat 1"/>
          <p:cNvSpPr txBox="1"/>
          <p:nvPr/>
        </p:nvSpPr>
        <p:spPr>
          <a:xfrm>
            <a:off x="548640" y="3849624"/>
            <a:ext cx="1691640" cy="777240"/>
          </a:xfrm>
          <a:prstGeom prst="rect">
            <a:avLst/>
          </a:prstGeom>
          <a:noFill/>
          <a:ln/>
        </p:spPr>
        <p:txBody>
          <a:bodyPr wrap="square" lIns="0" tIns="0" rIns="0" bIns="0" rtlCol="0" anchor="ctr"/>
          <a:lstStyle/>
          <a:p>
            <a:pPr indent="0" marL="0">
              <a:buNone/>
            </a:pPr>
            <a:r>
              <a:rPr lang="en-GB" altLang="en-US" sz="4000" b="1" dirty="0">
                <a:solidFill>
                  <a:schemeClr val="accent1"/>
                </a:solidFill>
              </a:rPr>
              <a:t>1</a:t>
            </a:r>
            <a:endParaRPr lang="en-GB" sz="4000" dirty="0"/>
          </a:p>
        </p:txBody>
      </p:sp>
      <p:sp>
        <p:nvSpPr>
          <p:cNvPr id="9" name="Stat label 3"/>
          <p:cNvSpPr txBox="1"/>
          <p:nvPr/>
        </p:nvSpPr>
        <p:spPr>
          <a:xfrm>
            <a:off x="2331720" y="3849624"/>
            <a:ext cx="3383280" cy="777240"/>
          </a:xfrm>
          <a:prstGeom prst="rect">
            <a:avLst/>
          </a:prstGeom>
          <a:noFill/>
          <a:ln/>
        </p:spPr>
        <p:txBody>
          <a:bodyPr wrap="square" lIns="0" tIns="0" rIns="0" bIns="0" rtlCol="0" anchor="ctr"/>
          <a:lstStyle/>
          <a:p>
            <a:pPr indent="0" marL="0">
              <a:buNone/>
            </a:pPr>
            <a:r>
              <a:rPr lang="en-GB" altLang="en-US" sz="1400" dirty="0">
                <a:solidFill>
                  <a:schemeClr val="tx1"/>
                </a:solidFill>
              </a:rPr>
              <a:t>fix, for a false finding, made the Terraform invalid (TC10)</a:t>
            </a:r>
            <a:endParaRPr lang="en-GB" sz="1400" dirty="0"/>
          </a:p>
        </p:txBody>
      </p:sp>
      <p:sp>
        <p:nvSpPr>
          <p:cNvPr id="10" name="Validate error card"/>
          <p:cNvSpPr/>
          <p:nvPr/>
        </p:nvSpPr>
        <p:spPr>
          <a:xfrm>
            <a:off x="548640" y="5029200"/>
            <a:ext cx="5166360" cy="868680"/>
          </a:xfrm>
          <a:prstGeom prst="roundRect">
            <a:avLst>
              <a:gd name="adj" fmla="val 8421"/>
            </a:avLst>
          </a:prstGeom>
          <a:solidFill>
            <a:schemeClr val="bg2"/>
          </a:solidFill>
          <a:ln w="12700">
            <a:solidFill>
              <a:schemeClr val="bg2"/>
            </a:solidFill>
            <a:prstDash val="solid"/>
          </a:ln>
        </p:spPr>
      </p:sp>
      <p:sp>
        <p:nvSpPr>
          <p:cNvPr id="11" name="Validate error"/>
          <p:cNvSpPr txBox="1"/>
          <p:nvPr/>
        </p:nvSpPr>
        <p:spPr>
          <a:xfrm>
            <a:off x="731520" y="5029200"/>
            <a:ext cx="4800600" cy="868680"/>
          </a:xfrm>
          <a:prstGeom prst="rect">
            <a:avLst/>
          </a:prstGeom>
          <a:noFill/>
          <a:ln/>
        </p:spPr>
        <p:txBody>
          <a:bodyPr wrap="square" lIns="0" tIns="0" rIns="0" bIns="0" rtlCol="0" anchor="ctr"/>
          <a:lstStyle/>
          <a:p>
            <a:pPr indent="0" marL="0">
              <a:spcAft>
                <a:spcPts val="300"/>
              </a:spcAft>
              <a:buNone/>
            </a:pPr>
            <a:r>
              <a:rPr lang="en-GB" altLang="en-US" sz="1100" dirty="0">
                <a:solidFill>
                  <a:schemeClr val="accent6"/>
                </a:solidFill>
              </a:rPr>
              <a:t>terraform validate, after applying the AI’s tag fix to TC10</a:t>
            </a:r>
            <a:endParaRPr lang="en-GB" sz="1400" dirty="0"/>
          </a:p>
          <a:p>
            <a:pPr indent="0" marL="0">
              <a:spcAft>
                <a:spcPts val="300"/>
              </a:spcAft>
              <a:buNone/>
            </a:pPr>
            <a:r>
              <a:rPr lang="en-GB" altLang="en-US" sz="1300" b="1" dirty="0">
                <a:solidFill>
                  <a:schemeClr val="accent1"/>
                </a:solidFill>
                <a:latin typeface="Courier New" pitchFamily="34" charset="0"/>
                <a:ea typeface="Courier New" pitchFamily="34" charset="-122"/>
                <a:cs typeface="Courier New" pitchFamily="34" charset="-120"/>
              </a:rPr>
              <a:t>An argument named "tags" is not expected here</a:t>
            </a:r>
            <a:endParaRPr lang="en-GB" sz="1400" dirty="0"/>
          </a:p>
        </p:txBody>
      </p:sp>
      <p:sp>
        <p:nvSpPr>
          <p:cNvPr id="12" name="Label RQ3 · Do AI comments help understanding?"/>
          <p:cNvSpPr txBox="1"/>
          <p:nvPr/>
        </p:nvSpPr>
        <p:spPr>
          <a:xfrm>
            <a:off x="6172200" y="1325880"/>
            <a:ext cx="5470855"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RQ3 · DO AI COMMENTS HELP UNDERSTANDING?</a:t>
            </a:r>
            <a:endParaRPr lang="en-GB" sz="1200" dirty="0"/>
          </a:p>
        </p:txBody>
      </p:sp>
      <p:graphicFrame>
        <p:nvGraphicFramePr>
          <p:cNvPr id="13" name="Rubric chart" descr=""/>
          <p:cNvGraphicFramePr/>
          <p:nvPr/>
        </p:nvGraphicFramePr>
        <p:xfrm>
          <a:off x="6172200" y="1600200"/>
          <a:ext cx="5470855" cy="2788920"/>
        </p:xfrm>
        <a:graphic xmlns:a="http://schemas.openxmlformats.org/drawingml/2006/main">
          <a:graphicData uri="http://schemas.openxmlformats.org/drawingml/2006/chart">
            <c:chart xmlns:c="http://schemas.openxmlformats.org/drawingml/2006/chart" r:id="rId1"/>
          </a:graphicData>
        </a:graphic>
      </p:graphicFrame>
      <p:sp>
        <p:nvSpPr>
          <p:cNvPr id="14" name="RQ3 takeaway"/>
          <p:cNvSpPr txBox="1"/>
          <p:nvPr/>
        </p:nvSpPr>
        <p:spPr>
          <a:xfrm>
            <a:off x="6172200" y="4526280"/>
            <a:ext cx="5470855" cy="1097280"/>
          </a:xfrm>
          <a:prstGeom prst="rect">
            <a:avLst/>
          </a:prstGeom>
          <a:noFill/>
          <a:ln/>
        </p:spPr>
        <p:txBody>
          <a:bodyPr wrap="square" lIns="0" tIns="0" rIns="0" bIns="0" rtlCol="0" anchor="t"/>
          <a:lstStyle/>
          <a:p>
            <a:pPr indent="0" marL="0">
              <a:spcAft>
                <a:spcPts val="600"/>
              </a:spcAft>
              <a:buNone/>
            </a:pPr>
            <a:r>
              <a:rPr lang="en-GB" altLang="en-US" sz="1400" b="1" dirty="0">
                <a:solidFill>
                  <a:schemeClr val="accent4"/>
                </a:solidFill>
              </a:rPr>
              <a:t>Likely to help: </a:t>
            </a:r>
            <a:pPr indent="0" marL="0">
              <a:spcAft>
                <a:spcPts val="600"/>
              </a:spcAft>
              <a:buNone/>
            </a:pPr>
            <a:r>
              <a:rPr lang="en-GB" altLang="en-US" sz="1400" dirty="0">
                <a:solidFill>
                  <a:schemeClr val="tx1"/>
                </a:solidFill>
              </a:rPr>
              <a:t>in plain English, the AI said what was wrong, why it matters and how to fix it. Scanners gave a rule and a short line.</a:t>
            </a:r>
            <a:endParaRPr lang="en-GB" sz="1400" dirty="0"/>
          </a:p>
          <a:p>
            <a:pPr indent="0" marL="0">
              <a:spcAft>
                <a:spcPts val="600"/>
              </a:spcAft>
              <a:buNone/>
            </a:pPr>
            <a:r>
              <a:rPr lang="en-GB" altLang="en-US" sz="1400" b="1" dirty="0">
                <a:solidFill>
                  <a:schemeClr val="accent1"/>
                </a:solidFill>
              </a:rPr>
              <a:t>Risk: </a:t>
            </a:r>
            <a:pPr indent="0" marL="0">
              <a:spcAft>
                <a:spcPts val="600"/>
              </a:spcAft>
              <a:buNone/>
            </a:pPr>
            <a:r>
              <a:rPr lang="en-GB" altLang="en-US" sz="1400" dirty="0">
                <a:solidFill>
                  <a:schemeClr val="tx1"/>
                </a:solidFill>
              </a:rPr>
              <a:t>explanation accuracy scored lowest, because some confident claims were false (Ji et al., 2023).</a:t>
            </a:r>
            <a:endParaRPr lang="en-GB" sz="1400" dirty="0"/>
          </a:p>
        </p:txBody>
      </p:sp>
      <p:sp>
        <p:nvSpPr>
          <p:cNvPr id="15" name="Scoring caveat"/>
          <p:cNvSpPr txBox="1"/>
          <p:nvPr/>
        </p:nvSpPr>
        <p:spPr>
          <a:xfrm>
            <a:off x="6172200" y="5760720"/>
            <a:ext cx="5470855" cy="274320"/>
          </a:xfrm>
          <a:prstGeom prst="rect">
            <a:avLst/>
          </a:prstGeom>
          <a:noFill/>
          <a:ln/>
        </p:spPr>
        <p:txBody>
          <a:bodyPr wrap="square" lIns="0" tIns="0" rIns="0" bIns="0" rtlCol="0" anchor="t"/>
          <a:lstStyle/>
          <a:p>
            <a:pPr indent="0" marL="0">
              <a:buNone/>
            </a:pPr>
            <a:r>
              <a:rPr lang="en-GB" altLang="en-US" sz="1100" i="1" dirty="0">
                <a:solidFill>
                  <a:schemeClr val="accent6"/>
                </a:solidFill>
              </a:rPr>
              <a:t>Scored once, with AI help; the reason for each score is recorded.</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7</a:t>
            </a:fld>
            <a:endParaRPr lang="en-GB"/>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RQ4: code comments changed the AI’s verdict</a:t>
            </a:r>
            <a:endParaRPr lang="en-GB" sz="3600" dirty="0"/>
          </a:p>
        </p:txBody>
      </p:sp>
      <p:sp>
        <p:nvSpPr>
          <p:cNvPr id="3" name="(a) card"/>
          <p:cNvSpPr/>
          <p:nvPr/>
        </p:nvSpPr>
        <p:spPr>
          <a:xfrm>
            <a:off x="548640" y="1325880"/>
            <a:ext cx="6446520" cy="1965960"/>
          </a:xfrm>
          <a:prstGeom prst="roundRect">
            <a:avLst>
              <a:gd name="adj" fmla="val 3721"/>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4" name="(a) heading"/>
          <p:cNvSpPr txBox="1"/>
          <p:nvPr/>
        </p:nvSpPr>
        <p:spPr>
          <a:xfrm>
            <a:off x="777240" y="1453896"/>
            <a:ext cx="5989320" cy="292608"/>
          </a:xfrm>
          <a:prstGeom prst="rect">
            <a:avLst/>
          </a:prstGeom>
          <a:noFill/>
          <a:ln/>
        </p:spPr>
        <p:txBody>
          <a:bodyPr wrap="square" lIns="0" tIns="0" rIns="0" bIns="0" rtlCol="0" anchor="t"/>
          <a:lstStyle/>
          <a:p>
            <a:pPr indent="0" marL="0">
              <a:buNone/>
            </a:pPr>
            <a:r>
              <a:rPr lang="en-GB" altLang="en-US" sz="1500" b="1" dirty="0">
                <a:solidFill>
                  <a:schemeClr val="accent1"/>
                </a:solidFill>
              </a:rPr>
              <a:t>(a)  </a:t>
            </a:r>
            <a:pPr indent="0" marL="0">
              <a:buNone/>
            </a:pPr>
            <a:r>
              <a:rPr lang="en-GB" altLang="en-US" sz="1500" b="1" dirty="0">
                <a:solidFill>
                  <a:schemeClr val="tx2"/>
                </a:solidFill>
              </a:rPr>
              <a:t>AI’s own fix, old comment left in place · PR #85</a:t>
            </a:r>
            <a:endParaRPr lang="en-GB" sz="1500" dirty="0"/>
          </a:p>
        </p:txBody>
      </p:sp>
      <p:sp>
        <p:nvSpPr>
          <p:cNvPr id="5" name="(a) code box"/>
          <p:cNvSpPr/>
          <p:nvPr/>
        </p:nvSpPr>
        <p:spPr>
          <a:xfrm>
            <a:off x="777240" y="1801368"/>
            <a:ext cx="5989320" cy="502920"/>
          </a:xfrm>
          <a:prstGeom prst="roundRect">
            <a:avLst>
              <a:gd name="adj" fmla="val 7273"/>
            </a:avLst>
          </a:prstGeom>
          <a:solidFill>
            <a:schemeClr val="bg2"/>
          </a:solidFill>
          <a:ln w="12700">
            <a:solidFill>
              <a:schemeClr val="bg2"/>
            </a:solidFill>
            <a:prstDash val="solid"/>
          </a:ln>
        </p:spPr>
      </p:sp>
      <p:sp>
        <p:nvSpPr>
          <p:cNvPr id="6" name="(a) code"/>
          <p:cNvSpPr txBox="1"/>
          <p:nvPr/>
        </p:nvSpPr>
        <p:spPr>
          <a:xfrm>
            <a:off x="914400" y="1801368"/>
            <a:ext cx="5715000" cy="502920"/>
          </a:xfrm>
          <a:prstGeom prst="rect">
            <a:avLst/>
          </a:prstGeom>
          <a:noFill/>
          <a:ln/>
        </p:spPr>
        <p:txBody>
          <a:bodyPr wrap="square" lIns="0" tIns="0" rIns="0" bIns="0" rtlCol="0" anchor="ctr"/>
          <a:lstStyle/>
          <a:p>
            <a:pPr indent="0" marL="0">
              <a:buNone/>
            </a:pPr>
            <a:r>
              <a:rPr lang="en-GB" altLang="en-US" sz="1100" dirty="0">
                <a:solidFill>
                  <a:schemeClr val="accent4"/>
                </a:solidFill>
                <a:latin typeface="Courier New" pitchFamily="34" charset="0"/>
                <a:ea typeface="Courier New" pitchFamily="34" charset="-122"/>
                <a:cs typeface="Courier New" pitchFamily="34" charset="-120"/>
              </a:rPr>
              <a:t># TC02: Deliberately unrestricted SSH access</a:t>
            </a:r>
            <a:endParaRPr lang="en-GB" sz="1100" dirty="0"/>
          </a:p>
          <a:p>
            <a:pPr indent="0" marL="0">
              <a:buNone/>
            </a:pPr>
            <a:r>
              <a:rPr lang="en-GB" altLang="en-US" sz="1100" dirty="0">
                <a:solidFill>
                  <a:schemeClr val="tx1"/>
                </a:solidFill>
                <a:latin typeface="Courier New" pitchFamily="34" charset="0"/>
                <a:ea typeface="Courier New" pitchFamily="34" charset="-122"/>
                <a:cs typeface="Courier New" pitchFamily="34" charset="-120"/>
              </a:rPr>
              <a:t>source_address_prefix = "203.0.113.10/32"</a:t>
            </a:r>
            <a:endParaRPr lang="en-GB" sz="1100" dirty="0"/>
          </a:p>
        </p:txBody>
      </p:sp>
      <p:sp>
        <p:nvSpPr>
          <p:cNvPr id="7" name="(a) verdict pill"/>
          <p:cNvSpPr/>
          <p:nvPr/>
        </p:nvSpPr>
        <p:spPr>
          <a:xfrm>
            <a:off x="777240" y="2487168"/>
            <a:ext cx="1417320" cy="329184"/>
          </a:xfrm>
          <a:prstGeom prst="roundRect">
            <a:avLst>
              <a:gd name="adj" fmla="val 50000"/>
            </a:avLst>
          </a:prstGeom>
          <a:solidFill>
            <a:schemeClr val="accent1"/>
          </a:solidFill>
          <a:ln w="12700">
            <a:solidFill>
              <a:schemeClr val="accent1"/>
            </a:solidFill>
            <a:prstDash val="solid"/>
          </a:ln>
        </p:spPr>
      </p:sp>
      <p:sp>
        <p:nvSpPr>
          <p:cNvPr id="8" name="(a) verdict"/>
          <p:cNvSpPr txBox="1"/>
          <p:nvPr/>
        </p:nvSpPr>
        <p:spPr>
          <a:xfrm>
            <a:off x="777240" y="2487168"/>
            <a:ext cx="1417320" cy="329184"/>
          </a:xfrm>
          <a:prstGeom prst="rect">
            <a:avLst/>
          </a:prstGeom>
          <a:noFill/>
          <a:ln/>
        </p:spPr>
        <p:txBody>
          <a:bodyPr wrap="square" lIns="0" tIns="0" rIns="0" bIns="0" rtlCol="0" anchor="ctr"/>
          <a:lstStyle/>
          <a:p>
            <a:pPr algn="ctr" indent="0" marL="0">
              <a:buNone/>
            </a:pPr>
            <a:r>
              <a:rPr lang="en-GB" altLang="en-US" sz="1200" b="1" dirty="0">
                <a:solidFill>
                  <a:schemeClr val="bg1"/>
                </a:solidFill>
              </a:rPr>
              <a:t>HIGH · 70/100</a:t>
            </a:r>
            <a:endParaRPr lang="en-GB" sz="1200" dirty="0"/>
          </a:p>
        </p:txBody>
      </p:sp>
      <p:sp>
        <p:nvSpPr>
          <p:cNvPr id="9" name="(a) finding"/>
          <p:cNvSpPr txBox="1"/>
          <p:nvPr/>
        </p:nvSpPr>
        <p:spPr>
          <a:xfrm>
            <a:off x="2377440" y="2450592"/>
            <a:ext cx="4389120" cy="749808"/>
          </a:xfrm>
          <a:prstGeom prst="rect">
            <a:avLst/>
          </a:prstGeom>
          <a:noFill/>
          <a:ln/>
        </p:spPr>
        <p:txBody>
          <a:bodyPr wrap="square" lIns="0" tIns="0" rIns="0" bIns="0" rtlCol="0" anchor="t"/>
          <a:lstStyle/>
          <a:p>
            <a:pPr indent="0" marL="0">
              <a:buNone/>
            </a:pPr>
            <a:r>
              <a:rPr lang="en-GB" altLang="en-US" sz="1300" dirty="0">
                <a:solidFill>
                  <a:schemeClr val="tx1"/>
                </a:solidFill>
              </a:rPr>
              <a:t>“SSH allow rule references a documentation-reserved (RFC 5737 TEST-NET-3) source address”</a:t>
            </a:r>
            <a:endParaRPr lang="en-GB" sz="1300" dirty="0"/>
          </a:p>
          <a:p>
            <a:pPr indent="0" marL="0">
              <a:buNone/>
            </a:pPr>
            <a:r>
              <a:rPr lang="en-GB" altLang="en-US" sz="1200" i="1" dirty="0">
                <a:solidFill>
                  <a:schemeClr val="accent6"/>
                </a:solidFill>
              </a:rPr>
              <a:t>…and it quoted the stale comment as evidence</a:t>
            </a:r>
            <a:endParaRPr lang="en-GB" sz="1300" dirty="0"/>
          </a:p>
        </p:txBody>
      </p:sp>
      <p:sp>
        <p:nvSpPr>
          <p:cNvPr id="10" name="(b) card"/>
          <p:cNvSpPr/>
          <p:nvPr/>
        </p:nvSpPr>
        <p:spPr>
          <a:xfrm>
            <a:off x="548640" y="3429000"/>
            <a:ext cx="6446520" cy="2240280"/>
          </a:xfrm>
          <a:prstGeom prst="roundRect">
            <a:avLst>
              <a:gd name="adj" fmla="val 3265"/>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11" name="(b) heading"/>
          <p:cNvSpPr txBox="1"/>
          <p:nvPr/>
        </p:nvSpPr>
        <p:spPr>
          <a:xfrm>
            <a:off x="777240" y="3557016"/>
            <a:ext cx="5989320" cy="292608"/>
          </a:xfrm>
          <a:prstGeom prst="rect">
            <a:avLst/>
          </a:prstGeom>
          <a:noFill/>
          <a:ln/>
        </p:spPr>
        <p:txBody>
          <a:bodyPr wrap="square" lIns="0" tIns="0" rIns="0" bIns="0" rtlCol="0" anchor="t"/>
          <a:lstStyle/>
          <a:p>
            <a:pPr indent="0" marL="0">
              <a:buNone/>
            </a:pPr>
            <a:r>
              <a:rPr lang="en-GB" altLang="en-US" sz="1500" b="1" dirty="0">
                <a:solidFill>
                  <a:schemeClr val="accent1"/>
                </a:solidFill>
              </a:rPr>
              <a:t>(b)  </a:t>
            </a:r>
            <a:pPr indent="0" marL="0">
              <a:buNone/>
            </a:pPr>
            <a:r>
              <a:rPr lang="en-GB" altLang="en-US" sz="1500" b="1" dirty="0">
                <a:solidFill>
                  <a:schemeClr val="tx2"/>
                </a:solidFill>
              </a:rPr>
              <a:t>Same fix, only the comment corrected · PR #98</a:t>
            </a:r>
            <a:endParaRPr lang="en-GB" sz="1500" dirty="0"/>
          </a:p>
        </p:txBody>
      </p:sp>
      <p:sp>
        <p:nvSpPr>
          <p:cNvPr id="12" name="(b) code box"/>
          <p:cNvSpPr/>
          <p:nvPr/>
        </p:nvSpPr>
        <p:spPr>
          <a:xfrm>
            <a:off x="777240" y="3904488"/>
            <a:ext cx="5989320" cy="713232"/>
          </a:xfrm>
          <a:prstGeom prst="roundRect">
            <a:avLst>
              <a:gd name="adj" fmla="val 5128"/>
            </a:avLst>
          </a:prstGeom>
          <a:solidFill>
            <a:schemeClr val="bg2"/>
          </a:solidFill>
          <a:ln w="12700">
            <a:solidFill>
              <a:schemeClr val="bg2"/>
            </a:solidFill>
            <a:prstDash val="solid"/>
          </a:ln>
        </p:spPr>
      </p:sp>
      <p:sp>
        <p:nvSpPr>
          <p:cNvPr id="13" name="(b) code"/>
          <p:cNvSpPr txBox="1"/>
          <p:nvPr/>
        </p:nvSpPr>
        <p:spPr>
          <a:xfrm>
            <a:off x="914400" y="3904488"/>
            <a:ext cx="5715000" cy="713232"/>
          </a:xfrm>
          <a:prstGeom prst="rect">
            <a:avLst/>
          </a:prstGeom>
          <a:noFill/>
          <a:ln/>
        </p:spPr>
        <p:txBody>
          <a:bodyPr wrap="square" lIns="0" tIns="0" rIns="0" bIns="0" rtlCol="0" anchor="ctr"/>
          <a:lstStyle/>
          <a:p>
            <a:pPr indent="0" marL="0">
              <a:buNone/>
            </a:pPr>
            <a:r>
              <a:rPr lang="en-GB" altLang="en-US" sz="1100" dirty="0">
                <a:solidFill>
                  <a:schemeClr val="accent4"/>
                </a:solidFill>
                <a:latin typeface="Courier New" pitchFamily="34" charset="0"/>
                <a:ea typeface="Courier New" pitchFamily="34" charset="-122"/>
                <a:cs typeface="Courier New" pitchFamily="34" charset="-120"/>
              </a:rPr>
              <a:t># TC02 remediated: SSH restricted to the approved administration address.</a:t>
            </a:r>
            <a:endParaRPr lang="en-GB" sz="1100" dirty="0"/>
          </a:p>
          <a:p>
            <a:pPr indent="0" marL="0">
              <a:buNone/>
            </a:pPr>
            <a:r>
              <a:rPr lang="en-GB" altLang="en-US" sz="1100" dirty="0">
                <a:solidFill>
                  <a:schemeClr val="tx1"/>
                </a:solidFill>
                <a:latin typeface="Courier New" pitchFamily="34" charset="0"/>
                <a:ea typeface="Courier New" pitchFamily="34" charset="-122"/>
                <a:cs typeface="Courier New" pitchFamily="34" charset="-120"/>
              </a:rPr>
              <a:t>source_address_prefix = "203.0.113.10/32"</a:t>
            </a:r>
            <a:endParaRPr lang="en-GB" sz="1100" dirty="0"/>
          </a:p>
        </p:txBody>
      </p:sp>
      <p:sp>
        <p:nvSpPr>
          <p:cNvPr id="14" name="(b) verdict pill"/>
          <p:cNvSpPr/>
          <p:nvPr/>
        </p:nvSpPr>
        <p:spPr>
          <a:xfrm>
            <a:off x="777240" y="4800600"/>
            <a:ext cx="1417320" cy="329184"/>
          </a:xfrm>
          <a:prstGeom prst="roundRect">
            <a:avLst>
              <a:gd name="adj" fmla="val 50000"/>
            </a:avLst>
          </a:prstGeom>
          <a:solidFill>
            <a:schemeClr val="accent4"/>
          </a:solidFill>
          <a:ln w="12700">
            <a:solidFill>
              <a:schemeClr val="accent4"/>
            </a:solidFill>
            <a:prstDash val="solid"/>
          </a:ln>
        </p:spPr>
      </p:sp>
      <p:sp>
        <p:nvSpPr>
          <p:cNvPr id="15" name="(b) verdict"/>
          <p:cNvSpPr txBox="1"/>
          <p:nvPr/>
        </p:nvSpPr>
        <p:spPr>
          <a:xfrm>
            <a:off x="777240" y="4800600"/>
            <a:ext cx="1417320" cy="329184"/>
          </a:xfrm>
          <a:prstGeom prst="rect">
            <a:avLst/>
          </a:prstGeom>
          <a:noFill/>
          <a:ln/>
        </p:spPr>
        <p:txBody>
          <a:bodyPr wrap="square" lIns="0" tIns="0" rIns="0" bIns="0" rtlCol="0" anchor="ctr"/>
          <a:lstStyle/>
          <a:p>
            <a:pPr algn="ctr" indent="0" marL="0">
              <a:buNone/>
            </a:pPr>
            <a:r>
              <a:rPr lang="en-GB" altLang="en-US" sz="1200" b="1" dirty="0">
                <a:solidFill>
                  <a:schemeClr val="bg1"/>
                </a:solidFill>
              </a:rPr>
              <a:t>LOW · 95/100</a:t>
            </a:r>
            <a:endParaRPr lang="en-GB" sz="1200" dirty="0"/>
          </a:p>
        </p:txBody>
      </p:sp>
      <p:sp>
        <p:nvSpPr>
          <p:cNvPr id="16" name="(b) finding"/>
          <p:cNvSpPr txBox="1"/>
          <p:nvPr/>
        </p:nvSpPr>
        <p:spPr>
          <a:xfrm>
            <a:off x="2377440" y="4764024"/>
            <a:ext cx="4389120" cy="813816"/>
          </a:xfrm>
          <a:prstGeom prst="rect">
            <a:avLst/>
          </a:prstGeom>
          <a:noFill/>
          <a:ln/>
        </p:spPr>
        <p:txBody>
          <a:bodyPr wrap="square" lIns="0" tIns="0" rIns="0" bIns="0" rtlCol="0" anchor="t"/>
          <a:lstStyle/>
          <a:p>
            <a:pPr indent="0" marL="0">
              <a:buNone/>
            </a:pPr>
            <a:r>
              <a:rPr lang="en-GB" altLang="en-US" sz="1300" dirty="0">
                <a:solidFill>
                  <a:schemeClr val="tx1"/>
                </a:solidFill>
              </a:rPr>
              <a:t>“SSH allow rule applies to all subnet destinations rather than a specific target resource”</a:t>
            </a:r>
            <a:endParaRPr lang="en-GB" sz="1300" dirty="0"/>
          </a:p>
          <a:p>
            <a:pPr indent="0" marL="0">
              <a:buNone/>
            </a:pPr>
            <a:r>
              <a:rPr lang="en-GB" altLang="en-US" sz="1200" i="1" dirty="0">
                <a:solidFill>
                  <a:schemeClr val="accent6"/>
                </a:solidFill>
              </a:rPr>
              <a:t>Verdict: APPROVE</a:t>
            </a:r>
            <a:endParaRPr lang="en-GB" sz="1300" dirty="0"/>
          </a:p>
        </p:txBody>
      </p:sp>
      <p:sp>
        <p:nvSpPr>
          <p:cNvPr id="17" name="Comment caption"/>
          <p:cNvSpPr txBox="1"/>
          <p:nvPr/>
        </p:nvSpPr>
        <p:spPr>
          <a:xfrm>
            <a:off x="548640" y="5742432"/>
            <a:ext cx="6446520" cy="411480"/>
          </a:xfrm>
          <a:prstGeom prst="rect">
            <a:avLst/>
          </a:prstGeom>
          <a:noFill/>
          <a:ln/>
        </p:spPr>
        <p:txBody>
          <a:bodyPr wrap="square" lIns="0" tIns="0" rIns="0" bIns="0" rtlCol="0" anchor="t"/>
          <a:lstStyle/>
          <a:p>
            <a:pPr indent="0" marL="0">
              <a:buNone/>
            </a:pPr>
            <a:r>
              <a:rPr lang="en-GB" altLang="en-US" sz="1100" i="1" dirty="0">
                <a:solidFill>
                  <a:schemeClr val="accent6"/>
                </a:solidFill>
              </a:rPr>
              <a:t>Same Terraform, different comment, different verdict (one review each; TC03 behaved the same way). Comments are untrusted input (Greshake et al., 2023). Figure 4.6.</a:t>
            </a:r>
            <a:endParaRPr lang="en-GB" sz="1100" dirty="0"/>
          </a:p>
        </p:txBody>
      </p:sp>
      <p:sp>
        <p:nvSpPr>
          <p:cNvPr id="18" name="Same input, different answers card"/>
          <p:cNvSpPr/>
          <p:nvPr/>
        </p:nvSpPr>
        <p:spPr>
          <a:xfrm>
            <a:off x="7269480" y="1325880"/>
            <a:ext cx="4373575" cy="1325880"/>
          </a:xfrm>
          <a:prstGeom prst="roundRect">
            <a:avLst>
              <a:gd name="adj" fmla="val 5517"/>
            </a:avLst>
          </a:prstGeom>
          <a:solidFill>
            <a:schemeClr val="bg2"/>
          </a:solidFill>
          <a:ln w="12700">
            <a:solidFill>
              <a:schemeClr val="bg2"/>
            </a:solidFill>
            <a:prstDash val="solid"/>
          </a:ln>
        </p:spPr>
      </p:sp>
      <p:sp>
        <p:nvSpPr>
          <p:cNvPr id="19" name="Same input, different answers circle"/>
          <p:cNvSpPr/>
          <p:nvPr/>
        </p:nvSpPr>
        <p:spPr>
          <a:xfrm>
            <a:off x="7470648" y="1527048"/>
            <a:ext cx="475488" cy="475488"/>
          </a:xfrm>
          <a:prstGeom prst="ellipse">
            <a:avLst/>
          </a:prstGeom>
          <a:solidFill>
            <a:schemeClr val="accent5"/>
          </a:solidFill>
          <a:ln w="12700">
            <a:solidFill>
              <a:schemeClr val="accent5"/>
            </a:solidFill>
            <a:prstDash val="solid"/>
          </a:ln>
        </p:spPr>
      </p:sp>
      <p:pic>
        <p:nvPicPr>
          <p:cNvPr id="20" name="Same input, different answers icon" descr="preencoded.png">    </p:cNvPr>
          <p:cNvPicPr>
            <a:picLocks noChangeAspect="1"/>
          </p:cNvPicPr>
          <p:nvPr/>
        </p:nvPicPr>
        <p:blipFill>
          <a:blip r:embed="rId1"/>
          <a:stretch>
            <a:fillRect/>
          </a:stretch>
        </p:blipFill>
        <p:spPr>
          <a:xfrm>
            <a:off x="7589520" y="1645920"/>
            <a:ext cx="237744" cy="237744"/>
          </a:xfrm>
          <a:prstGeom prst="rect">
            <a:avLst/>
          </a:prstGeom>
        </p:spPr>
      </p:pic>
      <p:sp>
        <p:nvSpPr>
          <p:cNvPr id="21" name="Same input, different answers text"/>
          <p:cNvSpPr txBox="1"/>
          <p:nvPr/>
        </p:nvSpPr>
        <p:spPr>
          <a:xfrm>
            <a:off x="8129016" y="1490472"/>
            <a:ext cx="3349447" cy="105156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Same input, different answers</a:t>
            </a:r>
            <a:endParaRPr lang="en-GB" sz="1400" dirty="0"/>
          </a:p>
          <a:p>
            <a:pPr indent="0" marL="0">
              <a:spcAft>
                <a:spcPts val="300"/>
              </a:spcAft>
              <a:buNone/>
            </a:pPr>
            <a:r>
              <a:rPr lang="en-GB" altLang="en-US" sz="1400" dirty="0">
                <a:solidFill>
                  <a:schemeClr val="tx1"/>
                </a:solidFill>
              </a:rPr>
              <a:t>TC08 classified three ways in four runs; TC05 rated HIGH, HIGH, MEDIUM (Ouyang et al., 2025).</a:t>
            </a:r>
            <a:endParaRPr lang="en-GB" sz="1400" dirty="0"/>
          </a:p>
        </p:txBody>
      </p:sp>
      <p:sp>
        <p:nvSpPr>
          <p:cNvPr id="22" name="Findings hidden or skipped card"/>
          <p:cNvSpPr/>
          <p:nvPr/>
        </p:nvSpPr>
        <p:spPr>
          <a:xfrm>
            <a:off x="7269480" y="2788920"/>
            <a:ext cx="4373575" cy="1325880"/>
          </a:xfrm>
          <a:prstGeom prst="roundRect">
            <a:avLst>
              <a:gd name="adj" fmla="val 5517"/>
            </a:avLst>
          </a:prstGeom>
          <a:solidFill>
            <a:schemeClr val="bg2"/>
          </a:solidFill>
          <a:ln w="12700">
            <a:solidFill>
              <a:schemeClr val="bg2"/>
            </a:solidFill>
            <a:prstDash val="solid"/>
          </a:ln>
        </p:spPr>
      </p:sp>
      <p:sp>
        <p:nvSpPr>
          <p:cNvPr id="23" name="Findings hidden or skipped circle"/>
          <p:cNvSpPr/>
          <p:nvPr/>
        </p:nvSpPr>
        <p:spPr>
          <a:xfrm>
            <a:off x="7470648" y="2990088"/>
            <a:ext cx="475488" cy="475488"/>
          </a:xfrm>
          <a:prstGeom prst="ellipse">
            <a:avLst/>
          </a:prstGeom>
          <a:solidFill>
            <a:schemeClr val="accent1"/>
          </a:solidFill>
          <a:ln w="12700">
            <a:solidFill>
              <a:schemeClr val="accent1"/>
            </a:solidFill>
            <a:prstDash val="solid"/>
          </a:ln>
        </p:spPr>
      </p:sp>
      <p:pic>
        <p:nvPicPr>
          <p:cNvPr id="24" name="Findings hidden or skipped icon" descr="preencoded.png">    </p:cNvPr>
          <p:cNvPicPr>
            <a:picLocks noChangeAspect="1"/>
          </p:cNvPicPr>
          <p:nvPr/>
        </p:nvPicPr>
        <p:blipFill>
          <a:blip r:embed="rId2"/>
          <a:stretch>
            <a:fillRect/>
          </a:stretch>
        </p:blipFill>
        <p:spPr>
          <a:xfrm>
            <a:off x="7589520" y="3108960"/>
            <a:ext cx="237744" cy="237744"/>
          </a:xfrm>
          <a:prstGeom prst="rect">
            <a:avLst/>
          </a:prstGeom>
        </p:spPr>
      </p:pic>
      <p:sp>
        <p:nvSpPr>
          <p:cNvPr id="25" name="Findings hidden or skipped text"/>
          <p:cNvSpPr txBox="1"/>
          <p:nvPr/>
        </p:nvSpPr>
        <p:spPr>
          <a:xfrm>
            <a:off x="8129016" y="2953512"/>
            <a:ext cx="3349447" cy="105156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Findings hidden or skipped</a:t>
            </a:r>
            <a:endParaRPr lang="en-GB" sz="1400" dirty="0"/>
          </a:p>
          <a:p>
            <a:pPr indent="0" marL="0">
              <a:spcAft>
                <a:spcPts val="300"/>
              </a:spcAft>
              <a:buNone/>
            </a:pPr>
            <a:r>
              <a:rPr lang="en-GB" altLang="en-US" sz="1400" dirty="0">
                <a:solidFill>
                  <a:schemeClr val="tx1"/>
                </a:solidFill>
              </a:rPr>
              <a:t>NEEDS_CONTEXT findings never reach the comment; deletion-only PRs skip the AI step.</a:t>
            </a:r>
            <a:endParaRPr lang="en-GB" sz="1400" dirty="0"/>
          </a:p>
        </p:txBody>
      </p:sp>
      <p:sp>
        <p:nvSpPr>
          <p:cNvPr id="26" name="Small time cost card"/>
          <p:cNvSpPr/>
          <p:nvPr/>
        </p:nvSpPr>
        <p:spPr>
          <a:xfrm>
            <a:off x="7269480" y="4251960"/>
            <a:ext cx="4373575" cy="1325880"/>
          </a:xfrm>
          <a:prstGeom prst="roundRect">
            <a:avLst>
              <a:gd name="adj" fmla="val 5517"/>
            </a:avLst>
          </a:prstGeom>
          <a:solidFill>
            <a:schemeClr val="bg2"/>
          </a:solidFill>
          <a:ln w="12700">
            <a:solidFill>
              <a:schemeClr val="bg2"/>
            </a:solidFill>
            <a:prstDash val="solid"/>
          </a:ln>
        </p:spPr>
      </p:sp>
      <p:sp>
        <p:nvSpPr>
          <p:cNvPr id="27" name="Small time cost circle"/>
          <p:cNvSpPr/>
          <p:nvPr/>
        </p:nvSpPr>
        <p:spPr>
          <a:xfrm>
            <a:off x="7470648" y="4453128"/>
            <a:ext cx="475488" cy="475488"/>
          </a:xfrm>
          <a:prstGeom prst="ellipse">
            <a:avLst/>
          </a:prstGeom>
          <a:solidFill>
            <a:schemeClr val="accent2"/>
          </a:solidFill>
          <a:ln w="12700">
            <a:solidFill>
              <a:schemeClr val="accent2"/>
            </a:solidFill>
            <a:prstDash val="solid"/>
          </a:ln>
        </p:spPr>
      </p:sp>
      <p:pic>
        <p:nvPicPr>
          <p:cNvPr id="28" name="Small time cost icon" descr="preencoded.png">    </p:cNvPr>
          <p:cNvPicPr>
            <a:picLocks noChangeAspect="1"/>
          </p:cNvPicPr>
          <p:nvPr/>
        </p:nvPicPr>
        <p:blipFill>
          <a:blip r:embed="rId3"/>
          <a:stretch>
            <a:fillRect/>
          </a:stretch>
        </p:blipFill>
        <p:spPr>
          <a:xfrm>
            <a:off x="7589520" y="4572000"/>
            <a:ext cx="237744" cy="237744"/>
          </a:xfrm>
          <a:prstGeom prst="rect">
            <a:avLst/>
          </a:prstGeom>
        </p:spPr>
      </p:pic>
      <p:sp>
        <p:nvSpPr>
          <p:cNvPr id="29" name="Small time cost text"/>
          <p:cNvSpPr txBox="1"/>
          <p:nvPr/>
        </p:nvSpPr>
        <p:spPr>
          <a:xfrm>
            <a:off x="8129016" y="4416552"/>
            <a:ext cx="3349447" cy="105156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Small time cost</a:t>
            </a:r>
            <a:endParaRPr lang="en-GB" sz="1400" dirty="0"/>
          </a:p>
          <a:p>
            <a:pPr indent="0" marL="0">
              <a:spcAft>
                <a:spcPts val="300"/>
              </a:spcAft>
              <a:buNone/>
            </a:pPr>
            <a:r>
              <a:rPr lang="en-GB" altLang="en-US" sz="1400" dirty="0">
                <a:solidFill>
                  <a:schemeClr val="tx1"/>
                </a:solidFill>
              </a:rPr>
              <a:t>AI median 31.5 s of a 77 s job; comments posted in under two minutes.</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8</a:t>
            </a:fld>
            <a:endParaRPr lang="en-GB"/>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Evaluation: what holds up, and its limits</a:t>
            </a:r>
            <a:endParaRPr lang="en-GB" sz="3600" dirty="0"/>
          </a:p>
        </p:txBody>
      </p:sp>
      <p:sp>
        <p:nvSpPr>
          <p:cNvPr id="3" name="What holds up column"/>
          <p:cNvSpPr/>
          <p:nvPr/>
        </p:nvSpPr>
        <p:spPr>
          <a:xfrm>
            <a:off x="548640" y="1325880"/>
            <a:ext cx="3515258" cy="3977640"/>
          </a:xfrm>
          <a:prstGeom prst="roundRect">
            <a:avLst>
              <a:gd name="adj" fmla="val 2081"/>
            </a:avLst>
          </a:prstGeom>
          <a:solidFill>
            <a:schemeClr val="bg2"/>
          </a:solidFill>
          <a:ln w="12700">
            <a:solidFill>
              <a:schemeClr val="bg2"/>
            </a:solidFill>
            <a:prstDash val="solid"/>
          </a:ln>
        </p:spPr>
      </p:sp>
      <p:sp>
        <p:nvSpPr>
          <p:cNvPr id="4" name="What holds up circle"/>
          <p:cNvSpPr/>
          <p:nvPr/>
        </p:nvSpPr>
        <p:spPr>
          <a:xfrm>
            <a:off x="777240" y="1508760"/>
            <a:ext cx="530352" cy="530352"/>
          </a:xfrm>
          <a:prstGeom prst="ellipse">
            <a:avLst/>
          </a:prstGeom>
          <a:solidFill>
            <a:schemeClr val="accent4"/>
          </a:solidFill>
          <a:ln w="12700">
            <a:solidFill>
              <a:schemeClr val="accent4"/>
            </a:solidFill>
            <a:prstDash val="solid"/>
          </a:ln>
        </p:spPr>
      </p:sp>
      <p:pic>
        <p:nvPicPr>
          <p:cNvPr id="5" name="What holds up icon" descr="preencoded.png">    </p:cNvPr>
          <p:cNvPicPr>
            <a:picLocks noChangeAspect="1"/>
          </p:cNvPicPr>
          <p:nvPr/>
        </p:nvPicPr>
        <p:blipFill>
          <a:blip r:embed="rId1"/>
          <a:stretch>
            <a:fillRect/>
          </a:stretch>
        </p:blipFill>
        <p:spPr>
          <a:xfrm>
            <a:off x="909828" y="1641348"/>
            <a:ext cx="265176" cy="265176"/>
          </a:xfrm>
          <a:prstGeom prst="rect">
            <a:avLst/>
          </a:prstGeom>
        </p:spPr>
      </p:pic>
      <p:sp>
        <p:nvSpPr>
          <p:cNvPr id="6" name="What holds up heading"/>
          <p:cNvSpPr txBox="1"/>
          <p:nvPr/>
        </p:nvSpPr>
        <p:spPr>
          <a:xfrm>
            <a:off x="1463040" y="1508760"/>
            <a:ext cx="2417978" cy="530352"/>
          </a:xfrm>
          <a:prstGeom prst="rect">
            <a:avLst/>
          </a:prstGeom>
          <a:noFill/>
          <a:ln/>
        </p:spPr>
        <p:txBody>
          <a:bodyPr wrap="square" lIns="0" tIns="0" rIns="0" bIns="0" rtlCol="0" anchor="ctr"/>
          <a:lstStyle/>
          <a:p>
            <a:pPr indent="0" marL="0">
              <a:buNone/>
            </a:pPr>
            <a:r>
              <a:rPr lang="en-GB" altLang="en-US" sz="1800" b="1" dirty="0">
                <a:solidFill>
                  <a:schemeClr val="tx2"/>
                </a:solidFill>
              </a:rPr>
              <a:t>What holds up</a:t>
            </a:r>
            <a:endParaRPr lang="en-GB" sz="1800" dirty="0"/>
          </a:p>
        </p:txBody>
      </p:sp>
      <p:sp>
        <p:nvSpPr>
          <p:cNvPr id="7" name="What holds up points"/>
          <p:cNvSpPr txBox="1"/>
          <p:nvPr/>
        </p:nvSpPr>
        <p:spPr>
          <a:xfrm>
            <a:off x="777240" y="2221992"/>
            <a:ext cx="3103778" cy="3017520"/>
          </a:xfrm>
          <a:prstGeom prst="rect">
            <a:avLst/>
          </a:prstGeom>
          <a:noFill/>
          <a:ln/>
        </p:spPr>
        <p:txBody>
          <a:bodyPr wrap="square" lIns="0" tIns="0" rIns="0" bIns="0" rtlCol="0" anchor="t"/>
          <a:lstStyle/>
          <a:p>
            <a:pPr marL="177800" indent="-177800">
              <a:spcAft>
                <a:spcPts val="900"/>
              </a:spcAft>
              <a:buSzPct val="100000"/>
              <a:buChar char="•"/>
            </a:pPr>
            <a:r>
              <a:rPr lang="en-GB" altLang="en-US" sz="1400" dirty="0">
                <a:solidFill>
                  <a:schemeClr val="tx1"/>
                </a:solidFill>
              </a:rPr>
              <a:t>Scanner coverage depends on rules; Checkov and tfsec complemented each other</a:t>
            </a:r>
            <a:endParaRPr lang="en-GB" sz="1400" dirty="0"/>
          </a:p>
          <a:p>
            <a:pPr marL="177800" indent="-177800">
              <a:spcAft>
                <a:spcPts val="900"/>
              </a:spcAft>
              <a:buSzPct val="100000"/>
              <a:buChar char="•"/>
            </a:pPr>
            <a:r>
              <a:rPr lang="en-GB" altLang="en-US" sz="1400" dirty="0">
                <a:solidFill>
                  <a:schemeClr val="tx1"/>
                </a:solidFill>
              </a:rPr>
              <a:t>The AI found context-dependent and semantic problems the scanners could not</a:t>
            </a:r>
            <a:endParaRPr lang="en-GB" sz="1400" dirty="0"/>
          </a:p>
          <a:p>
            <a:pPr marL="177800" indent="-177800">
              <a:spcAft>
                <a:spcPts val="900"/>
              </a:spcAft>
              <a:buSzPct val="100000"/>
              <a:buChar char="•"/>
            </a:pPr>
            <a:r>
              <a:rPr lang="en-GB" altLang="en-US" sz="1400" dirty="0">
                <a:solidFill>
                  <a:schemeClr val="tx1"/>
                </a:solidFill>
              </a:rPr>
              <a:t>Its errors were less predictable: it varied between identical runs and was steered by comments</a:t>
            </a:r>
            <a:endParaRPr lang="en-GB" sz="1400" dirty="0"/>
          </a:p>
        </p:txBody>
      </p:sp>
      <p:sp>
        <p:nvSpPr>
          <p:cNvPr id="8" name="Limits column"/>
          <p:cNvSpPr/>
          <p:nvPr/>
        </p:nvSpPr>
        <p:spPr>
          <a:xfrm>
            <a:off x="4338218" y="1325880"/>
            <a:ext cx="3515258" cy="3977640"/>
          </a:xfrm>
          <a:prstGeom prst="roundRect">
            <a:avLst>
              <a:gd name="adj" fmla="val 2081"/>
            </a:avLst>
          </a:prstGeom>
          <a:solidFill>
            <a:schemeClr val="bg2"/>
          </a:solidFill>
          <a:ln w="12700">
            <a:solidFill>
              <a:schemeClr val="bg2"/>
            </a:solidFill>
            <a:prstDash val="solid"/>
          </a:ln>
        </p:spPr>
      </p:sp>
      <p:sp>
        <p:nvSpPr>
          <p:cNvPr id="9" name="Limits circle"/>
          <p:cNvSpPr/>
          <p:nvPr/>
        </p:nvSpPr>
        <p:spPr>
          <a:xfrm>
            <a:off x="4566818" y="1508760"/>
            <a:ext cx="530352" cy="530352"/>
          </a:xfrm>
          <a:prstGeom prst="ellipse">
            <a:avLst/>
          </a:prstGeom>
          <a:solidFill>
            <a:schemeClr val="accent5"/>
          </a:solidFill>
          <a:ln w="12700">
            <a:solidFill>
              <a:schemeClr val="accent5"/>
            </a:solidFill>
            <a:prstDash val="solid"/>
          </a:ln>
        </p:spPr>
      </p:sp>
      <p:pic>
        <p:nvPicPr>
          <p:cNvPr id="10" name="Limits icon" descr="preencoded.png">    </p:cNvPr>
          <p:cNvPicPr>
            <a:picLocks noChangeAspect="1"/>
          </p:cNvPicPr>
          <p:nvPr/>
        </p:nvPicPr>
        <p:blipFill>
          <a:blip r:embed="rId2"/>
          <a:stretch>
            <a:fillRect/>
          </a:stretch>
        </p:blipFill>
        <p:spPr>
          <a:xfrm>
            <a:off x="4699406" y="1641348"/>
            <a:ext cx="265176" cy="265176"/>
          </a:xfrm>
          <a:prstGeom prst="rect">
            <a:avLst/>
          </a:prstGeom>
        </p:spPr>
      </p:pic>
      <p:sp>
        <p:nvSpPr>
          <p:cNvPr id="11" name="Limits heading"/>
          <p:cNvSpPr txBox="1"/>
          <p:nvPr/>
        </p:nvSpPr>
        <p:spPr>
          <a:xfrm>
            <a:off x="5252618" y="1508760"/>
            <a:ext cx="2417978" cy="530352"/>
          </a:xfrm>
          <a:prstGeom prst="rect">
            <a:avLst/>
          </a:prstGeom>
          <a:noFill/>
          <a:ln/>
        </p:spPr>
        <p:txBody>
          <a:bodyPr wrap="square" lIns="0" tIns="0" rIns="0" bIns="0" rtlCol="0" anchor="ctr"/>
          <a:lstStyle/>
          <a:p>
            <a:pPr indent="0" marL="0">
              <a:buNone/>
            </a:pPr>
            <a:r>
              <a:rPr lang="en-GB" altLang="en-US" sz="1800" b="1" dirty="0">
                <a:solidFill>
                  <a:schemeClr val="tx2"/>
                </a:solidFill>
              </a:rPr>
              <a:t>Limits</a:t>
            </a:r>
            <a:endParaRPr lang="en-GB" sz="1800" dirty="0"/>
          </a:p>
        </p:txBody>
      </p:sp>
      <p:sp>
        <p:nvSpPr>
          <p:cNvPr id="12" name="Limits points"/>
          <p:cNvSpPr txBox="1"/>
          <p:nvPr/>
        </p:nvSpPr>
        <p:spPr>
          <a:xfrm>
            <a:off x="4566818" y="2221992"/>
            <a:ext cx="3103778" cy="3017520"/>
          </a:xfrm>
          <a:prstGeom prst="rect">
            <a:avLst/>
          </a:prstGeom>
          <a:noFill/>
          <a:ln/>
        </p:spPr>
        <p:txBody>
          <a:bodyPr wrap="square" lIns="0" tIns="0" rIns="0" bIns="0" rtlCol="0" anchor="t"/>
          <a:lstStyle/>
          <a:p>
            <a:pPr marL="177800" indent="-177800">
              <a:spcAft>
                <a:spcPts val="900"/>
              </a:spcAft>
              <a:buSzPct val="100000"/>
              <a:buChar char="•"/>
            </a:pPr>
            <a:r>
              <a:rPr lang="en-GB" altLang="en-US" sz="1400" dirty="0">
                <a:solidFill>
                  <a:schemeClr val="tx1"/>
                </a:solidFill>
              </a:rPr>
              <a:t>15 constructed cases, one cloud, one model, one prompt</a:t>
            </a:r>
            <a:endParaRPr lang="en-GB" sz="1400" dirty="0"/>
          </a:p>
          <a:p>
            <a:pPr marL="177800" indent="-177800">
              <a:spcAft>
                <a:spcPts val="900"/>
              </a:spcAft>
              <a:buSzPct val="100000"/>
              <a:buChar char="•"/>
            </a:pPr>
            <a:r>
              <a:rPr lang="en-GB" altLang="en-US" sz="1400" dirty="0">
                <a:solidFill>
                  <a:schemeClr val="tx1"/>
                </a:solidFill>
              </a:rPr>
              <a:t>Cases partly chosen where scanner rules were weak; such sets can flatter AI (Ding et al., 2025)</a:t>
            </a:r>
            <a:endParaRPr lang="en-GB" sz="1400" dirty="0"/>
          </a:p>
          <a:p>
            <a:pPr marL="177800" indent="-177800">
              <a:spcAft>
                <a:spcPts val="900"/>
              </a:spcAft>
              <a:buSzPct val="100000"/>
              <a:buChar char="•"/>
            </a:pPr>
            <a:r>
              <a:rPr lang="en-GB" altLang="en-US" sz="1400" dirty="0">
                <a:solidFill>
                  <a:schemeClr val="tx1"/>
                </a:solidFill>
              </a:rPr>
              <a:t>Fixture comments may have cued the AI; only the AI got the policy file</a:t>
            </a:r>
            <a:endParaRPr lang="en-GB" sz="1400" dirty="0"/>
          </a:p>
          <a:p>
            <a:pPr marL="177800" indent="-177800">
              <a:spcAft>
                <a:spcPts val="900"/>
              </a:spcAft>
              <a:buSzPct val="100000"/>
              <a:buChar char="•"/>
            </a:pPr>
            <a:r>
              <a:rPr lang="en-GB" altLang="en-US" sz="1400" dirty="0">
                <a:solidFill>
                  <a:schemeClr val="tx1"/>
                </a:solidFill>
              </a:rPr>
              <a:t>Single-rater, AI-assisted scoring; three runs show variation but cannot measure it</a:t>
            </a:r>
            <a:endParaRPr lang="en-GB" sz="1400" dirty="0"/>
          </a:p>
        </p:txBody>
      </p:sp>
      <p:sp>
        <p:nvSpPr>
          <p:cNvPr id="13" name="What I learned column"/>
          <p:cNvSpPr/>
          <p:nvPr/>
        </p:nvSpPr>
        <p:spPr>
          <a:xfrm>
            <a:off x="8127797" y="1325880"/>
            <a:ext cx="3515258" cy="3977640"/>
          </a:xfrm>
          <a:prstGeom prst="roundRect">
            <a:avLst>
              <a:gd name="adj" fmla="val 2081"/>
            </a:avLst>
          </a:prstGeom>
          <a:solidFill>
            <a:schemeClr val="bg2"/>
          </a:solidFill>
          <a:ln w="12700">
            <a:solidFill>
              <a:schemeClr val="bg2"/>
            </a:solidFill>
            <a:prstDash val="solid"/>
          </a:ln>
        </p:spPr>
      </p:sp>
      <p:sp>
        <p:nvSpPr>
          <p:cNvPr id="14" name="What I learned circle"/>
          <p:cNvSpPr/>
          <p:nvPr/>
        </p:nvSpPr>
        <p:spPr>
          <a:xfrm>
            <a:off x="8356397" y="1508760"/>
            <a:ext cx="530352" cy="530352"/>
          </a:xfrm>
          <a:prstGeom prst="ellipse">
            <a:avLst/>
          </a:prstGeom>
          <a:solidFill>
            <a:schemeClr val="accent1"/>
          </a:solidFill>
          <a:ln w="12700">
            <a:solidFill>
              <a:schemeClr val="accent1"/>
            </a:solidFill>
            <a:prstDash val="solid"/>
          </a:ln>
        </p:spPr>
      </p:sp>
      <p:pic>
        <p:nvPicPr>
          <p:cNvPr id="15" name="What I learned icon" descr="preencoded.png">    </p:cNvPr>
          <p:cNvPicPr>
            <a:picLocks noChangeAspect="1"/>
          </p:cNvPicPr>
          <p:nvPr/>
        </p:nvPicPr>
        <p:blipFill>
          <a:blip r:embed="rId3"/>
          <a:stretch>
            <a:fillRect/>
          </a:stretch>
        </p:blipFill>
        <p:spPr>
          <a:xfrm>
            <a:off x="8488985" y="1641348"/>
            <a:ext cx="265176" cy="265176"/>
          </a:xfrm>
          <a:prstGeom prst="rect">
            <a:avLst/>
          </a:prstGeom>
        </p:spPr>
      </p:pic>
      <p:sp>
        <p:nvSpPr>
          <p:cNvPr id="16" name="What I learned heading"/>
          <p:cNvSpPr txBox="1"/>
          <p:nvPr/>
        </p:nvSpPr>
        <p:spPr>
          <a:xfrm>
            <a:off x="9042197" y="1508760"/>
            <a:ext cx="2417978" cy="530352"/>
          </a:xfrm>
          <a:prstGeom prst="rect">
            <a:avLst/>
          </a:prstGeom>
          <a:noFill/>
          <a:ln/>
        </p:spPr>
        <p:txBody>
          <a:bodyPr wrap="square" lIns="0" tIns="0" rIns="0" bIns="0" rtlCol="0" anchor="ctr"/>
          <a:lstStyle/>
          <a:p>
            <a:pPr indent="0" marL="0">
              <a:buNone/>
            </a:pPr>
            <a:r>
              <a:rPr lang="en-GB" altLang="en-US" sz="1800" b="1" dirty="0">
                <a:solidFill>
                  <a:schemeClr val="tx2"/>
                </a:solidFill>
              </a:rPr>
              <a:t>What I learned</a:t>
            </a:r>
            <a:endParaRPr lang="en-GB" sz="1800" dirty="0"/>
          </a:p>
        </p:txBody>
      </p:sp>
      <p:sp>
        <p:nvSpPr>
          <p:cNvPr id="17" name="What I learned points"/>
          <p:cNvSpPr txBox="1"/>
          <p:nvPr/>
        </p:nvSpPr>
        <p:spPr>
          <a:xfrm>
            <a:off x="8356397" y="2221992"/>
            <a:ext cx="3103778" cy="3017520"/>
          </a:xfrm>
          <a:prstGeom prst="rect">
            <a:avLst/>
          </a:prstGeom>
          <a:noFill/>
          <a:ln/>
        </p:spPr>
        <p:txBody>
          <a:bodyPr wrap="square" lIns="0" tIns="0" rIns="0" bIns="0" rtlCol="0" anchor="t"/>
          <a:lstStyle/>
          <a:p>
            <a:pPr marL="177800" indent="-177800">
              <a:spcAft>
                <a:spcPts val="900"/>
              </a:spcAft>
              <a:buSzPct val="100000"/>
              <a:buChar char="•"/>
            </a:pPr>
            <a:r>
              <a:rPr lang="en-GB" altLang="en-US" sz="1400" dirty="0">
                <a:solidFill>
                  <a:schemeClr val="tx1"/>
                </a:solidFill>
              </a:rPr>
              <a:t>My first “AI-only” results were scanner-informed; I fixed the workflow and ran every case independently</a:t>
            </a:r>
            <a:endParaRPr lang="en-GB" sz="1400" dirty="0"/>
          </a:p>
          <a:p>
            <a:pPr marL="177800" indent="-177800">
              <a:spcAft>
                <a:spcPts val="900"/>
              </a:spcAft>
              <a:buSzPct val="100000"/>
              <a:buChar char="•"/>
            </a:pPr>
            <a:r>
              <a:rPr lang="en-GB" altLang="en-US" sz="1400" dirty="0">
                <a:solidFill>
                  <a:schemeClr val="tx1"/>
                </a:solidFill>
              </a:rPr>
              <a:t>A result counts only when tied to a run, a commit and the raw output</a:t>
            </a:r>
            <a:endParaRPr lang="en-GB" sz="1400" dirty="0"/>
          </a:p>
          <a:p>
            <a:pPr marL="177800" indent="-177800">
              <a:spcAft>
                <a:spcPts val="900"/>
              </a:spcAft>
              <a:buSzPct val="100000"/>
              <a:buChar char="•"/>
            </a:pPr>
            <a:r>
              <a:rPr lang="en-GB" altLang="en-US" sz="1400" dirty="0">
                <a:solidFill>
                  <a:schemeClr val="tx1"/>
                </a:solidFill>
              </a:rPr>
              <a:t>Next time: prove independence first, strip comments, pin every version, add a second scorer</a:t>
            </a:r>
            <a:endParaRPr lang="en-GB" sz="1400" dirty="0"/>
          </a:p>
        </p:txBody>
      </p:sp>
      <p:sp>
        <p:nvSpPr>
          <p:cNvPr id="18" name="O1 objective"/>
          <p:cNvSpPr/>
          <p:nvPr/>
        </p:nvSpPr>
        <p:spPr>
          <a:xfrm>
            <a:off x="548640" y="5486400"/>
            <a:ext cx="2636444" cy="502920"/>
          </a:xfrm>
          <a:prstGeom prst="roundRect">
            <a:avLst>
              <a:gd name="adj" fmla="val 14545"/>
            </a:avLst>
          </a:prstGeom>
          <a:solidFill>
            <a:schemeClr val="bg1"/>
          </a:solidFill>
          <a:ln w="15875">
            <a:solidFill>
              <a:srgbClr val="2E7D4F"/>
            </a:solidFill>
            <a:prstDash val="solid"/>
          </a:ln>
        </p:spPr>
      </p:sp>
      <p:sp>
        <p:nvSpPr>
          <p:cNvPr id="19" name="O1 check circle"/>
          <p:cNvSpPr/>
          <p:nvPr/>
        </p:nvSpPr>
        <p:spPr>
          <a:xfrm>
            <a:off x="649224" y="5564124"/>
            <a:ext cx="347472" cy="347472"/>
          </a:xfrm>
          <a:prstGeom prst="ellipse">
            <a:avLst/>
          </a:prstGeom>
          <a:solidFill>
            <a:schemeClr val="accent4"/>
          </a:solidFill>
          <a:ln w="12700">
            <a:solidFill>
              <a:schemeClr val="accent4"/>
            </a:solidFill>
            <a:prstDash val="solid"/>
          </a:ln>
        </p:spPr>
      </p:sp>
      <p:pic>
        <p:nvPicPr>
          <p:cNvPr id="20" name="O1 check icon" descr="preencoded.png">    </p:cNvPr>
          <p:cNvPicPr>
            <a:picLocks noChangeAspect="1"/>
          </p:cNvPicPr>
          <p:nvPr/>
        </p:nvPicPr>
        <p:blipFill>
          <a:blip r:embed="rId4"/>
          <a:stretch>
            <a:fillRect/>
          </a:stretch>
        </p:blipFill>
        <p:spPr>
          <a:xfrm>
            <a:off x="732617" y="5647517"/>
            <a:ext cx="180685" cy="180685"/>
          </a:xfrm>
          <a:prstGeom prst="rect">
            <a:avLst/>
          </a:prstGeom>
        </p:spPr>
      </p:pic>
      <p:sp>
        <p:nvSpPr>
          <p:cNvPr id="21" name="O1 text"/>
          <p:cNvSpPr txBox="1"/>
          <p:nvPr/>
        </p:nvSpPr>
        <p:spPr>
          <a:xfrm>
            <a:off x="1078992"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O1  </a:t>
            </a:r>
            <a:pPr indent="0" marL="0">
              <a:buNone/>
            </a:pPr>
            <a:r>
              <a:rPr lang="en-GB" altLang="en-US" sz="1300" dirty="0">
                <a:solidFill>
                  <a:schemeClr val="tx1"/>
                </a:solidFill>
              </a:rPr>
              <a:t>Literature reviewed</a:t>
            </a:r>
            <a:endParaRPr lang="en-GB" sz="1300" dirty="0"/>
          </a:p>
        </p:txBody>
      </p:sp>
      <p:sp>
        <p:nvSpPr>
          <p:cNvPr id="22" name="O2 objective"/>
          <p:cNvSpPr/>
          <p:nvPr/>
        </p:nvSpPr>
        <p:spPr>
          <a:xfrm>
            <a:off x="3367964" y="5486400"/>
            <a:ext cx="2636444" cy="502920"/>
          </a:xfrm>
          <a:prstGeom prst="roundRect">
            <a:avLst>
              <a:gd name="adj" fmla="val 14545"/>
            </a:avLst>
          </a:prstGeom>
          <a:solidFill>
            <a:schemeClr val="bg1"/>
          </a:solidFill>
          <a:ln w="15875">
            <a:solidFill>
              <a:srgbClr val="2E7D4F"/>
            </a:solidFill>
            <a:prstDash val="solid"/>
          </a:ln>
        </p:spPr>
      </p:sp>
      <p:sp>
        <p:nvSpPr>
          <p:cNvPr id="23" name="O2 check circle"/>
          <p:cNvSpPr/>
          <p:nvPr/>
        </p:nvSpPr>
        <p:spPr>
          <a:xfrm>
            <a:off x="3468548" y="5564124"/>
            <a:ext cx="347472" cy="347472"/>
          </a:xfrm>
          <a:prstGeom prst="ellipse">
            <a:avLst/>
          </a:prstGeom>
          <a:solidFill>
            <a:schemeClr val="accent4"/>
          </a:solidFill>
          <a:ln w="12700">
            <a:solidFill>
              <a:schemeClr val="accent4"/>
            </a:solidFill>
            <a:prstDash val="solid"/>
          </a:ln>
        </p:spPr>
      </p:sp>
      <p:pic>
        <p:nvPicPr>
          <p:cNvPr id="24" name="O2 check icon" descr="preencoded.png">    </p:cNvPr>
          <p:cNvPicPr>
            <a:picLocks noChangeAspect="1"/>
          </p:cNvPicPr>
          <p:nvPr/>
        </p:nvPicPr>
        <p:blipFill>
          <a:blip r:embed="rId5"/>
          <a:stretch>
            <a:fillRect/>
          </a:stretch>
        </p:blipFill>
        <p:spPr>
          <a:xfrm>
            <a:off x="3551941" y="5647517"/>
            <a:ext cx="180685" cy="180685"/>
          </a:xfrm>
          <a:prstGeom prst="rect">
            <a:avLst/>
          </a:prstGeom>
        </p:spPr>
      </p:pic>
      <p:sp>
        <p:nvSpPr>
          <p:cNvPr id="25" name="O2 text"/>
          <p:cNvSpPr txBox="1"/>
          <p:nvPr/>
        </p:nvSpPr>
        <p:spPr>
          <a:xfrm>
            <a:off x="3898316"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O2  </a:t>
            </a:r>
            <a:pPr indent="0" marL="0">
              <a:buNone/>
            </a:pPr>
            <a:r>
              <a:rPr lang="en-GB" altLang="en-US" sz="1300" dirty="0">
                <a:solidFill>
                  <a:schemeClr val="tx1"/>
                </a:solidFill>
              </a:rPr>
              <a:t>Pipeline built</a:t>
            </a:r>
            <a:endParaRPr lang="en-GB" sz="1300" dirty="0"/>
          </a:p>
        </p:txBody>
      </p:sp>
      <p:sp>
        <p:nvSpPr>
          <p:cNvPr id="26" name="O3 objective"/>
          <p:cNvSpPr/>
          <p:nvPr/>
        </p:nvSpPr>
        <p:spPr>
          <a:xfrm>
            <a:off x="6187288" y="5486400"/>
            <a:ext cx="2636444" cy="502920"/>
          </a:xfrm>
          <a:prstGeom prst="roundRect">
            <a:avLst>
              <a:gd name="adj" fmla="val 14545"/>
            </a:avLst>
          </a:prstGeom>
          <a:solidFill>
            <a:schemeClr val="bg1"/>
          </a:solidFill>
          <a:ln w="15875">
            <a:solidFill>
              <a:srgbClr val="2E7D4F"/>
            </a:solidFill>
            <a:prstDash val="solid"/>
          </a:ln>
        </p:spPr>
      </p:sp>
      <p:sp>
        <p:nvSpPr>
          <p:cNvPr id="27" name="O3 check circle"/>
          <p:cNvSpPr/>
          <p:nvPr/>
        </p:nvSpPr>
        <p:spPr>
          <a:xfrm>
            <a:off x="6287872" y="5564124"/>
            <a:ext cx="347472" cy="347472"/>
          </a:xfrm>
          <a:prstGeom prst="ellipse">
            <a:avLst/>
          </a:prstGeom>
          <a:solidFill>
            <a:schemeClr val="accent4"/>
          </a:solidFill>
          <a:ln w="12700">
            <a:solidFill>
              <a:schemeClr val="accent4"/>
            </a:solidFill>
            <a:prstDash val="solid"/>
          </a:ln>
        </p:spPr>
      </p:sp>
      <p:pic>
        <p:nvPicPr>
          <p:cNvPr id="28" name="O3 check icon" descr="preencoded.png">    </p:cNvPr>
          <p:cNvPicPr>
            <a:picLocks noChangeAspect="1"/>
          </p:cNvPicPr>
          <p:nvPr/>
        </p:nvPicPr>
        <p:blipFill>
          <a:blip r:embed="rId6"/>
          <a:stretch>
            <a:fillRect/>
          </a:stretch>
        </p:blipFill>
        <p:spPr>
          <a:xfrm>
            <a:off x="6371265" y="5647517"/>
            <a:ext cx="180685" cy="180685"/>
          </a:xfrm>
          <a:prstGeom prst="rect">
            <a:avLst/>
          </a:prstGeom>
        </p:spPr>
      </p:pic>
      <p:sp>
        <p:nvSpPr>
          <p:cNvPr id="29" name="O3 text"/>
          <p:cNvSpPr txBox="1"/>
          <p:nvPr/>
        </p:nvSpPr>
        <p:spPr>
          <a:xfrm>
            <a:off x="6717640"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O3  </a:t>
            </a:r>
            <a:pPr indent="0" marL="0">
              <a:buNone/>
            </a:pPr>
            <a:r>
              <a:rPr lang="en-GB" altLang="en-US" sz="1300" dirty="0">
                <a:solidFill>
                  <a:schemeClr val="tx1"/>
                </a:solidFill>
              </a:rPr>
              <a:t>Evaluated, within sample limits</a:t>
            </a:r>
            <a:endParaRPr lang="en-GB" sz="1300" dirty="0"/>
          </a:p>
        </p:txBody>
      </p:sp>
      <p:sp>
        <p:nvSpPr>
          <p:cNvPr id="30" name="O4 objective"/>
          <p:cNvSpPr/>
          <p:nvPr/>
        </p:nvSpPr>
        <p:spPr>
          <a:xfrm>
            <a:off x="9006611" y="5486400"/>
            <a:ext cx="2636444" cy="502920"/>
          </a:xfrm>
          <a:prstGeom prst="roundRect">
            <a:avLst>
              <a:gd name="adj" fmla="val 14545"/>
            </a:avLst>
          </a:prstGeom>
          <a:solidFill>
            <a:schemeClr val="bg1"/>
          </a:solidFill>
          <a:ln w="15875">
            <a:solidFill>
              <a:srgbClr val="2E7D4F"/>
            </a:solidFill>
            <a:prstDash val="solid"/>
          </a:ln>
        </p:spPr>
      </p:sp>
      <p:sp>
        <p:nvSpPr>
          <p:cNvPr id="31" name="O4 check circle"/>
          <p:cNvSpPr/>
          <p:nvPr/>
        </p:nvSpPr>
        <p:spPr>
          <a:xfrm>
            <a:off x="9107195" y="5564124"/>
            <a:ext cx="347472" cy="347472"/>
          </a:xfrm>
          <a:prstGeom prst="ellipse">
            <a:avLst/>
          </a:prstGeom>
          <a:solidFill>
            <a:schemeClr val="accent4"/>
          </a:solidFill>
          <a:ln w="12700">
            <a:solidFill>
              <a:schemeClr val="accent4"/>
            </a:solidFill>
            <a:prstDash val="solid"/>
          </a:ln>
        </p:spPr>
      </p:sp>
      <p:pic>
        <p:nvPicPr>
          <p:cNvPr id="32" name="O4 check icon" descr="preencoded.png">    </p:cNvPr>
          <p:cNvPicPr>
            <a:picLocks noChangeAspect="1"/>
          </p:cNvPicPr>
          <p:nvPr/>
        </p:nvPicPr>
        <p:blipFill>
          <a:blip r:embed="rId7"/>
          <a:stretch>
            <a:fillRect/>
          </a:stretch>
        </p:blipFill>
        <p:spPr>
          <a:xfrm>
            <a:off x="9190589" y="5647517"/>
            <a:ext cx="180685" cy="180685"/>
          </a:xfrm>
          <a:prstGeom prst="rect">
            <a:avLst/>
          </a:prstGeom>
        </p:spPr>
      </p:pic>
      <p:sp>
        <p:nvSpPr>
          <p:cNvPr id="33" name="O4 text"/>
          <p:cNvSpPr txBox="1"/>
          <p:nvPr/>
        </p:nvSpPr>
        <p:spPr>
          <a:xfrm>
            <a:off x="9536963"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O4  </a:t>
            </a:r>
            <a:pPr indent="0" marL="0">
              <a:buNone/>
            </a:pPr>
            <a:r>
              <a:rPr lang="en-GB" altLang="en-US" sz="1300" dirty="0">
                <a:solidFill>
                  <a:schemeClr val="tx1"/>
                </a:solidFill>
              </a:rPr>
              <a:t>Benefits and limits found</a:t>
            </a:r>
            <a:endParaRPr lang="en-GB" sz="13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9</a:t>
            </a:fld>
            <a:endParaRPr lang="en-GB"/>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Conclusion: an advisor beside scanners, not a gate</a:t>
            </a:r>
            <a:endParaRPr lang="en-GB" sz="3600" dirty="0"/>
          </a:p>
        </p:txBody>
      </p:sp>
      <p:sp>
        <p:nvSpPr>
          <p:cNvPr id="3" name="Answer card"/>
          <p:cNvSpPr/>
          <p:nvPr/>
        </p:nvSpPr>
        <p:spPr>
          <a:xfrm>
            <a:off x="548640" y="1325880"/>
            <a:ext cx="6446520" cy="1298448"/>
          </a:xfrm>
          <a:prstGeom prst="roundRect">
            <a:avLst>
              <a:gd name="adj" fmla="val 5634"/>
            </a:avLst>
          </a:prstGeom>
          <a:solidFill>
            <a:schemeClr val="tx2"/>
          </a:solidFill>
          <a:ln w="12700">
            <a:solidFill>
              <a:schemeClr val="tx2"/>
            </a:solidFill>
            <a:prstDash val="solid"/>
          </a:ln>
        </p:spPr>
      </p:sp>
      <p:sp>
        <p:nvSpPr>
          <p:cNvPr id="4" name="Answer"/>
          <p:cNvSpPr txBox="1"/>
          <p:nvPr/>
        </p:nvSpPr>
        <p:spPr>
          <a:xfrm>
            <a:off x="822960" y="1325880"/>
            <a:ext cx="5897880" cy="1298448"/>
          </a:xfrm>
          <a:prstGeom prst="rect">
            <a:avLst/>
          </a:prstGeom>
          <a:noFill/>
          <a:ln/>
        </p:spPr>
        <p:txBody>
          <a:bodyPr wrap="square" lIns="0" tIns="0" rIns="0" bIns="0" rtlCol="0" anchor="ctr"/>
          <a:lstStyle/>
          <a:p>
            <a:pPr indent="0" marL="0">
              <a:buNone/>
            </a:pPr>
            <a:r>
              <a:rPr lang="en-GB" altLang="en-US" sz="1500" b="1" dirty="0">
                <a:solidFill>
                  <a:schemeClr val="bg1"/>
                </a:solidFill>
              </a:rPr>
              <a:t>A qualified yes. </a:t>
            </a:r>
            <a:pPr indent="0" marL="0">
              <a:buNone/>
            </a:pPr>
            <a:r>
              <a:rPr lang="en-GB" altLang="en-US" sz="1500" dirty="0">
                <a:solidFill>
                  <a:schemeClr val="bg1"/>
                </a:solidFill>
              </a:rPr>
              <a:t>On 15 controlled cases the AI improved coverage (11 of 12 plus 1 partial, against 8 for both scanners), but its errors were less predictable. It should advise beside the scanners, not decide merges.</a:t>
            </a:r>
            <a:endParaRPr lang="en-GB" sz="1500" dirty="0"/>
          </a:p>
        </p:txBody>
      </p:sp>
      <p:sp>
        <p:nvSpPr>
          <p:cNvPr id="5" name="Label Recommendations"/>
          <p:cNvSpPr txBox="1"/>
          <p:nvPr/>
        </p:nvSpPr>
        <p:spPr>
          <a:xfrm>
            <a:off x="548640" y="283464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RECOMMENDATIONS</a:t>
            </a:r>
            <a:endParaRPr lang="en-GB" sz="1200" dirty="0"/>
          </a:p>
        </p:txBody>
      </p:sp>
      <p:sp>
        <p:nvSpPr>
          <p:cNvPr id="6" name="Recommendations"/>
          <p:cNvSpPr txBox="1"/>
          <p:nvPr/>
        </p:nvSpPr>
        <p:spPr>
          <a:xfrm>
            <a:off x="548640" y="3127248"/>
            <a:ext cx="6446520" cy="192024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GB" altLang="en-US" sz="1400" dirty="0">
                <a:solidFill>
                  <a:schemeClr val="tx1"/>
                </a:solidFill>
              </a:rPr>
              <a:t>Scanners enforce; the AI advises and never blocks or approves</a:t>
            </a:r>
            <a:endParaRPr lang="en-GB" sz="1400" dirty="0"/>
          </a:p>
          <a:p>
            <a:pPr marL="342900" indent="-342900">
              <a:spcAft>
                <a:spcPts val="400"/>
              </a:spcAft>
              <a:buSzPct val="100000"/>
              <a:buFont typeface="+mj-lt"/>
              <a:buAutoNum type="arabicPeriod" startAt="1"/>
            </a:pPr>
            <a:r>
              <a:rPr lang="en-GB" altLang="en-US" sz="1400" dirty="0">
                <a:solidFill>
                  <a:schemeClr val="tx1"/>
                </a:solidFill>
              </a:rPr>
              <a:t>Run more than one scanner, or check rule coverage</a:t>
            </a:r>
            <a:endParaRPr lang="en-GB" sz="1400" dirty="0"/>
          </a:p>
          <a:p>
            <a:pPr marL="342900" indent="-342900">
              <a:spcAft>
                <a:spcPts val="400"/>
              </a:spcAft>
              <a:buSzPct val="100000"/>
              <a:buFont typeface="+mj-lt"/>
              <a:buAutoNum type="arabicPeriod" startAt="1"/>
            </a:pPr>
            <a:r>
              <a:rPr lang="en-GB" altLang="en-US" sz="1400" dirty="0">
                <a:solidFill>
                  <a:schemeClr val="tx1"/>
                </a:solidFill>
              </a:rPr>
              <a:t>Treat comments and pull-request text as untrusted input</a:t>
            </a:r>
            <a:endParaRPr lang="en-GB" sz="1400" dirty="0"/>
          </a:p>
          <a:p>
            <a:pPr marL="342900" indent="-342900">
              <a:spcAft>
                <a:spcPts val="400"/>
              </a:spcAft>
              <a:buSzPct val="100000"/>
              <a:buFont typeface="+mj-lt"/>
              <a:buAutoNum type="arabicPeriod" startAt="1"/>
            </a:pPr>
            <a:r>
              <a:rPr lang="en-GB" altLang="en-US" sz="1400" dirty="0">
                <a:solidFill>
                  <a:schemeClr val="tx1"/>
                </a:solidFill>
              </a:rPr>
              <a:t>Show uncertain AI findings instead of hiding them</a:t>
            </a:r>
            <a:endParaRPr lang="en-GB" sz="1400" dirty="0"/>
          </a:p>
          <a:p>
            <a:pPr marL="342900" indent="-342900">
              <a:spcAft>
                <a:spcPts val="400"/>
              </a:spcAft>
              <a:buSzPct val="100000"/>
              <a:buFont typeface="+mj-lt"/>
              <a:buAutoNum type="arabicPeriod" startAt="1"/>
            </a:pPr>
            <a:r>
              <a:rPr lang="en-GB" altLang="en-US" sz="1400" dirty="0">
                <a:solidFill>
                  <a:schemeClr val="tx1"/>
                </a:solidFill>
              </a:rPr>
              <a:t>Validate AI fixes automatically before suggesting them</a:t>
            </a:r>
            <a:endParaRPr lang="en-GB" sz="1400" dirty="0"/>
          </a:p>
          <a:p>
            <a:pPr marL="342900" indent="-342900">
              <a:spcAft>
                <a:spcPts val="400"/>
              </a:spcAft>
              <a:buSzPct val="100000"/>
              <a:buFont typeface="+mj-lt"/>
              <a:buAutoNum type="arabicPeriod" startAt="1"/>
            </a:pPr>
            <a:r>
              <a:rPr lang="en-GB" altLang="en-US" sz="1400" dirty="0">
                <a:solidFill>
                  <a:schemeClr val="tx1"/>
                </a:solidFill>
              </a:rPr>
              <a:t>Review deletion-only changes; log model version and settings</a:t>
            </a:r>
            <a:endParaRPr lang="en-GB" sz="1400" dirty="0"/>
          </a:p>
        </p:txBody>
      </p:sp>
      <p:sp>
        <p:nvSpPr>
          <p:cNvPr id="7" name="Further research card"/>
          <p:cNvSpPr/>
          <p:nvPr/>
        </p:nvSpPr>
        <p:spPr>
          <a:xfrm>
            <a:off x="548640" y="5166360"/>
            <a:ext cx="6446520" cy="822960"/>
          </a:xfrm>
          <a:prstGeom prst="roundRect">
            <a:avLst>
              <a:gd name="adj" fmla="val 8889"/>
            </a:avLst>
          </a:prstGeom>
          <a:solidFill>
            <a:schemeClr val="bg2"/>
          </a:solidFill>
          <a:ln w="12700">
            <a:solidFill>
              <a:schemeClr val="bg2"/>
            </a:solidFill>
            <a:prstDash val="solid"/>
          </a:ln>
        </p:spPr>
      </p:sp>
      <p:sp>
        <p:nvSpPr>
          <p:cNvPr id="8" name="Further research circle"/>
          <p:cNvSpPr/>
          <p:nvPr/>
        </p:nvSpPr>
        <p:spPr>
          <a:xfrm>
            <a:off x="713232" y="5340096"/>
            <a:ext cx="475488" cy="475488"/>
          </a:xfrm>
          <a:prstGeom prst="ellipse">
            <a:avLst/>
          </a:prstGeom>
          <a:solidFill>
            <a:schemeClr val="accent2"/>
          </a:solidFill>
          <a:ln w="12700">
            <a:solidFill>
              <a:schemeClr val="accent2"/>
            </a:solidFill>
            <a:prstDash val="solid"/>
          </a:ln>
        </p:spPr>
      </p:sp>
      <p:pic>
        <p:nvPicPr>
          <p:cNvPr id="9" name="Further research icon" descr="preencoded.png">    </p:cNvPr>
          <p:cNvPicPr>
            <a:picLocks noChangeAspect="1"/>
          </p:cNvPicPr>
          <p:nvPr/>
        </p:nvPicPr>
        <p:blipFill>
          <a:blip r:embed="rId1"/>
          <a:stretch>
            <a:fillRect/>
          </a:stretch>
        </p:blipFill>
        <p:spPr>
          <a:xfrm>
            <a:off x="832104" y="5458968"/>
            <a:ext cx="237744" cy="237744"/>
          </a:xfrm>
          <a:prstGeom prst="rect">
            <a:avLst/>
          </a:prstGeom>
        </p:spPr>
      </p:pic>
      <p:sp>
        <p:nvSpPr>
          <p:cNvPr id="10" name="Further research text"/>
          <p:cNvSpPr txBox="1"/>
          <p:nvPr/>
        </p:nvSpPr>
        <p:spPr>
          <a:xfrm>
            <a:off x="1325880" y="5166360"/>
            <a:ext cx="5532120" cy="822960"/>
          </a:xfrm>
          <a:prstGeom prst="rect">
            <a:avLst/>
          </a:prstGeom>
          <a:noFill/>
          <a:ln/>
        </p:spPr>
        <p:txBody>
          <a:bodyPr wrap="square" lIns="0" tIns="0" rIns="0" bIns="0" rtlCol="0" anchor="ctr"/>
          <a:lstStyle/>
          <a:p>
            <a:pPr indent="0" marL="0">
              <a:buNone/>
            </a:pPr>
            <a:r>
              <a:rPr lang="en-GB" altLang="en-US" sz="1300" b="1" dirty="0">
                <a:solidFill>
                  <a:schemeClr val="tx2"/>
                </a:solidFill>
              </a:rPr>
              <a:t>Further research: </a:t>
            </a:r>
            <a:pPr indent="0" marL="0">
              <a:buNone/>
            </a:pPr>
            <a:r>
              <a:rPr lang="en-GB" altLang="en-US" sz="1300" dirty="0">
                <a:solidFill>
                  <a:schemeClr val="tx1"/>
                </a:solidFill>
              </a:rPr>
              <a:t>real Terraform changes mined from public repositories; many runs across models; a comment-manipulation study; a study with developers</a:t>
            </a:r>
            <a:endParaRPr lang="en-GB" sz="1300" dirty="0"/>
          </a:p>
        </p:txBody>
      </p:sp>
      <p:sp>
        <p:nvSpPr>
          <p:cNvPr id="11" name="Label References"/>
          <p:cNvSpPr txBox="1"/>
          <p:nvPr/>
        </p:nvSpPr>
        <p:spPr>
          <a:xfrm>
            <a:off x="7315200" y="1325880"/>
            <a:ext cx="4327855"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REFERENCES</a:t>
            </a:r>
            <a:endParaRPr lang="en-GB" sz="1200" dirty="0"/>
          </a:p>
        </p:txBody>
      </p:sp>
      <p:sp>
        <p:nvSpPr>
          <p:cNvPr id="12" name="Reference list"/>
          <p:cNvSpPr txBox="1"/>
          <p:nvPr/>
        </p:nvSpPr>
        <p:spPr>
          <a:xfrm>
            <a:off x="7315200" y="1609344"/>
            <a:ext cx="4327855" cy="4434840"/>
          </a:xfrm>
          <a:prstGeom prst="rect">
            <a:avLst/>
          </a:prstGeom>
          <a:noFill/>
          <a:ln/>
        </p:spPr>
        <p:txBody>
          <a:bodyPr wrap="square" lIns="0" tIns="0" rIns="0" bIns="0" rtlCol="0" anchor="t"/>
          <a:lstStyle/>
          <a:p>
            <a:pPr indent="0" marL="0">
              <a:spcAft>
                <a:spcPts val="300"/>
              </a:spcAft>
              <a:buNone/>
            </a:pPr>
            <a:r>
              <a:rPr lang="en-GB" altLang="en-US" sz="1000" dirty="0">
                <a:solidFill>
                  <a:schemeClr val="tx1"/>
                </a:solidFill>
              </a:rPr>
              <a:t>Ding, Y. et al. (2025) ‘Vulnerability detection with code language models: How far are we?’, </a:t>
            </a:r>
            <a:pPr indent="0" marL="0">
              <a:spcAft>
                <a:spcPts val="300"/>
              </a:spcAft>
              <a:buNone/>
            </a:pPr>
            <a:r>
              <a:rPr lang="en-GB" altLang="en-US" sz="1000" i="1" dirty="0">
                <a:solidFill>
                  <a:schemeClr val="tx1"/>
                </a:solidFill>
              </a:rPr>
              <a:t>Proceedings of the 47th IEEE/ACM ICSE</a:t>
            </a:r>
            <a:pPr indent="0" marL="0">
              <a:spcAft>
                <a:spcPts val="300"/>
              </a:spcAft>
              <a:buNone/>
            </a:pPr>
            <a:r>
              <a:rPr lang="en-GB" altLang="en-US" sz="1000" dirty="0">
                <a:solidFill>
                  <a:schemeClr val="tx1"/>
                </a:solidFill>
              </a:rPr>
              <a:t>.</a:t>
            </a:r>
            <a:endParaRPr lang="en-GB" sz="1000" dirty="0"/>
          </a:p>
          <a:p>
            <a:pPr indent="0" marL="0">
              <a:spcAft>
                <a:spcPts val="300"/>
              </a:spcAft>
              <a:buNone/>
            </a:pPr>
            <a:r>
              <a:rPr lang="en-GB" altLang="en-US" sz="1000" dirty="0">
                <a:solidFill>
                  <a:schemeClr val="tx1"/>
                </a:solidFill>
              </a:rPr>
              <a:t>Greshake, K. et al. (2023) ‘Not what you’ve signed up for: Compromising real-world LLM-integrated applications with indirect prompt injection’, </a:t>
            </a:r>
            <a:pPr indent="0" marL="0">
              <a:spcAft>
                <a:spcPts val="300"/>
              </a:spcAft>
              <a:buNone/>
            </a:pPr>
            <a:r>
              <a:rPr lang="en-GB" altLang="en-US" sz="1000" i="1" dirty="0">
                <a:solidFill>
                  <a:schemeClr val="tx1"/>
                </a:solidFill>
              </a:rPr>
              <a:t>Proceedings of AISec ’23</a:t>
            </a:r>
            <a:pPr indent="0" marL="0">
              <a:spcAft>
                <a:spcPts val="300"/>
              </a:spcAft>
              <a:buNone/>
            </a:pPr>
            <a:r>
              <a:rPr lang="en-GB" altLang="en-US" sz="1000" dirty="0">
                <a:solidFill>
                  <a:schemeClr val="tx1"/>
                </a:solidFill>
              </a:rPr>
              <a:t>, pp. 79–90.</a:t>
            </a:r>
            <a:endParaRPr lang="en-GB" sz="1000" dirty="0"/>
          </a:p>
          <a:p>
            <a:pPr indent="0" marL="0">
              <a:spcAft>
                <a:spcPts val="300"/>
              </a:spcAft>
              <a:buNone/>
            </a:pPr>
            <a:r>
              <a:rPr lang="en-GB" altLang="en-US" sz="1000" dirty="0">
                <a:solidFill>
                  <a:schemeClr val="tx1"/>
                </a:solidFill>
              </a:rPr>
              <a:t>Ji, Z. et al. (2023) ‘Survey of hallucination in natural language generation’, </a:t>
            </a:r>
            <a:pPr indent="0" marL="0">
              <a:spcAft>
                <a:spcPts val="300"/>
              </a:spcAft>
              <a:buNone/>
            </a:pPr>
            <a:r>
              <a:rPr lang="en-GB" altLang="en-US" sz="1000" i="1" dirty="0">
                <a:solidFill>
                  <a:schemeClr val="tx1"/>
                </a:solidFill>
              </a:rPr>
              <a:t>ACM Computing Surveys</a:t>
            </a:r>
            <a:pPr indent="0" marL="0">
              <a:spcAft>
                <a:spcPts val="300"/>
              </a:spcAft>
              <a:buNone/>
            </a:pPr>
            <a:r>
              <a:rPr lang="en-GB" altLang="en-US" sz="1000" dirty="0">
                <a:solidFill>
                  <a:schemeClr val="tx1"/>
                </a:solidFill>
              </a:rPr>
              <a:t>, 55(12), pp. 1–38.</a:t>
            </a:r>
            <a:endParaRPr lang="en-GB" sz="1000" dirty="0"/>
          </a:p>
          <a:p>
            <a:pPr indent="0" marL="0">
              <a:spcAft>
                <a:spcPts val="300"/>
              </a:spcAft>
              <a:buNone/>
            </a:pPr>
            <a:r>
              <a:rPr lang="en-GB" altLang="en-US" sz="1000" dirty="0">
                <a:solidFill>
                  <a:schemeClr val="tx1"/>
                </a:solidFill>
              </a:rPr>
              <a:t>Johnson, B. et al. (2013) ‘Why don’t software developers use static analysis tools to find bugs?’, </a:t>
            </a:r>
            <a:pPr indent="0" marL="0">
              <a:spcAft>
                <a:spcPts val="300"/>
              </a:spcAft>
              <a:buNone/>
            </a:pPr>
            <a:r>
              <a:rPr lang="en-GB" altLang="en-US" sz="1000" i="1" dirty="0">
                <a:solidFill>
                  <a:schemeClr val="tx1"/>
                </a:solidFill>
              </a:rPr>
              <a:t>Proceedings of the 35th ICSE</a:t>
            </a:r>
            <a:pPr indent="0" marL="0">
              <a:spcAft>
                <a:spcPts val="300"/>
              </a:spcAft>
              <a:buNone/>
            </a:pPr>
            <a:r>
              <a:rPr lang="en-GB" altLang="en-US" sz="1000" dirty="0">
                <a:solidFill>
                  <a:schemeClr val="tx1"/>
                </a:solidFill>
              </a:rPr>
              <a:t>, pp. 672–681.</a:t>
            </a:r>
            <a:endParaRPr lang="en-GB" sz="1000" dirty="0"/>
          </a:p>
          <a:p>
            <a:pPr indent="0" marL="0">
              <a:spcAft>
                <a:spcPts val="300"/>
              </a:spcAft>
              <a:buNone/>
            </a:pPr>
            <a:r>
              <a:rPr lang="en-GB" altLang="en-US" sz="1000" dirty="0">
                <a:solidFill>
                  <a:schemeClr val="tx1"/>
                </a:solidFill>
              </a:rPr>
              <a:t>Li, H. et al. (2024) ‘Enhancing static analysis for practical bug detection: An LLM-integrated approach’, </a:t>
            </a:r>
            <a:pPr indent="0" marL="0">
              <a:spcAft>
                <a:spcPts val="300"/>
              </a:spcAft>
              <a:buNone/>
            </a:pPr>
            <a:r>
              <a:rPr lang="en-GB" altLang="en-US" sz="1000" i="1" dirty="0">
                <a:solidFill>
                  <a:schemeClr val="tx1"/>
                </a:solidFill>
              </a:rPr>
              <a:t>Proceedings of the ACM on Programming Languages</a:t>
            </a:r>
            <a:pPr indent="0" marL="0">
              <a:spcAft>
                <a:spcPts val="300"/>
              </a:spcAft>
              <a:buNone/>
            </a:pPr>
            <a:r>
              <a:rPr lang="en-GB" altLang="en-US" sz="1000" dirty="0">
                <a:solidFill>
                  <a:schemeClr val="tx1"/>
                </a:solidFill>
              </a:rPr>
              <a:t>, 8(OOPSLA1), Article 111.</a:t>
            </a:r>
            <a:endParaRPr lang="en-GB" sz="1000" dirty="0"/>
          </a:p>
          <a:p>
            <a:pPr indent="0" marL="0">
              <a:spcAft>
                <a:spcPts val="300"/>
              </a:spcAft>
              <a:buNone/>
            </a:pPr>
            <a:r>
              <a:rPr lang="en-GB" altLang="en-US" sz="1000" dirty="0">
                <a:solidFill>
                  <a:schemeClr val="tx1"/>
                </a:solidFill>
              </a:rPr>
              <a:t>Microsoft (2024) </a:t>
            </a:r>
            <a:pPr indent="0" marL="0">
              <a:spcAft>
                <a:spcPts val="300"/>
              </a:spcAft>
              <a:buNone/>
            </a:pPr>
            <a:r>
              <a:rPr lang="en-GB" altLang="en-US" sz="1000" i="1" dirty="0">
                <a:solidFill>
                  <a:schemeClr val="tx1"/>
                </a:solidFill>
              </a:rPr>
              <a:t>Shared responsibility in the cloud</a:t>
            </a:r>
            <a:pPr indent="0" marL="0">
              <a:spcAft>
                <a:spcPts val="300"/>
              </a:spcAft>
              <a:buNone/>
            </a:pPr>
            <a:r>
              <a:rPr lang="en-GB" altLang="en-US" sz="1000" dirty="0">
                <a:solidFill>
                  <a:schemeClr val="tx1"/>
                </a:solidFill>
              </a:rPr>
              <a:t>. Available at: https://learn.microsoft.com/azure/security/fundamentals/shared-responsibility (Accessed: 23 July 2026).</a:t>
            </a:r>
            <a:endParaRPr lang="en-GB" sz="1000" dirty="0"/>
          </a:p>
          <a:p>
            <a:pPr indent="0" marL="0">
              <a:spcAft>
                <a:spcPts val="300"/>
              </a:spcAft>
              <a:buNone/>
            </a:pPr>
            <a:r>
              <a:rPr lang="en-GB" altLang="en-US" sz="1000" dirty="0">
                <a:solidFill>
                  <a:schemeClr val="tx1"/>
                </a:solidFill>
              </a:rPr>
              <a:t>Morris, K. (2020) </a:t>
            </a:r>
            <a:pPr indent="0" marL="0">
              <a:spcAft>
                <a:spcPts val="300"/>
              </a:spcAft>
              <a:buNone/>
            </a:pPr>
            <a:r>
              <a:rPr lang="en-GB" altLang="en-US" sz="1000" i="1" dirty="0">
                <a:solidFill>
                  <a:schemeClr val="tx1"/>
                </a:solidFill>
              </a:rPr>
              <a:t>Infrastructure as Code: Dynamic Systems for the Cloud Age</a:t>
            </a:r>
            <a:pPr indent="0" marL="0">
              <a:spcAft>
                <a:spcPts val="300"/>
              </a:spcAft>
              <a:buNone/>
            </a:pPr>
            <a:r>
              <a:rPr lang="en-GB" altLang="en-US" sz="1000" dirty="0">
                <a:solidFill>
                  <a:schemeClr val="tx1"/>
                </a:solidFill>
              </a:rPr>
              <a:t>. 2nd edn. Sebastopol, CA: O’Reilly Media.</a:t>
            </a:r>
            <a:endParaRPr lang="en-GB" sz="1000" dirty="0"/>
          </a:p>
          <a:p>
            <a:pPr indent="0" marL="0">
              <a:spcAft>
                <a:spcPts val="300"/>
              </a:spcAft>
              <a:buNone/>
            </a:pPr>
            <a:r>
              <a:rPr lang="en-GB" altLang="en-US" sz="1000" dirty="0">
                <a:solidFill>
                  <a:schemeClr val="tx1"/>
                </a:solidFill>
              </a:rPr>
              <a:t>Ouyang, S. et al. (2025) ‘An empirical study of the non-determinism of ChatGPT in code generation’, </a:t>
            </a:r>
            <a:pPr indent="0" marL="0">
              <a:spcAft>
                <a:spcPts val="300"/>
              </a:spcAft>
              <a:buNone/>
            </a:pPr>
            <a:r>
              <a:rPr lang="en-GB" altLang="en-US" sz="1000" i="1" dirty="0">
                <a:solidFill>
                  <a:schemeClr val="tx1"/>
                </a:solidFill>
              </a:rPr>
              <a:t>ACM Transactions on Software Engineering and Methodology</a:t>
            </a:r>
            <a:pPr indent="0" marL="0">
              <a:spcAft>
                <a:spcPts val="300"/>
              </a:spcAft>
              <a:buNone/>
            </a:pPr>
            <a:r>
              <a:rPr lang="en-GB" altLang="en-US" sz="1000" dirty="0">
                <a:solidFill>
                  <a:schemeClr val="tx1"/>
                </a:solidFill>
              </a:rPr>
              <a:t>, 34(2), pp. 1–28.</a:t>
            </a:r>
            <a:endParaRPr lang="en-GB" sz="1000" dirty="0"/>
          </a:p>
          <a:p>
            <a:pPr indent="0" marL="0">
              <a:spcAft>
                <a:spcPts val="300"/>
              </a:spcAft>
              <a:buNone/>
            </a:pPr>
            <a:r>
              <a:rPr lang="en-GB" altLang="en-US" sz="1000" dirty="0">
                <a:solidFill>
                  <a:schemeClr val="tx1"/>
                </a:solidFill>
              </a:rPr>
              <a:t>Pearce, H. et al. (2023) ‘Examining zero-shot vulnerability repair with large language models’, </a:t>
            </a:r>
            <a:pPr indent="0" marL="0">
              <a:spcAft>
                <a:spcPts val="300"/>
              </a:spcAft>
              <a:buNone/>
            </a:pPr>
            <a:r>
              <a:rPr lang="en-GB" altLang="en-US" sz="1000" i="1" dirty="0">
                <a:solidFill>
                  <a:schemeClr val="tx1"/>
                </a:solidFill>
              </a:rPr>
              <a:t>2023 IEEE Symposium on Security and Privacy</a:t>
            </a:r>
            <a:pPr indent="0" marL="0">
              <a:spcAft>
                <a:spcPts val="300"/>
              </a:spcAft>
              <a:buNone/>
            </a:pPr>
            <a:r>
              <a:rPr lang="en-GB" altLang="en-US" sz="1000" dirty="0">
                <a:solidFill>
                  <a:schemeClr val="tx1"/>
                </a:solidFill>
              </a:rPr>
              <a:t>, pp. 2339–2356.</a:t>
            </a:r>
            <a:endParaRPr lang="en-GB" sz="1000" dirty="0"/>
          </a:p>
          <a:p>
            <a:pPr indent="0" marL="0">
              <a:spcAft>
                <a:spcPts val="300"/>
              </a:spcAft>
              <a:buNone/>
            </a:pPr>
            <a:r>
              <a:rPr lang="en-GB" altLang="en-US" sz="1000" dirty="0">
                <a:solidFill>
                  <a:schemeClr val="tx1"/>
                </a:solidFill>
              </a:rPr>
              <a:t>Rahman, A., Parnin, C. and Williams, L. (2019) ‘The seven sins: Security smells in infrastructure as code scripts’, </a:t>
            </a:r>
            <a:pPr indent="0" marL="0">
              <a:spcAft>
                <a:spcPts val="300"/>
              </a:spcAft>
              <a:buNone/>
            </a:pPr>
            <a:r>
              <a:rPr lang="en-GB" altLang="en-US" sz="1000" i="1" dirty="0">
                <a:solidFill>
                  <a:schemeClr val="tx1"/>
                </a:solidFill>
              </a:rPr>
              <a:t>Proceedings of the 41st ICSE</a:t>
            </a:r>
            <a:pPr indent="0" marL="0">
              <a:spcAft>
                <a:spcPts val="300"/>
              </a:spcAft>
              <a:buNone/>
            </a:pPr>
            <a:r>
              <a:rPr lang="en-GB" altLang="en-US" sz="1000" dirty="0">
                <a:solidFill>
                  <a:schemeClr val="tx1"/>
                </a:solidFill>
              </a:rPr>
              <a:t>, pp. 164–175.</a:t>
            </a:r>
            <a:endParaRPr lang="en-GB" sz="10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10</a:t>
            </a:fld>
            <a:endParaRPr lang="en-GB"/>
          </a:p>
        </p:txBody>
      </p:sp>
    </p:spTree>
  </p:cSld>
  <p:clrMapOvr>
    <a:masterClrMapping/>
  </p:clrMapOvr>
</p:sld>
</file>

<file path=ppt/theme/theme1.xml><?xml version="1.0" encoding="utf-8"?>
<a:theme xmlns:a="http://schemas.openxmlformats.org/drawingml/2006/main" name="Sunderland Research">
  <a:themeElements>
    <a:clrScheme name="Sunderland Research">
      <a:dk1>
        <a:srgbClr val="1A1F26"/>
      </a:dk1>
      <a:lt1>
        <a:srgbClr val="FFFFFF"/>
      </a:lt1>
      <a:dk2>
        <a:srgbClr val="08233E"/>
      </a:dk2>
      <a:lt2>
        <a:srgbClr val="EEF2F6"/>
      </a:lt2>
      <a:accent1>
        <a:srgbClr val="C73D1A"/>
      </a:accent1>
      <a:accent2>
        <a:srgbClr val="156082"/>
      </a:accent2>
      <a:accent3>
        <a:srgbClr val="6C93B8"/>
      </a:accent3>
      <a:accent4>
        <a:srgbClr val="2E7D4F"/>
      </a:accent4>
      <a:accent5>
        <a:srgbClr val="B7791F"/>
      </a:accent5>
      <a:accent6>
        <a:srgbClr val="7A8794"/>
      </a:accent6>
      <a:hlink>
        <a:srgbClr val="156082"/>
      </a:hlink>
      <a:folHlink>
        <a:srgbClr val="6C93B8"/>
      </a:folHlink>
    </a:clrScheme>
    <a:fontScheme name="Sunderland Resear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Sunderland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AI-Driven Security Review in Modern DevSecOps Pipelines</dc:title>
  <dc:subject>PROM06 Research Project: recorded presentation</dc:subject>
  <dc:creator>Abdul Waheed</dc:creator>
  <cp:lastModifiedBy>Abdul Waheed</cp:lastModifiedBy>
  <cp:revision>1</cp:revision>
  <dcterms:created xsi:type="dcterms:W3CDTF">2026-10-14T21:23:28Z</dcterms:created>
  <dcterms:modified xsi:type="dcterms:W3CDTF">2026-10-14T21:23:28Z</dcterms:modified>
</cp:coreProperties>
</file>